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57" r:id="rId4"/>
    <p:sldId id="259" r:id="rId5"/>
    <p:sldId id="279" r:id="rId6"/>
    <p:sldId id="280" r:id="rId7"/>
    <p:sldId id="283" r:id="rId8"/>
    <p:sldId id="281" r:id="rId9"/>
    <p:sldId id="282" r:id="rId10"/>
    <p:sldId id="268" r:id="rId11"/>
    <p:sldId id="261" r:id="rId12"/>
    <p:sldId id="264" r:id="rId13"/>
    <p:sldId id="267" r:id="rId14"/>
    <p:sldId id="260" r:id="rId15"/>
    <p:sldId id="262" r:id="rId16"/>
    <p:sldId id="265" r:id="rId17"/>
    <p:sldId id="278" r:id="rId18"/>
    <p:sldId id="272" r:id="rId19"/>
    <p:sldId id="273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65A489-5F2F-4C09-8633-534A6811E6E0}" type="doc">
      <dgm:prSet loTypeId="urn:microsoft.com/office/officeart/2017/3/layout/HorizontalLabelsTimeline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4C2884-30F3-44C3-ACF2-4484BC32A900}">
      <dgm:prSet/>
      <dgm:spPr/>
      <dgm:t>
        <a:bodyPr/>
        <a:lstStyle/>
        <a:p>
          <a:pPr>
            <a:defRPr b="1"/>
          </a:pPr>
          <a:r>
            <a:rPr lang="en-US" dirty="0"/>
            <a:t>Monday., 11:00 AM – Monday., 1:00 PM</a:t>
          </a:r>
        </a:p>
      </dgm:t>
    </dgm:pt>
    <dgm:pt modelId="{81D94ACD-0A58-41F9-86C7-9045A2432FA2}" type="parTrans" cxnId="{1396ADA6-B9A3-4C0D-8B64-7BA464754B66}">
      <dgm:prSet/>
      <dgm:spPr/>
      <dgm:t>
        <a:bodyPr/>
        <a:lstStyle/>
        <a:p>
          <a:endParaRPr lang="en-US"/>
        </a:p>
      </dgm:t>
    </dgm:pt>
    <dgm:pt modelId="{51F06362-2BF6-40AB-A35F-65FD9C37EEEA}" type="sibTrans" cxnId="{1396ADA6-B9A3-4C0D-8B64-7BA464754B66}">
      <dgm:prSet/>
      <dgm:spPr/>
      <dgm:t>
        <a:bodyPr/>
        <a:lstStyle/>
        <a:p>
          <a:endParaRPr lang="en-US"/>
        </a:p>
      </dgm:t>
    </dgm:pt>
    <dgm:pt modelId="{E0F86220-D152-488D-B317-043B3023879B}">
      <dgm:prSet/>
      <dgm:spPr/>
      <dgm:t>
        <a:bodyPr/>
        <a:lstStyle/>
        <a:p>
          <a:r>
            <a:rPr lang="en-US" dirty="0"/>
            <a:t>Lab</a:t>
          </a:r>
        </a:p>
      </dgm:t>
    </dgm:pt>
    <dgm:pt modelId="{8F092C9D-F5F3-427A-A029-B564FD1EAC26}" type="parTrans" cxnId="{955D253C-C7BD-4041-B484-19E66088FFBC}">
      <dgm:prSet/>
      <dgm:spPr/>
      <dgm:t>
        <a:bodyPr/>
        <a:lstStyle/>
        <a:p>
          <a:endParaRPr lang="en-US"/>
        </a:p>
      </dgm:t>
    </dgm:pt>
    <dgm:pt modelId="{FD1B7516-549D-4821-AAEF-9976098764B1}" type="sibTrans" cxnId="{955D253C-C7BD-4041-B484-19E66088FFBC}">
      <dgm:prSet/>
      <dgm:spPr/>
      <dgm:t>
        <a:bodyPr/>
        <a:lstStyle/>
        <a:p>
          <a:endParaRPr lang="en-US"/>
        </a:p>
      </dgm:t>
    </dgm:pt>
    <dgm:pt modelId="{3471C349-FBE7-4C17-8A61-AB74D06730D1}">
      <dgm:prSet/>
      <dgm:spPr/>
      <dgm:t>
        <a:bodyPr/>
        <a:lstStyle/>
        <a:p>
          <a:pPr>
            <a:defRPr b="1"/>
          </a:pPr>
          <a:r>
            <a:rPr lang="en-US" dirty="0"/>
            <a:t>Tue., 11:00 AM – Tue., 12:00 PM</a:t>
          </a:r>
        </a:p>
      </dgm:t>
    </dgm:pt>
    <dgm:pt modelId="{A9EA707E-EC65-496E-9F27-0C19C80FB14D}" type="parTrans" cxnId="{AE479F5A-A0F0-4085-8664-2D8E60873495}">
      <dgm:prSet/>
      <dgm:spPr/>
      <dgm:t>
        <a:bodyPr/>
        <a:lstStyle/>
        <a:p>
          <a:endParaRPr lang="en-US"/>
        </a:p>
      </dgm:t>
    </dgm:pt>
    <dgm:pt modelId="{5DE40539-1E84-4ECE-A4C8-03B998A1A4F9}" type="sibTrans" cxnId="{AE479F5A-A0F0-4085-8664-2D8E60873495}">
      <dgm:prSet/>
      <dgm:spPr/>
      <dgm:t>
        <a:bodyPr/>
        <a:lstStyle/>
        <a:p>
          <a:endParaRPr lang="en-US"/>
        </a:p>
      </dgm:t>
    </dgm:pt>
    <dgm:pt modelId="{B784C943-D2CA-4F69-B134-2C14F6F75983}">
      <dgm:prSet/>
      <dgm:spPr/>
      <dgm:t>
        <a:bodyPr/>
        <a:lstStyle/>
        <a:p>
          <a:r>
            <a:rPr lang="en-US" dirty="0"/>
            <a:t>Lecture</a:t>
          </a:r>
        </a:p>
      </dgm:t>
    </dgm:pt>
    <dgm:pt modelId="{106E3E4F-CE71-4DB2-B0B1-044A5DC9540D}" type="parTrans" cxnId="{BCB70524-EC4B-4F3E-9C9F-C6E9F90D7591}">
      <dgm:prSet/>
      <dgm:spPr/>
      <dgm:t>
        <a:bodyPr/>
        <a:lstStyle/>
        <a:p>
          <a:endParaRPr lang="en-US"/>
        </a:p>
      </dgm:t>
    </dgm:pt>
    <dgm:pt modelId="{152ECF48-C057-4A76-8042-9C6C64361CB9}" type="sibTrans" cxnId="{BCB70524-EC4B-4F3E-9C9F-C6E9F90D7591}">
      <dgm:prSet/>
      <dgm:spPr/>
      <dgm:t>
        <a:bodyPr/>
        <a:lstStyle/>
        <a:p>
          <a:endParaRPr lang="en-US"/>
        </a:p>
      </dgm:t>
    </dgm:pt>
    <dgm:pt modelId="{2F9994E0-B21B-4479-840D-C3117E367B51}">
      <dgm:prSet/>
      <dgm:spPr/>
      <dgm:t>
        <a:bodyPr/>
        <a:lstStyle/>
        <a:p>
          <a:pPr>
            <a:defRPr b="1"/>
          </a:pPr>
          <a:r>
            <a:rPr lang="en-US" dirty="0"/>
            <a:t>Thurs., 9:00 AM – Thurs., 11:00 AM</a:t>
          </a:r>
        </a:p>
      </dgm:t>
    </dgm:pt>
    <dgm:pt modelId="{194AB9E0-6F0E-48FF-A35E-E236E528A6FD}" type="parTrans" cxnId="{1A1A6754-3601-4F8D-A5B3-E9B63D52EF48}">
      <dgm:prSet/>
      <dgm:spPr/>
      <dgm:t>
        <a:bodyPr/>
        <a:lstStyle/>
        <a:p>
          <a:endParaRPr lang="en-US"/>
        </a:p>
      </dgm:t>
    </dgm:pt>
    <dgm:pt modelId="{93B2A536-20E8-42D5-B1A7-9B4F58D7FDFD}" type="sibTrans" cxnId="{1A1A6754-3601-4F8D-A5B3-E9B63D52EF48}">
      <dgm:prSet/>
      <dgm:spPr/>
      <dgm:t>
        <a:bodyPr/>
        <a:lstStyle/>
        <a:p>
          <a:endParaRPr lang="en-US"/>
        </a:p>
      </dgm:t>
    </dgm:pt>
    <dgm:pt modelId="{B9273C66-83FE-4408-8EB0-157DE4B78351}">
      <dgm:prSet/>
      <dgm:spPr/>
      <dgm:t>
        <a:bodyPr/>
        <a:lstStyle/>
        <a:p>
          <a:r>
            <a:rPr lang="en-US" dirty="0"/>
            <a:t>Lecture</a:t>
          </a:r>
        </a:p>
      </dgm:t>
    </dgm:pt>
    <dgm:pt modelId="{4BF6F1BB-B3C3-4F27-9551-06D73574E81F}" type="parTrans" cxnId="{5B735633-8C46-4318-9566-BB2F4FA5708C}">
      <dgm:prSet/>
      <dgm:spPr/>
      <dgm:t>
        <a:bodyPr/>
        <a:lstStyle/>
        <a:p>
          <a:endParaRPr lang="en-US"/>
        </a:p>
      </dgm:t>
    </dgm:pt>
    <dgm:pt modelId="{AE8977C9-DE79-45D7-8C5A-E70CBF8CAE19}" type="sibTrans" cxnId="{5B735633-8C46-4318-9566-BB2F4FA5708C}">
      <dgm:prSet/>
      <dgm:spPr/>
      <dgm:t>
        <a:bodyPr/>
        <a:lstStyle/>
        <a:p>
          <a:endParaRPr lang="en-US"/>
        </a:p>
      </dgm:t>
    </dgm:pt>
    <dgm:pt modelId="{630EBB8C-CBB3-460F-974B-71CFF25F0989}" type="pres">
      <dgm:prSet presAssocID="{7065A489-5F2F-4C09-8633-534A6811E6E0}" presName="root" presStyleCnt="0">
        <dgm:presLayoutVars>
          <dgm:chMax/>
          <dgm:chPref/>
          <dgm:animLvl val="lvl"/>
        </dgm:presLayoutVars>
      </dgm:prSet>
      <dgm:spPr/>
    </dgm:pt>
    <dgm:pt modelId="{52038976-054E-4BEF-84BF-7B5614B4E06A}" type="pres">
      <dgm:prSet presAssocID="{7065A489-5F2F-4C09-8633-534A6811E6E0}" presName="divider" presStyleLbl="fgAcc1" presStyleIdx="0" presStyleCnt="1"/>
      <dgm:spPr/>
    </dgm:pt>
    <dgm:pt modelId="{1CBC3F27-E8C1-4A3F-863C-B3C2F14504C2}" type="pres">
      <dgm:prSet presAssocID="{7065A489-5F2F-4C09-8633-534A6811E6E0}" presName="nodes" presStyleCnt="0">
        <dgm:presLayoutVars>
          <dgm:chMax/>
          <dgm:chPref/>
          <dgm:animLvl val="lvl"/>
        </dgm:presLayoutVars>
      </dgm:prSet>
      <dgm:spPr/>
    </dgm:pt>
    <dgm:pt modelId="{DF80C1BC-C35B-46C4-9959-520FF787775B}" type="pres">
      <dgm:prSet presAssocID="{C64C2884-30F3-44C3-ACF2-4484BC32A900}" presName="composite" presStyleCnt="0"/>
      <dgm:spPr/>
    </dgm:pt>
    <dgm:pt modelId="{E7246699-8A1C-48A5-BCC7-09A0703BA894}" type="pres">
      <dgm:prSet presAssocID="{C64C2884-30F3-44C3-ACF2-4484BC32A900}" presName="L1TextContainer" presStyleLbl="alignNode1" presStyleIdx="0" presStyleCnt="3">
        <dgm:presLayoutVars>
          <dgm:chMax val="1"/>
          <dgm:chPref val="1"/>
          <dgm:bulletEnabled val="1"/>
        </dgm:presLayoutVars>
      </dgm:prSet>
      <dgm:spPr/>
    </dgm:pt>
    <dgm:pt modelId="{8B29AEF1-1F58-4C80-9BA1-FDBF9A4A36A4}" type="pres">
      <dgm:prSet presAssocID="{C64C2884-30F3-44C3-ACF2-4484BC32A900}" presName="L2TextContainerWrapper" presStyleCnt="0">
        <dgm:presLayoutVars>
          <dgm:bulletEnabled val="1"/>
        </dgm:presLayoutVars>
      </dgm:prSet>
      <dgm:spPr/>
    </dgm:pt>
    <dgm:pt modelId="{E957FAB4-D647-459B-B5DF-80A5FEBF099D}" type="pres">
      <dgm:prSet presAssocID="{C64C2884-30F3-44C3-ACF2-4484BC32A900}" presName="L2TextContainer" presStyleLbl="bgAccFollowNode1" presStyleIdx="0" presStyleCnt="3"/>
      <dgm:spPr/>
    </dgm:pt>
    <dgm:pt modelId="{969C3428-EF13-4FF5-9166-2D1D364B9BC1}" type="pres">
      <dgm:prSet presAssocID="{C64C2884-30F3-44C3-ACF2-4484BC32A900}" presName="FlexibleEmptyPlaceHolder" presStyleCnt="0"/>
      <dgm:spPr/>
    </dgm:pt>
    <dgm:pt modelId="{ECE547B2-2263-40BF-BC9F-4749B614D57F}" type="pres">
      <dgm:prSet presAssocID="{C64C2884-30F3-44C3-ACF2-4484BC32A900}" presName="ConnectLine" presStyleLbl="sibTrans1D1" presStyleIdx="0" presStyleCnt="3"/>
      <dgm:spPr/>
    </dgm:pt>
    <dgm:pt modelId="{B15768C0-2D07-4E1B-8E21-87F6A765A3D1}" type="pres">
      <dgm:prSet presAssocID="{C64C2884-30F3-44C3-ACF2-4484BC32A900}" presName="ConnectorPoint" presStyleLbl="node1" presStyleIdx="0" presStyleCnt="3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0E0FEF8E-7456-4740-AA4A-705984DE7BD5}" type="pres">
      <dgm:prSet presAssocID="{C64C2884-30F3-44C3-ACF2-4484BC32A900}" presName="EmptyPlaceHolder" presStyleCnt="0"/>
      <dgm:spPr/>
    </dgm:pt>
    <dgm:pt modelId="{33025610-060B-40EC-B6B1-10AF99AF8F04}" type="pres">
      <dgm:prSet presAssocID="{51F06362-2BF6-40AB-A35F-65FD9C37EEEA}" presName="spaceBetweenRectangles" presStyleCnt="0"/>
      <dgm:spPr/>
    </dgm:pt>
    <dgm:pt modelId="{FF731B60-956F-4537-9719-296CBCF430D6}" type="pres">
      <dgm:prSet presAssocID="{3471C349-FBE7-4C17-8A61-AB74D06730D1}" presName="composite" presStyleCnt="0"/>
      <dgm:spPr/>
    </dgm:pt>
    <dgm:pt modelId="{0CB837A5-2EA2-4A25-820F-82CCD96BF893}" type="pres">
      <dgm:prSet presAssocID="{3471C349-FBE7-4C17-8A61-AB74D06730D1}" presName="L1TextContainer" presStyleLbl="alignNode1" presStyleIdx="1" presStyleCnt="3">
        <dgm:presLayoutVars>
          <dgm:chMax val="1"/>
          <dgm:chPref val="1"/>
          <dgm:bulletEnabled val="1"/>
        </dgm:presLayoutVars>
      </dgm:prSet>
      <dgm:spPr/>
    </dgm:pt>
    <dgm:pt modelId="{0E6170E6-007E-47BC-9AD9-A93122D91818}" type="pres">
      <dgm:prSet presAssocID="{3471C349-FBE7-4C17-8A61-AB74D06730D1}" presName="L2TextContainerWrapper" presStyleCnt="0">
        <dgm:presLayoutVars>
          <dgm:bulletEnabled val="1"/>
        </dgm:presLayoutVars>
      </dgm:prSet>
      <dgm:spPr/>
    </dgm:pt>
    <dgm:pt modelId="{585043CE-A643-41BC-BF66-D47E3469AA68}" type="pres">
      <dgm:prSet presAssocID="{3471C349-FBE7-4C17-8A61-AB74D06730D1}" presName="L2TextContainer" presStyleLbl="bgAccFollowNode1" presStyleIdx="1" presStyleCnt="3"/>
      <dgm:spPr/>
    </dgm:pt>
    <dgm:pt modelId="{1FC05D6B-84A3-43A4-8D2B-619A7D3D9E23}" type="pres">
      <dgm:prSet presAssocID="{3471C349-FBE7-4C17-8A61-AB74D06730D1}" presName="FlexibleEmptyPlaceHolder" presStyleCnt="0"/>
      <dgm:spPr/>
    </dgm:pt>
    <dgm:pt modelId="{C372C684-8ECC-4E9F-B1E3-1BE33E3D0673}" type="pres">
      <dgm:prSet presAssocID="{3471C349-FBE7-4C17-8A61-AB74D06730D1}" presName="ConnectLine" presStyleLbl="sibTrans1D1" presStyleIdx="1" presStyleCnt="3"/>
      <dgm:spPr/>
    </dgm:pt>
    <dgm:pt modelId="{50A60FBE-269C-4AFE-864A-571DD99A7D08}" type="pres">
      <dgm:prSet presAssocID="{3471C349-FBE7-4C17-8A61-AB74D06730D1}" presName="ConnectorPoint" presStyleLbl="node1" presStyleIdx="1" presStyleCnt="3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7BF310CB-D8F9-474E-ACD4-D1EC17DFEEB7}" type="pres">
      <dgm:prSet presAssocID="{3471C349-FBE7-4C17-8A61-AB74D06730D1}" presName="EmptyPlaceHolder" presStyleCnt="0"/>
      <dgm:spPr/>
    </dgm:pt>
    <dgm:pt modelId="{19489E57-4088-4F2F-852F-91BC41A09135}" type="pres">
      <dgm:prSet presAssocID="{5DE40539-1E84-4ECE-A4C8-03B998A1A4F9}" presName="spaceBetweenRectangles" presStyleCnt="0"/>
      <dgm:spPr/>
    </dgm:pt>
    <dgm:pt modelId="{D21172F6-3C77-42F3-86C5-1901B15A565A}" type="pres">
      <dgm:prSet presAssocID="{2F9994E0-B21B-4479-840D-C3117E367B51}" presName="composite" presStyleCnt="0"/>
      <dgm:spPr/>
    </dgm:pt>
    <dgm:pt modelId="{D8773A62-93C8-4F44-83D1-F6B82BEFD1C9}" type="pres">
      <dgm:prSet presAssocID="{2F9994E0-B21B-4479-840D-C3117E367B51}" presName="L1TextContainer" presStyleLbl="alignNode1" presStyleIdx="2" presStyleCnt="3">
        <dgm:presLayoutVars>
          <dgm:chMax val="1"/>
          <dgm:chPref val="1"/>
          <dgm:bulletEnabled val="1"/>
        </dgm:presLayoutVars>
      </dgm:prSet>
      <dgm:spPr/>
    </dgm:pt>
    <dgm:pt modelId="{2840359D-FA56-4E3A-9511-A56DDD7346BF}" type="pres">
      <dgm:prSet presAssocID="{2F9994E0-B21B-4479-840D-C3117E367B51}" presName="L2TextContainerWrapper" presStyleCnt="0">
        <dgm:presLayoutVars>
          <dgm:bulletEnabled val="1"/>
        </dgm:presLayoutVars>
      </dgm:prSet>
      <dgm:spPr/>
    </dgm:pt>
    <dgm:pt modelId="{56F8C335-8D24-4E3F-ABC9-89DFC0D39229}" type="pres">
      <dgm:prSet presAssocID="{2F9994E0-B21B-4479-840D-C3117E367B51}" presName="L2TextContainer" presStyleLbl="bgAccFollowNode1" presStyleIdx="2" presStyleCnt="3"/>
      <dgm:spPr/>
    </dgm:pt>
    <dgm:pt modelId="{F5E09825-3C85-4092-B089-F21A4A638AE2}" type="pres">
      <dgm:prSet presAssocID="{2F9994E0-B21B-4479-840D-C3117E367B51}" presName="FlexibleEmptyPlaceHolder" presStyleCnt="0"/>
      <dgm:spPr/>
    </dgm:pt>
    <dgm:pt modelId="{9EAEB965-6F3E-404B-8054-763F6611CA31}" type="pres">
      <dgm:prSet presAssocID="{2F9994E0-B21B-4479-840D-C3117E367B51}" presName="ConnectLine" presStyleLbl="sibTrans1D1" presStyleIdx="2" presStyleCnt="3"/>
      <dgm:spPr/>
    </dgm:pt>
    <dgm:pt modelId="{02C8E459-7A5D-472D-8D69-F17271C6B3DC}" type="pres">
      <dgm:prSet presAssocID="{2F9994E0-B21B-4479-840D-C3117E367B51}" presName="ConnectorPoint" presStyleLbl="node1" presStyleIdx="2" presStyleCnt="3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F8D26701-E1C9-46B5-9D61-C7528D09895C}" type="pres">
      <dgm:prSet presAssocID="{2F9994E0-B21B-4479-840D-C3117E367B51}" presName="EmptyPlaceHolder" presStyleCnt="0"/>
      <dgm:spPr/>
    </dgm:pt>
  </dgm:ptLst>
  <dgm:cxnLst>
    <dgm:cxn modelId="{C754F01D-0D03-46B2-A64B-905E4B19A2BC}" type="presOf" srcId="{C64C2884-30F3-44C3-ACF2-4484BC32A900}" destId="{E7246699-8A1C-48A5-BCC7-09A0703BA894}" srcOrd="0" destOrd="0" presId="urn:microsoft.com/office/officeart/2017/3/layout/HorizontalLabelsTimeline"/>
    <dgm:cxn modelId="{BCB70524-EC4B-4F3E-9C9F-C6E9F90D7591}" srcId="{3471C349-FBE7-4C17-8A61-AB74D06730D1}" destId="{B784C943-D2CA-4F69-B134-2C14F6F75983}" srcOrd="0" destOrd="0" parTransId="{106E3E4F-CE71-4DB2-B0B1-044A5DC9540D}" sibTransId="{152ECF48-C057-4A76-8042-9C6C64361CB9}"/>
    <dgm:cxn modelId="{5B735633-8C46-4318-9566-BB2F4FA5708C}" srcId="{2F9994E0-B21B-4479-840D-C3117E367B51}" destId="{B9273C66-83FE-4408-8EB0-157DE4B78351}" srcOrd="0" destOrd="0" parTransId="{4BF6F1BB-B3C3-4F27-9551-06D73574E81F}" sibTransId="{AE8977C9-DE79-45D7-8C5A-E70CBF8CAE19}"/>
    <dgm:cxn modelId="{955D253C-C7BD-4041-B484-19E66088FFBC}" srcId="{C64C2884-30F3-44C3-ACF2-4484BC32A900}" destId="{E0F86220-D152-488D-B317-043B3023879B}" srcOrd="0" destOrd="0" parTransId="{8F092C9D-F5F3-427A-A029-B564FD1EAC26}" sibTransId="{FD1B7516-549D-4821-AAEF-9976098764B1}"/>
    <dgm:cxn modelId="{32048D4E-936B-4842-8FAD-55C6EC5EE643}" type="presOf" srcId="{2F9994E0-B21B-4479-840D-C3117E367B51}" destId="{D8773A62-93C8-4F44-83D1-F6B82BEFD1C9}" srcOrd="0" destOrd="0" presId="urn:microsoft.com/office/officeart/2017/3/layout/HorizontalLabelsTimeline"/>
    <dgm:cxn modelId="{1A1A6754-3601-4F8D-A5B3-E9B63D52EF48}" srcId="{7065A489-5F2F-4C09-8633-534A6811E6E0}" destId="{2F9994E0-B21B-4479-840D-C3117E367B51}" srcOrd="2" destOrd="0" parTransId="{194AB9E0-6F0E-48FF-A35E-E236E528A6FD}" sibTransId="{93B2A536-20E8-42D5-B1A7-9B4F58D7FDFD}"/>
    <dgm:cxn modelId="{C45F1156-4CD9-418B-8F6E-43B1BA9F7483}" type="presOf" srcId="{E0F86220-D152-488D-B317-043B3023879B}" destId="{E957FAB4-D647-459B-B5DF-80A5FEBF099D}" srcOrd="0" destOrd="0" presId="urn:microsoft.com/office/officeart/2017/3/layout/HorizontalLabelsTimeline"/>
    <dgm:cxn modelId="{AE479F5A-A0F0-4085-8664-2D8E60873495}" srcId="{7065A489-5F2F-4C09-8633-534A6811E6E0}" destId="{3471C349-FBE7-4C17-8A61-AB74D06730D1}" srcOrd="1" destOrd="0" parTransId="{A9EA707E-EC65-496E-9F27-0C19C80FB14D}" sibTransId="{5DE40539-1E84-4ECE-A4C8-03B998A1A4F9}"/>
    <dgm:cxn modelId="{3C56B486-2B6E-43B3-9E8D-F8AFF3BD53AE}" type="presOf" srcId="{B784C943-D2CA-4F69-B134-2C14F6F75983}" destId="{585043CE-A643-41BC-BF66-D47E3469AA68}" srcOrd="0" destOrd="0" presId="urn:microsoft.com/office/officeart/2017/3/layout/HorizontalLabelsTimeline"/>
    <dgm:cxn modelId="{DA9C088B-8541-4E05-8A1A-64D8A9BC52B4}" type="presOf" srcId="{B9273C66-83FE-4408-8EB0-157DE4B78351}" destId="{56F8C335-8D24-4E3F-ABC9-89DFC0D39229}" srcOrd="0" destOrd="0" presId="urn:microsoft.com/office/officeart/2017/3/layout/HorizontalLabelsTimeline"/>
    <dgm:cxn modelId="{1396ADA6-B9A3-4C0D-8B64-7BA464754B66}" srcId="{7065A489-5F2F-4C09-8633-534A6811E6E0}" destId="{C64C2884-30F3-44C3-ACF2-4484BC32A900}" srcOrd="0" destOrd="0" parTransId="{81D94ACD-0A58-41F9-86C7-9045A2432FA2}" sibTransId="{51F06362-2BF6-40AB-A35F-65FD9C37EEEA}"/>
    <dgm:cxn modelId="{3F3979AE-63E0-4933-AA13-02B4255C598B}" type="presOf" srcId="{3471C349-FBE7-4C17-8A61-AB74D06730D1}" destId="{0CB837A5-2EA2-4A25-820F-82CCD96BF893}" srcOrd="0" destOrd="0" presId="urn:microsoft.com/office/officeart/2017/3/layout/HorizontalLabelsTimeline"/>
    <dgm:cxn modelId="{8A4E77CE-C3A6-41F2-A5EF-BA285E286154}" type="presOf" srcId="{7065A489-5F2F-4C09-8633-534A6811E6E0}" destId="{630EBB8C-CBB3-460F-974B-71CFF25F0989}" srcOrd="0" destOrd="0" presId="urn:microsoft.com/office/officeart/2017/3/layout/HorizontalLabelsTimeline"/>
    <dgm:cxn modelId="{EA150A4C-7B28-4306-962B-AE88773402ED}" type="presParOf" srcId="{630EBB8C-CBB3-460F-974B-71CFF25F0989}" destId="{52038976-054E-4BEF-84BF-7B5614B4E06A}" srcOrd="0" destOrd="0" presId="urn:microsoft.com/office/officeart/2017/3/layout/HorizontalLabelsTimeline"/>
    <dgm:cxn modelId="{602A4F9C-51D1-4167-8FC6-F4A133E5BF16}" type="presParOf" srcId="{630EBB8C-CBB3-460F-974B-71CFF25F0989}" destId="{1CBC3F27-E8C1-4A3F-863C-B3C2F14504C2}" srcOrd="1" destOrd="0" presId="urn:microsoft.com/office/officeart/2017/3/layout/HorizontalLabelsTimeline"/>
    <dgm:cxn modelId="{5EFFAB7E-60CE-41B5-869A-7189CBB8A41F}" type="presParOf" srcId="{1CBC3F27-E8C1-4A3F-863C-B3C2F14504C2}" destId="{DF80C1BC-C35B-46C4-9959-520FF787775B}" srcOrd="0" destOrd="0" presId="urn:microsoft.com/office/officeart/2017/3/layout/HorizontalLabelsTimeline"/>
    <dgm:cxn modelId="{7D600E00-BB4E-4251-B98F-70E8403EA968}" type="presParOf" srcId="{DF80C1BC-C35B-46C4-9959-520FF787775B}" destId="{E7246699-8A1C-48A5-BCC7-09A0703BA894}" srcOrd="0" destOrd="0" presId="urn:microsoft.com/office/officeart/2017/3/layout/HorizontalLabelsTimeline"/>
    <dgm:cxn modelId="{3D1FAC8D-D9A0-4239-8278-494DDA9047FC}" type="presParOf" srcId="{DF80C1BC-C35B-46C4-9959-520FF787775B}" destId="{8B29AEF1-1F58-4C80-9BA1-FDBF9A4A36A4}" srcOrd="1" destOrd="0" presId="urn:microsoft.com/office/officeart/2017/3/layout/HorizontalLabelsTimeline"/>
    <dgm:cxn modelId="{B14B5B43-3E61-46AA-BEA4-446D246D07DB}" type="presParOf" srcId="{8B29AEF1-1F58-4C80-9BA1-FDBF9A4A36A4}" destId="{E957FAB4-D647-459B-B5DF-80A5FEBF099D}" srcOrd="0" destOrd="0" presId="urn:microsoft.com/office/officeart/2017/3/layout/HorizontalLabelsTimeline"/>
    <dgm:cxn modelId="{0FB184C3-A0A2-4192-B467-911D15014492}" type="presParOf" srcId="{8B29AEF1-1F58-4C80-9BA1-FDBF9A4A36A4}" destId="{969C3428-EF13-4FF5-9166-2D1D364B9BC1}" srcOrd="1" destOrd="0" presId="urn:microsoft.com/office/officeart/2017/3/layout/HorizontalLabelsTimeline"/>
    <dgm:cxn modelId="{9FBC4CB2-339E-4964-B674-5A0BFA5A66EA}" type="presParOf" srcId="{DF80C1BC-C35B-46C4-9959-520FF787775B}" destId="{ECE547B2-2263-40BF-BC9F-4749B614D57F}" srcOrd="2" destOrd="0" presId="urn:microsoft.com/office/officeart/2017/3/layout/HorizontalLabelsTimeline"/>
    <dgm:cxn modelId="{54043CE9-581F-472E-BC2D-88BA1BBEE5EC}" type="presParOf" srcId="{DF80C1BC-C35B-46C4-9959-520FF787775B}" destId="{B15768C0-2D07-4E1B-8E21-87F6A765A3D1}" srcOrd="3" destOrd="0" presId="urn:microsoft.com/office/officeart/2017/3/layout/HorizontalLabelsTimeline"/>
    <dgm:cxn modelId="{524073DC-2080-4E9D-888F-637FA992E29E}" type="presParOf" srcId="{DF80C1BC-C35B-46C4-9959-520FF787775B}" destId="{0E0FEF8E-7456-4740-AA4A-705984DE7BD5}" srcOrd="4" destOrd="0" presId="urn:microsoft.com/office/officeart/2017/3/layout/HorizontalLabelsTimeline"/>
    <dgm:cxn modelId="{BA9F15C9-E51E-4FFD-9904-9A7496C25E7E}" type="presParOf" srcId="{1CBC3F27-E8C1-4A3F-863C-B3C2F14504C2}" destId="{33025610-060B-40EC-B6B1-10AF99AF8F04}" srcOrd="1" destOrd="0" presId="urn:microsoft.com/office/officeart/2017/3/layout/HorizontalLabelsTimeline"/>
    <dgm:cxn modelId="{18691682-EC00-42E4-A201-1A613FC9C139}" type="presParOf" srcId="{1CBC3F27-E8C1-4A3F-863C-B3C2F14504C2}" destId="{FF731B60-956F-4537-9719-296CBCF430D6}" srcOrd="2" destOrd="0" presId="urn:microsoft.com/office/officeart/2017/3/layout/HorizontalLabelsTimeline"/>
    <dgm:cxn modelId="{1EAD7774-4951-4429-9685-D074FD944823}" type="presParOf" srcId="{FF731B60-956F-4537-9719-296CBCF430D6}" destId="{0CB837A5-2EA2-4A25-820F-82CCD96BF893}" srcOrd="0" destOrd="0" presId="urn:microsoft.com/office/officeart/2017/3/layout/HorizontalLabelsTimeline"/>
    <dgm:cxn modelId="{61803DD2-6AFA-47B1-AC21-AB563B926101}" type="presParOf" srcId="{FF731B60-956F-4537-9719-296CBCF430D6}" destId="{0E6170E6-007E-47BC-9AD9-A93122D91818}" srcOrd="1" destOrd="0" presId="urn:microsoft.com/office/officeart/2017/3/layout/HorizontalLabelsTimeline"/>
    <dgm:cxn modelId="{9AB6627E-9E89-40D9-8CEC-CA5D97D97471}" type="presParOf" srcId="{0E6170E6-007E-47BC-9AD9-A93122D91818}" destId="{585043CE-A643-41BC-BF66-D47E3469AA68}" srcOrd="0" destOrd="0" presId="urn:microsoft.com/office/officeart/2017/3/layout/HorizontalLabelsTimeline"/>
    <dgm:cxn modelId="{F8353379-8DF3-4C5F-B9C8-5546E31D1AF3}" type="presParOf" srcId="{0E6170E6-007E-47BC-9AD9-A93122D91818}" destId="{1FC05D6B-84A3-43A4-8D2B-619A7D3D9E23}" srcOrd="1" destOrd="0" presId="urn:microsoft.com/office/officeart/2017/3/layout/HorizontalLabelsTimeline"/>
    <dgm:cxn modelId="{595DF676-3ACC-417B-ADB2-1F7769A6832B}" type="presParOf" srcId="{FF731B60-956F-4537-9719-296CBCF430D6}" destId="{C372C684-8ECC-4E9F-B1E3-1BE33E3D0673}" srcOrd="2" destOrd="0" presId="urn:microsoft.com/office/officeart/2017/3/layout/HorizontalLabelsTimeline"/>
    <dgm:cxn modelId="{16A8C46D-B9F8-4069-A9E6-501BD0AAEF0D}" type="presParOf" srcId="{FF731B60-956F-4537-9719-296CBCF430D6}" destId="{50A60FBE-269C-4AFE-864A-571DD99A7D08}" srcOrd="3" destOrd="0" presId="urn:microsoft.com/office/officeart/2017/3/layout/HorizontalLabelsTimeline"/>
    <dgm:cxn modelId="{DC76FBFB-50F6-4CE0-B7C1-279DC04676A8}" type="presParOf" srcId="{FF731B60-956F-4537-9719-296CBCF430D6}" destId="{7BF310CB-D8F9-474E-ACD4-D1EC17DFEEB7}" srcOrd="4" destOrd="0" presId="urn:microsoft.com/office/officeart/2017/3/layout/HorizontalLabelsTimeline"/>
    <dgm:cxn modelId="{88B0D3D9-783C-4ADC-8CCF-444EB618E261}" type="presParOf" srcId="{1CBC3F27-E8C1-4A3F-863C-B3C2F14504C2}" destId="{19489E57-4088-4F2F-852F-91BC41A09135}" srcOrd="3" destOrd="0" presId="urn:microsoft.com/office/officeart/2017/3/layout/HorizontalLabelsTimeline"/>
    <dgm:cxn modelId="{4B2ABB0B-AB1C-4057-9C02-D31D68214AF2}" type="presParOf" srcId="{1CBC3F27-E8C1-4A3F-863C-B3C2F14504C2}" destId="{D21172F6-3C77-42F3-86C5-1901B15A565A}" srcOrd="4" destOrd="0" presId="urn:microsoft.com/office/officeart/2017/3/layout/HorizontalLabelsTimeline"/>
    <dgm:cxn modelId="{987CA770-6099-451C-B9AD-221130F1D823}" type="presParOf" srcId="{D21172F6-3C77-42F3-86C5-1901B15A565A}" destId="{D8773A62-93C8-4F44-83D1-F6B82BEFD1C9}" srcOrd="0" destOrd="0" presId="urn:microsoft.com/office/officeart/2017/3/layout/HorizontalLabelsTimeline"/>
    <dgm:cxn modelId="{96C6F65F-9719-412F-BC0B-B158C1D8C133}" type="presParOf" srcId="{D21172F6-3C77-42F3-86C5-1901B15A565A}" destId="{2840359D-FA56-4E3A-9511-A56DDD7346BF}" srcOrd="1" destOrd="0" presId="urn:microsoft.com/office/officeart/2017/3/layout/HorizontalLabelsTimeline"/>
    <dgm:cxn modelId="{3866765D-E5BA-4220-8D63-574A521A8F04}" type="presParOf" srcId="{2840359D-FA56-4E3A-9511-A56DDD7346BF}" destId="{56F8C335-8D24-4E3F-ABC9-89DFC0D39229}" srcOrd="0" destOrd="0" presId="urn:microsoft.com/office/officeart/2017/3/layout/HorizontalLabelsTimeline"/>
    <dgm:cxn modelId="{796CF31F-70E6-40CF-B1F8-57009F7A8A57}" type="presParOf" srcId="{2840359D-FA56-4E3A-9511-A56DDD7346BF}" destId="{F5E09825-3C85-4092-B089-F21A4A638AE2}" srcOrd="1" destOrd="0" presId="urn:microsoft.com/office/officeart/2017/3/layout/HorizontalLabelsTimeline"/>
    <dgm:cxn modelId="{651F9462-5D71-48EE-BE17-D664A67BBF74}" type="presParOf" srcId="{D21172F6-3C77-42F3-86C5-1901B15A565A}" destId="{9EAEB965-6F3E-404B-8054-763F6611CA31}" srcOrd="2" destOrd="0" presId="urn:microsoft.com/office/officeart/2017/3/layout/HorizontalLabelsTimeline"/>
    <dgm:cxn modelId="{11D4D440-20AB-4BC0-8C53-8EB005BE8BC6}" type="presParOf" srcId="{D21172F6-3C77-42F3-86C5-1901B15A565A}" destId="{02C8E459-7A5D-472D-8D69-F17271C6B3DC}" srcOrd="3" destOrd="0" presId="urn:microsoft.com/office/officeart/2017/3/layout/HorizontalLabelsTimeline"/>
    <dgm:cxn modelId="{8FC5036A-6C97-4B1F-AD6D-C162C190FDB4}" type="presParOf" srcId="{D21172F6-3C77-42F3-86C5-1901B15A565A}" destId="{F8D26701-E1C9-46B5-9D61-C7528D09895C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38976-054E-4BEF-84BF-7B5614B4E06A}">
      <dsp:nvSpPr>
        <dsp:cNvPr id="0" name=""/>
        <dsp:cNvSpPr/>
      </dsp:nvSpPr>
      <dsp:spPr>
        <a:xfrm>
          <a:off x="0" y="1770856"/>
          <a:ext cx="99060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7246699-8A1C-48A5-BCC7-09A0703BA894}">
      <dsp:nvSpPr>
        <dsp:cNvPr id="0" name=""/>
        <dsp:cNvSpPr/>
      </dsp:nvSpPr>
      <dsp:spPr>
        <a:xfrm>
          <a:off x="297180" y="1097930"/>
          <a:ext cx="4358640" cy="4250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Monday., 11:00 AM – Monday., 1:00 PM</a:t>
          </a:r>
        </a:p>
      </dsp:txBody>
      <dsp:txXfrm>
        <a:off x="297180" y="1097930"/>
        <a:ext cx="4358640" cy="425005"/>
      </dsp:txXfrm>
    </dsp:sp>
    <dsp:sp modelId="{E957FAB4-D647-459B-B5DF-80A5FEBF099D}">
      <dsp:nvSpPr>
        <dsp:cNvPr id="0" name=""/>
        <dsp:cNvSpPr/>
      </dsp:nvSpPr>
      <dsp:spPr>
        <a:xfrm>
          <a:off x="297180" y="616213"/>
          <a:ext cx="4358640" cy="48171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875" tIns="142875" rIns="142875" bIns="14287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Lab</a:t>
          </a:r>
        </a:p>
      </dsp:txBody>
      <dsp:txXfrm>
        <a:off x="297180" y="616213"/>
        <a:ext cx="4358640" cy="481717"/>
      </dsp:txXfrm>
    </dsp:sp>
    <dsp:sp modelId="{ECE547B2-2263-40BF-BC9F-4749B614D57F}">
      <dsp:nvSpPr>
        <dsp:cNvPr id="0" name=""/>
        <dsp:cNvSpPr/>
      </dsp:nvSpPr>
      <dsp:spPr>
        <a:xfrm>
          <a:off x="2476500" y="1522936"/>
          <a:ext cx="0" cy="247919"/>
        </a:xfrm>
        <a:prstGeom prst="line">
          <a:avLst/>
        </a:pr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B837A5-2EA2-4A25-820F-82CCD96BF893}">
      <dsp:nvSpPr>
        <dsp:cNvPr id="0" name=""/>
        <dsp:cNvSpPr/>
      </dsp:nvSpPr>
      <dsp:spPr>
        <a:xfrm>
          <a:off x="2773680" y="2018775"/>
          <a:ext cx="4358640" cy="425005"/>
        </a:xfrm>
        <a:prstGeom prst="rect">
          <a:avLst/>
        </a:prstGeom>
        <a:gradFill rotWithShape="0">
          <a:gsLst>
            <a:gs pos="0">
              <a:schemeClr val="accent2">
                <a:hueOff val="2394041"/>
                <a:satOff val="-7276"/>
                <a:lumOff val="-9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2394041"/>
                <a:satOff val="-7276"/>
                <a:lumOff val="-9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94041"/>
              <a:satOff val="-7276"/>
              <a:lumOff val="-98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Tue., 11:00 AM – Tue., 12:00 PM</a:t>
          </a:r>
        </a:p>
      </dsp:txBody>
      <dsp:txXfrm>
        <a:off x="2773680" y="2018775"/>
        <a:ext cx="4358640" cy="425005"/>
      </dsp:txXfrm>
    </dsp:sp>
    <dsp:sp modelId="{585043CE-A643-41BC-BF66-D47E3469AA68}">
      <dsp:nvSpPr>
        <dsp:cNvPr id="0" name=""/>
        <dsp:cNvSpPr/>
      </dsp:nvSpPr>
      <dsp:spPr>
        <a:xfrm>
          <a:off x="2773680" y="2443781"/>
          <a:ext cx="4358640" cy="481717"/>
        </a:xfrm>
        <a:prstGeom prst="rect">
          <a:avLst/>
        </a:prstGeom>
        <a:solidFill>
          <a:schemeClr val="accent2">
            <a:tint val="40000"/>
            <a:alpha val="90000"/>
            <a:hueOff val="2070959"/>
            <a:satOff val="-7331"/>
            <a:lumOff val="-31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70959"/>
              <a:satOff val="-7331"/>
              <a:lumOff val="-3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875" tIns="142875" rIns="142875" bIns="14287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Lecture</a:t>
          </a:r>
        </a:p>
      </dsp:txBody>
      <dsp:txXfrm>
        <a:off x="2773680" y="2443781"/>
        <a:ext cx="4358640" cy="481717"/>
      </dsp:txXfrm>
    </dsp:sp>
    <dsp:sp modelId="{C372C684-8ECC-4E9F-B1E3-1BE33E3D0673}">
      <dsp:nvSpPr>
        <dsp:cNvPr id="0" name=""/>
        <dsp:cNvSpPr/>
      </dsp:nvSpPr>
      <dsp:spPr>
        <a:xfrm>
          <a:off x="4953000" y="1770856"/>
          <a:ext cx="0" cy="247919"/>
        </a:xfrm>
        <a:prstGeom prst="line">
          <a:avLst/>
        </a:prstGeom>
        <a:noFill/>
        <a:ln w="9525" cap="flat" cmpd="sng" algn="ctr">
          <a:solidFill>
            <a:schemeClr val="accent2">
              <a:hueOff val="2394041"/>
              <a:satOff val="-7276"/>
              <a:lumOff val="-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768C0-2D07-4E1B-8E21-87F6A765A3D1}">
      <dsp:nvSpPr>
        <dsp:cNvPr id="0" name=""/>
        <dsp:cNvSpPr/>
      </dsp:nvSpPr>
      <dsp:spPr>
        <a:xfrm rot="2700000">
          <a:off x="2448951" y="1743307"/>
          <a:ext cx="55096" cy="55096"/>
        </a:xfrm>
        <a:prstGeom prst="rect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0A60FBE-269C-4AFE-864A-571DD99A7D08}">
      <dsp:nvSpPr>
        <dsp:cNvPr id="0" name=""/>
        <dsp:cNvSpPr/>
      </dsp:nvSpPr>
      <dsp:spPr>
        <a:xfrm rot="2700000">
          <a:off x="4925451" y="1743307"/>
          <a:ext cx="55096" cy="55096"/>
        </a:xfrm>
        <a:prstGeom prst="rect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8773A62-93C8-4F44-83D1-F6B82BEFD1C9}">
      <dsp:nvSpPr>
        <dsp:cNvPr id="0" name=""/>
        <dsp:cNvSpPr/>
      </dsp:nvSpPr>
      <dsp:spPr>
        <a:xfrm>
          <a:off x="5250180" y="1097930"/>
          <a:ext cx="4358640" cy="425005"/>
        </a:xfrm>
        <a:prstGeom prst="rect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88082"/>
              <a:satOff val="-14551"/>
              <a:lumOff val="-196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Thurs., 9:00 AM – Thurs., 11:00 AM</a:t>
          </a:r>
        </a:p>
      </dsp:txBody>
      <dsp:txXfrm>
        <a:off x="5250180" y="1097930"/>
        <a:ext cx="4358640" cy="425005"/>
      </dsp:txXfrm>
    </dsp:sp>
    <dsp:sp modelId="{56F8C335-8D24-4E3F-ABC9-89DFC0D39229}">
      <dsp:nvSpPr>
        <dsp:cNvPr id="0" name=""/>
        <dsp:cNvSpPr/>
      </dsp:nvSpPr>
      <dsp:spPr>
        <a:xfrm>
          <a:off x="5250180" y="616213"/>
          <a:ext cx="4358640" cy="481717"/>
        </a:xfrm>
        <a:prstGeom prst="rect">
          <a:avLst/>
        </a:prstGeom>
        <a:solidFill>
          <a:schemeClr val="accent2">
            <a:tint val="40000"/>
            <a:alpha val="90000"/>
            <a:hueOff val="4141917"/>
            <a:satOff val="-14661"/>
            <a:lumOff val="-638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4141917"/>
              <a:satOff val="-14661"/>
              <a:lumOff val="-63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875" tIns="142875" rIns="142875" bIns="14287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Lecture</a:t>
          </a:r>
        </a:p>
      </dsp:txBody>
      <dsp:txXfrm>
        <a:off x="5250180" y="616213"/>
        <a:ext cx="4358640" cy="481717"/>
      </dsp:txXfrm>
    </dsp:sp>
    <dsp:sp modelId="{9EAEB965-6F3E-404B-8054-763F6611CA31}">
      <dsp:nvSpPr>
        <dsp:cNvPr id="0" name=""/>
        <dsp:cNvSpPr/>
      </dsp:nvSpPr>
      <dsp:spPr>
        <a:xfrm>
          <a:off x="7429500" y="1522936"/>
          <a:ext cx="0" cy="247919"/>
        </a:xfrm>
        <a:prstGeom prst="line">
          <a:avLst/>
        </a:prstGeom>
        <a:noFill/>
        <a:ln w="9525" cap="flat" cmpd="sng" algn="ctr">
          <a:solidFill>
            <a:schemeClr val="accent2">
              <a:hueOff val="4788082"/>
              <a:satOff val="-14551"/>
              <a:lumOff val="-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C8E459-7A5D-472D-8D69-F17271C6B3DC}">
      <dsp:nvSpPr>
        <dsp:cNvPr id="0" name=""/>
        <dsp:cNvSpPr/>
      </dsp:nvSpPr>
      <dsp:spPr>
        <a:xfrm rot="2700000">
          <a:off x="7401951" y="1743307"/>
          <a:ext cx="55096" cy="55096"/>
        </a:xfrm>
        <a:prstGeom prst="rect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6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7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5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64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80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2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1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91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1488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19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8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493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76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7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967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index.html" TargetMode="External"/><Relationship Id="rId2" Type="http://schemas.openxmlformats.org/officeDocument/2006/relationships/hyperlink" Target="gitlab.computing.dcu.ie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mljXZIypDc" TargetMode="External"/><Relationship Id="rId2" Type="http://schemas.openxmlformats.org/officeDocument/2006/relationships/hyperlink" Target="https://realpython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1958-BDEA-461C-B104-B857B62E8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CSC1040 – Full Stack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F4061-AC4E-47DE-9AE0-4F2BC1BF5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Michael Scriney</a:t>
            </a:r>
          </a:p>
        </p:txBody>
      </p:sp>
    </p:spTree>
    <p:extLst>
      <p:ext uri="{BB962C8B-B14F-4D97-AF65-F5344CB8AC3E}">
        <p14:creationId xmlns:p14="http://schemas.microsoft.com/office/powerpoint/2010/main" val="185404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276C-D975-43D4-885E-8D354DCE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GB" dirty="0"/>
              <a:t>About 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B0FF7-177B-477C-A9A1-B7BBB56E7D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80" r="35199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089E-CAF3-4CA5-8389-265DBD77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r>
              <a:rPr lang="en-GB" dirty="0"/>
              <a:t>Assistant Prof School of Computing</a:t>
            </a:r>
          </a:p>
          <a:p>
            <a:r>
              <a:rPr lang="en-GB" dirty="0"/>
              <a:t>Data Warehousing (very large databases)</a:t>
            </a:r>
          </a:p>
          <a:p>
            <a:r>
              <a:rPr lang="en-GB" dirty="0"/>
              <a:t>Software engineering &amp; architectures</a:t>
            </a:r>
          </a:p>
          <a:p>
            <a:r>
              <a:rPr lang="en-GB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04347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FB177-3266-4E9C-A230-50181B49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GB"/>
              <a:t>Timetable</a:t>
            </a:r>
          </a:p>
        </p:txBody>
      </p:sp>
      <p:graphicFrame>
        <p:nvGraphicFramePr>
          <p:cNvPr id="80" name="Content Placeholder 2">
            <a:extLst>
              <a:ext uri="{FF2B5EF4-FFF2-40B4-BE49-F238E27FC236}">
                <a16:creationId xmlns:a16="http://schemas.microsoft.com/office/drawing/2014/main" id="{C949271E-1269-4BF5-9846-CD8CAF79E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474585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0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52038976-054E-4BEF-84BF-7B5614B4E0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ECE547B2-2263-40BF-BC9F-4749B614D5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B15768C0-2D07-4E1B-8E21-87F6A765A3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E7246699-8A1C-48A5-BCC7-09A0703BA8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E957FAB4-D647-459B-B5DF-80A5FEBF0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C372C684-8ECC-4E9F-B1E3-1BE33E3D06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50A60FBE-269C-4AFE-864A-571DD99A7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0CB837A5-2EA2-4A25-820F-82CCD96BF8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585043CE-A643-41BC-BF66-D47E3469A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9EAEB965-6F3E-404B-8054-763F6611CA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02C8E459-7A5D-472D-8D69-F17271C6B3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D8773A62-93C8-4F44-83D1-F6B82BEFD1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graphicEl>
                                              <a:dgm id="{56F8C335-8D24-4E3F-ABC9-89DFC0D392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0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ACA1-DEC7-4EBF-B9E4-C5A5436B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Ca/exam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5E357-30E2-41AE-84A0-20292509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100% CA</a:t>
            </a:r>
          </a:p>
          <a:p>
            <a:r>
              <a:rPr lang="en-GB" dirty="0"/>
              <a:t>4 Loop exams based on lab content, Django</a:t>
            </a:r>
          </a:p>
          <a:p>
            <a:pPr lvl="1"/>
            <a:r>
              <a:rPr lang="en-GB" dirty="0"/>
              <a:t>Django + REST/APIs (40%)</a:t>
            </a:r>
          </a:p>
          <a:p>
            <a:pPr lvl="1"/>
            <a:r>
              <a:rPr lang="en-GB" dirty="0" err="1"/>
              <a:t>Javascript</a:t>
            </a:r>
            <a:r>
              <a:rPr lang="en-GB" dirty="0"/>
              <a:t>  - (20%)</a:t>
            </a:r>
          </a:p>
          <a:p>
            <a:pPr lvl="1"/>
            <a:r>
              <a:rPr lang="en-GB" dirty="0"/>
              <a:t>React -  (40%)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0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221D-3393-F310-EE3C-EB60D4E7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7972"/>
            <a:ext cx="9905998" cy="902372"/>
          </a:xfrm>
        </p:spPr>
        <p:txBody>
          <a:bodyPr/>
          <a:lstStyle/>
          <a:p>
            <a:r>
              <a:rPr lang="en-IE" dirty="0"/>
              <a:t>Ca/Exam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466A6E-0501-CBBB-C820-183DE342C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207699"/>
              </p:ext>
            </p:extLst>
          </p:nvPr>
        </p:nvGraphicFramePr>
        <p:xfrm>
          <a:off x="1760518" y="1245175"/>
          <a:ext cx="7924800" cy="2565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47885465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25798926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2100639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034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45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Backend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Loop exam on Django theory/ rest </a:t>
                      </a:r>
                      <a:r>
                        <a:rPr lang="en-IE" dirty="0" err="1"/>
                        <a:t>apis</a:t>
                      </a:r>
                      <a:r>
                        <a:rPr lang="en-IE" dirty="0"/>
                        <a:t>  and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4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JavaScript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Loop exam on JavaScript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Week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15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Full stack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Exam on full stack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Week 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189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70A96C-EB1A-B89F-988D-87AD410A41D8}"/>
              </a:ext>
            </a:extLst>
          </p:cNvPr>
          <p:cNvSpPr txBox="1"/>
          <p:nvPr/>
        </p:nvSpPr>
        <p:spPr>
          <a:xfrm>
            <a:off x="2220686" y="4239491"/>
            <a:ext cx="7220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Exams based on combination of theory questions and reading/commenting on code effects</a:t>
            </a:r>
          </a:p>
          <a:p>
            <a:r>
              <a:rPr lang="en-US" dirty="0"/>
              <a:t>– Sample exams will be released in advance (starting Week 2)</a:t>
            </a:r>
          </a:p>
        </p:txBody>
      </p:sp>
    </p:spTree>
    <p:extLst>
      <p:ext uri="{BB962C8B-B14F-4D97-AF65-F5344CB8AC3E}">
        <p14:creationId xmlns:p14="http://schemas.microsoft.com/office/powerpoint/2010/main" val="283331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F3FB-5B3B-F565-8DBA-C7AC694D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1AD87-AC8A-2891-41DD-8C88CDDFD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057" y="1866931"/>
            <a:ext cx="9905999" cy="3541714"/>
          </a:xfrm>
        </p:spPr>
        <p:txBody>
          <a:bodyPr/>
          <a:lstStyle/>
          <a:p>
            <a:r>
              <a:rPr lang="en-IE" dirty="0"/>
              <a:t>During the course you will work on full stack systems in the labs</a:t>
            </a:r>
          </a:p>
          <a:p>
            <a:r>
              <a:rPr lang="en-IE" dirty="0"/>
              <a:t>Starting with Django</a:t>
            </a:r>
          </a:p>
          <a:p>
            <a:r>
              <a:rPr lang="en-IE" dirty="0"/>
              <a:t>REST APIs</a:t>
            </a:r>
          </a:p>
          <a:p>
            <a:r>
              <a:rPr lang="en-IE" dirty="0"/>
              <a:t>JavaScript </a:t>
            </a:r>
          </a:p>
          <a:p>
            <a:r>
              <a:rPr lang="en-IE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92167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39B3-DDDC-F105-5D54-B9822DDE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253E-D951-3372-57B4-2ADB895E1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0908"/>
            <a:ext cx="9905999" cy="3541714"/>
          </a:xfrm>
        </p:spPr>
        <p:txBody>
          <a:bodyPr/>
          <a:lstStyle/>
          <a:p>
            <a:r>
              <a:rPr lang="en-IE" dirty="0"/>
              <a:t>During lectures I will run through the core concepts each week</a:t>
            </a:r>
          </a:p>
          <a:p>
            <a:r>
              <a:rPr lang="en-IE" dirty="0"/>
              <a:t>Mostly live programming</a:t>
            </a:r>
          </a:p>
          <a:p>
            <a:pPr lvl="1"/>
            <a:r>
              <a:rPr lang="en-IE" dirty="0"/>
              <a:t>Vs code live share links provided at the start of lecture</a:t>
            </a:r>
          </a:p>
          <a:p>
            <a:pPr lvl="1"/>
            <a:r>
              <a:rPr lang="en-IE" dirty="0"/>
              <a:t>Can open in vs code or your browser</a:t>
            </a:r>
          </a:p>
          <a:p>
            <a:r>
              <a:rPr lang="en-IE" dirty="0"/>
              <a:t>Code uploaded to loop after lecture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6245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0C41-109B-DAD9-E655-85701BA3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IE" dirty="0"/>
              <a:t>Getting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8D50-5E44-EB32-70BC-9B61CAA7C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07094"/>
            <a:ext cx="9905999" cy="4179306"/>
          </a:xfrm>
        </p:spPr>
        <p:txBody>
          <a:bodyPr>
            <a:normAutofit lnSpcReduction="10000"/>
          </a:bodyPr>
          <a:lstStyle/>
          <a:p>
            <a:r>
              <a:rPr lang="en-IE" dirty="0"/>
              <a:t>Myself and the lab tutors will be available during labs to answer questions</a:t>
            </a:r>
          </a:p>
          <a:p>
            <a:pPr lvl="1"/>
            <a:r>
              <a:rPr lang="en-IE" dirty="0"/>
              <a:t>We should be used as a last resort</a:t>
            </a:r>
          </a:p>
          <a:p>
            <a:pPr lvl="1"/>
            <a:r>
              <a:rPr lang="en-IE" dirty="0"/>
              <a:t>Good developers investigate and learn the reasons for errors</a:t>
            </a:r>
          </a:p>
          <a:p>
            <a:r>
              <a:rPr lang="en-IE" dirty="0"/>
              <a:t>If you are stuck, first re-read the instructions</a:t>
            </a:r>
          </a:p>
          <a:p>
            <a:pPr lvl="1"/>
            <a:r>
              <a:rPr lang="en-IE" dirty="0"/>
              <a:t>It is 90% of the time a spelling error , e.g. “book” instead of “books”</a:t>
            </a:r>
          </a:p>
          <a:p>
            <a:r>
              <a:rPr lang="en-IE" dirty="0"/>
              <a:t>Failing that google the error </a:t>
            </a:r>
          </a:p>
          <a:p>
            <a:pPr lvl="1"/>
            <a:r>
              <a:rPr lang="en-IE" dirty="0"/>
              <a:t>More than likely someone has come across it before</a:t>
            </a:r>
          </a:p>
          <a:p>
            <a:r>
              <a:rPr lang="en-IE" dirty="0" err="1"/>
              <a:t>ChatGpt</a:t>
            </a:r>
            <a:r>
              <a:rPr lang="en-IE" dirty="0"/>
              <a:t> – not particularly helpful</a:t>
            </a:r>
          </a:p>
          <a:p>
            <a:pPr lvl="1"/>
            <a:r>
              <a:rPr lang="en-IE" dirty="0"/>
              <a:t>It doesn’t have the wider context to make a decision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2740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F8F7-338F-F2C5-8DEB-1214E242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ChatGPT/Claude/etc..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1ED1-36F5-C998-829A-8ED58C5C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73626"/>
            <a:ext cx="9905999" cy="3541714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Honestly I don’t recommend it</a:t>
            </a:r>
          </a:p>
          <a:p>
            <a:r>
              <a:rPr lang="en-IE" dirty="0"/>
              <a:t>It can do boilerplate stuff, but I find it isn’t very helpful for an </a:t>
            </a:r>
            <a:r>
              <a:rPr lang="en-IE" i="1" dirty="0"/>
              <a:t>entire </a:t>
            </a:r>
            <a:r>
              <a:rPr lang="en-IE" dirty="0"/>
              <a:t>system</a:t>
            </a:r>
          </a:p>
          <a:p>
            <a:pPr lvl="1"/>
            <a:r>
              <a:rPr lang="en-IE" dirty="0"/>
              <a:t>E.g. write a python function to add 2 numbers , is very different to</a:t>
            </a:r>
          </a:p>
          <a:p>
            <a:pPr lvl="1"/>
            <a:r>
              <a:rPr lang="en-IE" dirty="0"/>
              <a:t>Write me the </a:t>
            </a:r>
            <a:r>
              <a:rPr lang="en-IE" dirty="0" err="1"/>
              <a:t>css</a:t>
            </a:r>
            <a:r>
              <a:rPr lang="en-IE" dirty="0"/>
              <a:t>/</a:t>
            </a:r>
            <a:r>
              <a:rPr lang="en-IE" dirty="0" err="1"/>
              <a:t>js</a:t>
            </a:r>
            <a:r>
              <a:rPr lang="en-IE" dirty="0"/>
              <a:t>/html + backend routing + data model + networking + ……..</a:t>
            </a:r>
          </a:p>
          <a:p>
            <a:pPr lvl="2"/>
            <a:r>
              <a:rPr lang="en-IE" dirty="0"/>
              <a:t>It gets things wrong</a:t>
            </a:r>
          </a:p>
          <a:p>
            <a:r>
              <a:rPr lang="en-IE" dirty="0"/>
              <a:t>Because of the nature of LLMs, they are not up to date</a:t>
            </a:r>
          </a:p>
          <a:p>
            <a:pPr lvl="1"/>
            <a:r>
              <a:rPr lang="en-IE" dirty="0"/>
              <a:t>Very bad for front-end stuff where standards change almost daily</a:t>
            </a:r>
          </a:p>
          <a:p>
            <a:pPr lvl="1"/>
            <a:r>
              <a:rPr lang="en-IE" dirty="0" err="1"/>
              <a:t>Chatgpt</a:t>
            </a:r>
            <a:r>
              <a:rPr lang="en-IE" dirty="0"/>
              <a:t> still gives out React code that has been depreciated !</a:t>
            </a:r>
          </a:p>
        </p:txBody>
      </p:sp>
    </p:spTree>
    <p:extLst>
      <p:ext uri="{BB962C8B-B14F-4D97-AF65-F5344CB8AC3E}">
        <p14:creationId xmlns:p14="http://schemas.microsoft.com/office/powerpoint/2010/main" val="199892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61B7-259E-43BF-9012-B667659B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this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D415-FB3B-44FB-A32C-0141F90E8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We learn many things in different modules</a:t>
            </a:r>
          </a:p>
          <a:p>
            <a:r>
              <a:rPr lang="en-GB" dirty="0"/>
              <a:t>Each one in isolation </a:t>
            </a:r>
          </a:p>
          <a:p>
            <a:r>
              <a:rPr lang="en-GB" dirty="0"/>
              <a:t>However real applications link and connect these modules together </a:t>
            </a:r>
          </a:p>
          <a:p>
            <a:r>
              <a:rPr lang="en-GB" dirty="0"/>
              <a:t>Originally – was a logical consequence for the 3</a:t>
            </a:r>
            <a:r>
              <a:rPr lang="en-GB" baseline="30000" dirty="0"/>
              <a:t>rd</a:t>
            </a:r>
            <a:r>
              <a:rPr lang="en-GB" dirty="0"/>
              <a:t> year project (e.g. we need a website) </a:t>
            </a:r>
          </a:p>
          <a:p>
            <a:r>
              <a:rPr lang="en-GB" dirty="0"/>
              <a:t>Most project time was spent learning the web frameworks and not focusing on the actual idea !</a:t>
            </a:r>
          </a:p>
        </p:txBody>
      </p:sp>
    </p:spTree>
    <p:extLst>
      <p:ext uri="{BB962C8B-B14F-4D97-AF65-F5344CB8AC3E}">
        <p14:creationId xmlns:p14="http://schemas.microsoft.com/office/powerpoint/2010/main" val="29468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1C3DEF-4BA6-4452-B40A-9E5451F33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GB" dirty="0"/>
              <a:t>A Note on Web application frameworks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A456-2D21-4315-9CFE-A2FC5BB9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Each language these days has its own framework for creating a web application </a:t>
            </a:r>
          </a:p>
          <a:p>
            <a:pPr>
              <a:lnSpc>
                <a:spcPct val="110000"/>
              </a:lnSpc>
            </a:pPr>
            <a:r>
              <a:rPr lang="en-GB" dirty="0" err="1"/>
              <a:t>Javascript</a:t>
            </a:r>
            <a:r>
              <a:rPr lang="en-GB" dirty="0"/>
              <a:t> – NodeJS</a:t>
            </a:r>
          </a:p>
          <a:p>
            <a:pPr>
              <a:lnSpc>
                <a:spcPct val="110000"/>
              </a:lnSpc>
            </a:pPr>
            <a:r>
              <a:rPr lang="en-GB" dirty="0"/>
              <a:t>Python – Django (or Flask)</a:t>
            </a:r>
          </a:p>
          <a:p>
            <a:pPr>
              <a:lnSpc>
                <a:spcPct val="110000"/>
              </a:lnSpc>
            </a:pPr>
            <a:r>
              <a:rPr lang="en-GB" dirty="0"/>
              <a:t>Ruby – Rails</a:t>
            </a:r>
          </a:p>
          <a:p>
            <a:pPr>
              <a:lnSpc>
                <a:spcPct val="110000"/>
              </a:lnSpc>
            </a:pPr>
            <a:r>
              <a:rPr lang="en-GB" dirty="0"/>
              <a:t>Java – Jersey</a:t>
            </a:r>
          </a:p>
          <a:p>
            <a:pPr>
              <a:lnSpc>
                <a:spcPct val="110000"/>
              </a:lnSpc>
            </a:pPr>
            <a:r>
              <a:rPr lang="en-GB" dirty="0"/>
              <a:t>Some languages were created with web applications in mind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Go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Rust 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91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51F9572-54D5-457A-BA34-C395A478A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C47D2EE3-C191-49DE-B600-02C0905E4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0D562F95-99C1-44F5-A9D2-96096AE57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7132ED-B960-4DBB-ADCA-D07F683A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en-GB" dirty="0"/>
              <a:t>But Wait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856C6-B5D2-4A77-9900-E83F4185E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446" r="7166" b="-1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6A80B50-DCB4-4775-9C8E-7AF0F5680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B6B07F-8DDD-4497-9D08-B1FED4942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34962D6-F3CD-4DC5-BF49-D6912045E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D73EE8F-606B-44B2-B0D8-4E760E239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B572A3-4B3D-42D3-8A1E-099D9711F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C23D0852-9666-424F-92B1-06969E048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4EB5FCA-E3DF-400A-B2DF-3D4A8DE95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CE8BF121-2A5E-4DF0-BF3D-418EBDB29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C74600D7-3557-47CD-B93A-945D150EC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A958ADB2-4D3A-46BD-B22A-C4F4BA897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E9E49CE-2171-48FE-99CC-0680E5E1F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AE8DBF97-F3A6-4B11-A8B9-7130FEACC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37F19211-D5F9-4D42-BC7C-E300523B7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D8FA95C9-8B12-43AB-B57F-E217001D3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FFBCF82E-D8A3-4F77-B21F-AD33E804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9EAEC88E-CF2C-4FFF-BE1C-3ECDDF8AF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32BB7076-53D2-42EF-89F5-730F18CFE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64B50F9C-4972-4D3C-A93A-DD715BA40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B4E1A12C-F137-4ECB-8F56-2FA283321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82996E38-1E79-4C38-BB73-850C1F6BD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CE927FE3-1BE5-4D05-B8D7-88E07FF64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27B981F4-D791-404F-A6E1-83FAD753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C79724CA-F950-4F24-A2DF-A6C66C8FB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B60F86CD-6B84-4A86-9A84-1253D5C63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6ADDC23E-DD84-4022-9E68-7E35C80E6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8FC3E1B2-C741-4242-8D3C-D98A8A213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3E10B4F-DACB-4777-BDEB-26A94121E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0F6D9197-EFD5-4945-BC96-A5EC66848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129E04CE-31E3-49FB-857A-6C0074B6C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DDF20A0-F5D5-4DF9-8859-9BAB9B07D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6EAE610D-D6A4-417B-8D1D-9F46CFD16A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98EB1E73-7882-4002-970B-0EE5E9D0C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6789CED-4C51-4E7C-8352-5589F476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5EA3B6F1-F1AB-4125-B10A-A151640AA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10C1DAD7-FA62-4EA9-8B38-632D88F51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76C106C8-9A2B-4AAD-BCB6-C969DE07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0C85FDCD-71B0-4746-915A-FD6791AAB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AAA649C3-C2F8-4C07-81B6-7CD6A5043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204CA23C-3342-4E0B-8785-EDA0FDBEC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2983555D-7FC7-4A4C-93BC-C29EECEE8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3B6E164A-5B73-496F-83C1-4E257C56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F9EAAD5-930F-4895-869E-5DA5A5ED3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12B05A00-01DB-41D0-98C5-F93FC98C4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ACFCCFE5-2B6E-4EE2-8A0D-A18A31259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70562808-51A5-4773-93CC-8B4A4A36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EC56ED5F-316D-4A66-8F8F-72E26F50B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8C5B852E-E495-4C75-82DA-DD9426B2F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873B9CD9-5CB4-4A2A-87B8-503800220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693D1E94-8556-4B08-AFE0-A60455465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32312E8C-B6A4-4488-A1B8-6A7DECAF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CB36CE95-F25E-4549-9FD6-1B068418D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452D834-CC93-48F0-9C24-A864E0A53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2F8089AF-DC55-4EB6-90DD-468D2F1D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00DD0A37-AD9B-4A38-B2A5-C41D2780D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C24501AA-7C2F-4076-AE7A-3BE446715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AFB36-3434-4047-B20B-5A0C75482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0337" y="1795045"/>
            <a:ext cx="4598986" cy="45740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Once you learn one, you’ll see there are common themes/patters for all of them </a:t>
            </a:r>
          </a:p>
          <a:p>
            <a:pPr>
              <a:lnSpc>
                <a:spcPct val="110000"/>
              </a:lnSpc>
            </a:pPr>
            <a:r>
              <a:rPr lang="en-GB" dirty="0"/>
              <a:t>E.g.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There is always a data source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There will always be a </a:t>
            </a:r>
            <a:r>
              <a:rPr lang="en-GB" sz="2400" i="1" dirty="0"/>
              <a:t>router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There will be some templating mechanism </a:t>
            </a:r>
          </a:p>
          <a:p>
            <a:pPr lvl="1">
              <a:lnSpc>
                <a:spcPct val="110000"/>
              </a:lnSpc>
            </a:pPr>
            <a:r>
              <a:rPr lang="en-GB" sz="2400" dirty="0"/>
              <a:t>Etc..</a:t>
            </a:r>
          </a:p>
        </p:txBody>
      </p:sp>
    </p:spTree>
    <p:extLst>
      <p:ext uri="{BB962C8B-B14F-4D97-AF65-F5344CB8AC3E}">
        <p14:creationId xmlns:p14="http://schemas.microsoft.com/office/powerpoint/2010/main" val="423060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15A7-B429-4042-B851-331EB23A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5728D-DA1D-4BFD-9D88-5F504BC8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one takeaway I want you to learn is how these systems interact</a:t>
            </a:r>
          </a:p>
          <a:p>
            <a:r>
              <a:rPr lang="en-GB" dirty="0"/>
              <a:t>If you can manage this you will become a fully-fledged dev in no time!</a:t>
            </a:r>
          </a:p>
          <a:p>
            <a:r>
              <a:rPr lang="en-GB" dirty="0"/>
              <a:t>In my experience, you should pay attention to </a:t>
            </a:r>
            <a:r>
              <a:rPr lang="en-GB" i="1" dirty="0"/>
              <a:t>where </a:t>
            </a:r>
            <a:r>
              <a:rPr lang="en-GB" dirty="0"/>
              <a:t>code is running</a:t>
            </a:r>
          </a:p>
          <a:p>
            <a:pPr lvl="1"/>
            <a:r>
              <a:rPr lang="en-GB" dirty="0"/>
              <a:t>E.g. on the users browser, on the backend server… on a </a:t>
            </a:r>
            <a:r>
              <a:rPr lang="en-GB" i="1" dirty="0"/>
              <a:t>different </a:t>
            </a:r>
            <a:r>
              <a:rPr lang="en-GB" dirty="0"/>
              <a:t>server</a:t>
            </a:r>
          </a:p>
          <a:p>
            <a:pPr lvl="1"/>
            <a:r>
              <a:rPr lang="en-GB" dirty="0"/>
              <a:t>Understand the responsibilities and limitations of each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477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F2AB-D1C6-42A6-9AF1-67F35565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Stack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B76B-4B9D-44D1-81C3-23A8E99D9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00500"/>
            <a:ext cx="4624119" cy="2280612"/>
          </a:xfrm>
        </p:spPr>
        <p:txBody>
          <a:bodyPr>
            <a:normAutofit/>
          </a:bodyPr>
          <a:lstStyle/>
          <a:p>
            <a:r>
              <a:rPr lang="en-GB" dirty="0"/>
              <a:t>In Software architectures the </a:t>
            </a:r>
            <a:r>
              <a:rPr lang="en-GB" i="1" dirty="0"/>
              <a:t>Stack</a:t>
            </a:r>
            <a:r>
              <a:rPr lang="en-GB" dirty="0"/>
              <a:t> refers to the different layers of technologies used to deliver a web application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57A84-B174-4FA5-B710-BA39C74F302F}"/>
              </a:ext>
            </a:extLst>
          </p:cNvPr>
          <p:cNvSpPr/>
          <p:nvPr/>
        </p:nvSpPr>
        <p:spPr>
          <a:xfrm>
            <a:off x="6747309" y="5159141"/>
            <a:ext cx="3821231" cy="5005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2AD27-E4B0-4062-9E8F-DC848935512A}"/>
              </a:ext>
            </a:extLst>
          </p:cNvPr>
          <p:cNvSpPr/>
          <p:nvPr/>
        </p:nvSpPr>
        <p:spPr>
          <a:xfrm>
            <a:off x="8826366" y="4456497"/>
            <a:ext cx="1742173" cy="70264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35B10-EB7F-4076-9879-1B128C4654B7}"/>
              </a:ext>
            </a:extLst>
          </p:cNvPr>
          <p:cNvSpPr/>
          <p:nvPr/>
        </p:nvSpPr>
        <p:spPr>
          <a:xfrm>
            <a:off x="6747310" y="4456497"/>
            <a:ext cx="2079055" cy="7026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 Application Framework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9E231-D944-4860-86C1-4A8A3A2EC26C}"/>
              </a:ext>
            </a:extLst>
          </p:cNvPr>
          <p:cNvSpPr/>
          <p:nvPr/>
        </p:nvSpPr>
        <p:spPr>
          <a:xfrm>
            <a:off x="6747310" y="3058923"/>
            <a:ext cx="3821229" cy="13975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Backend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D0E9C-CE1E-4BFE-BA56-26E15EFFC992}"/>
              </a:ext>
            </a:extLst>
          </p:cNvPr>
          <p:cNvSpPr/>
          <p:nvPr/>
        </p:nvSpPr>
        <p:spPr>
          <a:xfrm>
            <a:off x="6747309" y="1198345"/>
            <a:ext cx="3821229" cy="190218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Frontend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1DC14-BDF6-4DF4-B08C-17224AC1BB21}"/>
              </a:ext>
            </a:extLst>
          </p:cNvPr>
          <p:cNvSpPr/>
          <p:nvPr/>
        </p:nvSpPr>
        <p:spPr>
          <a:xfrm>
            <a:off x="6978316" y="3888606"/>
            <a:ext cx="1116531" cy="3876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696EF-6D5F-4324-9C3E-F129407888FD}"/>
              </a:ext>
            </a:extLst>
          </p:cNvPr>
          <p:cNvSpPr/>
          <p:nvPr/>
        </p:nvSpPr>
        <p:spPr>
          <a:xfrm>
            <a:off x="8192903" y="3898231"/>
            <a:ext cx="1116531" cy="3876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1629F4-80F8-44DA-8AAD-85C8E6B731E6}"/>
              </a:ext>
            </a:extLst>
          </p:cNvPr>
          <p:cNvSpPr/>
          <p:nvPr/>
        </p:nvSpPr>
        <p:spPr>
          <a:xfrm>
            <a:off x="9407490" y="3888606"/>
            <a:ext cx="1116531" cy="3876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306CD-99AE-4F9E-8964-693C776FF54A}"/>
              </a:ext>
            </a:extLst>
          </p:cNvPr>
          <p:cNvSpPr/>
          <p:nvPr/>
        </p:nvSpPr>
        <p:spPr>
          <a:xfrm>
            <a:off x="8192902" y="3451852"/>
            <a:ext cx="1116531" cy="3876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AFEAA0-CA02-47B4-8BA3-A7F0F5BEDBA9}"/>
              </a:ext>
            </a:extLst>
          </p:cNvPr>
          <p:cNvSpPr/>
          <p:nvPr/>
        </p:nvSpPr>
        <p:spPr>
          <a:xfrm>
            <a:off x="6853187" y="2538003"/>
            <a:ext cx="1713297" cy="321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JS Framework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91D7F-1FEB-493E-AA1E-3D6B3A106475}"/>
              </a:ext>
            </a:extLst>
          </p:cNvPr>
          <p:cNvSpPr/>
          <p:nvPr/>
        </p:nvSpPr>
        <p:spPr>
          <a:xfrm>
            <a:off x="8691612" y="2520418"/>
            <a:ext cx="1713297" cy="321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CSS Framework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7BBBE3-33C7-4AF7-991D-91C252E6EDE6}"/>
              </a:ext>
            </a:extLst>
          </p:cNvPr>
          <p:cNvSpPr/>
          <p:nvPr/>
        </p:nvSpPr>
        <p:spPr>
          <a:xfrm>
            <a:off x="6853186" y="2153949"/>
            <a:ext cx="991403" cy="321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HTML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53E36-B17C-4637-8DE0-44C61677B4DD}"/>
              </a:ext>
            </a:extLst>
          </p:cNvPr>
          <p:cNvSpPr/>
          <p:nvPr/>
        </p:nvSpPr>
        <p:spPr>
          <a:xfrm>
            <a:off x="8152598" y="2153949"/>
            <a:ext cx="991403" cy="321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6B9157-67D5-41BE-BFE3-0FFF5E2F9F20}"/>
              </a:ext>
            </a:extLst>
          </p:cNvPr>
          <p:cNvSpPr/>
          <p:nvPr/>
        </p:nvSpPr>
        <p:spPr>
          <a:xfrm>
            <a:off x="9413506" y="2142461"/>
            <a:ext cx="991403" cy="321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163176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93D2-C4DD-4698-B9CD-C7D5B04A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Stack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F4A1-3D48-4384-AD51-D6DFE6F57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254109"/>
          </a:xfrm>
        </p:spPr>
        <p:txBody>
          <a:bodyPr/>
          <a:lstStyle/>
          <a:p>
            <a:r>
              <a:rPr lang="en-GB" dirty="0"/>
              <a:t>Full Stack Development isn’t hard because of algorithms/design</a:t>
            </a:r>
          </a:p>
          <a:p>
            <a:r>
              <a:rPr lang="en-GB" dirty="0"/>
              <a:t>It is hard because it draws on knowledge of may different modules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E99A97-184F-4678-893E-813C2171CC13}"/>
              </a:ext>
            </a:extLst>
          </p:cNvPr>
          <p:cNvSpPr txBox="1">
            <a:spLocks/>
          </p:cNvSpPr>
          <p:nvPr/>
        </p:nvSpPr>
        <p:spPr>
          <a:xfrm>
            <a:off x="1141411" y="3429000"/>
            <a:ext cx="3882975" cy="2577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Networking</a:t>
            </a:r>
          </a:p>
          <a:p>
            <a:r>
              <a:rPr lang="en-GB" dirty="0"/>
              <a:t>Programming</a:t>
            </a:r>
          </a:p>
          <a:p>
            <a:r>
              <a:rPr lang="en-GB" dirty="0"/>
              <a:t>Databases</a:t>
            </a:r>
          </a:p>
          <a:p>
            <a:r>
              <a:rPr lang="en-GB" dirty="0"/>
              <a:t>HTML/CSS/JS</a:t>
            </a:r>
          </a:p>
          <a:p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5AB92B-A2CA-4AD3-B312-561F1B71CD14}"/>
              </a:ext>
            </a:extLst>
          </p:cNvPr>
          <p:cNvSpPr txBox="1">
            <a:spLocks/>
          </p:cNvSpPr>
          <p:nvPr/>
        </p:nvSpPr>
        <p:spPr>
          <a:xfrm>
            <a:off x="4624152" y="3388895"/>
            <a:ext cx="2806551" cy="2577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REST</a:t>
            </a:r>
          </a:p>
          <a:p>
            <a:r>
              <a:rPr lang="en-GB" dirty="0"/>
              <a:t>Front-End Design</a:t>
            </a:r>
          </a:p>
          <a:p>
            <a:r>
              <a:rPr lang="en-GB" dirty="0"/>
              <a:t>Security</a:t>
            </a:r>
          </a:p>
          <a:p>
            <a:r>
              <a:rPr lang="en-GB" dirty="0"/>
              <a:t>CI/CD</a:t>
            </a:r>
          </a:p>
          <a:p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CA3A26-9561-4833-B604-4FE60F7E2882}"/>
              </a:ext>
            </a:extLst>
          </p:cNvPr>
          <p:cNvSpPr txBox="1">
            <a:spLocks/>
          </p:cNvSpPr>
          <p:nvPr/>
        </p:nvSpPr>
        <p:spPr>
          <a:xfrm>
            <a:off x="7835781" y="3376061"/>
            <a:ext cx="2806551" cy="2577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Version Control</a:t>
            </a:r>
          </a:p>
          <a:p>
            <a:r>
              <a:rPr lang="en-GB" dirty="0"/>
              <a:t>Containerization</a:t>
            </a:r>
          </a:p>
          <a:p>
            <a:r>
              <a:rPr lang="en-GB" dirty="0"/>
              <a:t>Cloud Systems</a:t>
            </a:r>
          </a:p>
          <a:p>
            <a:r>
              <a:rPr lang="en-GB" dirty="0"/>
              <a:t>Etc…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58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4080-92C2-424F-9865-44AF48C0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9AB6F-0157-459D-9FF8-5CF912C96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Python 3.10+ Django</a:t>
            </a:r>
          </a:p>
          <a:p>
            <a:r>
              <a:rPr lang="en-GB" dirty="0"/>
              <a:t>Node</a:t>
            </a:r>
          </a:p>
          <a:p>
            <a:r>
              <a:rPr lang="en-GB" dirty="0"/>
              <a:t>Git + School of Computing Gitlab - </a:t>
            </a:r>
            <a:r>
              <a:rPr lang="en-GB" dirty="0">
                <a:hlinkClick r:id="rId2" action="ppaction://hlinkfile"/>
              </a:rPr>
              <a:t>gitlab.computing.dcu.ie</a:t>
            </a:r>
            <a:r>
              <a:rPr lang="en-GB" dirty="0"/>
              <a:t> – Store Code</a:t>
            </a:r>
          </a:p>
          <a:p>
            <a:pPr lvl="1"/>
            <a:r>
              <a:rPr lang="en-GB" dirty="0"/>
              <a:t>Create repo, </a:t>
            </a:r>
          </a:p>
          <a:p>
            <a:pPr lvl="1"/>
            <a:r>
              <a:rPr lang="en-GB" dirty="0"/>
              <a:t>Repo (not project) must match pattern </a:t>
            </a:r>
            <a:r>
              <a:rPr lang="en-US" dirty="0"/>
              <a:t>2026-csc1040-* (where * can be anything you like).</a:t>
            </a:r>
          </a:p>
          <a:p>
            <a:pPr lvl="1"/>
            <a:r>
              <a:rPr lang="en-GB" dirty="0"/>
              <a:t>TLDR your repo name must start with 2026-csc1040</a:t>
            </a:r>
          </a:p>
          <a:p>
            <a:r>
              <a:rPr lang="en-GB" dirty="0"/>
              <a:t>Database – We’ll use </a:t>
            </a:r>
            <a:r>
              <a:rPr lang="en-GB" dirty="0">
                <a:hlinkClick r:id="rId3"/>
              </a:rPr>
              <a:t>SQLite</a:t>
            </a:r>
            <a:r>
              <a:rPr lang="en-GB" dirty="0"/>
              <a:t> for development</a:t>
            </a:r>
          </a:p>
          <a:p>
            <a:pPr lvl="1"/>
            <a:r>
              <a:rPr lang="en-GB" dirty="0"/>
              <a:t>Django will make this for you automatically</a:t>
            </a:r>
          </a:p>
          <a:p>
            <a:r>
              <a:rPr lang="en-GB" dirty="0" err="1"/>
              <a:t>VSCode</a:t>
            </a:r>
            <a:endParaRPr lang="en-GB" dirty="0"/>
          </a:p>
          <a:p>
            <a:r>
              <a:rPr lang="en-GB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417843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9BF0-76CA-3D8C-B495-CD2A32BE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0C59D-26BC-B9AC-A5AE-E780FB1D9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54963"/>
            <a:ext cx="9905999" cy="4169975"/>
          </a:xfrm>
        </p:spPr>
        <p:txBody>
          <a:bodyPr>
            <a:normAutofit fontScale="62500" lnSpcReduction="20000"/>
          </a:bodyPr>
          <a:lstStyle/>
          <a:p>
            <a:r>
              <a:rPr lang="en-IE" dirty="0"/>
              <a:t>The lab machines have all necessary software installed</a:t>
            </a:r>
          </a:p>
          <a:p>
            <a:pPr lvl="1"/>
            <a:r>
              <a:rPr lang="en-IE" dirty="0"/>
              <a:t>Linux or Windows – although windows is recommended as Linux has disc space issues</a:t>
            </a:r>
          </a:p>
          <a:p>
            <a:r>
              <a:rPr lang="en-IE" dirty="0"/>
              <a:t>I recommend spending the first week getting your environment setup on your </a:t>
            </a:r>
            <a:r>
              <a:rPr lang="en-IE" b="1" dirty="0"/>
              <a:t>local machines</a:t>
            </a:r>
          </a:p>
          <a:p>
            <a:pPr lvl="1"/>
            <a:r>
              <a:rPr lang="en-IE" dirty="0"/>
              <a:t>Install python, vs code etc..</a:t>
            </a:r>
          </a:p>
          <a:p>
            <a:pPr lvl="1"/>
            <a:r>
              <a:rPr lang="en-IE" dirty="0"/>
              <a:t>Get used to using python </a:t>
            </a:r>
            <a:r>
              <a:rPr lang="en-IE" dirty="0" err="1"/>
              <a:t>venv</a:t>
            </a:r>
            <a:endParaRPr lang="en-IE" dirty="0"/>
          </a:p>
          <a:p>
            <a:r>
              <a:rPr lang="en-IE" dirty="0"/>
              <a:t>Your first task in any development job will be to setup &amp; configure your new machine</a:t>
            </a:r>
          </a:p>
          <a:p>
            <a:pPr lvl="1"/>
            <a:r>
              <a:rPr lang="en-IE" dirty="0"/>
              <a:t>This is good practice</a:t>
            </a:r>
          </a:p>
          <a:p>
            <a:r>
              <a:rPr lang="en-IE" dirty="0"/>
              <a:t>I </a:t>
            </a:r>
            <a:r>
              <a:rPr lang="en-IE" b="1" dirty="0"/>
              <a:t>do not</a:t>
            </a:r>
            <a:r>
              <a:rPr lang="en-IE" dirty="0"/>
              <a:t> recommend using the WSL during this work (unless you understand how the </a:t>
            </a:r>
            <a:r>
              <a:rPr lang="en-IE" dirty="0" err="1"/>
              <a:t>wsl</a:t>
            </a:r>
            <a:r>
              <a:rPr lang="en-IE" dirty="0"/>
              <a:t> &amp; networking &amp; ports work)</a:t>
            </a:r>
          </a:p>
          <a:p>
            <a:r>
              <a:rPr lang="en-IE" dirty="0"/>
              <a:t>I do not recommend using the redbrick servers</a:t>
            </a:r>
          </a:p>
          <a:p>
            <a:pPr lvl="1"/>
            <a:r>
              <a:rPr lang="en-IE" dirty="0"/>
              <a:t>They were fine for running simple .</a:t>
            </a:r>
            <a:r>
              <a:rPr lang="en-IE" dirty="0" err="1"/>
              <a:t>py</a:t>
            </a:r>
            <a:r>
              <a:rPr lang="en-IE" dirty="0"/>
              <a:t> scripts, it won’t work for web applications</a:t>
            </a:r>
          </a:p>
          <a:p>
            <a:r>
              <a:rPr lang="en-IE" dirty="0"/>
              <a:t>I also do not recommend using a shell to navigate your projects</a:t>
            </a:r>
          </a:p>
          <a:p>
            <a:pPr lvl="1"/>
            <a:r>
              <a:rPr lang="en-IE" dirty="0"/>
              <a:t>You will be dealing with too many files to keep track of using </a:t>
            </a:r>
            <a:r>
              <a:rPr lang="en-IE" i="1" dirty="0"/>
              <a:t>ls </a:t>
            </a:r>
            <a:r>
              <a:rPr lang="en-IE" dirty="0"/>
              <a:t>and </a:t>
            </a:r>
            <a:r>
              <a:rPr lang="en-IE" i="1" dirty="0"/>
              <a:t>cd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3971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2FC3BC-A969-4918-93BB-5348B47C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GB" dirty="0"/>
              <a:t>A note on Django tutorials/notes/books etc…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4E2D-A26E-4645-97C5-A846FECAA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200" dirty="0"/>
              <a:t>There are </a:t>
            </a:r>
            <a:r>
              <a:rPr lang="en-GB" sz="2200" i="1" dirty="0"/>
              <a:t>many</a:t>
            </a:r>
            <a:r>
              <a:rPr lang="en-GB" sz="2200" dirty="0"/>
              <a:t> resources available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But ! 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Different examples are made for different versions of python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Made for different versions of Django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Assume different architectural decisions have been made 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Some will work for you, others wont</a:t>
            </a:r>
          </a:p>
          <a:p>
            <a:pPr>
              <a:lnSpc>
                <a:spcPct val="110000"/>
              </a:lnSpc>
            </a:pPr>
            <a:r>
              <a:rPr lang="en-GB" sz="2200" dirty="0"/>
              <a:t>This is why I am hesitant to recommend one book/website in particular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833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2D80-9584-47EC-8FE9-AC88DDA0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That being said!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F8BB8-B316-4ECB-A567-B0311C11B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https://realpython.com/</a:t>
            </a:r>
            <a:endParaRPr lang="en-GB" dirty="0"/>
          </a:p>
          <a:p>
            <a:r>
              <a:rPr lang="en-GB" dirty="0">
                <a:hlinkClick r:id="rId3"/>
              </a:rPr>
              <a:t>https://www.youtube.com/watch?v=UmljXZIypDc</a:t>
            </a:r>
            <a:endParaRPr lang="en-GB" dirty="0"/>
          </a:p>
          <a:p>
            <a:r>
              <a:rPr lang="en-GB" dirty="0"/>
              <a:t>Two Scoops of Django – Good if </a:t>
            </a:r>
            <a:r>
              <a:rPr lang="en-GB" i="1" dirty="0"/>
              <a:t>slightly </a:t>
            </a:r>
            <a:r>
              <a:rPr lang="en-GB" dirty="0"/>
              <a:t>out of date book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26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5565-D05F-4F6D-A03D-C9198A33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Errors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E614-DC1A-4D89-840A-4E4EB8271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error message you will get during this module may seem daunting, but you </a:t>
            </a:r>
            <a:r>
              <a:rPr lang="en-US" b="1" dirty="0"/>
              <a:t>must</a:t>
            </a:r>
            <a:r>
              <a:rPr lang="en-US" dirty="0"/>
              <a:t> read them. </a:t>
            </a:r>
          </a:p>
          <a:p>
            <a:r>
              <a:rPr lang="en-US" dirty="0"/>
              <a:t>Web applications are more about configuration rather than logic</a:t>
            </a:r>
          </a:p>
          <a:p>
            <a:pPr lvl="1"/>
            <a:r>
              <a:rPr lang="en-US" dirty="0"/>
              <a:t>TLDR; usually it’s a spelling mistake, or incorrect setup</a:t>
            </a:r>
          </a:p>
          <a:p>
            <a:r>
              <a:rPr lang="en-US" dirty="0"/>
              <a:t>Copy/pasting errors into Google also helps</a:t>
            </a:r>
          </a:p>
          <a:p>
            <a:pPr lvl="1"/>
            <a:r>
              <a:rPr lang="en-US" dirty="0"/>
              <a:t>Not so much for </a:t>
            </a:r>
            <a:r>
              <a:rPr lang="en-US" dirty="0" err="1"/>
              <a:t>ChatGPT</a:t>
            </a:r>
            <a:r>
              <a:rPr lang="en-US" dirty="0"/>
              <a:t> though !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4248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1098</Words>
  <Application>Microsoft Macintosh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Tw Cen MT</vt:lpstr>
      <vt:lpstr>Circuit</vt:lpstr>
      <vt:lpstr>CSC1040 – Full Stack Development</vt:lpstr>
      <vt:lpstr>About me </vt:lpstr>
      <vt:lpstr>Timetable</vt:lpstr>
      <vt:lpstr>Ca/exam Breakdown</vt:lpstr>
      <vt:lpstr>Ca/Exam Breakdown</vt:lpstr>
      <vt:lpstr>Labs</vt:lpstr>
      <vt:lpstr>Lectures</vt:lpstr>
      <vt:lpstr>Getting help</vt:lpstr>
      <vt:lpstr>ChatGPT/Claude/etc..</vt:lpstr>
      <vt:lpstr>Why this course?</vt:lpstr>
      <vt:lpstr>A Note on Web application frameworks</vt:lpstr>
      <vt:lpstr>But Wait</vt:lpstr>
      <vt:lpstr>Main Takeaway</vt:lpstr>
      <vt:lpstr>Full Stack Development</vt:lpstr>
      <vt:lpstr>Full Stack Development</vt:lpstr>
      <vt:lpstr>Tools </vt:lpstr>
      <vt:lpstr>Tools</vt:lpstr>
      <vt:lpstr>A note on Django tutorials/notes/books etc…</vt:lpstr>
      <vt:lpstr>That being said!</vt:lpstr>
      <vt:lpstr>A Note on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CA298 – Full Stack Development</dc:title>
  <dc:creator>M Scriney</dc:creator>
  <cp:lastModifiedBy>M Scriney</cp:lastModifiedBy>
  <cp:revision>39</cp:revision>
  <dcterms:created xsi:type="dcterms:W3CDTF">2021-01-19T08:48:05Z</dcterms:created>
  <dcterms:modified xsi:type="dcterms:W3CDTF">2026-01-13T09:36:02Z</dcterms:modified>
</cp:coreProperties>
</file>