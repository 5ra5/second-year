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369" r:id="rId2"/>
    <p:sldId id="370" r:id="rId3"/>
    <p:sldId id="371" r:id="rId4"/>
    <p:sldId id="372" r:id="rId5"/>
    <p:sldId id="373" r:id="rId6"/>
    <p:sldId id="384" r:id="rId7"/>
    <p:sldId id="374" r:id="rId8"/>
    <p:sldId id="375" r:id="rId9"/>
    <p:sldId id="376" r:id="rId10"/>
    <p:sldId id="377" r:id="rId11"/>
    <p:sldId id="378" r:id="rId12"/>
    <p:sldId id="379" r:id="rId13"/>
    <p:sldId id="383" r:id="rId14"/>
    <p:sldId id="380" r:id="rId15"/>
    <p:sldId id="381" r:id="rId16"/>
    <p:sldId id="382" r:id="rId17"/>
    <p:sldId id="3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55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106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D3D4C6-9CBE-4870-BF4D-437C721D61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1D594-D99F-418E-B205-9746AA7B7F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1959A-A77E-4851-9E76-0A05662D5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295A4-CE06-4F0F-AC39-70070DFA0E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215B5-2B7A-4E05-985F-35ABFF76610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919004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19D62-09B2-4A5B-B346-9F6AA3D1583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098756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28FD4D-97F5-AB49-9A5D-0486C4D48108}" type="slidenum">
              <a:rPr lang="en-GB"/>
              <a:pPr/>
              <a:t>1</a:t>
            </a:fld>
            <a:endParaRPr lang="en-GB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19403-F109-442E-80B4-B24B2EEEE9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94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9438CF-4B2C-E245-B90F-621462510FBF}" type="slidenum">
              <a:rPr lang="en-GB"/>
              <a:pPr/>
              <a:t>2</a:t>
            </a:fld>
            <a:endParaRPr lang="en-GB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44A81F-210B-424F-9A2B-C8348B2642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280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9C3D8-0230-4440-B454-BB67F3875F5C}" type="slidenum">
              <a:rPr lang="en-GB"/>
              <a:pPr/>
              <a:t>3</a:t>
            </a:fld>
            <a:endParaRPr lang="en-GB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0DCFA-EC48-433A-9398-72C3802BCCF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9151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6091E-8E40-3E4D-A9BA-15C9A98FAF63}" type="slidenum">
              <a:rPr lang="en-GB"/>
              <a:pPr/>
              <a:t>4</a:t>
            </a:fld>
            <a:endParaRPr lang="en-GB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28837-3B52-4425-83B0-4C370A8F98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5815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67F883-F231-BE42-A4FA-0533FFE0F201}" type="slidenum">
              <a:rPr lang="en-GB"/>
              <a:pPr/>
              <a:t>5</a:t>
            </a:fld>
            <a:endParaRPr lang="en-GB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E0471-AAD0-4DDE-A033-8A0525CE66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1488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67F883-F231-BE42-A4FA-0533FFE0F201}" type="slidenum">
              <a:rPr lang="en-GB"/>
              <a:pPr/>
              <a:t>6</a:t>
            </a:fld>
            <a:endParaRPr lang="en-GB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E0471-AAD0-4DDE-A033-8A0525CE66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7347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67F883-F231-BE42-A4FA-0533FFE0F201}" type="slidenum">
              <a:rPr lang="en-GB"/>
              <a:pPr/>
              <a:t>7</a:t>
            </a:fld>
            <a:endParaRPr lang="en-GB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0F3DD3-3868-4A53-863C-F5F27991FF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5467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67F883-F231-BE42-A4FA-0533FFE0F201}" type="slidenum">
              <a:rPr lang="en-GB"/>
              <a:pPr/>
              <a:t>8</a:t>
            </a:fld>
            <a:endParaRPr lang="en-GB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53A3B-02BA-48BB-BE2C-4761131124C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2707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2AED9C-343E-454C-96F5-236956E01C96}" type="slidenum">
              <a:rPr lang="en-GB"/>
              <a:pPr/>
              <a:t>9</a:t>
            </a:fld>
            <a:endParaRPr lang="en-GB"/>
          </a:p>
        </p:txBody>
      </p:sp>
      <p:sp>
        <p:nvSpPr>
          <p:cNvPr id="481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E0DE3-ABC1-44F6-BF40-CDFA300EFB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0743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A059DF-3316-7440-B1A6-E3E9C90B5EF0}" type="slidenum">
              <a:rPr lang="en-GB"/>
              <a:pPr/>
              <a:t>10</a:t>
            </a:fld>
            <a:endParaRPr lang="en-GB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333FC-2A3A-49D4-BDA2-8E3B33298BF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7859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BEC048-3D3E-A54D-AB56-88A6E348A348}" type="slidenum">
              <a:rPr lang="en-GB"/>
              <a:pPr/>
              <a:t>11</a:t>
            </a:fld>
            <a:endParaRPr lang="en-GB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77445-434E-4BD7-9300-9DEF634C110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9533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32A0B-465B-BD4F-8156-7AE63A079D0A}" type="slidenum">
              <a:rPr lang="en-GB"/>
              <a:pPr/>
              <a:t>12</a:t>
            </a:fld>
            <a:endParaRPr lang="en-GB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952A4-2D87-4309-994C-6CA7F11945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5241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32A0B-465B-BD4F-8156-7AE63A079D0A}" type="slidenum">
              <a:rPr lang="en-GB"/>
              <a:pPr/>
              <a:t>13</a:t>
            </a:fld>
            <a:endParaRPr lang="en-GB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952A4-2D87-4309-994C-6CA7F11945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021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64783F-018E-5848-8E6A-5976A12B3233}" type="slidenum">
              <a:rPr lang="en-GB"/>
              <a:pPr/>
              <a:t>14</a:t>
            </a:fld>
            <a:endParaRPr lang="en-GB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F33F5-6B8C-4DF3-B60E-56CC71AB40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6355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2BC81F-7660-2046-928F-E06F49D24AEF}" type="slidenum">
              <a:rPr lang="en-GB"/>
              <a:pPr/>
              <a:t>15</a:t>
            </a:fld>
            <a:endParaRPr lang="en-GB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DA2BA-3746-4426-ADBF-6BC3773B57A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2707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6F24D2-6EB3-CD41-A0F3-295E578D052D}" type="slidenum">
              <a:rPr lang="en-GB"/>
              <a:pPr/>
              <a:t>16</a:t>
            </a:fld>
            <a:endParaRPr lang="en-GB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43D3F-8251-49B6-A4B8-776BE5AF2B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4219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6F24D2-6EB3-CD41-A0F3-295E578D052D}" type="slidenum">
              <a:rPr lang="en-GB"/>
              <a:pPr/>
              <a:t>17</a:t>
            </a:fld>
            <a:endParaRPr lang="en-GB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43D3F-8251-49B6-A4B8-776BE5AF2B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537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67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9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4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05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23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94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2051" y="266700"/>
            <a:ext cx="2753783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584" y="266700"/>
            <a:ext cx="8060267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4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8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37300" y="1676401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337300" y="4105276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93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985" y="350839"/>
            <a:ext cx="11231033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1" y="1190625"/>
            <a:ext cx="5513916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6867" y="1190625"/>
            <a:ext cx="551391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815234" y="1"/>
            <a:ext cx="376767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ADF6390F-1603-4606-96BE-11F29AAF5AE2}" type="slidenum">
              <a:rPr lang="en-GB" sz="160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97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2117" y="1484313"/>
            <a:ext cx="12088283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18584" y="266700"/>
            <a:ext cx="10860616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7684" y="1676400"/>
            <a:ext cx="10598149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10896600" y="6400801"/>
            <a:ext cx="601133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F04697A2-D443-9B46-B76B-C17EBA70E809}" type="slidenum">
              <a:rPr lang="en-US" sz="1000">
                <a:solidFill>
                  <a:srgbClr val="00279F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>
              <a:solidFill>
                <a:srgbClr val="002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7806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Error-Guessing</a:t>
            </a:r>
          </a:p>
        </p:txBody>
      </p:sp>
    </p:spTree>
    <p:extLst>
      <p:ext uri="{BB962C8B-B14F-4D97-AF65-F5344CB8AC3E}">
        <p14:creationId xmlns:p14="http://schemas.microsoft.com/office/powerpoint/2010/main" val="2809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by intuition and experience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ad hoc testing is based on intuition and guesswork and there are good reasons why this helps us to derive useful tests</a:t>
            </a:r>
          </a:p>
          <a:p>
            <a:r>
              <a:rPr lang="en-US" dirty="0"/>
              <a:t>Some people have a knack of finding bugs</a:t>
            </a:r>
          </a:p>
          <a:p>
            <a:r>
              <a:rPr lang="en-US" dirty="0"/>
              <a:t>Good test cases can be derived in this way</a:t>
            </a:r>
          </a:p>
          <a:p>
            <a:r>
              <a:rPr lang="en-US" dirty="0"/>
              <a:t>Error-guessed test cases should be documented as part of the test plan… in addition to the systematic testing approach.</a:t>
            </a:r>
          </a:p>
        </p:txBody>
      </p:sp>
    </p:spTree>
    <p:extLst>
      <p:ext uri="{BB962C8B-B14F-4D97-AF65-F5344CB8AC3E}">
        <p14:creationId xmlns:p14="http://schemas.microsoft.com/office/powerpoint/2010/main" val="355699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where intuitive testing can be effective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Some examples will give you an insight into how you might use error guessing to derive unusual scenarios to test.</a:t>
            </a:r>
          </a:p>
          <a:p>
            <a:r>
              <a:rPr lang="en-US" sz="2400"/>
              <a:t>A program reading a data file might be presented with:</a:t>
            </a:r>
          </a:p>
          <a:p>
            <a:pPr lvl="1"/>
            <a:r>
              <a:rPr lang="en-US" sz="2000"/>
              <a:t>wrong file, binary file, same file as output, no file</a:t>
            </a:r>
          </a:p>
          <a:p>
            <a:r>
              <a:rPr lang="en-US" sz="2400"/>
              <a:t>A screen that validates numbers might be given:</a:t>
            </a:r>
          </a:p>
          <a:p>
            <a:pPr lvl="1"/>
            <a:r>
              <a:rPr lang="en-US" sz="2000"/>
              <a:t>0,+0,-0,00.0, letter O, numbers with spaces, alphabetic or non-printing characters embedded, and so on.</a:t>
            </a:r>
          </a:p>
        </p:txBody>
      </p:sp>
    </p:spTree>
    <p:extLst>
      <p:ext uri="{BB962C8B-B14F-4D97-AF65-F5344CB8AC3E}">
        <p14:creationId xmlns:p14="http://schemas.microsoft.com/office/powerpoint/2010/main" val="258000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Exploratory Testing</a:t>
            </a:r>
          </a:p>
        </p:txBody>
      </p:sp>
    </p:spTree>
    <p:extLst>
      <p:ext uri="{BB962C8B-B14F-4D97-AF65-F5344CB8AC3E}">
        <p14:creationId xmlns:p14="http://schemas.microsoft.com/office/powerpoint/2010/main" val="321393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Exploratory Testing (ET)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Where the </a:t>
            </a:r>
            <a:r>
              <a:rPr lang="en-US" sz="2400" b="1" dirty="0"/>
              <a:t>documents</a:t>
            </a:r>
            <a:r>
              <a:rPr lang="en-US" sz="2400" dirty="0"/>
              <a:t> that form the </a:t>
            </a:r>
            <a:r>
              <a:rPr lang="en-US" sz="2400" b="1" dirty="0"/>
              <a:t>basis</a:t>
            </a:r>
            <a:r>
              <a:rPr lang="en-US" sz="2400" dirty="0"/>
              <a:t> for test design (e.g. requirements specification(s)) are of </a:t>
            </a:r>
            <a:r>
              <a:rPr lang="en-US" sz="2400" b="1" dirty="0"/>
              <a:t>very low quality or obsolete or do not exist at all</a:t>
            </a:r>
            <a:r>
              <a:rPr lang="en-US" sz="2400" dirty="0"/>
              <a:t>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Perhaps just the program exists!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This technique may also be applicable when there is a </a:t>
            </a:r>
            <a:r>
              <a:rPr lang="en-US" sz="2400" b="1" dirty="0"/>
              <a:t>severe time restriction </a:t>
            </a:r>
            <a:r>
              <a:rPr lang="en-US" sz="2400" dirty="0"/>
              <a:t>(as it potentially uses far less time than other techniques)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Approach is mainly </a:t>
            </a:r>
            <a:r>
              <a:rPr lang="en-US" sz="2400" b="1" dirty="0"/>
              <a:t>based on the intuition and experience </a:t>
            </a:r>
            <a:r>
              <a:rPr lang="en-US" sz="2400" dirty="0"/>
              <a:t>of the tester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337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 to you……</a:t>
            </a:r>
            <a:endParaRPr lang="en-US" dirty="0"/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 smtClean="0"/>
              <a:t>Use the chat box to describe your thoughts on Exploratory Testing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Advantages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400" smtClean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smtClean="0"/>
              <a:t>Disadvantages</a:t>
            </a: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9604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Exploratory Testing (ET)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A powerful and fun approach to testing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Most testers do exploratory testing at one time or another – it’s just </a:t>
            </a:r>
            <a:r>
              <a:rPr lang="en-US" sz="2400" b="1" dirty="0"/>
              <a:t>not visible </a:t>
            </a:r>
            <a:r>
              <a:rPr lang="en-US" sz="2400" dirty="0"/>
              <a:t>to outsiders</a:t>
            </a:r>
          </a:p>
          <a:p>
            <a:pPr>
              <a:lnSpc>
                <a:spcPct val="80000"/>
              </a:lnSpc>
            </a:pPr>
            <a:r>
              <a:rPr lang="en-US" sz="2400" b="1" dirty="0"/>
              <a:t>No</a:t>
            </a:r>
            <a:r>
              <a:rPr lang="en-US" sz="2400" dirty="0"/>
              <a:t> application of a </a:t>
            </a:r>
            <a:r>
              <a:rPr lang="en-US" sz="2400" b="1" dirty="0"/>
              <a:t>structured test process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Possible </a:t>
            </a:r>
            <a:r>
              <a:rPr lang="en-US" sz="2400" b="1" dirty="0"/>
              <a:t>elements</a:t>
            </a:r>
            <a:r>
              <a:rPr lang="en-US" sz="2400" dirty="0"/>
              <a:t> </a:t>
            </a:r>
            <a:r>
              <a:rPr lang="en-US" sz="2400" b="1" dirty="0"/>
              <a:t>of</a:t>
            </a:r>
            <a:r>
              <a:rPr lang="en-US" sz="2400" dirty="0"/>
              <a:t> the </a:t>
            </a:r>
            <a:r>
              <a:rPr lang="en-US" sz="2400" b="1" dirty="0"/>
              <a:t>test</a:t>
            </a:r>
            <a:r>
              <a:rPr lang="en-US" sz="2400" dirty="0"/>
              <a:t> </a:t>
            </a:r>
            <a:r>
              <a:rPr lang="en-US" sz="2400" b="1" dirty="0"/>
              <a:t>object</a:t>
            </a:r>
            <a:r>
              <a:rPr lang="en-US" sz="2400" dirty="0"/>
              <a:t> ( specific </a:t>
            </a:r>
            <a:r>
              <a:rPr lang="en-US" sz="2400" b="1" dirty="0"/>
              <a:t>tasks </a:t>
            </a:r>
            <a:r>
              <a:rPr lang="en-US" sz="2400" dirty="0"/>
              <a:t>and </a:t>
            </a:r>
            <a:r>
              <a:rPr lang="en-US" sz="2400" b="1" dirty="0"/>
              <a:t>functions</a:t>
            </a:r>
            <a:r>
              <a:rPr lang="en-US" sz="2400" dirty="0"/>
              <a:t>) are “</a:t>
            </a:r>
            <a:r>
              <a:rPr lang="en-US" sz="2400" b="1" dirty="0"/>
              <a:t>explored</a:t>
            </a:r>
            <a:r>
              <a:rPr lang="en-US" sz="2400" dirty="0"/>
              <a:t>”… leading to a decision regarding which parts to test.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Execute test cases, see if something “special” or unexpected occurs and run later tests to pursue this lead.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400" dirty="0"/>
              <a:t>Gradually, knowledge about the test object is collected.</a:t>
            </a:r>
          </a:p>
          <a:p>
            <a:pPr>
              <a:lnSpc>
                <a:spcPct val="8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4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Exploratory Testing (ET)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Has a bad reputation in some circles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Sloppy, unprofessional, ineffective, unsystematic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Increasing credibility in the US and Europe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Test design and test execution at the same time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the opposite (?) of scripted testing (predefined test procedures, whether manual or automated).</a:t>
            </a:r>
          </a:p>
        </p:txBody>
      </p:sp>
    </p:spTree>
    <p:extLst>
      <p:ext uri="{BB962C8B-B14F-4D97-AF65-F5344CB8AC3E}">
        <p14:creationId xmlns:p14="http://schemas.microsoft.com/office/powerpoint/2010/main" val="8042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Balancing ET with scripted testing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We become exploratory when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the next test is influenced by the result of the last test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we can't tell what tests should be run in advance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we haven't had the opportunity to create those tests</a:t>
            </a:r>
          </a:p>
          <a:p>
            <a:pPr>
              <a:lnSpc>
                <a:spcPct val="90000"/>
              </a:lnSpc>
            </a:pPr>
            <a:r>
              <a:rPr lang="en-US" sz="2000"/>
              <a:t>If we are running scripted tests, and new information comes to light, we may switch to ET</a:t>
            </a:r>
          </a:p>
          <a:p>
            <a:pPr>
              <a:lnSpc>
                <a:spcPct val="90000"/>
              </a:lnSpc>
            </a:pPr>
            <a:r>
              <a:rPr lang="en-US" sz="2000"/>
              <a:t>We take a scripted approach when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we know how we want to test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new tests are relatively unimportant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we need accuracy and repeatability in the tests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we can pay for test documentation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202000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exploratory testing?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Scripted approach tries to document tester’s ideas and there is a lot of value in that way of testing</a:t>
            </a:r>
          </a:p>
          <a:p>
            <a:pPr>
              <a:lnSpc>
                <a:spcPct val="80000"/>
              </a:lnSpc>
            </a:pPr>
            <a:r>
              <a:rPr lang="en-US" sz="2400"/>
              <a:t>But written test scripts disrupt the intellectual processes that help testers to find important problems quickly</a:t>
            </a:r>
          </a:p>
          <a:p>
            <a:pPr>
              <a:lnSpc>
                <a:spcPct val="80000"/>
              </a:lnSpc>
            </a:pPr>
            <a:r>
              <a:rPr lang="en-US" sz="2400"/>
              <a:t>If testing is intellectually rich and fluid, we will select better tests</a:t>
            </a:r>
          </a:p>
          <a:p>
            <a:pPr>
              <a:lnSpc>
                <a:spcPct val="80000"/>
              </a:lnSpc>
            </a:pPr>
            <a:r>
              <a:rPr lang="en-US" sz="2400"/>
              <a:t>The richness of ET is only limited by the breadth and depth of our imagination and our emerging insights into the nature of the product under test.</a:t>
            </a:r>
          </a:p>
        </p:txBody>
      </p:sp>
    </p:spTree>
    <p:extLst>
      <p:ext uri="{BB962C8B-B14F-4D97-AF65-F5344CB8AC3E}">
        <p14:creationId xmlns:p14="http://schemas.microsoft.com/office/powerpoint/2010/main" val="227073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Mixing scripted tests and ET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Question the value of your tests, because no test process provides complete coverage</a:t>
            </a:r>
          </a:p>
          <a:p>
            <a:r>
              <a:rPr lang="en-US"/>
              <a:t>Maybe 10%, maybe 80% (no hard and fast rule) of each test cycle to exploratory testing</a:t>
            </a:r>
          </a:p>
          <a:p>
            <a:pPr lvl="1"/>
            <a:r>
              <a:rPr lang="en-US"/>
              <a:t>Pick one or more risk areas in the product and design and execute tests for that</a:t>
            </a:r>
          </a:p>
          <a:p>
            <a:pPr lvl="1"/>
            <a:r>
              <a:rPr lang="en-US"/>
              <a:t>Assign one tester to continuous ET duty – use them as a “scout” for new features.</a:t>
            </a:r>
          </a:p>
        </p:txBody>
      </p:sp>
    </p:spTree>
    <p:extLst>
      <p:ext uri="{BB962C8B-B14F-4D97-AF65-F5344CB8AC3E}">
        <p14:creationId xmlns:p14="http://schemas.microsoft.com/office/powerpoint/2010/main" val="106905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ET process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Briefing - one page charter to identify hotspots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Get familiar with product &amp; target hotspots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Try extremes, anything you like to break the product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When you find a bug, explore around it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Look for patterns, clues to other bugs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Document the test that caused the failure; document other tests that cover 'interesting' situations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Log an incident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Move on to next interesting area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When to use ET? When normal testing is suspended or you believe more focused tests in an area will be productive.</a:t>
            </a:r>
          </a:p>
        </p:txBody>
      </p:sp>
    </p:spTree>
    <p:extLst>
      <p:ext uri="{BB962C8B-B14F-4D97-AF65-F5344CB8AC3E}">
        <p14:creationId xmlns:p14="http://schemas.microsoft.com/office/powerpoint/2010/main" val="124938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and continuous Integration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Recall that continuous integration (CI) is the business of continually integration new (and usually small) code additions into the main code branch.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Typically, a fully fledged CI process will include a suite of regression tests to check that all pre-existing software is – to the extent that we can reasonably determine – unaffected by the newly added code.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With ET, some test cases may not be documented (and therefore not systematically repeatable).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Only the test cases that have identified issues *may* be documented / scripted / repeatable.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This has the undesirable implication that many of the test performed in ET may not be easily integrated into the CI regression testing infrastructure. </a:t>
            </a:r>
          </a:p>
        </p:txBody>
      </p:sp>
    </p:spTree>
    <p:extLst>
      <p:ext uri="{BB962C8B-B14F-4D97-AF65-F5344CB8AC3E}">
        <p14:creationId xmlns:p14="http://schemas.microsoft.com/office/powerpoint/2010/main" val="273378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Choosing Test Techniques</a:t>
            </a:r>
          </a:p>
        </p:txBody>
      </p:sp>
    </p:spTree>
    <p:extLst>
      <p:ext uri="{BB962C8B-B14F-4D97-AF65-F5344CB8AC3E}">
        <p14:creationId xmlns:p14="http://schemas.microsoft.com/office/powerpoint/2010/main" val="27032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influences the decision?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Format of requirements for black box techniques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Ranges of numbers – EP/BV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Classification of data into sets – EP, Classification Trees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… and so on</a:t>
            </a:r>
          </a:p>
          <a:p>
            <a:pPr>
              <a:lnSpc>
                <a:spcPct val="80000"/>
              </a:lnSpc>
            </a:pPr>
            <a:r>
              <a:rPr lang="en-US" dirty="0"/>
              <a:t>Poor test design basis documents – ET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076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Contractual requirements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way for a customer to reduce risk and assure test thoroughness would be to mandate a level of testing</a:t>
            </a:r>
          </a:p>
          <a:p>
            <a:pPr lvl="1"/>
            <a:r>
              <a:rPr lang="en-US" dirty="0"/>
              <a:t>BS7925-2 </a:t>
            </a:r>
            <a:r>
              <a:rPr lang="en-US" dirty="0" smtClean="0"/>
              <a:t>was </a:t>
            </a:r>
            <a:r>
              <a:rPr lang="en-US" dirty="0"/>
              <a:t>designed for this </a:t>
            </a:r>
            <a:r>
              <a:rPr lang="en-US" dirty="0" smtClean="0"/>
              <a:t>purpose – now superseded by </a:t>
            </a:r>
            <a:r>
              <a:rPr lang="en-IE" dirty="0" smtClean="0"/>
              <a:t>ISO/IEC/IEEE </a:t>
            </a:r>
            <a:r>
              <a:rPr lang="en-IE" dirty="0"/>
              <a:t>29119-4</a:t>
            </a:r>
            <a:endParaRPr lang="en-US" dirty="0"/>
          </a:p>
          <a:p>
            <a:pPr lvl="1"/>
            <a:r>
              <a:rPr lang="en-US" dirty="0"/>
              <a:t>BS7925-2 </a:t>
            </a:r>
            <a:r>
              <a:rPr lang="en-US" dirty="0" smtClean="0"/>
              <a:t>defined </a:t>
            </a:r>
            <a:r>
              <a:rPr lang="en-US" dirty="0"/>
              <a:t>auditable test process, design and measurement </a:t>
            </a:r>
            <a:r>
              <a:rPr lang="en-US" dirty="0" smtClean="0"/>
              <a:t>techniques</a:t>
            </a:r>
          </a:p>
          <a:p>
            <a:pPr lvl="1"/>
            <a:r>
              <a:rPr lang="en-IE" dirty="0"/>
              <a:t>ISO/IEC/IEEE 29119-4:2015 defines test design techniques that can be used during the test design and implementation process that is defined in ISO/IEC/IEEE 29119‑2.</a:t>
            </a:r>
            <a:endParaRPr lang="en-US" dirty="0"/>
          </a:p>
          <a:p>
            <a:pPr lvl="1"/>
            <a:r>
              <a:rPr lang="en-US" dirty="0"/>
              <a:t>It is quite reasonable for a customer to mandate, "the supplier must use boundary value analysis and branch test design techniques and achieve 100%”</a:t>
            </a:r>
          </a:p>
        </p:txBody>
      </p:sp>
    </p:spTree>
    <p:extLst>
      <p:ext uri="{BB962C8B-B14F-4D97-AF65-F5344CB8AC3E}">
        <p14:creationId xmlns:p14="http://schemas.microsoft.com/office/powerpoint/2010/main" val="71096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9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32259</TotalTime>
  <Words>1028</Words>
  <Application>Microsoft Office PowerPoint</Application>
  <PresentationFormat>Widescreen</PresentationFormat>
  <Paragraphs>109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ＭＳ Ｐゴシック</vt:lpstr>
      <vt:lpstr>Arial</vt:lpstr>
      <vt:lpstr>Calibri</vt:lpstr>
      <vt:lpstr>Monotype Sorts</vt:lpstr>
      <vt:lpstr>1_EvolutifStandard</vt:lpstr>
      <vt:lpstr>Error-Guessing</vt:lpstr>
      <vt:lpstr>Testing by intuition and experience</vt:lpstr>
      <vt:lpstr>Examples where intuitive testing can be effective</vt:lpstr>
      <vt:lpstr>Exploratory Testing</vt:lpstr>
      <vt:lpstr>Intro to Exploratory Testing (ET)</vt:lpstr>
      <vt:lpstr>Over to you……</vt:lpstr>
      <vt:lpstr>Intro to Exploratory Testing (ET)</vt:lpstr>
      <vt:lpstr>Intro to Exploratory Testing (ET)</vt:lpstr>
      <vt:lpstr>Balancing ET with scripted testing</vt:lpstr>
      <vt:lpstr>Why do exploratory testing?</vt:lpstr>
      <vt:lpstr>Mixing scripted tests and ET</vt:lpstr>
      <vt:lpstr>Typical ET process</vt:lpstr>
      <vt:lpstr>ET and continuous Integration</vt:lpstr>
      <vt:lpstr>Choosing Test Techniques</vt:lpstr>
      <vt:lpstr>What influences the decision?</vt:lpstr>
      <vt:lpstr>Contractual requirements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we start</dc:title>
  <dc:creator>Windows User</dc:creator>
  <cp:lastModifiedBy> </cp:lastModifiedBy>
  <cp:revision>158</cp:revision>
  <cp:lastPrinted>2018-11-16T11:30:35Z</cp:lastPrinted>
  <dcterms:created xsi:type="dcterms:W3CDTF">2016-09-21T15:13:11Z</dcterms:created>
  <dcterms:modified xsi:type="dcterms:W3CDTF">2021-03-24T11:59:01Z</dcterms:modified>
</cp:coreProperties>
</file>