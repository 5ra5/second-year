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7" r:id="rId2"/>
  </p:sldMasterIdLst>
  <p:notesMasterIdLst>
    <p:notesMasterId r:id="rId12"/>
  </p:notesMasterIdLst>
  <p:handoutMasterIdLst>
    <p:handoutMasterId r:id="rId13"/>
  </p:handoutMasterIdLst>
  <p:sldIdLst>
    <p:sldId id="312" r:id="rId3"/>
    <p:sldId id="313" r:id="rId4"/>
    <p:sldId id="348" r:id="rId5"/>
    <p:sldId id="317" r:id="rId6"/>
    <p:sldId id="336" r:id="rId7"/>
    <p:sldId id="349" r:id="rId8"/>
    <p:sldId id="350" r:id="rId9"/>
    <p:sldId id="351" r:id="rId10"/>
    <p:sldId id="35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557" autoAdjust="0"/>
    <p:restoredTop sz="94660"/>
  </p:normalViewPr>
  <p:slideViewPr>
    <p:cSldViewPr snapToGrid="0">
      <p:cViewPr varScale="1">
        <p:scale>
          <a:sx n="103" d="100"/>
          <a:sy n="103" d="100"/>
        </p:scale>
        <p:origin x="138" y="384"/>
      </p:cViewPr>
      <p:guideLst/>
    </p:cSldViewPr>
  </p:slideViewPr>
  <p:notesTextViewPr>
    <p:cViewPr>
      <p:scale>
        <a:sx n="1" d="1"/>
        <a:sy n="1" d="1"/>
      </p:scale>
      <p:origin x="0" y="0"/>
    </p:cViewPr>
  </p:notesTextViewPr>
  <p:sorterViewPr>
    <p:cViewPr>
      <p:scale>
        <a:sx n="140" d="100"/>
        <a:sy n="140" d="100"/>
      </p:scale>
      <p:origin x="0" y="-1051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CA20AA-0121-4155-A7DE-EF6A5889E8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E85C7A5F-FF5B-4D4B-971D-73B9123FF2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E"/>
          </a:p>
        </p:txBody>
      </p:sp>
      <p:sp>
        <p:nvSpPr>
          <p:cNvPr id="4" name="Footer Placeholder 3">
            <a:extLst>
              <a:ext uri="{FF2B5EF4-FFF2-40B4-BE49-F238E27FC236}">
                <a16:creationId xmlns:a16="http://schemas.microsoft.com/office/drawing/2014/main" id="{9AA29FA7-EE83-43C5-92F6-20962B359E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7C21531C-74F0-4D38-932B-B0D3AFE02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3A7D85-4A83-4D8F-AEA9-3B2037B1BB41}" type="slidenum">
              <a:rPr lang="en-IE" smtClean="0"/>
              <a:t>‹#›</a:t>
            </a:fld>
            <a:endParaRPr lang="en-IE"/>
          </a:p>
        </p:txBody>
      </p:sp>
    </p:spTree>
    <p:extLst>
      <p:ext uri="{BB962C8B-B14F-4D97-AF65-F5344CB8AC3E}">
        <p14:creationId xmlns:p14="http://schemas.microsoft.com/office/powerpoint/2010/main" val="335315913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19D62-09B2-4A5B-B346-9F6AA3D1583C}" type="slidenum">
              <a:rPr lang="en-IE" smtClean="0"/>
              <a:t>‹#›</a:t>
            </a:fld>
            <a:endParaRPr lang="en-IE"/>
          </a:p>
        </p:txBody>
      </p:sp>
    </p:spTree>
    <p:extLst>
      <p:ext uri="{BB962C8B-B14F-4D97-AF65-F5344CB8AC3E}">
        <p14:creationId xmlns:p14="http://schemas.microsoft.com/office/powerpoint/2010/main" val="168098756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solidFill>
                <a:srgbClr val="000000"/>
              </a:solidFill>
            </a:endParaRPr>
          </a:p>
        </p:txBody>
      </p:sp>
      <p:sp>
        <p:nvSpPr>
          <p:cNvPr id="5" name="Rectangle 3"/>
          <p:cNvSpPr>
            <a:spLocks noGrp="1" noChangeArrowheads="1"/>
          </p:cNvSpPr>
          <p:nvPr>
            <p:ph type="dt" idx="1"/>
          </p:nvPr>
        </p:nvSpPr>
        <p:spPr>
          <a:ln/>
        </p:spPr>
        <p:txBody>
          <a:bodyPr/>
          <a:lstStyle/>
          <a:p>
            <a:endParaRPr lang="en-GB">
              <a:solidFill>
                <a:srgbClr val="000000"/>
              </a:solidFill>
            </a:endParaRPr>
          </a:p>
        </p:txBody>
      </p:sp>
      <p:sp>
        <p:nvSpPr>
          <p:cNvPr id="6" name="Rectangle 6"/>
          <p:cNvSpPr>
            <a:spLocks noGrp="1" noChangeArrowheads="1"/>
          </p:cNvSpPr>
          <p:nvPr>
            <p:ph type="ftr" sz="quarter" idx="4"/>
          </p:nvPr>
        </p:nvSpPr>
        <p:spPr>
          <a:ln/>
        </p:spPr>
        <p:txBody>
          <a:bodyPr/>
          <a:lstStyle/>
          <a:p>
            <a:endParaRPr lang="en-GB" dirty="0">
              <a:solidFill>
                <a:srgbClr val="000000"/>
              </a:solidFill>
            </a:endParaRPr>
          </a:p>
        </p:txBody>
      </p:sp>
      <p:sp>
        <p:nvSpPr>
          <p:cNvPr id="7" name="Rectangle 7"/>
          <p:cNvSpPr>
            <a:spLocks noGrp="1" noChangeArrowheads="1"/>
          </p:cNvSpPr>
          <p:nvPr>
            <p:ph type="sldNum" sz="quarter" idx="5"/>
          </p:nvPr>
        </p:nvSpPr>
        <p:spPr>
          <a:ln/>
        </p:spPr>
        <p:txBody>
          <a:bodyPr/>
          <a:lstStyle/>
          <a:p>
            <a:fld id="{E0E7A31C-9511-FA4A-A182-DA5CA90F70C1}" type="slidenum">
              <a:rPr lang="en-GB">
                <a:solidFill>
                  <a:srgbClr val="000000"/>
                </a:solidFill>
              </a:rPr>
              <a:pPr/>
              <a:t>1</a:t>
            </a:fld>
            <a:endParaRPr lang="en-GB">
              <a:solidFill>
                <a:srgbClr val="000000"/>
              </a:solidFill>
            </a:endParaRPr>
          </a:p>
        </p:txBody>
      </p:sp>
      <p:sp>
        <p:nvSpPr>
          <p:cNvPr id="27238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2384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2939335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solidFill>
                <a:srgbClr val="000000"/>
              </a:solidFill>
            </a:endParaRPr>
          </a:p>
        </p:txBody>
      </p:sp>
      <p:sp>
        <p:nvSpPr>
          <p:cNvPr id="5" name="Rectangle 3"/>
          <p:cNvSpPr>
            <a:spLocks noGrp="1" noChangeArrowheads="1"/>
          </p:cNvSpPr>
          <p:nvPr>
            <p:ph type="dt" idx="1"/>
          </p:nvPr>
        </p:nvSpPr>
        <p:spPr>
          <a:ln/>
        </p:spPr>
        <p:txBody>
          <a:bodyPr/>
          <a:lstStyle/>
          <a:p>
            <a:endParaRPr lang="en-GB">
              <a:solidFill>
                <a:srgbClr val="000000"/>
              </a:solidFill>
            </a:endParaRPr>
          </a:p>
        </p:txBody>
      </p:sp>
      <p:sp>
        <p:nvSpPr>
          <p:cNvPr id="6" name="Rectangle 6"/>
          <p:cNvSpPr>
            <a:spLocks noGrp="1" noChangeArrowheads="1"/>
          </p:cNvSpPr>
          <p:nvPr>
            <p:ph type="ftr" sz="quarter" idx="4"/>
          </p:nvPr>
        </p:nvSpPr>
        <p:spPr>
          <a:ln/>
        </p:spPr>
        <p:txBody>
          <a:bodyPr/>
          <a:lstStyle/>
          <a:p>
            <a:endParaRPr lang="en-GB" dirty="0">
              <a:solidFill>
                <a:srgbClr val="000000"/>
              </a:solidFill>
            </a:endParaRPr>
          </a:p>
        </p:txBody>
      </p:sp>
      <p:sp>
        <p:nvSpPr>
          <p:cNvPr id="7" name="Rectangle 7"/>
          <p:cNvSpPr>
            <a:spLocks noGrp="1" noChangeArrowheads="1"/>
          </p:cNvSpPr>
          <p:nvPr>
            <p:ph type="sldNum" sz="quarter" idx="5"/>
          </p:nvPr>
        </p:nvSpPr>
        <p:spPr>
          <a:ln/>
        </p:spPr>
        <p:txBody>
          <a:bodyPr/>
          <a:lstStyle/>
          <a:p>
            <a:fld id="{4BD26005-3B2D-AA49-A7A4-C84CFD803207}" type="slidenum">
              <a:rPr lang="en-GB">
                <a:solidFill>
                  <a:srgbClr val="000000"/>
                </a:solidFill>
              </a:rPr>
              <a:pPr/>
              <a:t>2</a:t>
            </a:fld>
            <a:endParaRPr lang="en-GB">
              <a:solidFill>
                <a:srgbClr val="000000"/>
              </a:solidFill>
            </a:endParaRPr>
          </a:p>
        </p:txBody>
      </p:sp>
      <p:sp>
        <p:nvSpPr>
          <p:cNvPr id="27248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24867"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720920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7" name="Rectangle 7"/>
          <p:cNvSpPr>
            <a:spLocks noGrp="1" noChangeArrowheads="1"/>
          </p:cNvSpPr>
          <p:nvPr>
            <p:ph type="sldNum" sz="quarter" idx="5"/>
          </p:nvPr>
        </p:nvSpPr>
        <p:spPr>
          <a:ln/>
        </p:spPr>
        <p:txBody>
          <a:bodyPr/>
          <a:lstStyle/>
          <a:p>
            <a:fld id="{3F73C2B5-1FB8-5F41-8446-DC2BE0AFF239}" type="slidenum">
              <a:rPr lang="en-GB"/>
              <a:pPr/>
              <a:t>3</a:t>
            </a:fld>
            <a:endParaRPr lang="en-GB"/>
          </a:p>
        </p:txBody>
      </p:sp>
      <p:sp>
        <p:nvSpPr>
          <p:cNvPr id="27105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10531"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627370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endParaRPr lang="en-GB" dirty="0"/>
          </a:p>
        </p:txBody>
      </p:sp>
      <p:sp>
        <p:nvSpPr>
          <p:cNvPr id="5" name="Rectangle 3"/>
          <p:cNvSpPr>
            <a:spLocks noGrp="1" noChangeArrowheads="1"/>
          </p:cNvSpPr>
          <p:nvPr>
            <p:ph type="dt" idx="1"/>
          </p:nvPr>
        </p:nvSpPr>
        <p:spPr>
          <a:ln/>
        </p:spPr>
        <p:txBody>
          <a:bodyPr/>
          <a:lstStyle/>
          <a:p>
            <a:endParaRPr lang="en-GB"/>
          </a:p>
        </p:txBody>
      </p:sp>
      <p:sp>
        <p:nvSpPr>
          <p:cNvPr id="6" name="Rectangle 6"/>
          <p:cNvSpPr>
            <a:spLocks noGrp="1" noChangeArrowheads="1"/>
          </p:cNvSpPr>
          <p:nvPr>
            <p:ph type="ftr" sz="quarter" idx="4"/>
          </p:nvPr>
        </p:nvSpPr>
        <p:spPr>
          <a:ln/>
        </p:spPr>
        <p:txBody>
          <a:bodyPr/>
          <a:lstStyle/>
          <a:p>
            <a:endParaRPr lang="en-GB" dirty="0"/>
          </a:p>
        </p:txBody>
      </p:sp>
      <p:sp>
        <p:nvSpPr>
          <p:cNvPr id="7" name="Rectangle 7"/>
          <p:cNvSpPr>
            <a:spLocks noGrp="1" noChangeArrowheads="1"/>
          </p:cNvSpPr>
          <p:nvPr>
            <p:ph type="sldNum" sz="quarter" idx="5"/>
          </p:nvPr>
        </p:nvSpPr>
        <p:spPr>
          <a:ln/>
        </p:spPr>
        <p:txBody>
          <a:bodyPr/>
          <a:lstStyle/>
          <a:p>
            <a:fld id="{3F73C2B5-1FB8-5F41-8446-DC2BE0AFF239}" type="slidenum">
              <a:rPr lang="en-GB"/>
              <a:pPr/>
              <a:t>4</a:t>
            </a:fld>
            <a:endParaRPr lang="en-GB"/>
          </a:p>
        </p:txBody>
      </p:sp>
      <p:sp>
        <p:nvSpPr>
          <p:cNvPr id="27105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710531"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2819764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7576" y="4715384"/>
            <a:ext cx="5426652" cy="4467450"/>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4" name="Slide Number Placeholder 3"/>
          <p:cNvSpPr>
            <a:spLocks noGrp="1"/>
          </p:cNvSpPr>
          <p:nvPr>
            <p:ph type="sldNum" sz="quarter" idx="10"/>
          </p:nvPr>
        </p:nvSpPr>
        <p:spPr/>
        <p:txBody>
          <a:bodyPr/>
          <a:lstStyle/>
          <a:p>
            <a:pPr>
              <a:defRPr/>
            </a:pPr>
            <a:fld id="{4D970820-4F02-4031-BE7D-2122683FFD7D}" type="slidenum">
              <a:rPr lang="en-GB" altLang="en-GB" smtClean="0">
                <a:solidFill>
                  <a:srgbClr val="000000"/>
                </a:solidFill>
              </a:rPr>
              <a:pPr>
                <a:defRPr/>
              </a:pPr>
              <a:t>5</a:t>
            </a:fld>
            <a:endParaRPr lang="en-GB" altLang="en-GB">
              <a:solidFill>
                <a:srgbClr val="000000"/>
              </a:solidFill>
            </a:endParaRPr>
          </a:p>
        </p:txBody>
      </p:sp>
      <p:sp>
        <p:nvSpPr>
          <p:cNvPr id="5" name="Date Placeholder 4">
            <a:extLst>
              <a:ext uri="{FF2B5EF4-FFF2-40B4-BE49-F238E27FC236}">
                <a16:creationId xmlns:a16="http://schemas.microsoft.com/office/drawing/2014/main" id="{475B933A-152D-44F1-8D53-9F399D7E759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852325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7576" y="4715384"/>
            <a:ext cx="5426652" cy="4467450"/>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4" name="Slide Number Placeholder 3"/>
          <p:cNvSpPr>
            <a:spLocks noGrp="1"/>
          </p:cNvSpPr>
          <p:nvPr>
            <p:ph type="sldNum" sz="quarter" idx="10"/>
          </p:nvPr>
        </p:nvSpPr>
        <p:spPr/>
        <p:txBody>
          <a:bodyPr/>
          <a:lstStyle/>
          <a:p>
            <a:pPr>
              <a:defRPr/>
            </a:pPr>
            <a:fld id="{4D970820-4F02-4031-BE7D-2122683FFD7D}" type="slidenum">
              <a:rPr lang="en-GB" altLang="en-GB" smtClean="0">
                <a:solidFill>
                  <a:srgbClr val="000000"/>
                </a:solidFill>
              </a:rPr>
              <a:pPr>
                <a:defRPr/>
              </a:pPr>
              <a:t>6</a:t>
            </a:fld>
            <a:endParaRPr lang="en-GB" altLang="en-GB">
              <a:solidFill>
                <a:srgbClr val="000000"/>
              </a:solidFill>
            </a:endParaRPr>
          </a:p>
        </p:txBody>
      </p:sp>
      <p:sp>
        <p:nvSpPr>
          <p:cNvPr id="5" name="Date Placeholder 4">
            <a:extLst>
              <a:ext uri="{FF2B5EF4-FFF2-40B4-BE49-F238E27FC236}">
                <a16:creationId xmlns:a16="http://schemas.microsoft.com/office/drawing/2014/main" id="{475B933A-152D-44F1-8D53-9F399D7E759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784089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7576" y="4715384"/>
            <a:ext cx="5426652" cy="4467450"/>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4" name="Slide Number Placeholder 3"/>
          <p:cNvSpPr>
            <a:spLocks noGrp="1"/>
          </p:cNvSpPr>
          <p:nvPr>
            <p:ph type="sldNum" sz="quarter" idx="10"/>
          </p:nvPr>
        </p:nvSpPr>
        <p:spPr/>
        <p:txBody>
          <a:bodyPr/>
          <a:lstStyle/>
          <a:p>
            <a:pPr>
              <a:defRPr/>
            </a:pPr>
            <a:fld id="{4D970820-4F02-4031-BE7D-2122683FFD7D}" type="slidenum">
              <a:rPr lang="en-GB" altLang="en-GB" smtClean="0">
                <a:solidFill>
                  <a:srgbClr val="000000"/>
                </a:solidFill>
              </a:rPr>
              <a:pPr>
                <a:defRPr/>
              </a:pPr>
              <a:t>7</a:t>
            </a:fld>
            <a:endParaRPr lang="en-GB" altLang="en-GB">
              <a:solidFill>
                <a:srgbClr val="000000"/>
              </a:solidFill>
            </a:endParaRPr>
          </a:p>
        </p:txBody>
      </p:sp>
      <p:sp>
        <p:nvSpPr>
          <p:cNvPr id="5" name="Date Placeholder 4">
            <a:extLst>
              <a:ext uri="{FF2B5EF4-FFF2-40B4-BE49-F238E27FC236}">
                <a16:creationId xmlns:a16="http://schemas.microsoft.com/office/drawing/2014/main" id="{475B933A-152D-44F1-8D53-9F399D7E759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4178606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7576" y="4715384"/>
            <a:ext cx="5426652" cy="4467450"/>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4" name="Slide Number Placeholder 3"/>
          <p:cNvSpPr>
            <a:spLocks noGrp="1"/>
          </p:cNvSpPr>
          <p:nvPr>
            <p:ph type="sldNum" sz="quarter" idx="10"/>
          </p:nvPr>
        </p:nvSpPr>
        <p:spPr/>
        <p:txBody>
          <a:bodyPr/>
          <a:lstStyle/>
          <a:p>
            <a:pPr>
              <a:defRPr/>
            </a:pPr>
            <a:fld id="{4D970820-4F02-4031-BE7D-2122683FFD7D}" type="slidenum">
              <a:rPr lang="en-GB" altLang="en-GB" smtClean="0">
                <a:solidFill>
                  <a:srgbClr val="000000"/>
                </a:solidFill>
              </a:rPr>
              <a:pPr>
                <a:defRPr/>
              </a:pPr>
              <a:t>8</a:t>
            </a:fld>
            <a:endParaRPr lang="en-GB" altLang="en-GB">
              <a:solidFill>
                <a:srgbClr val="000000"/>
              </a:solidFill>
            </a:endParaRPr>
          </a:p>
        </p:txBody>
      </p:sp>
      <p:sp>
        <p:nvSpPr>
          <p:cNvPr id="5" name="Date Placeholder 4">
            <a:extLst>
              <a:ext uri="{FF2B5EF4-FFF2-40B4-BE49-F238E27FC236}">
                <a16:creationId xmlns:a16="http://schemas.microsoft.com/office/drawing/2014/main" id="{475B933A-152D-44F1-8D53-9F399D7E759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4133856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7576" y="4715384"/>
            <a:ext cx="5426652" cy="4467450"/>
          </a:xfrm>
          <a:prstGeom prst="rect">
            <a:avLst/>
          </a:prstGeom>
        </p:spPr>
        <p:txBody>
          <a:bodyPr>
            <a:normAutofit/>
          </a:bodyPr>
          <a:lstStyle/>
          <a:p>
            <a:r>
              <a:rPr lang="en-US" b="1" dirty="0">
                <a:solidFill>
                  <a:srgbClr val="0C2678"/>
                </a:solidFill>
                <a:latin typeface="Verdana" pitchFamily="34" charset="0"/>
                <a:ea typeface="+mn-ea"/>
              </a:rPr>
              <a:t>(PQ) Is anyone in the room familiar with the recent incident with the airline in question?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If someone expresses knowledge of it, ask them to relate to the rest of the room about the root of the problem. If not describe the situation. </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Ask if anyone can cite another recent example when inadequate testing was the cause of issues to an organization:</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(EXAMPLE) Toyota – Recall of cars because of braking failure</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Use the rest of the slide content to discuss how important testing is.</a:t>
            </a:r>
            <a:endParaRPr lang="en-GB" dirty="0">
              <a:solidFill>
                <a:srgbClr val="0C2678"/>
              </a:solidFill>
              <a:latin typeface="Verdana" pitchFamily="34" charset="0"/>
              <a:ea typeface="+mn-ea"/>
            </a:endParaRPr>
          </a:p>
          <a:p>
            <a:r>
              <a:rPr lang="en-US" dirty="0">
                <a:solidFill>
                  <a:srgbClr val="0C2678"/>
                </a:solidFill>
                <a:latin typeface="Verdana" pitchFamily="34" charset="0"/>
                <a:ea typeface="+mn-ea"/>
              </a:rPr>
              <a:t>Highlight Willie Walsh’s statement and the importance he placed on good testing.</a:t>
            </a:r>
            <a:endParaRPr lang="en-GB" dirty="0">
              <a:solidFill>
                <a:srgbClr val="0C2678"/>
              </a:solidFill>
              <a:latin typeface="Verdana" pitchFamily="34" charset="0"/>
              <a:ea typeface="+mn-ea"/>
            </a:endParaRPr>
          </a:p>
        </p:txBody>
      </p:sp>
      <p:sp>
        <p:nvSpPr>
          <p:cNvPr id="4" name="Slide Number Placeholder 3"/>
          <p:cNvSpPr>
            <a:spLocks noGrp="1"/>
          </p:cNvSpPr>
          <p:nvPr>
            <p:ph type="sldNum" sz="quarter" idx="10"/>
          </p:nvPr>
        </p:nvSpPr>
        <p:spPr/>
        <p:txBody>
          <a:bodyPr/>
          <a:lstStyle/>
          <a:p>
            <a:pPr>
              <a:defRPr/>
            </a:pPr>
            <a:fld id="{4D970820-4F02-4031-BE7D-2122683FFD7D}" type="slidenum">
              <a:rPr lang="en-GB" altLang="en-GB" smtClean="0">
                <a:solidFill>
                  <a:srgbClr val="000000"/>
                </a:solidFill>
              </a:rPr>
              <a:pPr>
                <a:defRPr/>
              </a:pPr>
              <a:t>9</a:t>
            </a:fld>
            <a:endParaRPr lang="en-GB" altLang="en-GB">
              <a:solidFill>
                <a:srgbClr val="000000"/>
              </a:solidFill>
            </a:endParaRPr>
          </a:p>
        </p:txBody>
      </p:sp>
      <p:sp>
        <p:nvSpPr>
          <p:cNvPr id="5" name="Date Placeholder 4">
            <a:extLst>
              <a:ext uri="{FF2B5EF4-FFF2-40B4-BE49-F238E27FC236}">
                <a16:creationId xmlns:a16="http://schemas.microsoft.com/office/drawing/2014/main" id="{475B933A-152D-44F1-8D53-9F399D7E759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773666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117369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1569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601675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937684" y="1676400"/>
            <a:ext cx="5196416"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646892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36024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32503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059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71523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946948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297664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2051" y="266700"/>
            <a:ext cx="2753783"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518584" y="266700"/>
            <a:ext cx="8060267"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667147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665880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quarter" idx="2"/>
          </p:nvPr>
        </p:nvSpPr>
        <p:spPr>
          <a:xfrm>
            <a:off x="6337300" y="1676401"/>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Content Placeholder 4"/>
          <p:cNvSpPr>
            <a:spLocks noGrp="1"/>
          </p:cNvSpPr>
          <p:nvPr>
            <p:ph sz="quarter" idx="3"/>
          </p:nvPr>
        </p:nvSpPr>
        <p:spPr>
          <a:xfrm>
            <a:off x="6337300" y="4105276"/>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847393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43985" y="350839"/>
            <a:ext cx="11231033" cy="630237"/>
          </a:xfrm>
        </p:spPr>
        <p:txBody>
          <a:bodyPr/>
          <a:lstStyle/>
          <a:p>
            <a:r>
              <a:rPr lang="en-US"/>
              <a:t>Click to edit Master title style</a:t>
            </a:r>
          </a:p>
        </p:txBody>
      </p:sp>
      <p:sp>
        <p:nvSpPr>
          <p:cNvPr id="3" name="Content Placeholder 2"/>
          <p:cNvSpPr>
            <a:spLocks noGrp="1"/>
          </p:cNvSpPr>
          <p:nvPr>
            <p:ph sz="half" idx="1"/>
          </p:nvPr>
        </p:nvSpPr>
        <p:spPr>
          <a:xfrm>
            <a:off x="539751" y="1190625"/>
            <a:ext cx="5513916"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56867" y="1190625"/>
            <a:ext cx="5513917"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a:xfrm>
            <a:off x="11815234" y="1"/>
            <a:ext cx="376767" cy="142875"/>
          </a:xfrm>
          <a:prstGeom prst="rect">
            <a:avLst/>
          </a:prstGeom>
        </p:spPr>
        <p:txBody>
          <a:bodyPr/>
          <a:lstStyle>
            <a:lvl1pPr>
              <a:defRPr/>
            </a:lvl1p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a:t>
            </a:fld>
            <a:endParaRPr lang="en-GB" sz="1600">
              <a:solidFill>
                <a:srgbClr val="FFFFFF"/>
              </a:solidFill>
            </a:endParaRPr>
          </a:p>
        </p:txBody>
      </p:sp>
    </p:spTree>
    <p:extLst>
      <p:ext uri="{BB962C8B-B14F-4D97-AF65-F5344CB8AC3E}">
        <p14:creationId xmlns:p14="http://schemas.microsoft.com/office/powerpoint/2010/main" val="1710978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3273278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542733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12272076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937684" y="1676400"/>
            <a:ext cx="5196416"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4068123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674850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485519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64864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725803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2332654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9377938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2051" y="266700"/>
            <a:ext cx="2753783"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518584" y="266700"/>
            <a:ext cx="8060267"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0835328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8604496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quarter" idx="2"/>
          </p:nvPr>
        </p:nvSpPr>
        <p:spPr>
          <a:xfrm>
            <a:off x="6337300" y="1676401"/>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Content Placeholder 4"/>
          <p:cNvSpPr>
            <a:spLocks noGrp="1"/>
          </p:cNvSpPr>
          <p:nvPr>
            <p:ph sz="quarter" idx="3"/>
          </p:nvPr>
        </p:nvSpPr>
        <p:spPr>
          <a:xfrm>
            <a:off x="6337300" y="4105276"/>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398112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43985" y="350839"/>
            <a:ext cx="11231033" cy="630237"/>
          </a:xfrm>
        </p:spPr>
        <p:txBody>
          <a:bodyPr/>
          <a:lstStyle/>
          <a:p>
            <a:r>
              <a:rPr lang="en-US"/>
              <a:t>Click to edit Master title style</a:t>
            </a:r>
          </a:p>
        </p:txBody>
      </p:sp>
      <p:sp>
        <p:nvSpPr>
          <p:cNvPr id="3" name="Content Placeholder 2"/>
          <p:cNvSpPr>
            <a:spLocks noGrp="1"/>
          </p:cNvSpPr>
          <p:nvPr>
            <p:ph sz="half" idx="1"/>
          </p:nvPr>
        </p:nvSpPr>
        <p:spPr>
          <a:xfrm>
            <a:off x="539751" y="1190625"/>
            <a:ext cx="5513916"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56867" y="1190625"/>
            <a:ext cx="5513917"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a:xfrm>
            <a:off x="11815234" y="1"/>
            <a:ext cx="376767" cy="142875"/>
          </a:xfrm>
          <a:prstGeom prst="rect">
            <a:avLst/>
          </a:prstGeom>
        </p:spPr>
        <p:txBody>
          <a:bodyPr/>
          <a:lstStyle>
            <a:lvl1pPr>
              <a:defRPr/>
            </a:lvl1p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a:t>
            </a:fld>
            <a:endParaRPr lang="en-GB" sz="1600">
              <a:solidFill>
                <a:srgbClr val="FFFFFF"/>
              </a:solidFill>
            </a:endParaRPr>
          </a:p>
        </p:txBody>
      </p:sp>
    </p:spTree>
    <p:extLst>
      <p:ext uri="{BB962C8B-B14F-4D97-AF65-F5344CB8AC3E}">
        <p14:creationId xmlns:p14="http://schemas.microsoft.com/office/powerpoint/2010/main" val="2331220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2117" y="1484313"/>
            <a:ext cx="12088283" cy="0"/>
          </a:xfrm>
          <a:prstGeom prst="line">
            <a:avLst/>
          </a:prstGeom>
          <a:noFill/>
          <a:ln w="508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r" fontAlgn="base">
              <a:spcBef>
                <a:spcPct val="0"/>
              </a:spcBef>
              <a:spcAft>
                <a:spcPct val="0"/>
              </a:spcAft>
            </a:pPr>
            <a:endParaRPr lang="en-US" sz="1600">
              <a:solidFill>
                <a:srgbClr val="FFFFFF"/>
              </a:solidFill>
            </a:endParaRPr>
          </a:p>
        </p:txBody>
      </p:sp>
      <p:sp>
        <p:nvSpPr>
          <p:cNvPr id="1406979" name="Rectangle 3"/>
          <p:cNvSpPr>
            <a:spLocks noGrp="1" noChangeArrowheads="1"/>
          </p:cNvSpPr>
          <p:nvPr>
            <p:ph type="title"/>
          </p:nvPr>
        </p:nvSpPr>
        <p:spPr bwMode="auto">
          <a:xfrm>
            <a:off x="518584" y="266700"/>
            <a:ext cx="10860616"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937684" y="1676400"/>
            <a:ext cx="10598149"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10896600" y="6400801"/>
            <a:ext cx="601133"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r" eaLnBrk="0" fontAlgn="base" hangingPunct="0">
              <a:spcBef>
                <a:spcPct val="0"/>
              </a:spcBef>
              <a:spcAft>
                <a:spcPct val="0"/>
              </a:spcAft>
            </a:pPr>
            <a:fld id="{F04697A2-D443-9B46-B76B-C17EBA70E809}" type="slidenum">
              <a:rPr lang="en-US" sz="1000">
                <a:solidFill>
                  <a:srgbClr val="00279F"/>
                </a:solidFill>
              </a:rPr>
              <a:pPr algn="r" eaLnBrk="0" fontAlgn="base" hangingPunct="0">
                <a:spcBef>
                  <a:spcPct val="0"/>
                </a:spcBef>
                <a:spcAft>
                  <a:spcPct val="0"/>
                </a:spcAft>
              </a:pPr>
              <a:t>‹#›</a:t>
            </a:fld>
            <a:endParaRPr lang="en-US" sz="1000">
              <a:solidFill>
                <a:srgbClr val="00279F"/>
              </a:solidFill>
            </a:endParaRPr>
          </a:p>
        </p:txBody>
      </p:sp>
    </p:spTree>
    <p:extLst>
      <p:ext uri="{BB962C8B-B14F-4D97-AF65-F5344CB8AC3E}">
        <p14:creationId xmlns:p14="http://schemas.microsoft.com/office/powerpoint/2010/main" val="369378066"/>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2117" y="1484313"/>
            <a:ext cx="12088283" cy="0"/>
          </a:xfrm>
          <a:prstGeom prst="line">
            <a:avLst/>
          </a:prstGeom>
          <a:noFill/>
          <a:ln w="50800">
            <a:solidFill>
              <a:schemeClr val="bg2"/>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r" fontAlgn="base">
              <a:spcBef>
                <a:spcPct val="0"/>
              </a:spcBef>
              <a:spcAft>
                <a:spcPct val="0"/>
              </a:spcAft>
            </a:pPr>
            <a:endParaRPr lang="en-US" sz="1600">
              <a:solidFill>
                <a:srgbClr val="FFFFFF"/>
              </a:solidFill>
            </a:endParaRPr>
          </a:p>
        </p:txBody>
      </p:sp>
      <p:sp>
        <p:nvSpPr>
          <p:cNvPr id="1406979" name="Rectangle 3"/>
          <p:cNvSpPr>
            <a:spLocks noGrp="1" noChangeArrowheads="1"/>
          </p:cNvSpPr>
          <p:nvPr>
            <p:ph type="title"/>
          </p:nvPr>
        </p:nvSpPr>
        <p:spPr bwMode="auto">
          <a:xfrm>
            <a:off x="518584" y="266700"/>
            <a:ext cx="10860616" cy="11049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937684" y="1676400"/>
            <a:ext cx="10598149" cy="4705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10896600" y="6400801"/>
            <a:ext cx="601133" cy="2468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r" eaLnBrk="0" fontAlgn="base" hangingPunct="0">
              <a:spcBef>
                <a:spcPct val="0"/>
              </a:spcBef>
              <a:spcAft>
                <a:spcPct val="0"/>
              </a:spcAft>
            </a:pPr>
            <a:fld id="{F04697A2-D443-9B46-B76B-C17EBA70E809}" type="slidenum">
              <a:rPr lang="en-US" sz="1000">
                <a:solidFill>
                  <a:srgbClr val="00279F"/>
                </a:solidFill>
              </a:rPr>
              <a:pPr algn="r" eaLnBrk="0" fontAlgn="base" hangingPunct="0">
                <a:spcBef>
                  <a:spcPct val="0"/>
                </a:spcBef>
                <a:spcAft>
                  <a:spcPct val="0"/>
                </a:spcAft>
              </a:pPr>
              <a:t>‹#›</a:t>
            </a:fld>
            <a:endParaRPr lang="en-US" sz="1000">
              <a:solidFill>
                <a:srgbClr val="00279F"/>
              </a:solidFill>
            </a:endParaRPr>
          </a:p>
        </p:txBody>
      </p:sp>
    </p:spTree>
    <p:extLst>
      <p:ext uri="{BB962C8B-B14F-4D97-AF65-F5344CB8AC3E}">
        <p14:creationId xmlns:p14="http://schemas.microsoft.com/office/powerpoint/2010/main" val="3652182476"/>
      </p:ext>
    </p:extLst>
  </p:cSld>
  <p:clrMap bg1="dk2" tx1="lt1" bg2="dk1"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hyperlink" Target="https://www.agilealliance.org/" TargetMode="External"/><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7076" name="Rectangle 4"/>
          <p:cNvSpPr>
            <a:spLocks noGrp="1" noChangeArrowheads="1"/>
          </p:cNvSpPr>
          <p:nvPr>
            <p:ph type="ctrTitle"/>
          </p:nvPr>
        </p:nvSpPr>
        <p:spPr/>
        <p:txBody>
          <a:bodyPr/>
          <a:lstStyle/>
          <a:p>
            <a:pPr algn="ctr"/>
            <a:r>
              <a:rPr lang="en-US" dirty="0"/>
              <a:t>Pair Programming</a:t>
            </a:r>
          </a:p>
        </p:txBody>
      </p:sp>
      <p:sp>
        <p:nvSpPr>
          <p:cNvPr id="2307077" name="Rectangle 5"/>
          <p:cNvSpPr>
            <a:spLocks noGrp="1" noChangeArrowheads="1"/>
          </p:cNvSpPr>
          <p:nvPr>
            <p:ph type="subTitle" idx="1"/>
          </p:nvPr>
        </p:nvSpPr>
        <p:spPr/>
        <p:txBody>
          <a:bodyPr/>
          <a:lstStyle/>
          <a:p>
            <a:r>
              <a:rPr lang="en-GB" dirty="0"/>
              <a:t>An Introduction</a:t>
            </a:r>
          </a:p>
        </p:txBody>
      </p:sp>
    </p:spTree>
    <p:extLst>
      <p:ext uri="{BB962C8B-B14F-4D97-AF65-F5344CB8AC3E}">
        <p14:creationId xmlns:p14="http://schemas.microsoft.com/office/powerpoint/2010/main" val="2557357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8100" name="Rectangle 4"/>
          <p:cNvSpPr>
            <a:spLocks noGrp="1" noChangeArrowheads="1"/>
          </p:cNvSpPr>
          <p:nvPr>
            <p:ph type="title"/>
          </p:nvPr>
        </p:nvSpPr>
        <p:spPr/>
        <p:txBody>
          <a:bodyPr/>
          <a:lstStyle/>
          <a:p>
            <a:r>
              <a:rPr lang="en-US" dirty="0"/>
              <a:t>What is </a:t>
            </a:r>
            <a:r>
              <a:rPr lang="en-US" i="1" dirty="0"/>
              <a:t>Pair</a:t>
            </a:r>
            <a:r>
              <a:rPr lang="en-US" dirty="0"/>
              <a:t> Programming?</a:t>
            </a:r>
          </a:p>
        </p:txBody>
      </p:sp>
      <p:sp>
        <p:nvSpPr>
          <p:cNvPr id="2308101" name="Rectangle 5"/>
          <p:cNvSpPr>
            <a:spLocks noGrp="1" noChangeArrowheads="1"/>
          </p:cNvSpPr>
          <p:nvPr>
            <p:ph type="body" idx="1"/>
          </p:nvPr>
        </p:nvSpPr>
        <p:spPr>
          <a:xfrm>
            <a:off x="518584" y="1676400"/>
            <a:ext cx="11368616" cy="4705350"/>
          </a:xfrm>
        </p:spPr>
        <p:txBody>
          <a:bodyPr/>
          <a:lstStyle/>
          <a:p>
            <a:pPr marL="457200" indent="-457200">
              <a:buFont typeface="Arial" panose="020B0604020202020204" pitchFamily="34" charset="0"/>
              <a:buChar char="•"/>
            </a:pPr>
            <a:r>
              <a:rPr lang="en-US" dirty="0"/>
              <a:t>Effectively: two people performing one programming task concurrently, while seated together at one computer. </a:t>
            </a:r>
          </a:p>
          <a:p>
            <a:pPr marL="457200" indent="-457200">
              <a:buFont typeface="Arial" panose="020B0604020202020204" pitchFamily="34" charset="0"/>
              <a:buChar char="•"/>
            </a:pPr>
            <a:r>
              <a:rPr lang="en-US" dirty="0"/>
              <a:t>A definition from the Agile Alliance:</a:t>
            </a:r>
          </a:p>
          <a:p>
            <a:pPr marL="857250" lvl="1" indent="-457200">
              <a:buFont typeface="Arial" panose="020B0604020202020204" pitchFamily="34" charset="0"/>
              <a:buChar char="•"/>
            </a:pPr>
            <a:r>
              <a:rPr lang="en-US" dirty="0"/>
              <a:t>Pair programming consists of two programmers sharing a single workstation (one screen, keyboard and mouse among the pair). The programmer at the keyboard is usually called the "driver", the other, also actively involved in the programming task but focusing more on overall direction is the "navigator"; it is expected that the programmers swap roles every few minutes or so.</a:t>
            </a:r>
          </a:p>
          <a:p>
            <a:pPr marL="457200" indent="-457200">
              <a:buFont typeface="Arial" panose="020B0604020202020204" pitchFamily="34" charset="0"/>
              <a:buChar char="•"/>
            </a:pPr>
            <a:endParaRPr lang="en-IE" dirty="0"/>
          </a:p>
        </p:txBody>
      </p:sp>
    </p:spTree>
    <p:extLst>
      <p:ext uri="{BB962C8B-B14F-4D97-AF65-F5344CB8AC3E}">
        <p14:creationId xmlns:p14="http://schemas.microsoft.com/office/powerpoint/2010/main" val="3083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08101">
                                            <p:txEl>
                                              <p:pRg st="0" end="0"/>
                                            </p:txEl>
                                          </p:spTgt>
                                        </p:tgtEl>
                                        <p:attrNameLst>
                                          <p:attrName>style.visibility</p:attrName>
                                        </p:attrNameLst>
                                      </p:cBhvr>
                                      <p:to>
                                        <p:strVal val="visible"/>
                                      </p:to>
                                    </p:set>
                                    <p:animEffect transition="in" filter="fade">
                                      <p:cBhvr>
                                        <p:cTn id="7" dur="500"/>
                                        <p:tgtEl>
                                          <p:spTgt spid="2308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08101">
                                            <p:txEl>
                                              <p:pRg st="1" end="1"/>
                                            </p:txEl>
                                          </p:spTgt>
                                        </p:tgtEl>
                                        <p:attrNameLst>
                                          <p:attrName>style.visibility</p:attrName>
                                        </p:attrNameLst>
                                      </p:cBhvr>
                                      <p:to>
                                        <p:strVal val="visible"/>
                                      </p:to>
                                    </p:set>
                                    <p:animEffect transition="in" filter="fade">
                                      <p:cBhvr>
                                        <p:cTn id="12" dur="500"/>
                                        <p:tgtEl>
                                          <p:spTgt spid="230810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08101">
                                            <p:txEl>
                                              <p:pRg st="2" end="2"/>
                                            </p:txEl>
                                          </p:spTgt>
                                        </p:tgtEl>
                                        <p:attrNameLst>
                                          <p:attrName>style.visibility</p:attrName>
                                        </p:attrNameLst>
                                      </p:cBhvr>
                                      <p:to>
                                        <p:strVal val="visible"/>
                                      </p:to>
                                    </p:set>
                                    <p:animEffect transition="in" filter="fade">
                                      <p:cBhvr>
                                        <p:cTn id="15" dur="500"/>
                                        <p:tgtEl>
                                          <p:spTgt spid="23081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810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66" name="Rectangle 6"/>
          <p:cNvSpPr>
            <a:spLocks noGrp="1" noChangeArrowheads="1"/>
          </p:cNvSpPr>
          <p:nvPr>
            <p:ph type="title"/>
          </p:nvPr>
        </p:nvSpPr>
        <p:spPr/>
        <p:txBody>
          <a:bodyPr/>
          <a:lstStyle/>
          <a:p>
            <a:r>
              <a:rPr lang="en-US" dirty="0"/>
              <a:t>Benefits of pair programming</a:t>
            </a:r>
          </a:p>
        </p:txBody>
      </p:sp>
      <p:sp>
        <p:nvSpPr>
          <p:cNvPr id="37" name="Content Placeholder 1">
            <a:extLst>
              <a:ext uri="{FF2B5EF4-FFF2-40B4-BE49-F238E27FC236}">
                <a16:creationId xmlns:a16="http://schemas.microsoft.com/office/drawing/2014/main" id="{17CB9329-C46B-4159-8778-7D8762849B04}"/>
              </a:ext>
            </a:extLst>
          </p:cNvPr>
          <p:cNvSpPr>
            <a:spLocks noGrp="1"/>
          </p:cNvSpPr>
          <p:nvPr>
            <p:ph idx="1"/>
          </p:nvPr>
        </p:nvSpPr>
        <p:spPr>
          <a:xfrm>
            <a:off x="1253068" y="1977718"/>
            <a:ext cx="9606844" cy="3960440"/>
          </a:xfrm>
        </p:spPr>
        <p:txBody>
          <a:bodyPr/>
          <a:lstStyle/>
          <a:p>
            <a:pPr marL="457200" indent="-457200">
              <a:buFontTx/>
              <a:buChar char="-"/>
            </a:pPr>
            <a:r>
              <a:rPr lang="en-US" dirty="0"/>
              <a:t>Two people working on problem solving and two minds can be better than one single mind.</a:t>
            </a:r>
          </a:p>
          <a:p>
            <a:pPr marL="457200" indent="-457200">
              <a:buFontTx/>
              <a:buChar char="-"/>
            </a:pPr>
            <a:r>
              <a:rPr lang="en-US" dirty="0"/>
              <a:t>Instant testing and reviewing as a second person is overseeing the work, asking questions and making suggestions for improvements.</a:t>
            </a:r>
          </a:p>
          <a:p>
            <a:pPr marL="457200" indent="-457200">
              <a:buFontTx/>
              <a:buChar char="-"/>
            </a:pPr>
            <a:r>
              <a:rPr lang="en-US" dirty="0"/>
              <a:t>Defect removal (a study suggests 15% quality improvement, but that pair programming is 15% more costly!)</a:t>
            </a:r>
          </a:p>
          <a:p>
            <a:pPr marL="457200" indent="-457200">
              <a:buFontTx/>
              <a:buChar char="-"/>
            </a:pPr>
            <a:r>
              <a:rPr lang="en-US" dirty="0"/>
              <a:t>Shown to be effective in programming educational environments.</a:t>
            </a:r>
          </a:p>
        </p:txBody>
      </p:sp>
    </p:spTree>
    <p:extLst>
      <p:ext uri="{BB962C8B-B14F-4D97-AF65-F5344CB8AC3E}">
        <p14:creationId xmlns:p14="http://schemas.microsoft.com/office/powerpoint/2010/main" val="1155458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66" name="Rectangle 6"/>
          <p:cNvSpPr>
            <a:spLocks noGrp="1" noChangeArrowheads="1"/>
          </p:cNvSpPr>
          <p:nvPr>
            <p:ph type="title"/>
          </p:nvPr>
        </p:nvSpPr>
        <p:spPr/>
        <p:txBody>
          <a:bodyPr/>
          <a:lstStyle/>
          <a:p>
            <a:r>
              <a:rPr lang="en-US" dirty="0"/>
              <a:t>Benefits of pair programming</a:t>
            </a:r>
          </a:p>
        </p:txBody>
      </p:sp>
      <p:sp>
        <p:nvSpPr>
          <p:cNvPr id="37" name="Content Placeholder 1">
            <a:extLst>
              <a:ext uri="{FF2B5EF4-FFF2-40B4-BE49-F238E27FC236}">
                <a16:creationId xmlns:a16="http://schemas.microsoft.com/office/drawing/2014/main" id="{17CB9329-C46B-4159-8778-7D8762849B04}"/>
              </a:ext>
            </a:extLst>
          </p:cNvPr>
          <p:cNvSpPr>
            <a:spLocks noGrp="1"/>
          </p:cNvSpPr>
          <p:nvPr>
            <p:ph idx="1"/>
          </p:nvPr>
        </p:nvSpPr>
        <p:spPr>
          <a:xfrm>
            <a:off x="1253068" y="1977718"/>
            <a:ext cx="9606844" cy="3960440"/>
          </a:xfrm>
        </p:spPr>
        <p:txBody>
          <a:bodyPr/>
          <a:lstStyle/>
          <a:p>
            <a:pPr marL="457200" indent="-457200">
              <a:buFontTx/>
              <a:buChar char="-"/>
            </a:pPr>
            <a:r>
              <a:rPr lang="en-US" dirty="0"/>
              <a:t>Less obvious benefits:</a:t>
            </a:r>
          </a:p>
          <a:p>
            <a:pPr marL="857250" lvl="1" indent="-457200">
              <a:buFontTx/>
              <a:buChar char="-"/>
            </a:pPr>
            <a:r>
              <a:rPr lang="en-US" dirty="0"/>
              <a:t>When implemented correctly, potentially increased peer pressure to perform (e.g. surfing the net and checking email is not so easy when someone is sitting alongside you and checking your work)</a:t>
            </a:r>
          </a:p>
          <a:p>
            <a:pPr marL="857250" lvl="1" indent="-457200">
              <a:buFontTx/>
              <a:buChar char="-"/>
            </a:pPr>
            <a:r>
              <a:rPr lang="en-US" dirty="0"/>
              <a:t>Increased </a:t>
            </a:r>
            <a:r>
              <a:rPr lang="en-US" dirty="0" err="1"/>
              <a:t>socialising</a:t>
            </a:r>
            <a:r>
              <a:rPr lang="en-US" dirty="0"/>
              <a:t> among the team can increase overall team performance</a:t>
            </a:r>
          </a:p>
          <a:p>
            <a:pPr marL="857250" lvl="1" indent="-457200">
              <a:buFontTx/>
              <a:buChar char="-"/>
            </a:pPr>
            <a:r>
              <a:rPr lang="en-US" dirty="0"/>
              <a:t>Knowledge sharing and training</a:t>
            </a:r>
          </a:p>
          <a:p>
            <a:pPr marL="857250" lvl="1" indent="-457200">
              <a:buFontTx/>
              <a:buChar char="-"/>
            </a:pPr>
            <a:r>
              <a:rPr lang="en-US" dirty="0"/>
              <a:t>Reduced overall coordination effort (1/2 as many programming tasks at any time)</a:t>
            </a:r>
          </a:p>
          <a:p>
            <a:pPr marL="857250" lvl="1" indent="-457200">
              <a:buFontTx/>
              <a:buChar char="-"/>
            </a:pPr>
            <a:endParaRPr lang="en-US" dirty="0"/>
          </a:p>
          <a:p>
            <a:pPr marL="857250" lvl="1" indent="-457200">
              <a:buFontTx/>
              <a:buChar char="-"/>
            </a:pPr>
            <a:endParaRPr lang="en-IE" dirty="0"/>
          </a:p>
        </p:txBody>
      </p:sp>
    </p:spTree>
    <p:extLst>
      <p:ext uri="{BB962C8B-B14F-4D97-AF65-F5344CB8AC3E}">
        <p14:creationId xmlns:p14="http://schemas.microsoft.com/office/powerpoint/2010/main" val="1998172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Reported issues with pair programming</a:t>
            </a:r>
          </a:p>
        </p:txBody>
      </p:sp>
      <p:sp>
        <p:nvSpPr>
          <p:cNvPr id="6" name="Slide Number Placeholder 5"/>
          <p:cNvSpPr>
            <a:spLocks noGrp="1"/>
          </p:cNvSpPr>
          <p:nvPr>
            <p:ph type="sldNum" sz="quarter" idx="4294967295"/>
          </p:nvPr>
        </p:nvSpPr>
        <p:spPr>
          <a:xfrm>
            <a:off x="10385426" y="1"/>
            <a:ext cx="282575" cy="142875"/>
          </a:xfrm>
          <a:prstGeom prst="rect">
            <a:avLst/>
          </a:prstGeom>
        </p:spPr>
        <p:txBody>
          <a:body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5</a:t>
            </a:fld>
            <a:endParaRPr lang="en-GB" sz="1600">
              <a:solidFill>
                <a:srgbClr val="FFFFFF"/>
              </a:solidFill>
            </a:endParaRPr>
          </a:p>
        </p:txBody>
      </p:sp>
      <p:sp>
        <p:nvSpPr>
          <p:cNvPr id="2" name="Content Placeholder 1"/>
          <p:cNvSpPr>
            <a:spLocks noGrp="1"/>
          </p:cNvSpPr>
          <p:nvPr>
            <p:ph idx="1"/>
          </p:nvPr>
        </p:nvSpPr>
        <p:spPr>
          <a:xfrm>
            <a:off x="1253068" y="1742191"/>
            <a:ext cx="9606844" cy="3960440"/>
          </a:xfrm>
        </p:spPr>
        <p:txBody>
          <a:bodyPr/>
          <a:lstStyle/>
          <a:p>
            <a:pPr marL="457200" indent="-457200">
              <a:buFontTx/>
              <a:buChar char="-"/>
            </a:pPr>
            <a:r>
              <a:rPr lang="en-US" dirty="0"/>
              <a:t>both programmers must be actively engaging with the task throughout a paired session, otherwise no benefit can be expected</a:t>
            </a:r>
          </a:p>
          <a:p>
            <a:pPr marL="457200" indent="-457200">
              <a:buFontTx/>
              <a:buChar char="-"/>
            </a:pPr>
            <a:r>
              <a:rPr lang="en-US" dirty="0"/>
              <a:t>at least the driver, and possibly both programmers, are expected to keep up a running commentary; i.e. "programming out loud" - if the driver is silent, the navigator should intervene</a:t>
            </a:r>
          </a:p>
          <a:p>
            <a:pPr marL="457200" indent="-457200">
              <a:buFontTx/>
              <a:buChar char="-"/>
            </a:pPr>
            <a:r>
              <a:rPr lang="en-US" dirty="0"/>
              <a:t>pair programming cannot be fruitfully forced upon people, especially if relationship issues, including the most mundane (such as personal hygiene), are getting in the way; solve these first!</a:t>
            </a:r>
          </a:p>
          <a:p>
            <a:pPr marL="457200" indent="-457200">
              <a:buFontTx/>
              <a:buChar char="-"/>
            </a:pPr>
            <a:endParaRPr lang="en-IE" dirty="0"/>
          </a:p>
        </p:txBody>
      </p:sp>
    </p:spTree>
    <p:extLst>
      <p:ext uri="{BB962C8B-B14F-4D97-AF65-F5344CB8AC3E}">
        <p14:creationId xmlns:p14="http://schemas.microsoft.com/office/powerpoint/2010/main" val="3332173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Reported issues with pair programming</a:t>
            </a:r>
          </a:p>
        </p:txBody>
      </p:sp>
      <p:sp>
        <p:nvSpPr>
          <p:cNvPr id="6" name="Slide Number Placeholder 5"/>
          <p:cNvSpPr>
            <a:spLocks noGrp="1"/>
          </p:cNvSpPr>
          <p:nvPr>
            <p:ph type="sldNum" sz="quarter" idx="4294967295"/>
          </p:nvPr>
        </p:nvSpPr>
        <p:spPr>
          <a:xfrm>
            <a:off x="10385426" y="1"/>
            <a:ext cx="282575" cy="142875"/>
          </a:xfrm>
          <a:prstGeom prst="rect">
            <a:avLst/>
          </a:prstGeom>
        </p:spPr>
        <p:txBody>
          <a:body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6</a:t>
            </a:fld>
            <a:endParaRPr lang="en-GB" sz="1600">
              <a:solidFill>
                <a:srgbClr val="FFFFFF"/>
              </a:solidFill>
            </a:endParaRPr>
          </a:p>
        </p:txBody>
      </p:sp>
      <p:sp>
        <p:nvSpPr>
          <p:cNvPr id="2" name="Content Placeholder 1"/>
          <p:cNvSpPr>
            <a:spLocks noGrp="1"/>
          </p:cNvSpPr>
          <p:nvPr>
            <p:ph idx="1"/>
          </p:nvPr>
        </p:nvSpPr>
        <p:spPr>
          <a:xfrm>
            <a:off x="1253068" y="1742191"/>
            <a:ext cx="9606844" cy="3960440"/>
          </a:xfrm>
        </p:spPr>
        <p:txBody>
          <a:bodyPr/>
          <a:lstStyle/>
          <a:p>
            <a:pPr marL="457200" indent="-457200">
              <a:buFontTx/>
              <a:buChar char="-"/>
            </a:pPr>
            <a:r>
              <a:rPr lang="en-US" dirty="0"/>
              <a:t>Grades of noise:</a:t>
            </a:r>
          </a:p>
          <a:p>
            <a:pPr marL="857250" lvl="1" indent="-457200">
              <a:buFontTx/>
              <a:buChar char="-"/>
            </a:pPr>
            <a:r>
              <a:rPr lang="en-US" dirty="0"/>
              <a:t>Some programmers have a propensity for chitchat, focus must be on the programming task otherwise it is not pair </a:t>
            </a:r>
            <a:r>
              <a:rPr lang="en-US" i="1" dirty="0"/>
              <a:t>programming, </a:t>
            </a:r>
            <a:r>
              <a:rPr lang="en-US" dirty="0"/>
              <a:t>it is pair </a:t>
            </a:r>
            <a:r>
              <a:rPr lang="en-US" i="1" dirty="0"/>
              <a:t>chitchatting</a:t>
            </a:r>
            <a:r>
              <a:rPr lang="en-US" dirty="0"/>
              <a:t>. </a:t>
            </a:r>
            <a:endParaRPr lang="en-US" i="1" dirty="0"/>
          </a:p>
          <a:p>
            <a:pPr marL="857250" lvl="1" indent="-457200">
              <a:buFontTx/>
              <a:buChar char="-"/>
            </a:pPr>
            <a:r>
              <a:rPr lang="en-US" dirty="0"/>
              <a:t>Some programmers talk too loud and distract other pair programmers, it is important to moderate the volume. </a:t>
            </a:r>
          </a:p>
          <a:p>
            <a:pPr marL="857250" lvl="1" indent="-457200">
              <a:buFontTx/>
              <a:buChar char="-"/>
            </a:pPr>
            <a:r>
              <a:rPr lang="en-US" dirty="0"/>
              <a:t>One of the pair do not engage, freeloading.</a:t>
            </a:r>
          </a:p>
          <a:p>
            <a:pPr marL="857250" lvl="1" indent="-457200">
              <a:buFontTx/>
              <a:buChar char="-"/>
            </a:pPr>
            <a:r>
              <a:rPr lang="en-US" dirty="0"/>
              <a:t>No noise at all is just as concerning. </a:t>
            </a:r>
          </a:p>
          <a:p>
            <a:pPr marL="457200" indent="-457200">
              <a:buFontTx/>
              <a:buChar char="-"/>
            </a:pPr>
            <a:endParaRPr lang="en-IE" dirty="0"/>
          </a:p>
        </p:txBody>
      </p:sp>
    </p:spTree>
    <p:extLst>
      <p:ext uri="{BB962C8B-B14F-4D97-AF65-F5344CB8AC3E}">
        <p14:creationId xmlns:p14="http://schemas.microsoft.com/office/powerpoint/2010/main" val="491074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Pair programming and testing</a:t>
            </a:r>
          </a:p>
        </p:txBody>
      </p:sp>
      <p:sp>
        <p:nvSpPr>
          <p:cNvPr id="6" name="Slide Number Placeholder 5"/>
          <p:cNvSpPr>
            <a:spLocks noGrp="1"/>
          </p:cNvSpPr>
          <p:nvPr>
            <p:ph type="sldNum" sz="quarter" idx="4294967295"/>
          </p:nvPr>
        </p:nvSpPr>
        <p:spPr>
          <a:xfrm>
            <a:off x="10385426" y="1"/>
            <a:ext cx="282575" cy="142875"/>
          </a:xfrm>
          <a:prstGeom prst="rect">
            <a:avLst/>
          </a:prstGeom>
        </p:spPr>
        <p:txBody>
          <a:body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7</a:t>
            </a:fld>
            <a:endParaRPr lang="en-GB" sz="1600">
              <a:solidFill>
                <a:srgbClr val="FFFFFF"/>
              </a:solidFill>
            </a:endParaRPr>
          </a:p>
        </p:txBody>
      </p:sp>
      <p:sp>
        <p:nvSpPr>
          <p:cNvPr id="2" name="Content Placeholder 1"/>
          <p:cNvSpPr>
            <a:spLocks noGrp="1"/>
          </p:cNvSpPr>
          <p:nvPr>
            <p:ph idx="1"/>
          </p:nvPr>
        </p:nvSpPr>
        <p:spPr>
          <a:xfrm>
            <a:off x="1253068" y="1742191"/>
            <a:ext cx="9606844" cy="3960440"/>
          </a:xfrm>
        </p:spPr>
        <p:txBody>
          <a:bodyPr/>
          <a:lstStyle/>
          <a:p>
            <a:pPr marL="457200" indent="-457200">
              <a:buFontTx/>
              <a:buChar char="-"/>
            </a:pPr>
            <a:r>
              <a:rPr lang="en-US" dirty="0"/>
              <a:t>When used simultaneously with test-driven development, a flavour sometimes termed </a:t>
            </a:r>
            <a:r>
              <a:rPr lang="en-US" i="1" dirty="0"/>
              <a:t>ping-pong</a:t>
            </a:r>
            <a:r>
              <a:rPr lang="en-US" dirty="0"/>
              <a:t> programming promotes more frequent switching of roles</a:t>
            </a:r>
          </a:p>
          <a:p>
            <a:pPr marL="457200" indent="-457200">
              <a:buFontTx/>
              <a:buChar char="-"/>
            </a:pPr>
            <a:r>
              <a:rPr lang="en-US" dirty="0"/>
              <a:t>One programmer writes a failing unit test, then passes the keyboard to the other who writes the corresponding code, then goes on to a new test.</a:t>
            </a:r>
          </a:p>
          <a:p>
            <a:pPr marL="457200" indent="-457200">
              <a:buFontTx/>
              <a:buChar char="-"/>
            </a:pPr>
            <a:r>
              <a:rPr lang="en-US" dirty="0"/>
              <a:t>This variant can be used purely for educational purposes.</a:t>
            </a:r>
            <a:endParaRPr lang="en-IE" dirty="0"/>
          </a:p>
        </p:txBody>
      </p:sp>
    </p:spTree>
    <p:extLst>
      <p:ext uri="{BB962C8B-B14F-4D97-AF65-F5344CB8AC3E}">
        <p14:creationId xmlns:p14="http://schemas.microsoft.com/office/powerpoint/2010/main" val="693875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Pair programming</a:t>
            </a:r>
          </a:p>
        </p:txBody>
      </p:sp>
      <p:sp>
        <p:nvSpPr>
          <p:cNvPr id="6" name="Slide Number Placeholder 5"/>
          <p:cNvSpPr>
            <a:spLocks noGrp="1"/>
          </p:cNvSpPr>
          <p:nvPr>
            <p:ph type="sldNum" sz="quarter" idx="4294967295"/>
          </p:nvPr>
        </p:nvSpPr>
        <p:spPr>
          <a:xfrm>
            <a:off x="10385426" y="1"/>
            <a:ext cx="282575" cy="142875"/>
          </a:xfrm>
          <a:prstGeom prst="rect">
            <a:avLst/>
          </a:prstGeom>
        </p:spPr>
        <p:txBody>
          <a:body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8</a:t>
            </a:fld>
            <a:endParaRPr lang="en-GB" sz="1600">
              <a:solidFill>
                <a:srgbClr val="FFFFFF"/>
              </a:solidFill>
            </a:endParaRPr>
          </a:p>
        </p:txBody>
      </p:sp>
      <p:sp>
        <p:nvSpPr>
          <p:cNvPr id="2" name="Content Placeholder 1"/>
          <p:cNvSpPr>
            <a:spLocks noGrp="1"/>
          </p:cNvSpPr>
          <p:nvPr>
            <p:ph idx="1"/>
          </p:nvPr>
        </p:nvSpPr>
        <p:spPr>
          <a:xfrm>
            <a:off x="1253068" y="1742191"/>
            <a:ext cx="9606844" cy="3960440"/>
          </a:xfrm>
        </p:spPr>
        <p:txBody>
          <a:bodyPr/>
          <a:lstStyle/>
          <a:p>
            <a:pPr marL="457200" indent="-457200">
              <a:buFontTx/>
              <a:buChar char="-"/>
            </a:pPr>
            <a:r>
              <a:rPr lang="en-US" dirty="0"/>
              <a:t>Further info available online, e.g. </a:t>
            </a:r>
            <a:r>
              <a:rPr lang="en-US" dirty="0">
                <a:hlinkClick r:id="rId3"/>
              </a:rPr>
              <a:t>https://www.agilealliance.org</a:t>
            </a:r>
            <a:endParaRPr lang="en-US" dirty="0"/>
          </a:p>
          <a:p>
            <a:pPr marL="457200" indent="-457200">
              <a:buFontTx/>
              <a:buChar char="-"/>
            </a:pPr>
            <a:endParaRPr lang="en-IE" dirty="0"/>
          </a:p>
        </p:txBody>
      </p:sp>
    </p:spTree>
    <p:extLst>
      <p:ext uri="{BB962C8B-B14F-4D97-AF65-F5344CB8AC3E}">
        <p14:creationId xmlns:p14="http://schemas.microsoft.com/office/powerpoint/2010/main" val="3424019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p:txBody>
          <a:bodyPr/>
          <a:lstStyle/>
          <a:p>
            <a:r>
              <a:rPr lang="en-GB" dirty="0"/>
              <a:t>Useful Pair Programming video links</a:t>
            </a:r>
          </a:p>
        </p:txBody>
      </p:sp>
      <p:sp>
        <p:nvSpPr>
          <p:cNvPr id="6" name="Slide Number Placeholder 5"/>
          <p:cNvSpPr>
            <a:spLocks noGrp="1"/>
          </p:cNvSpPr>
          <p:nvPr>
            <p:ph type="sldNum" sz="quarter" idx="4294967295"/>
          </p:nvPr>
        </p:nvSpPr>
        <p:spPr>
          <a:xfrm>
            <a:off x="10385426" y="1"/>
            <a:ext cx="282575" cy="142875"/>
          </a:xfrm>
          <a:prstGeom prst="rect">
            <a:avLst/>
          </a:prstGeom>
        </p:spPr>
        <p:txBody>
          <a:body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9</a:t>
            </a:fld>
            <a:endParaRPr lang="en-GB" sz="1600">
              <a:solidFill>
                <a:srgbClr val="FFFFFF"/>
              </a:solidFill>
            </a:endParaRPr>
          </a:p>
        </p:txBody>
      </p:sp>
      <p:sp>
        <p:nvSpPr>
          <p:cNvPr id="2" name="Content Placeholder 1"/>
          <p:cNvSpPr>
            <a:spLocks noGrp="1"/>
          </p:cNvSpPr>
          <p:nvPr>
            <p:ph idx="1"/>
          </p:nvPr>
        </p:nvSpPr>
        <p:spPr>
          <a:xfrm>
            <a:off x="1253068" y="1742191"/>
            <a:ext cx="9606844" cy="3960440"/>
          </a:xfrm>
        </p:spPr>
        <p:txBody>
          <a:bodyPr/>
          <a:lstStyle/>
          <a:p>
            <a:pPr marL="457200" indent="-457200">
              <a:buFontTx/>
              <a:buChar char="-"/>
            </a:pPr>
            <a:r>
              <a:rPr lang="en-US" dirty="0"/>
              <a:t>An introduction to student based pair programming:</a:t>
            </a:r>
          </a:p>
          <a:p>
            <a:pPr marL="0" indent="0"/>
            <a:r>
              <a:rPr lang="en-US" dirty="0"/>
              <a:t>	https://www.youtube.com/watch?v=rG_U12uqRhE</a:t>
            </a:r>
          </a:p>
          <a:p>
            <a:pPr marL="457200" indent="-457200">
              <a:buFontTx/>
              <a:buChar char="-"/>
            </a:pPr>
            <a:endParaRPr lang="en-US" dirty="0"/>
          </a:p>
          <a:p>
            <a:pPr marL="457200" indent="-457200">
              <a:buFontTx/>
              <a:buChar char="-"/>
            </a:pPr>
            <a:r>
              <a:rPr lang="en-IE" dirty="0"/>
              <a:t>Pair programming in the main: 	https://www.youtube.com/watch?v=u_eZ-ae2FY8</a:t>
            </a:r>
          </a:p>
        </p:txBody>
      </p:sp>
    </p:spTree>
    <p:extLst>
      <p:ext uri="{BB962C8B-B14F-4D97-AF65-F5344CB8AC3E}">
        <p14:creationId xmlns:p14="http://schemas.microsoft.com/office/powerpoint/2010/main" val="3375746659"/>
      </p:ext>
    </p:extLst>
  </p:cSld>
  <p:clrMapOvr>
    <a:masterClrMapping/>
  </p:clrMapOvr>
</p:sld>
</file>

<file path=ppt/theme/theme1.xml><?xml version="1.0" encoding="utf-8"?>
<a:theme xmlns:a="http://schemas.openxmlformats.org/drawingml/2006/main" name="1_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28368</TotalTime>
  <Words>1068</Words>
  <Application>Microsoft Office PowerPoint</Application>
  <PresentationFormat>Widescreen</PresentationFormat>
  <Paragraphs>82</Paragraphs>
  <Slides>9</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ＭＳ Ｐゴシック</vt:lpstr>
      <vt:lpstr>Arial</vt:lpstr>
      <vt:lpstr>Calibri</vt:lpstr>
      <vt:lpstr>Monotype Sorts</vt:lpstr>
      <vt:lpstr>Verdana</vt:lpstr>
      <vt:lpstr>1_EvolutifStandard</vt:lpstr>
      <vt:lpstr>2_EvolutifStandard</vt:lpstr>
      <vt:lpstr>Pair Programming</vt:lpstr>
      <vt:lpstr>What is Pair Programming?</vt:lpstr>
      <vt:lpstr>Benefits of pair programming</vt:lpstr>
      <vt:lpstr>Benefits of pair programming</vt:lpstr>
      <vt:lpstr>Reported issues with pair programming</vt:lpstr>
      <vt:lpstr>Reported issues with pair programming</vt:lpstr>
      <vt:lpstr>Pair programming and testing</vt:lpstr>
      <vt:lpstr>Pair programming</vt:lpstr>
      <vt:lpstr>Useful Pair Programming video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we start</dc:title>
  <dc:creator>Windows User</dc:creator>
  <cp:lastModifiedBy> </cp:lastModifiedBy>
  <cp:revision>151</cp:revision>
  <cp:lastPrinted>2018-10-15T12:26:57Z</cp:lastPrinted>
  <dcterms:created xsi:type="dcterms:W3CDTF">2016-09-21T15:13:11Z</dcterms:created>
  <dcterms:modified xsi:type="dcterms:W3CDTF">2022-01-14T14:27:49Z</dcterms:modified>
</cp:coreProperties>
</file>