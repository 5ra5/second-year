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handoutMasterIdLst>
    <p:handoutMasterId r:id="rId47"/>
  </p:handoutMasterIdLst>
  <p:sldIdLst>
    <p:sldId id="385" r:id="rId2"/>
    <p:sldId id="386" r:id="rId3"/>
    <p:sldId id="387" r:id="rId4"/>
    <p:sldId id="388" r:id="rId5"/>
    <p:sldId id="389" r:id="rId6"/>
    <p:sldId id="393" r:id="rId7"/>
    <p:sldId id="394" r:id="rId8"/>
    <p:sldId id="395" r:id="rId9"/>
    <p:sldId id="396" r:id="rId10"/>
    <p:sldId id="397" r:id="rId11"/>
    <p:sldId id="398" r:id="rId12"/>
    <p:sldId id="399" r:id="rId13"/>
    <p:sldId id="400" r:id="rId14"/>
    <p:sldId id="401" r:id="rId15"/>
    <p:sldId id="460" r:id="rId16"/>
    <p:sldId id="402" r:id="rId17"/>
    <p:sldId id="459" r:id="rId18"/>
    <p:sldId id="452" r:id="rId19"/>
    <p:sldId id="453" r:id="rId20"/>
    <p:sldId id="454" r:id="rId21"/>
    <p:sldId id="403" r:id="rId22"/>
    <p:sldId id="404" r:id="rId23"/>
    <p:sldId id="405" r:id="rId24"/>
    <p:sldId id="406" r:id="rId25"/>
    <p:sldId id="407" r:id="rId26"/>
    <p:sldId id="408" r:id="rId27"/>
    <p:sldId id="409" r:id="rId28"/>
    <p:sldId id="410" r:id="rId29"/>
    <p:sldId id="411" r:id="rId30"/>
    <p:sldId id="412" r:id="rId31"/>
    <p:sldId id="413" r:id="rId32"/>
    <p:sldId id="461" r:id="rId33"/>
    <p:sldId id="414" r:id="rId34"/>
    <p:sldId id="415" r:id="rId35"/>
    <p:sldId id="416" r:id="rId36"/>
    <p:sldId id="417" r:id="rId37"/>
    <p:sldId id="418" r:id="rId38"/>
    <p:sldId id="419" r:id="rId39"/>
    <p:sldId id="420" r:id="rId40"/>
    <p:sldId id="421" r:id="rId41"/>
    <p:sldId id="422" r:id="rId42"/>
    <p:sldId id="423" r:id="rId43"/>
    <p:sldId id="424" r:id="rId44"/>
    <p:sldId id="46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557" autoAdjust="0"/>
    <p:restoredTop sz="94660"/>
  </p:normalViewPr>
  <p:slideViewPr>
    <p:cSldViewPr snapToGrid="0">
      <p:cViewPr varScale="1">
        <p:scale>
          <a:sx n="69" d="100"/>
          <a:sy n="69" d="100"/>
        </p:scale>
        <p:origin x="60" y="72"/>
      </p:cViewPr>
      <p:guideLst/>
    </p:cSldViewPr>
  </p:slideViewPr>
  <p:notesTextViewPr>
    <p:cViewPr>
      <p:scale>
        <a:sx n="3" d="2"/>
        <a:sy n="3" d="2"/>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EBEE0E-2B66-45F1-9ACA-6CB13A3BDC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B7595760-A8D1-49F0-B0AB-C4A197FCCC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E"/>
          </a:p>
        </p:txBody>
      </p:sp>
      <p:sp>
        <p:nvSpPr>
          <p:cNvPr id="4" name="Footer Placeholder 3">
            <a:extLst>
              <a:ext uri="{FF2B5EF4-FFF2-40B4-BE49-F238E27FC236}">
                <a16:creationId xmlns:a16="http://schemas.microsoft.com/office/drawing/2014/main" id="{857B4F31-8577-4A19-A6B0-618E5086CC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B4AC4EA6-011E-4770-ADF4-64A40EB1CB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06F4C7-385B-4062-A8BA-B353A8E4A3E2}" type="slidenum">
              <a:rPr lang="en-IE" smtClean="0"/>
              <a:t>‹#›</a:t>
            </a:fld>
            <a:endParaRPr lang="en-IE"/>
          </a:p>
        </p:txBody>
      </p:sp>
    </p:spTree>
    <p:extLst>
      <p:ext uri="{BB962C8B-B14F-4D97-AF65-F5344CB8AC3E}">
        <p14:creationId xmlns:p14="http://schemas.microsoft.com/office/powerpoint/2010/main" val="2065670085"/>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19D62-09B2-4A5B-B346-9F6AA3D1583C}" type="slidenum">
              <a:rPr lang="en-IE" smtClean="0"/>
              <a:t>‹#›</a:t>
            </a:fld>
            <a:endParaRPr lang="en-IE"/>
          </a:p>
        </p:txBody>
      </p:sp>
    </p:spTree>
    <p:extLst>
      <p:ext uri="{BB962C8B-B14F-4D97-AF65-F5344CB8AC3E}">
        <p14:creationId xmlns:p14="http://schemas.microsoft.com/office/powerpoint/2010/main" val="168098756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AA3E73-AD2F-584F-8A55-66DE3307B26F}" type="slidenum">
              <a:rPr lang="en-GB"/>
              <a:pPr/>
              <a:t>1</a:t>
            </a:fld>
            <a:endParaRPr lang="en-GB"/>
          </a:p>
        </p:txBody>
      </p:sp>
      <p:sp>
        <p:nvSpPr>
          <p:cNvPr id="72806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2806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0614C10-C102-4157-BC0D-A5C9613B635E}"/>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09015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CAB8BB-46E0-F04A-8387-6CC82D06E856}" type="slidenum">
              <a:rPr lang="en-GB"/>
              <a:pPr/>
              <a:t>2</a:t>
            </a:fld>
            <a:endParaRPr lang="en-GB"/>
          </a:p>
        </p:txBody>
      </p:sp>
      <p:sp>
        <p:nvSpPr>
          <p:cNvPr id="73011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301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8EB6761E-2444-465B-B2EA-BB17ADEAC3ED}"/>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337451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1B424F-3C22-314D-A7E8-CFCCCD528C73}" type="slidenum">
              <a:rPr lang="en-GB"/>
              <a:pPr/>
              <a:t>3</a:t>
            </a:fld>
            <a:endParaRPr lang="en-GB"/>
          </a:p>
        </p:txBody>
      </p:sp>
      <p:sp>
        <p:nvSpPr>
          <p:cNvPr id="73216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3216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D3619C7F-653A-4AF4-967B-EC3C009F546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24710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A7A8BD-F4EA-4048-BD42-FE67BFCC08F0}" type="slidenum">
              <a:rPr lang="en-GB"/>
              <a:pPr/>
              <a:t>4</a:t>
            </a:fld>
            <a:endParaRPr lang="en-GB"/>
          </a:p>
        </p:txBody>
      </p:sp>
      <p:sp>
        <p:nvSpPr>
          <p:cNvPr id="73421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3421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077EEF31-AC92-4247-8223-7B42A314697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477340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60BF2D-DF9A-3948-A70C-3EDEB1014490}" type="slidenum">
              <a:rPr lang="en-GB"/>
              <a:pPr/>
              <a:t>5</a:t>
            </a:fld>
            <a:endParaRPr lang="en-GB"/>
          </a:p>
        </p:txBody>
      </p:sp>
      <p:sp>
        <p:nvSpPr>
          <p:cNvPr id="73625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3625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9899ED5B-01C2-46DC-A785-53135494E60D}"/>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127114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193D55-23CA-564C-94D5-444DEB4386BA}" type="slidenum">
              <a:rPr lang="en-GB"/>
              <a:pPr/>
              <a:t>6</a:t>
            </a:fld>
            <a:endParaRPr lang="en-GB"/>
          </a:p>
        </p:txBody>
      </p:sp>
      <p:sp>
        <p:nvSpPr>
          <p:cNvPr id="74445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4445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30F971E7-9D93-44E0-96E9-D4C6BF5D6282}"/>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335928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1D599B-AA77-A048-930A-F156A464FC80}" type="slidenum">
              <a:rPr lang="en-GB"/>
              <a:pPr/>
              <a:t>7</a:t>
            </a:fld>
            <a:endParaRPr lang="en-GB"/>
          </a:p>
        </p:txBody>
      </p:sp>
      <p:sp>
        <p:nvSpPr>
          <p:cNvPr id="74649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4649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BC4B9A3D-D394-4EAA-BCD8-9ED466FFE4D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226028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457E8F-A0C3-B448-852F-0D020AED95DA}" type="slidenum">
              <a:rPr lang="en-GB"/>
              <a:pPr/>
              <a:t>8</a:t>
            </a:fld>
            <a:endParaRPr lang="en-GB"/>
          </a:p>
        </p:txBody>
      </p:sp>
      <p:sp>
        <p:nvSpPr>
          <p:cNvPr id="74854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4854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81E90037-5B93-4014-B406-82147429B4E5}"/>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937410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4BBDD1-552C-3C46-94A1-F1EA7AC87EDA}" type="slidenum">
              <a:rPr lang="en-GB"/>
              <a:pPr/>
              <a:t>9</a:t>
            </a:fld>
            <a:endParaRPr lang="en-GB"/>
          </a:p>
        </p:txBody>
      </p:sp>
      <p:sp>
        <p:nvSpPr>
          <p:cNvPr id="75059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5059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AE1CA74F-0069-4815-9709-E9CCC73F9975}"/>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988255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81B378-532C-614D-9574-1E3E3B0F7BD0}" type="slidenum">
              <a:rPr lang="en-GB"/>
              <a:pPr/>
              <a:t>10</a:t>
            </a:fld>
            <a:endParaRPr lang="en-GB"/>
          </a:p>
        </p:txBody>
      </p:sp>
      <p:sp>
        <p:nvSpPr>
          <p:cNvPr id="75264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5264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A5DB15EA-6534-4FAA-BF7C-5B535015427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13314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5E36A7-8E9C-F440-8DAF-F9EA1FC2F2C7}" type="slidenum">
              <a:rPr lang="en-GB"/>
              <a:pPr/>
              <a:t>11</a:t>
            </a:fld>
            <a:endParaRPr lang="en-GB"/>
          </a:p>
        </p:txBody>
      </p:sp>
      <p:sp>
        <p:nvSpPr>
          <p:cNvPr id="75469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5469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692FFA5A-4F7C-4A36-B420-FCCAC5453992}"/>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990074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902BCF-6D1A-FF44-90B9-DEBC00132F0B}" type="slidenum">
              <a:rPr lang="en-GB"/>
              <a:pPr/>
              <a:t>12</a:t>
            </a:fld>
            <a:endParaRPr lang="en-GB"/>
          </a:p>
        </p:txBody>
      </p:sp>
      <p:sp>
        <p:nvSpPr>
          <p:cNvPr id="75673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5673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8F01EB9-C5ED-4406-B94C-0A800C5F2854}"/>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746912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942C88-3009-5C42-9F52-EBDE290E9B9B}" type="slidenum">
              <a:rPr lang="en-GB"/>
              <a:pPr/>
              <a:t>13</a:t>
            </a:fld>
            <a:endParaRPr lang="en-GB"/>
          </a:p>
        </p:txBody>
      </p:sp>
      <p:sp>
        <p:nvSpPr>
          <p:cNvPr id="75878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5878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F7782E25-F0B4-4EE9-A274-8BC48691C6D3}"/>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362698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77F6C4-B070-D743-AD04-E050D6ED354C}" type="slidenum">
              <a:rPr lang="en-GB"/>
              <a:pPr/>
              <a:t>14</a:t>
            </a:fld>
            <a:endParaRPr lang="en-GB"/>
          </a:p>
        </p:txBody>
      </p:sp>
      <p:sp>
        <p:nvSpPr>
          <p:cNvPr id="76083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083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1D79714B-732F-49AA-B98A-7152295CFB82}"/>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040274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40A503-5A05-AB49-A029-BA34905D0232}" type="slidenum">
              <a:rPr lang="en-GB"/>
              <a:pPr/>
              <a:t>16</a:t>
            </a:fld>
            <a:endParaRPr lang="en-GB"/>
          </a:p>
        </p:txBody>
      </p:sp>
      <p:sp>
        <p:nvSpPr>
          <p:cNvPr id="76288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288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32B7308-BC6E-4B0C-AAE6-F62711D9E737}"/>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159985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AA3E73-AD2F-584F-8A55-66DE3307B26F}" type="slidenum">
              <a:rPr lang="en-GB"/>
              <a:pPr/>
              <a:t>17</a:t>
            </a:fld>
            <a:endParaRPr lang="en-GB"/>
          </a:p>
        </p:txBody>
      </p:sp>
      <p:sp>
        <p:nvSpPr>
          <p:cNvPr id="72806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2806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1C8AA2FD-36FA-4B0B-A91E-7A668262710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782291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40A503-5A05-AB49-A029-BA34905D0232}" type="slidenum">
              <a:rPr lang="en-GB"/>
              <a:pPr/>
              <a:t>18</a:t>
            </a:fld>
            <a:endParaRPr lang="en-GB"/>
          </a:p>
        </p:txBody>
      </p:sp>
      <p:sp>
        <p:nvSpPr>
          <p:cNvPr id="76288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288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0B8FCAF4-8630-45E4-9CAD-5A8217B89A8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6801990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40A503-5A05-AB49-A029-BA34905D0232}" type="slidenum">
              <a:rPr lang="en-GB"/>
              <a:pPr/>
              <a:t>19</a:t>
            </a:fld>
            <a:endParaRPr lang="en-GB"/>
          </a:p>
        </p:txBody>
      </p:sp>
      <p:sp>
        <p:nvSpPr>
          <p:cNvPr id="76288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288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8B6950A1-FAC1-4A3A-AB73-6694CC264A5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7144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40A503-5A05-AB49-A029-BA34905D0232}" type="slidenum">
              <a:rPr lang="en-GB"/>
              <a:pPr/>
              <a:t>20</a:t>
            </a:fld>
            <a:endParaRPr lang="en-GB"/>
          </a:p>
        </p:txBody>
      </p:sp>
      <p:sp>
        <p:nvSpPr>
          <p:cNvPr id="76288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288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FE4D37FB-4E0F-4557-9906-BE6AAE2741B4}"/>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641567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5D6A97-73F7-A44F-B2A7-7D156AF1B529}" type="slidenum">
              <a:rPr lang="en-GB"/>
              <a:pPr/>
              <a:t>21</a:t>
            </a:fld>
            <a:endParaRPr lang="en-GB"/>
          </a:p>
        </p:txBody>
      </p:sp>
      <p:sp>
        <p:nvSpPr>
          <p:cNvPr id="76493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493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82CC9D3D-ED1D-4B98-949D-68681967B43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0643422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DA21DF-A896-904A-9C64-0F3E2A31C48C}" type="slidenum">
              <a:rPr lang="en-GB"/>
              <a:pPr/>
              <a:t>22</a:t>
            </a:fld>
            <a:endParaRPr lang="en-GB"/>
          </a:p>
        </p:txBody>
      </p:sp>
      <p:sp>
        <p:nvSpPr>
          <p:cNvPr id="76697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697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30FD44C5-CDDD-4B6B-8C1E-9435F0856282}"/>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3419278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BCC887-531B-9141-8AB2-2BEC2A7745D7}" type="slidenum">
              <a:rPr lang="en-GB"/>
              <a:pPr/>
              <a:t>23</a:t>
            </a:fld>
            <a:endParaRPr lang="en-GB"/>
          </a:p>
        </p:txBody>
      </p:sp>
      <p:sp>
        <p:nvSpPr>
          <p:cNvPr id="76902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6902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6D566769-A3DF-4718-9CFF-372665677E51}"/>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3943015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1BFA45-8B33-8E42-BA71-9C0943ABE196}" type="slidenum">
              <a:rPr lang="en-GB"/>
              <a:pPr/>
              <a:t>24</a:t>
            </a:fld>
            <a:endParaRPr lang="en-GB"/>
          </a:p>
        </p:txBody>
      </p:sp>
      <p:sp>
        <p:nvSpPr>
          <p:cNvPr id="77107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7107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F87E7002-1ABB-4327-8511-7364026D61ED}"/>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875583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8B4705-EE03-6D49-853E-AECDB1CE0D68}" type="slidenum">
              <a:rPr lang="en-GB"/>
              <a:pPr/>
              <a:t>25</a:t>
            </a:fld>
            <a:endParaRPr lang="en-GB"/>
          </a:p>
        </p:txBody>
      </p:sp>
      <p:sp>
        <p:nvSpPr>
          <p:cNvPr id="77312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7312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25633106-AF76-4E47-8F09-1134AD7ACD20}"/>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336057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336CD6-AF09-1F48-859F-3B854267C1BD}" type="slidenum">
              <a:rPr lang="en-GB"/>
              <a:pPr/>
              <a:t>26</a:t>
            </a:fld>
            <a:endParaRPr lang="en-GB"/>
          </a:p>
        </p:txBody>
      </p:sp>
      <p:sp>
        <p:nvSpPr>
          <p:cNvPr id="77517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7517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66226DD9-0BB0-4493-9B40-A28114E6AFF9}"/>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382163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E45D37-2025-DA45-B191-022E5CB53CE3}" type="slidenum">
              <a:rPr lang="en-GB"/>
              <a:pPr/>
              <a:t>27</a:t>
            </a:fld>
            <a:endParaRPr lang="en-GB"/>
          </a:p>
        </p:txBody>
      </p:sp>
      <p:sp>
        <p:nvSpPr>
          <p:cNvPr id="77721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7721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3D48324-BF21-46BA-84C7-4C4A8B139BF7}"/>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030558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F7AA-E753-6F40-B2E4-1B65A7B28DDC}" type="slidenum">
              <a:rPr lang="en-GB"/>
              <a:pPr/>
              <a:t>28</a:t>
            </a:fld>
            <a:endParaRPr lang="en-GB"/>
          </a:p>
        </p:txBody>
      </p:sp>
      <p:sp>
        <p:nvSpPr>
          <p:cNvPr id="77926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7926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D7BDE139-0821-40B3-AAF1-6D17724775B0}"/>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374589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E74732-CCB5-4E48-BFBC-D148A44C2026}" type="slidenum">
              <a:rPr lang="en-GB"/>
              <a:pPr/>
              <a:t>29</a:t>
            </a:fld>
            <a:endParaRPr lang="en-GB"/>
          </a:p>
        </p:txBody>
      </p:sp>
      <p:sp>
        <p:nvSpPr>
          <p:cNvPr id="78131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813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CF63C50-CB5B-4701-9760-AE7AD80D20B7}"/>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8081005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B3FCAA-4739-0B4C-8DB7-FFAE23E7FBB9}" type="slidenum">
              <a:rPr lang="en-GB"/>
              <a:pPr/>
              <a:t>30</a:t>
            </a:fld>
            <a:endParaRPr lang="en-GB"/>
          </a:p>
        </p:txBody>
      </p:sp>
      <p:sp>
        <p:nvSpPr>
          <p:cNvPr id="78336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8336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41A92B6-DCA9-49C4-9E00-1E07E6EB0563}"/>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283005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BF91D4-EA16-8E4B-BF52-BE6E9008B02A}" type="slidenum">
              <a:rPr lang="en-GB"/>
              <a:pPr/>
              <a:t>31</a:t>
            </a:fld>
            <a:endParaRPr lang="en-GB"/>
          </a:p>
        </p:txBody>
      </p:sp>
      <p:sp>
        <p:nvSpPr>
          <p:cNvPr id="78541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8541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55D246B2-1852-4A4E-AF9B-22399D109053}"/>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506678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68580A-D238-794C-A0AF-8D688F74B99C}" type="slidenum">
              <a:rPr lang="en-GB"/>
              <a:pPr/>
              <a:t>33</a:t>
            </a:fld>
            <a:endParaRPr lang="en-GB"/>
          </a:p>
        </p:txBody>
      </p:sp>
      <p:sp>
        <p:nvSpPr>
          <p:cNvPr id="78745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8745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FC02CC1D-660E-4556-9A22-FCBFA0A0EFD7}"/>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5316988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86A27E-3375-1B4C-BC8E-5132B64ABB3A}" type="slidenum">
              <a:rPr lang="en-GB"/>
              <a:pPr/>
              <a:t>34</a:t>
            </a:fld>
            <a:endParaRPr lang="en-GB"/>
          </a:p>
        </p:txBody>
      </p:sp>
      <p:sp>
        <p:nvSpPr>
          <p:cNvPr id="78950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8950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5D883F76-0A7A-45DF-8198-60F68C7B0F6E}"/>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785711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4D12B1-D5A5-1741-A2FE-2157BCA5B46F}" type="slidenum">
              <a:rPr lang="en-GB"/>
              <a:pPr/>
              <a:t>35</a:t>
            </a:fld>
            <a:endParaRPr lang="en-GB"/>
          </a:p>
        </p:txBody>
      </p:sp>
      <p:sp>
        <p:nvSpPr>
          <p:cNvPr id="79155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9155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299BF9F9-4F29-42EE-9DE2-99BAEE683D82}"/>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4268837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D4FB6A-7179-5940-A990-418700832E1D}" type="slidenum">
              <a:rPr lang="en-GB"/>
              <a:pPr/>
              <a:t>36</a:t>
            </a:fld>
            <a:endParaRPr lang="en-GB"/>
          </a:p>
        </p:txBody>
      </p:sp>
      <p:sp>
        <p:nvSpPr>
          <p:cNvPr id="79565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9565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1E9F4D16-63EF-460E-9AA3-D5FCC11BB645}"/>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6400758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09900A-3B84-244E-86EB-3179E3634840}" type="slidenum">
              <a:rPr lang="en-GB"/>
              <a:pPr/>
              <a:t>37</a:t>
            </a:fld>
            <a:endParaRPr lang="en-GB"/>
          </a:p>
        </p:txBody>
      </p:sp>
      <p:sp>
        <p:nvSpPr>
          <p:cNvPr id="79769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9769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2242C14F-51FA-48EB-AFEA-5CD1BF3D7DF8}"/>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0586635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6BF259-C669-B74F-969C-720E364CF40B}" type="slidenum">
              <a:rPr lang="en-GB"/>
              <a:pPr/>
              <a:t>38</a:t>
            </a:fld>
            <a:endParaRPr lang="en-GB"/>
          </a:p>
        </p:txBody>
      </p:sp>
      <p:sp>
        <p:nvSpPr>
          <p:cNvPr id="79974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79974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0C2E4121-E0F4-47A1-8838-DB64F7273B67}"/>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432140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1D47AE-44E2-F746-BEFA-6B0EDEFAE8F3}" type="slidenum">
              <a:rPr lang="en-GB"/>
              <a:pPr/>
              <a:t>39</a:t>
            </a:fld>
            <a:endParaRPr lang="en-GB"/>
          </a:p>
        </p:txBody>
      </p:sp>
      <p:sp>
        <p:nvSpPr>
          <p:cNvPr id="801794"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80179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C72F9B6A-72EB-435D-93D9-A4F333CDC351}"/>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2127546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83B2ED-8C71-7349-B12C-296ACE247328}" type="slidenum">
              <a:rPr lang="en-GB"/>
              <a:pPr/>
              <a:t>40</a:t>
            </a:fld>
            <a:endParaRPr lang="en-GB"/>
          </a:p>
        </p:txBody>
      </p:sp>
      <p:sp>
        <p:nvSpPr>
          <p:cNvPr id="803842"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80384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7ACA0B2-5A30-43F3-AF04-405D47D869E8}"/>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91052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D0FD28-F8D6-B44A-9D22-46A20C8B32C2}" type="slidenum">
              <a:rPr lang="en-GB"/>
              <a:pPr/>
              <a:t>41</a:t>
            </a:fld>
            <a:endParaRPr lang="en-GB"/>
          </a:p>
        </p:txBody>
      </p:sp>
      <p:sp>
        <p:nvSpPr>
          <p:cNvPr id="805890"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80589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ACCA996D-C31A-4533-88A9-A5AA6D6C0EE1}"/>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8658652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FAF7D-3004-4044-B9FF-1DAC8E2135CF}" type="slidenum">
              <a:rPr lang="en-GB"/>
              <a:pPr/>
              <a:t>42</a:t>
            </a:fld>
            <a:endParaRPr lang="en-GB"/>
          </a:p>
        </p:txBody>
      </p:sp>
      <p:sp>
        <p:nvSpPr>
          <p:cNvPr id="807938"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80793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0BCB96D9-3877-4116-BF53-6A0D48B83AA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6081772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228414-A1F1-5F4F-85F1-FCF0DACF71C4}" type="slidenum">
              <a:rPr lang="en-GB"/>
              <a:pPr/>
              <a:t>43</a:t>
            </a:fld>
            <a:endParaRPr lang="en-GB"/>
          </a:p>
        </p:txBody>
      </p:sp>
      <p:sp>
        <p:nvSpPr>
          <p:cNvPr id="809986" name="Rectangle 2"/>
          <p:cNvSpPr>
            <a:spLocks noGrp="1" noRot="1" noChangeAspect="1" noChangeArrowheads="1" noTextEdit="1"/>
          </p:cNvSpPr>
          <p:nvPr>
            <p:ph type="sldImg"/>
          </p:nvPr>
        </p:nvSpPr>
        <p:spPr>
          <a:xfrm>
            <a:off x="92075" y="744538"/>
            <a:ext cx="6615113" cy="3722687"/>
          </a:xfrm>
          <a:ln/>
          <a:extLst>
            <a:ext uri="{FAA26D3D-D897-4be2-8F04-BA451C77F1D7}">
              <ma14:placeholderFlag xmlns:ma14="http://schemas.microsoft.com/office/mac/drawingml/2011/main" xmlns="" val="1"/>
            </a:ext>
          </a:extLst>
        </p:spPr>
      </p:sp>
      <p:sp>
        <p:nvSpPr>
          <p:cNvPr id="80998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9E52B32D-0DD4-4224-9CF3-B9150474A0C7}"/>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69088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117369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1569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601675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937684" y="1676400"/>
            <a:ext cx="5196416"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646892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36024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32503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059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71523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946948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297664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2051" y="266700"/>
            <a:ext cx="2753783"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518584" y="266700"/>
            <a:ext cx="8060267"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667147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665880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quarter" idx="2"/>
          </p:nvPr>
        </p:nvSpPr>
        <p:spPr>
          <a:xfrm>
            <a:off x="6337300" y="1676401"/>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Content Placeholder 4"/>
          <p:cNvSpPr>
            <a:spLocks noGrp="1"/>
          </p:cNvSpPr>
          <p:nvPr>
            <p:ph sz="quarter" idx="3"/>
          </p:nvPr>
        </p:nvSpPr>
        <p:spPr>
          <a:xfrm>
            <a:off x="6337300" y="4105276"/>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847393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43985" y="350839"/>
            <a:ext cx="11231033" cy="630237"/>
          </a:xfrm>
        </p:spPr>
        <p:txBody>
          <a:bodyPr/>
          <a:lstStyle/>
          <a:p>
            <a:r>
              <a:rPr lang="en-US"/>
              <a:t>Click to edit Master title style</a:t>
            </a:r>
          </a:p>
        </p:txBody>
      </p:sp>
      <p:sp>
        <p:nvSpPr>
          <p:cNvPr id="3" name="Content Placeholder 2"/>
          <p:cNvSpPr>
            <a:spLocks noGrp="1"/>
          </p:cNvSpPr>
          <p:nvPr>
            <p:ph sz="half" idx="1"/>
          </p:nvPr>
        </p:nvSpPr>
        <p:spPr>
          <a:xfrm>
            <a:off x="539751" y="1190625"/>
            <a:ext cx="5513916"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56867" y="1190625"/>
            <a:ext cx="5513917"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a:xfrm>
            <a:off x="11815234" y="1"/>
            <a:ext cx="376767" cy="142875"/>
          </a:xfrm>
          <a:prstGeom prst="rect">
            <a:avLst/>
          </a:prstGeom>
        </p:spPr>
        <p:txBody>
          <a:bodyPr/>
          <a:lstStyle>
            <a:lvl1pPr>
              <a:defRPr/>
            </a:lvl1p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a:t>
            </a:fld>
            <a:endParaRPr lang="en-GB" sz="1600">
              <a:solidFill>
                <a:srgbClr val="FFFFFF"/>
              </a:solidFill>
            </a:endParaRPr>
          </a:p>
        </p:txBody>
      </p:sp>
    </p:spTree>
    <p:extLst>
      <p:ext uri="{BB962C8B-B14F-4D97-AF65-F5344CB8AC3E}">
        <p14:creationId xmlns:p14="http://schemas.microsoft.com/office/powerpoint/2010/main" val="1710978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2117" y="1484313"/>
            <a:ext cx="12088283" cy="0"/>
          </a:xfrm>
          <a:prstGeom prst="line">
            <a:avLst/>
          </a:prstGeom>
          <a:noFill/>
          <a:ln w="508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r" fontAlgn="base">
              <a:spcBef>
                <a:spcPct val="0"/>
              </a:spcBef>
              <a:spcAft>
                <a:spcPct val="0"/>
              </a:spcAft>
            </a:pPr>
            <a:endParaRPr lang="en-US" sz="1600">
              <a:solidFill>
                <a:srgbClr val="FFFFFF"/>
              </a:solidFill>
            </a:endParaRPr>
          </a:p>
        </p:txBody>
      </p:sp>
      <p:sp>
        <p:nvSpPr>
          <p:cNvPr id="1406979" name="Rectangle 3"/>
          <p:cNvSpPr>
            <a:spLocks noGrp="1" noChangeArrowheads="1"/>
          </p:cNvSpPr>
          <p:nvPr>
            <p:ph type="title"/>
          </p:nvPr>
        </p:nvSpPr>
        <p:spPr bwMode="auto">
          <a:xfrm>
            <a:off x="518584" y="266700"/>
            <a:ext cx="10860616"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937684" y="1676400"/>
            <a:ext cx="10598149"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10896600" y="6400801"/>
            <a:ext cx="601133"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r" eaLnBrk="0" fontAlgn="base" hangingPunct="0">
              <a:spcBef>
                <a:spcPct val="0"/>
              </a:spcBef>
              <a:spcAft>
                <a:spcPct val="0"/>
              </a:spcAft>
            </a:pPr>
            <a:fld id="{F04697A2-D443-9B46-B76B-C17EBA70E809}" type="slidenum">
              <a:rPr lang="en-US" sz="1000">
                <a:solidFill>
                  <a:srgbClr val="00279F"/>
                </a:solidFill>
              </a:rPr>
              <a:pPr algn="r" eaLnBrk="0" fontAlgn="base" hangingPunct="0">
                <a:spcBef>
                  <a:spcPct val="0"/>
                </a:spcBef>
                <a:spcAft>
                  <a:spcPct val="0"/>
                </a:spcAft>
              </a:pPr>
              <a:t>‹#›</a:t>
            </a:fld>
            <a:endParaRPr lang="en-US" sz="1000">
              <a:solidFill>
                <a:srgbClr val="00279F"/>
              </a:solidFill>
            </a:endParaRPr>
          </a:p>
        </p:txBody>
      </p:sp>
    </p:spTree>
    <p:extLst>
      <p:ext uri="{BB962C8B-B14F-4D97-AF65-F5344CB8AC3E}">
        <p14:creationId xmlns:p14="http://schemas.microsoft.com/office/powerpoint/2010/main" val="369378066"/>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sldNum="0" hdr="0" ftr="0"/>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2"/>
          <p:cNvSpPr>
            <a:spLocks noGrp="1" noChangeArrowheads="1"/>
          </p:cNvSpPr>
          <p:nvPr>
            <p:ph type="ctrTitle"/>
          </p:nvPr>
        </p:nvSpPr>
        <p:spPr/>
        <p:txBody>
          <a:bodyPr/>
          <a:lstStyle/>
          <a:p>
            <a:r>
              <a:rPr lang="en-US"/>
              <a:t>Test Organisation</a:t>
            </a:r>
          </a:p>
        </p:txBody>
      </p:sp>
    </p:spTree>
    <p:extLst>
      <p:ext uri="{BB962C8B-B14F-4D97-AF65-F5344CB8AC3E}">
        <p14:creationId xmlns:p14="http://schemas.microsoft.com/office/powerpoint/2010/main" val="24520795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2" name="Rectangle 4"/>
          <p:cNvSpPr>
            <a:spLocks noGrp="1" noChangeArrowheads="1"/>
          </p:cNvSpPr>
          <p:nvPr>
            <p:ph type="title"/>
          </p:nvPr>
        </p:nvSpPr>
        <p:spPr/>
        <p:txBody>
          <a:bodyPr/>
          <a:lstStyle/>
          <a:p>
            <a:r>
              <a:rPr lang="en-US"/>
              <a:t>Who does the testing?</a:t>
            </a:r>
          </a:p>
        </p:txBody>
      </p:sp>
      <p:sp>
        <p:nvSpPr>
          <p:cNvPr id="729093" name="Rectangle 5"/>
          <p:cNvSpPr>
            <a:spLocks noGrp="1" noChangeArrowheads="1"/>
          </p:cNvSpPr>
          <p:nvPr>
            <p:ph type="body" idx="1"/>
          </p:nvPr>
        </p:nvSpPr>
        <p:spPr/>
        <p:txBody>
          <a:bodyPr/>
          <a:lstStyle/>
          <a:p>
            <a:r>
              <a:rPr lang="en-US" dirty="0"/>
              <a:t>Programmers do the ad hoc testing (and perhaps structured unit level testing)</a:t>
            </a:r>
          </a:p>
          <a:p>
            <a:r>
              <a:rPr lang="en-US" dirty="0"/>
              <a:t>Programmers, or other team members may do sub-system testing</a:t>
            </a:r>
          </a:p>
          <a:p>
            <a:r>
              <a:rPr lang="en-US" dirty="0"/>
              <a:t>Independent teams usually do system testing</a:t>
            </a:r>
          </a:p>
          <a:p>
            <a:r>
              <a:rPr lang="en-US" dirty="0"/>
              <a:t>Users (with support) perform the user acceptance testing</a:t>
            </a:r>
          </a:p>
          <a:p>
            <a:r>
              <a:rPr lang="en-US" dirty="0"/>
              <a:t>Independent organisations may be called upon to do any of the above testing formally.</a:t>
            </a:r>
          </a:p>
        </p:txBody>
      </p:sp>
    </p:spTree>
    <p:extLst>
      <p:ext uri="{BB962C8B-B14F-4D97-AF65-F5344CB8AC3E}">
        <p14:creationId xmlns:p14="http://schemas.microsoft.com/office/powerpoint/2010/main" val="129358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90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90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90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290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290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42" name="Rectangle 6"/>
          <p:cNvSpPr>
            <a:spLocks noGrp="1" noChangeArrowheads="1"/>
          </p:cNvSpPr>
          <p:nvPr>
            <p:ph type="title"/>
          </p:nvPr>
        </p:nvSpPr>
        <p:spPr/>
        <p:txBody>
          <a:bodyPr/>
          <a:lstStyle/>
          <a:p>
            <a:r>
              <a:rPr lang="en-US"/>
              <a:t>Test team roles</a:t>
            </a:r>
          </a:p>
        </p:txBody>
      </p:sp>
      <p:sp>
        <p:nvSpPr>
          <p:cNvPr id="731143" name="Rectangle 7"/>
          <p:cNvSpPr>
            <a:spLocks noGrp="1" noChangeArrowheads="1"/>
          </p:cNvSpPr>
          <p:nvPr>
            <p:ph type="body" idx="1"/>
          </p:nvPr>
        </p:nvSpPr>
        <p:spPr/>
        <p:txBody>
          <a:bodyPr/>
          <a:lstStyle/>
          <a:p>
            <a:r>
              <a:rPr lang="en-US" dirty="0"/>
              <a:t>Test manager (test lead)</a:t>
            </a:r>
          </a:p>
          <a:p>
            <a:pPr lvl="1"/>
            <a:r>
              <a:rPr lang="en-US" dirty="0"/>
              <a:t>plan, </a:t>
            </a:r>
            <a:r>
              <a:rPr lang="en-US" dirty="0" err="1"/>
              <a:t>organise</a:t>
            </a:r>
            <a:r>
              <a:rPr lang="en-US" dirty="0"/>
              <a:t>, manage and control the testing</a:t>
            </a:r>
          </a:p>
          <a:p>
            <a:pPr lvl="1"/>
            <a:r>
              <a:rPr lang="en-US" dirty="0"/>
              <a:t>a project manager for the testing activities</a:t>
            </a:r>
          </a:p>
          <a:p>
            <a:r>
              <a:rPr lang="en-US" dirty="0"/>
              <a:t>Tester</a:t>
            </a:r>
          </a:p>
          <a:p>
            <a:pPr lvl="1"/>
            <a:r>
              <a:rPr lang="en-US" dirty="0"/>
              <a:t>prepare test procedures, data, environments, expected results</a:t>
            </a:r>
          </a:p>
          <a:p>
            <a:pPr lvl="1"/>
            <a:r>
              <a:rPr lang="en-US" dirty="0" smtClean="0"/>
              <a:t>execute tests and log incidents</a:t>
            </a:r>
          </a:p>
          <a:p>
            <a:pPr lvl="1"/>
            <a:r>
              <a:rPr lang="en-US" dirty="0" smtClean="0"/>
              <a:t>execute re-tests and regression tests</a:t>
            </a:r>
            <a:endParaRPr lang="en-US" dirty="0"/>
          </a:p>
        </p:txBody>
      </p:sp>
    </p:spTree>
    <p:extLst>
      <p:ext uri="{BB962C8B-B14F-4D97-AF65-F5344CB8AC3E}">
        <p14:creationId xmlns:p14="http://schemas.microsoft.com/office/powerpoint/2010/main" val="258681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11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11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11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11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11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11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11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90" name="Rectangle 6"/>
          <p:cNvSpPr>
            <a:spLocks noGrp="1" noChangeArrowheads="1"/>
          </p:cNvSpPr>
          <p:nvPr>
            <p:ph type="title"/>
          </p:nvPr>
        </p:nvSpPr>
        <p:spPr/>
        <p:txBody>
          <a:bodyPr/>
          <a:lstStyle/>
          <a:p>
            <a:r>
              <a:rPr lang="en-US"/>
              <a:t>Test team roles</a:t>
            </a:r>
          </a:p>
        </p:txBody>
      </p:sp>
      <p:sp>
        <p:nvSpPr>
          <p:cNvPr id="733191" name="Rectangle 7"/>
          <p:cNvSpPr>
            <a:spLocks noGrp="1" noChangeArrowheads="1"/>
          </p:cNvSpPr>
          <p:nvPr>
            <p:ph type="body" idx="1"/>
          </p:nvPr>
        </p:nvSpPr>
        <p:spPr/>
        <p:txBody>
          <a:bodyPr/>
          <a:lstStyle/>
          <a:p>
            <a:r>
              <a:rPr lang="en-US" sz="2400" dirty="0"/>
              <a:t>Test analyst</a:t>
            </a:r>
          </a:p>
          <a:p>
            <a:pPr lvl="1"/>
            <a:r>
              <a:rPr lang="en-US" sz="2000" dirty="0"/>
              <a:t>to scope the testing, conduct expert interviews</a:t>
            </a:r>
          </a:p>
          <a:p>
            <a:pPr lvl="1"/>
            <a:r>
              <a:rPr lang="en-US" sz="2000" dirty="0"/>
              <a:t>document test specifications</a:t>
            </a:r>
          </a:p>
          <a:p>
            <a:pPr lvl="1"/>
            <a:r>
              <a:rPr lang="en-US" sz="2000" dirty="0"/>
              <a:t>liaison with test environment manager, technicians, users, testers</a:t>
            </a:r>
          </a:p>
          <a:p>
            <a:pPr lvl="1"/>
            <a:r>
              <a:rPr lang="en-US" sz="2000" dirty="0"/>
              <a:t>prepare test reports.</a:t>
            </a:r>
          </a:p>
          <a:p>
            <a:r>
              <a:rPr lang="en-US" sz="2400" dirty="0"/>
              <a:t>Test automation technician</a:t>
            </a:r>
          </a:p>
          <a:p>
            <a:pPr lvl="1"/>
            <a:r>
              <a:rPr lang="en-US" sz="2000" dirty="0"/>
              <a:t>record, code and test automated scripts</a:t>
            </a:r>
          </a:p>
          <a:p>
            <a:pPr lvl="1"/>
            <a:r>
              <a:rPr lang="en-US" sz="2000" dirty="0"/>
              <a:t>prepare test data, test cases and expected results</a:t>
            </a:r>
          </a:p>
          <a:p>
            <a:pPr lvl="1"/>
            <a:r>
              <a:rPr lang="en-US" sz="2000" dirty="0"/>
              <a:t>execute automated scripts, log results and prepare reports.</a:t>
            </a:r>
          </a:p>
        </p:txBody>
      </p:sp>
    </p:spTree>
    <p:extLst>
      <p:ext uri="{BB962C8B-B14F-4D97-AF65-F5344CB8AC3E}">
        <p14:creationId xmlns:p14="http://schemas.microsoft.com/office/powerpoint/2010/main" val="34454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31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31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31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31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31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31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331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319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331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6" name="Rectangle 4"/>
          <p:cNvSpPr>
            <a:spLocks noGrp="1" noChangeArrowheads="1"/>
          </p:cNvSpPr>
          <p:nvPr>
            <p:ph type="title"/>
          </p:nvPr>
        </p:nvSpPr>
        <p:spPr/>
        <p:txBody>
          <a:bodyPr/>
          <a:lstStyle/>
          <a:p>
            <a:r>
              <a:rPr lang="en-US"/>
              <a:t>Support staff</a:t>
            </a:r>
          </a:p>
        </p:txBody>
      </p:sp>
      <p:sp>
        <p:nvSpPr>
          <p:cNvPr id="735237" name="Rectangle 5"/>
          <p:cNvSpPr>
            <a:spLocks noGrp="1" noChangeArrowheads="1"/>
          </p:cNvSpPr>
          <p:nvPr>
            <p:ph type="body" idx="1"/>
          </p:nvPr>
        </p:nvSpPr>
        <p:spPr/>
        <p:txBody>
          <a:bodyPr/>
          <a:lstStyle/>
          <a:p>
            <a:r>
              <a:rPr lang="en-US" dirty="0"/>
              <a:t>DBA to help find, extract, manipulate test data</a:t>
            </a:r>
          </a:p>
          <a:p>
            <a:r>
              <a:rPr lang="en-US" dirty="0"/>
              <a:t>System, network administrators</a:t>
            </a:r>
          </a:p>
          <a:p>
            <a:r>
              <a:rPr lang="en-US" dirty="0" err="1"/>
              <a:t>Toolsmiths</a:t>
            </a:r>
            <a:r>
              <a:rPr lang="en-US" dirty="0"/>
              <a:t> to build utilities to extract data, execute tests, compare results etc.</a:t>
            </a:r>
          </a:p>
          <a:p>
            <a:r>
              <a:rPr lang="en-US" dirty="0"/>
              <a:t>Experts to provide direction</a:t>
            </a:r>
          </a:p>
          <a:p>
            <a:pPr lvl="1"/>
            <a:r>
              <a:rPr lang="en-US" dirty="0"/>
              <a:t>technical</a:t>
            </a:r>
          </a:p>
          <a:p>
            <a:pPr lvl="1"/>
            <a:r>
              <a:rPr lang="en-US" dirty="0"/>
              <a:t>business.</a:t>
            </a:r>
          </a:p>
        </p:txBody>
      </p:sp>
    </p:spTree>
    <p:extLst>
      <p:ext uri="{BB962C8B-B14F-4D97-AF65-F5344CB8AC3E}">
        <p14:creationId xmlns:p14="http://schemas.microsoft.com/office/powerpoint/2010/main" val="387459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52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52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523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523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523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3523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2"/>
          <p:cNvSpPr>
            <a:spLocks noGrp="1" noChangeArrowheads="1"/>
          </p:cNvSpPr>
          <p:nvPr>
            <p:ph type="ctrTitle"/>
          </p:nvPr>
        </p:nvSpPr>
        <p:spPr/>
        <p:txBody>
          <a:bodyPr/>
          <a:lstStyle/>
          <a:p>
            <a:r>
              <a:rPr lang="en-US"/>
              <a:t>Test Planning and Estimation</a:t>
            </a:r>
          </a:p>
        </p:txBody>
      </p:sp>
    </p:spTree>
    <p:extLst>
      <p:ext uri="{BB962C8B-B14F-4D97-AF65-F5344CB8AC3E}">
        <p14:creationId xmlns:p14="http://schemas.microsoft.com/office/powerpoint/2010/main" val="1932342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p:txBody>
          <a:bodyPr/>
          <a:lstStyle/>
          <a:p>
            <a:r>
              <a:rPr lang="en-US"/>
              <a:t>Test plans are often layered</a:t>
            </a:r>
          </a:p>
        </p:txBody>
      </p:sp>
      <p:pic>
        <p:nvPicPr>
          <p:cNvPr id="745475" name="Picture 3" descr="structtestpl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8" y="1484314"/>
            <a:ext cx="7561262" cy="4903787"/>
          </a:xfrm>
          <a:prstGeom prst="rect">
            <a:avLst/>
          </a:prstGeom>
          <a:noFill/>
          <a:extLst>
            <a:ext uri="{909E8E84-426E-40DD-AFC4-6F175D3DCCD1}">
              <a14:hiddenFill xmlns:a14="http://schemas.microsoft.com/office/drawing/2010/main">
                <a:solidFill>
                  <a:schemeClr val="tx1"/>
                </a:solidFill>
              </a14:hiddenFill>
            </a:ext>
          </a:extLst>
        </p:spPr>
      </p:pic>
    </p:spTree>
    <p:extLst>
      <p:ext uri="{BB962C8B-B14F-4D97-AF65-F5344CB8AC3E}">
        <p14:creationId xmlns:p14="http://schemas.microsoft.com/office/powerpoint/2010/main" val="17059480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4" name="Rectangle 4"/>
          <p:cNvSpPr>
            <a:spLocks noGrp="1" noChangeArrowheads="1"/>
          </p:cNvSpPr>
          <p:nvPr>
            <p:ph type="title"/>
          </p:nvPr>
        </p:nvSpPr>
        <p:spPr/>
        <p:txBody>
          <a:bodyPr/>
          <a:lstStyle/>
          <a:p>
            <a:r>
              <a:rPr lang="en-US"/>
              <a:t>Test planning</a:t>
            </a:r>
          </a:p>
        </p:txBody>
      </p:sp>
      <p:sp>
        <p:nvSpPr>
          <p:cNvPr id="747525" name="Rectangle 5"/>
          <p:cNvSpPr>
            <a:spLocks noGrp="1" noChangeArrowheads="1"/>
          </p:cNvSpPr>
          <p:nvPr>
            <p:ph type="body" idx="1"/>
          </p:nvPr>
        </p:nvSpPr>
        <p:spPr/>
        <p:txBody>
          <a:bodyPr/>
          <a:lstStyle/>
          <a:p>
            <a:r>
              <a:rPr lang="en-US" dirty="0"/>
              <a:t>Planning is influenced by the test policy of the organization, the scope of testing, objectives, risks, constraints, criticality, testability and the availability of resources</a:t>
            </a:r>
          </a:p>
          <a:p>
            <a:r>
              <a:rPr lang="en-US" dirty="0"/>
              <a:t>Planning and re-planning takes place throughout the project</a:t>
            </a:r>
          </a:p>
          <a:p>
            <a:r>
              <a:rPr lang="en-US" dirty="0"/>
              <a:t>Test planning is necessarily a non-deterministic exercise where judgement and experience should be complemented with appropriate metrics as a means to managing the uncertainty.</a:t>
            </a:r>
          </a:p>
        </p:txBody>
      </p:sp>
    </p:spTree>
    <p:extLst>
      <p:ext uri="{BB962C8B-B14F-4D97-AF65-F5344CB8AC3E}">
        <p14:creationId xmlns:p14="http://schemas.microsoft.com/office/powerpoint/2010/main" val="4251755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52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4" name="Rectangle 6"/>
          <p:cNvSpPr>
            <a:spLocks noGrp="1" noChangeArrowheads="1"/>
          </p:cNvSpPr>
          <p:nvPr>
            <p:ph type="title"/>
          </p:nvPr>
        </p:nvSpPr>
        <p:spPr/>
        <p:txBody>
          <a:bodyPr/>
          <a:lstStyle/>
          <a:p>
            <a:r>
              <a:rPr lang="en-US"/>
              <a:t>Test planning activities</a:t>
            </a:r>
          </a:p>
        </p:txBody>
      </p:sp>
      <p:sp>
        <p:nvSpPr>
          <p:cNvPr id="749575" name="Rectangle 7"/>
          <p:cNvSpPr>
            <a:spLocks noGrp="1" noChangeArrowheads="1"/>
          </p:cNvSpPr>
          <p:nvPr>
            <p:ph type="body" idx="1"/>
          </p:nvPr>
        </p:nvSpPr>
        <p:spPr/>
        <p:txBody>
          <a:bodyPr/>
          <a:lstStyle/>
          <a:p>
            <a:pPr>
              <a:lnSpc>
                <a:spcPct val="80000"/>
              </a:lnSpc>
            </a:pPr>
            <a:r>
              <a:rPr lang="en-US" sz="2400" dirty="0"/>
              <a:t>Defining the overall approach to testing</a:t>
            </a:r>
          </a:p>
          <a:p>
            <a:pPr>
              <a:lnSpc>
                <a:spcPct val="80000"/>
              </a:lnSpc>
            </a:pPr>
            <a:r>
              <a:rPr lang="en-US" sz="2400" dirty="0"/>
              <a:t>Integrating testing activities into the overall plan</a:t>
            </a:r>
          </a:p>
          <a:p>
            <a:pPr>
              <a:lnSpc>
                <a:spcPct val="80000"/>
              </a:lnSpc>
            </a:pPr>
            <a:r>
              <a:rPr lang="en-US" sz="2400" dirty="0"/>
              <a:t>Scoping, assigning responsibilities, setting entry/exit criteria</a:t>
            </a:r>
          </a:p>
          <a:p>
            <a:pPr>
              <a:lnSpc>
                <a:spcPct val="80000"/>
              </a:lnSpc>
            </a:pPr>
            <a:r>
              <a:rPr lang="en-US" sz="2400" dirty="0"/>
              <a:t>Assigning resources for the different tasks defined</a:t>
            </a:r>
          </a:p>
          <a:p>
            <a:pPr>
              <a:lnSpc>
                <a:spcPct val="80000"/>
              </a:lnSpc>
            </a:pPr>
            <a:r>
              <a:rPr lang="en-US" sz="2400" dirty="0"/>
              <a:t>Defining the amount, level of detail, structure and templates for the test documentation</a:t>
            </a:r>
          </a:p>
          <a:p>
            <a:pPr>
              <a:lnSpc>
                <a:spcPct val="80000"/>
              </a:lnSpc>
            </a:pPr>
            <a:r>
              <a:rPr lang="en-US" sz="2400" dirty="0"/>
              <a:t>Selecting metrics for monitoring and controlling test preparation and execution, defect resolution and risk issues</a:t>
            </a:r>
          </a:p>
          <a:p>
            <a:pPr>
              <a:lnSpc>
                <a:spcPct val="80000"/>
              </a:lnSpc>
            </a:pPr>
            <a:r>
              <a:rPr lang="en-US" sz="2400" dirty="0"/>
              <a:t>Setting the level of detail for test procedures in order to provide enough information to support reproducible test preparation and execution.</a:t>
            </a:r>
          </a:p>
        </p:txBody>
      </p:sp>
    </p:spTree>
    <p:extLst>
      <p:ext uri="{BB962C8B-B14F-4D97-AF65-F5344CB8AC3E}">
        <p14:creationId xmlns:p14="http://schemas.microsoft.com/office/powerpoint/2010/main" val="292189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95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95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95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95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95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95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95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22" name="Rectangle 6"/>
          <p:cNvSpPr>
            <a:spLocks noGrp="1" noChangeArrowheads="1"/>
          </p:cNvSpPr>
          <p:nvPr>
            <p:ph type="title"/>
          </p:nvPr>
        </p:nvSpPr>
        <p:spPr/>
        <p:txBody>
          <a:bodyPr/>
          <a:lstStyle/>
          <a:p>
            <a:r>
              <a:rPr lang="en-US" dirty="0"/>
              <a:t>Exit criteria</a:t>
            </a:r>
          </a:p>
        </p:txBody>
      </p:sp>
      <p:sp>
        <p:nvSpPr>
          <p:cNvPr id="751623" name="Rectangle 7"/>
          <p:cNvSpPr>
            <a:spLocks noGrp="1" noChangeArrowheads="1"/>
          </p:cNvSpPr>
          <p:nvPr>
            <p:ph type="body" idx="1"/>
          </p:nvPr>
        </p:nvSpPr>
        <p:spPr/>
        <p:txBody>
          <a:bodyPr/>
          <a:lstStyle/>
          <a:p>
            <a:r>
              <a:rPr lang="en-US" sz="2400" dirty="0"/>
              <a:t>The purpose of exit criteria is to define when to stop testing, such as at the end of a test level or when a set of tests has a specific goal.</a:t>
            </a:r>
          </a:p>
          <a:p>
            <a:r>
              <a:rPr lang="en-US" sz="2400" dirty="0"/>
              <a:t>Typically exit criteria may consist of: </a:t>
            </a:r>
          </a:p>
          <a:p>
            <a:pPr lvl="1"/>
            <a:r>
              <a:rPr lang="en-US" sz="2000" dirty="0"/>
              <a:t>Thoroughness measures, such as coverage of code, functionality or risk</a:t>
            </a:r>
          </a:p>
          <a:p>
            <a:pPr lvl="1"/>
            <a:r>
              <a:rPr lang="en-US" sz="2000" dirty="0"/>
              <a:t>Estimates of defect density or reliability measures</a:t>
            </a:r>
          </a:p>
          <a:p>
            <a:pPr lvl="1"/>
            <a:r>
              <a:rPr lang="en-US" sz="2000" dirty="0"/>
              <a:t>Cost</a:t>
            </a:r>
          </a:p>
          <a:p>
            <a:pPr lvl="1"/>
            <a:r>
              <a:rPr lang="en-US" sz="2000" dirty="0"/>
              <a:t>Residual risks, such as defects not fixed or lack of test coverage in certain areas</a:t>
            </a:r>
          </a:p>
          <a:p>
            <a:pPr lvl="1"/>
            <a:r>
              <a:rPr lang="en-US" sz="2000" dirty="0"/>
              <a:t>Schedules such as those based on time to market</a:t>
            </a:r>
          </a:p>
        </p:txBody>
      </p:sp>
    </p:spTree>
    <p:extLst>
      <p:ext uri="{BB962C8B-B14F-4D97-AF65-F5344CB8AC3E}">
        <p14:creationId xmlns:p14="http://schemas.microsoft.com/office/powerpoint/2010/main" val="168042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16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16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16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16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16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16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16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8" name="Rectangle 4"/>
          <p:cNvSpPr>
            <a:spLocks noGrp="1" noChangeArrowheads="1"/>
          </p:cNvSpPr>
          <p:nvPr>
            <p:ph type="title"/>
          </p:nvPr>
        </p:nvSpPr>
        <p:spPr/>
        <p:txBody>
          <a:bodyPr/>
          <a:lstStyle/>
          <a:p>
            <a:r>
              <a:rPr lang="en-US"/>
              <a:t>Exit Criteria 2</a:t>
            </a:r>
          </a:p>
        </p:txBody>
      </p:sp>
      <p:sp>
        <p:nvSpPr>
          <p:cNvPr id="753669" name="Rectangle 5"/>
          <p:cNvSpPr>
            <a:spLocks noGrp="1" noChangeArrowheads="1"/>
          </p:cNvSpPr>
          <p:nvPr>
            <p:ph type="body" idx="1"/>
          </p:nvPr>
        </p:nvSpPr>
        <p:spPr/>
        <p:txBody>
          <a:bodyPr/>
          <a:lstStyle/>
          <a:p>
            <a:r>
              <a:rPr lang="en-US" dirty="0"/>
              <a:t>Exit criteria should be objective and  measurable</a:t>
            </a:r>
          </a:p>
          <a:p>
            <a:pPr lvl="1"/>
            <a:r>
              <a:rPr lang="en-US" dirty="0"/>
              <a:t>all tests run successfully</a:t>
            </a:r>
          </a:p>
          <a:p>
            <a:pPr lvl="1"/>
            <a:r>
              <a:rPr lang="en-US" dirty="0"/>
              <a:t>all faults found are fixed and re-tested</a:t>
            </a:r>
          </a:p>
          <a:p>
            <a:pPr lvl="1"/>
            <a:r>
              <a:rPr lang="en-US" dirty="0"/>
              <a:t>coverage target (set and) met</a:t>
            </a:r>
          </a:p>
          <a:p>
            <a:pPr lvl="1"/>
            <a:r>
              <a:rPr lang="en-US" dirty="0"/>
              <a:t>time (or cost) limit exceeded</a:t>
            </a:r>
          </a:p>
          <a:p>
            <a:r>
              <a:rPr lang="en-US" dirty="0"/>
              <a:t>Coverage items defined in terms of</a:t>
            </a:r>
          </a:p>
          <a:p>
            <a:pPr lvl="1"/>
            <a:r>
              <a:rPr lang="en-US" dirty="0"/>
              <a:t>requirements, conditions, business transactions</a:t>
            </a:r>
          </a:p>
          <a:p>
            <a:pPr lvl="1"/>
            <a:r>
              <a:rPr lang="en-US" dirty="0"/>
              <a:t>code statements, branches.</a:t>
            </a:r>
          </a:p>
        </p:txBody>
      </p:sp>
    </p:spTree>
    <p:extLst>
      <p:ext uri="{BB962C8B-B14F-4D97-AF65-F5344CB8AC3E}">
        <p14:creationId xmlns:p14="http://schemas.microsoft.com/office/powerpoint/2010/main" val="3735216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36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36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366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366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366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366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3669">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5366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8" name="Rectangle 6"/>
          <p:cNvSpPr>
            <a:spLocks noGrp="1" noChangeArrowheads="1"/>
          </p:cNvSpPr>
          <p:nvPr>
            <p:ph type="title"/>
          </p:nvPr>
        </p:nvSpPr>
        <p:spPr/>
        <p:txBody>
          <a:bodyPr/>
          <a:lstStyle/>
          <a:p>
            <a:r>
              <a:rPr lang="en-US"/>
              <a:t>Component Integration test completion criteria</a:t>
            </a:r>
          </a:p>
        </p:txBody>
      </p:sp>
      <p:sp>
        <p:nvSpPr>
          <p:cNvPr id="755719" name="Rectangle 7"/>
          <p:cNvSpPr>
            <a:spLocks noGrp="1" noChangeArrowheads="1"/>
          </p:cNvSpPr>
          <p:nvPr>
            <p:ph type="body" idx="1"/>
          </p:nvPr>
        </p:nvSpPr>
        <p:spPr/>
        <p:txBody>
          <a:bodyPr/>
          <a:lstStyle/>
          <a:p>
            <a:r>
              <a:rPr lang="en-US" sz="2400" dirty="0"/>
              <a:t>Structural coverage</a:t>
            </a:r>
          </a:p>
          <a:p>
            <a:pPr lvl="1"/>
            <a:r>
              <a:rPr lang="en-US" sz="2000" dirty="0"/>
              <a:t>100% coverage of transfers of control or data between components in scope</a:t>
            </a:r>
          </a:p>
          <a:p>
            <a:r>
              <a:rPr lang="en-US" sz="2400" dirty="0"/>
              <a:t>Functional coverage</a:t>
            </a:r>
          </a:p>
          <a:p>
            <a:pPr lvl="1"/>
            <a:r>
              <a:rPr lang="en-US" sz="2000" dirty="0"/>
              <a:t>100% equivalence partitions for all message and function call parameters (valid and invalid values)</a:t>
            </a:r>
          </a:p>
          <a:p>
            <a:pPr lvl="1"/>
            <a:r>
              <a:rPr lang="en-US" sz="2000" dirty="0"/>
              <a:t>100% valid transfers of control and data</a:t>
            </a:r>
          </a:p>
          <a:p>
            <a:pPr lvl="1"/>
            <a:r>
              <a:rPr lang="en-US" sz="2000" dirty="0"/>
              <a:t>100% invalid/erroneous transfers of control or data</a:t>
            </a:r>
          </a:p>
          <a:p>
            <a:r>
              <a:rPr lang="en-US" sz="2400" dirty="0"/>
              <a:t>All tests passed without failure</a:t>
            </a:r>
          </a:p>
          <a:p>
            <a:r>
              <a:rPr lang="en-US" sz="2400" dirty="0"/>
              <a:t>All faults raised, corrected, retested, signed off.</a:t>
            </a:r>
          </a:p>
        </p:txBody>
      </p:sp>
    </p:spTree>
    <p:extLst>
      <p:ext uri="{BB962C8B-B14F-4D97-AF65-F5344CB8AC3E}">
        <p14:creationId xmlns:p14="http://schemas.microsoft.com/office/powerpoint/2010/main" val="229181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7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57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557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5571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571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5571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571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557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lstStyle/>
          <a:p>
            <a:r>
              <a:rPr lang="en-US"/>
              <a:t>Typical (Functional) System Test completion criteria</a:t>
            </a:r>
          </a:p>
        </p:txBody>
      </p:sp>
      <p:sp>
        <p:nvSpPr>
          <p:cNvPr id="757763" name="Rectangle 3"/>
          <p:cNvSpPr>
            <a:spLocks noGrp="1" noChangeArrowheads="1"/>
          </p:cNvSpPr>
          <p:nvPr>
            <p:ph type="body" idx="1"/>
          </p:nvPr>
        </p:nvSpPr>
        <p:spPr/>
        <p:txBody>
          <a:bodyPr/>
          <a:lstStyle/>
          <a:p>
            <a:r>
              <a:rPr lang="en-US" dirty="0"/>
              <a:t>Functional coverage</a:t>
            </a:r>
          </a:p>
          <a:p>
            <a:pPr lvl="1"/>
            <a:r>
              <a:rPr lang="en-US" dirty="0"/>
              <a:t>100% equivalence partitions</a:t>
            </a:r>
          </a:p>
          <a:p>
            <a:pPr lvl="1"/>
            <a:r>
              <a:rPr lang="en-US" dirty="0"/>
              <a:t>100% boundary values</a:t>
            </a:r>
          </a:p>
          <a:p>
            <a:pPr lvl="1"/>
            <a:r>
              <a:rPr lang="en-US" dirty="0"/>
              <a:t>100% transaction flows identified in Functional Specification</a:t>
            </a:r>
          </a:p>
          <a:p>
            <a:r>
              <a:rPr lang="en-US" dirty="0"/>
              <a:t>All tests passed without failure</a:t>
            </a:r>
          </a:p>
          <a:p>
            <a:r>
              <a:rPr lang="en-US" dirty="0"/>
              <a:t>All incidents raised, corrected, retested, signed off OR waived by Product Assurance Team.</a:t>
            </a:r>
          </a:p>
        </p:txBody>
      </p:sp>
    </p:spTree>
    <p:extLst>
      <p:ext uri="{BB962C8B-B14F-4D97-AF65-F5344CB8AC3E}">
        <p14:creationId xmlns:p14="http://schemas.microsoft.com/office/powerpoint/2010/main" val="209545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7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7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7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77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77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4" name="Rectangle 6"/>
          <p:cNvSpPr>
            <a:spLocks noGrp="1" noChangeArrowheads="1"/>
          </p:cNvSpPr>
          <p:nvPr>
            <p:ph type="title"/>
          </p:nvPr>
        </p:nvSpPr>
        <p:spPr/>
        <p:txBody>
          <a:bodyPr/>
          <a:lstStyle/>
          <a:p>
            <a:r>
              <a:rPr lang="en-US"/>
              <a:t>Acceptance Test completion criteria</a:t>
            </a:r>
          </a:p>
        </p:txBody>
      </p:sp>
      <p:sp>
        <p:nvSpPr>
          <p:cNvPr id="759815" name="Rectangle 7"/>
          <p:cNvSpPr>
            <a:spLocks noGrp="1" noChangeArrowheads="1"/>
          </p:cNvSpPr>
          <p:nvPr>
            <p:ph type="body" idx="1"/>
          </p:nvPr>
        </p:nvSpPr>
        <p:spPr/>
        <p:txBody>
          <a:bodyPr/>
          <a:lstStyle/>
          <a:p>
            <a:r>
              <a:rPr lang="en-US" sz="2400" dirty="0"/>
              <a:t>Acceptance criteria are business oriented</a:t>
            </a:r>
          </a:p>
          <a:p>
            <a:pPr lvl="1"/>
            <a:r>
              <a:rPr lang="en-US" sz="2000" dirty="0"/>
              <a:t>100% of all critical system features (Business Requirements Spec and </a:t>
            </a:r>
            <a:r>
              <a:rPr lang="en-US" sz="2000" dirty="0" err="1"/>
              <a:t>Reqs</a:t>
            </a:r>
            <a:r>
              <a:rPr lang="en-US" sz="2000" dirty="0"/>
              <a:t>/Function matrix)</a:t>
            </a:r>
          </a:p>
          <a:p>
            <a:pPr lvl="1"/>
            <a:r>
              <a:rPr lang="en-US" sz="2000" dirty="0"/>
              <a:t>100% branch testing through high priority business processes</a:t>
            </a:r>
          </a:p>
          <a:p>
            <a:pPr lvl="1"/>
            <a:r>
              <a:rPr lang="en-US" sz="2000" dirty="0"/>
              <a:t>100% process coverage of medium priority business processes</a:t>
            </a:r>
          </a:p>
          <a:p>
            <a:pPr lvl="1"/>
            <a:r>
              <a:rPr lang="en-US" sz="2000" dirty="0"/>
              <a:t>100% coverage of low priority business processes (at least once)</a:t>
            </a:r>
          </a:p>
          <a:p>
            <a:r>
              <a:rPr lang="en-US" sz="2400" dirty="0"/>
              <a:t>All tests (deemed high priority) passed without failure</a:t>
            </a:r>
          </a:p>
          <a:p>
            <a:r>
              <a:rPr lang="en-US" sz="2400" dirty="0"/>
              <a:t>All incidents raised, corrected, retested, signed off OR waived by Testing Board.</a:t>
            </a:r>
          </a:p>
        </p:txBody>
      </p:sp>
    </p:spTree>
    <p:extLst>
      <p:ext uri="{BB962C8B-B14F-4D97-AF65-F5344CB8AC3E}">
        <p14:creationId xmlns:p14="http://schemas.microsoft.com/office/powerpoint/2010/main" val="340763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98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98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98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98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98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981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98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End of Session 1</a:t>
            </a:r>
            <a:endParaRPr lang="en-IE" dirty="0"/>
          </a:p>
        </p:txBody>
      </p:sp>
      <p:sp>
        <p:nvSpPr>
          <p:cNvPr id="3" name="Content Placeholder 2"/>
          <p:cNvSpPr>
            <a:spLocks noGrp="1"/>
          </p:cNvSpPr>
          <p:nvPr>
            <p:ph idx="1"/>
          </p:nvPr>
        </p:nvSpPr>
        <p:spPr/>
        <p:txBody>
          <a:bodyPr/>
          <a:lstStyle/>
          <a:p>
            <a:r>
              <a:rPr lang="en-IE" dirty="0" smtClean="0"/>
              <a:t>Any Questions?</a:t>
            </a:r>
            <a:endParaRPr lang="en-IE" dirty="0"/>
          </a:p>
        </p:txBody>
      </p:sp>
    </p:spTree>
    <p:extLst>
      <p:ext uri="{BB962C8B-B14F-4D97-AF65-F5344CB8AC3E}">
        <p14:creationId xmlns:p14="http://schemas.microsoft.com/office/powerpoint/2010/main" val="33611551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lang="en-US"/>
              <a:t>Large Scale Integration Test completion criteria</a:t>
            </a:r>
          </a:p>
        </p:txBody>
      </p:sp>
      <p:sp>
        <p:nvSpPr>
          <p:cNvPr id="761859" name="Rectangle 3"/>
          <p:cNvSpPr>
            <a:spLocks noGrp="1" noChangeArrowheads="1"/>
          </p:cNvSpPr>
          <p:nvPr>
            <p:ph type="body" idx="1"/>
          </p:nvPr>
        </p:nvSpPr>
        <p:spPr/>
        <p:txBody>
          <a:bodyPr/>
          <a:lstStyle/>
          <a:p>
            <a:pPr>
              <a:lnSpc>
                <a:spcPct val="80000"/>
              </a:lnSpc>
            </a:pPr>
            <a:r>
              <a:rPr lang="en-US" sz="2400" dirty="0"/>
              <a:t>Similar to acceptance tests</a:t>
            </a:r>
          </a:p>
          <a:p>
            <a:pPr>
              <a:lnSpc>
                <a:spcPct val="80000"/>
              </a:lnSpc>
            </a:pPr>
            <a:r>
              <a:rPr lang="en-US" sz="2400" dirty="0"/>
              <a:t>Structural coverage</a:t>
            </a:r>
          </a:p>
          <a:p>
            <a:pPr lvl="1">
              <a:lnSpc>
                <a:spcPct val="80000"/>
              </a:lnSpc>
            </a:pPr>
            <a:r>
              <a:rPr lang="en-US" sz="2000" dirty="0"/>
              <a:t>100% coverage of data transfers between systems in scope</a:t>
            </a:r>
          </a:p>
          <a:p>
            <a:pPr>
              <a:lnSpc>
                <a:spcPct val="80000"/>
              </a:lnSpc>
            </a:pPr>
            <a:r>
              <a:rPr lang="en-US" sz="2400" dirty="0"/>
              <a:t>Functional coverage</a:t>
            </a:r>
          </a:p>
          <a:p>
            <a:pPr lvl="1">
              <a:lnSpc>
                <a:spcPct val="80000"/>
              </a:lnSpc>
            </a:pPr>
            <a:r>
              <a:rPr lang="en-US" sz="2000" dirty="0"/>
              <a:t>100% critical process flows (ref. Business System Architecture spec)</a:t>
            </a:r>
          </a:p>
          <a:p>
            <a:pPr>
              <a:lnSpc>
                <a:spcPct val="80000"/>
              </a:lnSpc>
            </a:pPr>
            <a:r>
              <a:rPr lang="en-US" sz="2400" dirty="0"/>
              <a:t>Example : 100% success rate for bank transfer regression test (250,000 records)</a:t>
            </a:r>
          </a:p>
          <a:p>
            <a:pPr>
              <a:lnSpc>
                <a:spcPct val="80000"/>
              </a:lnSpc>
            </a:pPr>
            <a:r>
              <a:rPr lang="en-US" sz="2400" dirty="0"/>
              <a:t>All incidents raised, corrected, retested, signed off.</a:t>
            </a:r>
          </a:p>
        </p:txBody>
      </p:sp>
    </p:spTree>
    <p:extLst>
      <p:ext uri="{BB962C8B-B14F-4D97-AF65-F5344CB8AC3E}">
        <p14:creationId xmlns:p14="http://schemas.microsoft.com/office/powerpoint/2010/main" val="10440419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2"/>
          <p:cNvSpPr>
            <a:spLocks noGrp="1" noChangeArrowheads="1"/>
          </p:cNvSpPr>
          <p:nvPr>
            <p:ph type="ctrTitle"/>
          </p:nvPr>
        </p:nvSpPr>
        <p:spPr/>
        <p:txBody>
          <a:bodyPr/>
          <a:lstStyle/>
          <a:p>
            <a:r>
              <a:rPr lang="en-US" dirty="0"/>
              <a:t>Defect Severity &amp; Priority</a:t>
            </a:r>
          </a:p>
        </p:txBody>
      </p:sp>
    </p:spTree>
    <p:extLst>
      <p:ext uri="{BB962C8B-B14F-4D97-AF65-F5344CB8AC3E}">
        <p14:creationId xmlns:p14="http://schemas.microsoft.com/office/powerpoint/2010/main" val="42335650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lang="en-US" dirty="0"/>
              <a:t>Defect Severity</a:t>
            </a:r>
          </a:p>
        </p:txBody>
      </p:sp>
      <p:sp>
        <p:nvSpPr>
          <p:cNvPr id="761859" name="Rectangle 3"/>
          <p:cNvSpPr>
            <a:spLocks noGrp="1" noChangeArrowheads="1"/>
          </p:cNvSpPr>
          <p:nvPr>
            <p:ph type="body" idx="1"/>
          </p:nvPr>
        </p:nvSpPr>
        <p:spPr>
          <a:xfrm>
            <a:off x="264696" y="1676400"/>
            <a:ext cx="11271138" cy="4705350"/>
          </a:xfrm>
        </p:spPr>
        <p:txBody>
          <a:bodyPr/>
          <a:lstStyle/>
          <a:p>
            <a:pPr>
              <a:lnSpc>
                <a:spcPct val="80000"/>
              </a:lnSpc>
            </a:pPr>
            <a:r>
              <a:rPr lang="en-US" sz="2400" dirty="0"/>
              <a:t>Severity: </a:t>
            </a:r>
            <a:r>
              <a:rPr lang="en-IE" sz="2400" dirty="0"/>
              <a:t>the extent to which the defect can affect the software. Can be of following types (sometimes companies use numbers, i.e. 1-5 severity types):</a:t>
            </a:r>
          </a:p>
          <a:p>
            <a:pPr>
              <a:lnSpc>
                <a:spcPct val="80000"/>
              </a:lnSpc>
            </a:pPr>
            <a:endParaRPr lang="en-IE" sz="2400" dirty="0"/>
          </a:p>
          <a:p>
            <a:pPr>
              <a:lnSpc>
                <a:spcPct val="80000"/>
              </a:lnSpc>
            </a:pPr>
            <a:r>
              <a:rPr lang="en-IE" sz="2400" dirty="0"/>
              <a:t>    (1) </a:t>
            </a:r>
            <a:r>
              <a:rPr lang="en-IE" sz="2000" u="sng" dirty="0"/>
              <a:t>Critical</a:t>
            </a:r>
            <a:r>
              <a:rPr lang="en-IE" sz="2000" dirty="0"/>
              <a:t>: The defect that results in the termination of the complete system or one or more components of the system and causes extensive corruption of the data. There is no acceptable alternative method to achieve the required results.</a:t>
            </a:r>
          </a:p>
          <a:p>
            <a:pPr>
              <a:lnSpc>
                <a:spcPct val="80000"/>
              </a:lnSpc>
            </a:pPr>
            <a:r>
              <a:rPr lang="en-IE" sz="2000" dirty="0"/>
              <a:t>    (2) </a:t>
            </a:r>
            <a:r>
              <a:rPr lang="en-IE" sz="2000" u="sng" dirty="0"/>
              <a:t>Major</a:t>
            </a:r>
            <a:r>
              <a:rPr lang="en-IE" sz="2000" dirty="0"/>
              <a:t>: The defect that results in the termination of the complete system or one or more components of the system and causes extensive corruption of the data. The failed function is unusable </a:t>
            </a:r>
            <a:r>
              <a:rPr lang="en-IE" sz="2000" i="1" u="sng" dirty="0"/>
              <a:t>but there exists an acceptable alternative method</a:t>
            </a:r>
            <a:r>
              <a:rPr lang="en-IE" sz="2000" dirty="0"/>
              <a:t> to achieve the required results.</a:t>
            </a:r>
          </a:p>
          <a:p>
            <a:pPr>
              <a:lnSpc>
                <a:spcPct val="80000"/>
              </a:lnSpc>
            </a:pPr>
            <a:r>
              <a:rPr lang="en-IE" sz="2000" dirty="0"/>
              <a:t>    (3) </a:t>
            </a:r>
            <a:r>
              <a:rPr lang="en-IE" sz="2000" u="sng" dirty="0"/>
              <a:t>Moderate</a:t>
            </a:r>
            <a:r>
              <a:rPr lang="en-IE" sz="2000" dirty="0"/>
              <a:t>: The defect that does not result in the termination, but causes the system to produce incorrect, incomplete or inconsistent.</a:t>
            </a:r>
          </a:p>
          <a:p>
            <a:pPr>
              <a:lnSpc>
                <a:spcPct val="80000"/>
              </a:lnSpc>
            </a:pPr>
            <a:r>
              <a:rPr lang="en-IE" sz="2000" dirty="0"/>
              <a:t>    (4) </a:t>
            </a:r>
            <a:r>
              <a:rPr lang="en-IE" sz="2000" u="sng" dirty="0"/>
              <a:t>Minor</a:t>
            </a:r>
            <a:r>
              <a:rPr lang="en-IE" sz="2000" dirty="0"/>
              <a:t>: The defect that does not result in the termination and does not damage the usability of the system and the desired results can be easily obtained by working around the defects.</a:t>
            </a:r>
          </a:p>
          <a:p>
            <a:pPr>
              <a:lnSpc>
                <a:spcPct val="80000"/>
              </a:lnSpc>
            </a:pPr>
            <a:r>
              <a:rPr lang="en-IE" sz="2000" dirty="0"/>
              <a:t>    (5) </a:t>
            </a:r>
            <a:r>
              <a:rPr lang="en-IE" sz="2000" u="sng" dirty="0"/>
              <a:t>Cosmetic</a:t>
            </a:r>
            <a:r>
              <a:rPr lang="en-IE" sz="2000" dirty="0"/>
              <a:t>: The defect that is related to the enhancement of the system where the changes are related to the look and feel of the application.</a:t>
            </a:r>
          </a:p>
          <a:p>
            <a:pPr>
              <a:lnSpc>
                <a:spcPct val="80000"/>
              </a:lnSpc>
            </a:pPr>
            <a:endParaRPr lang="en-US" sz="2400" dirty="0"/>
          </a:p>
        </p:txBody>
      </p:sp>
    </p:spTree>
    <p:extLst>
      <p:ext uri="{BB962C8B-B14F-4D97-AF65-F5344CB8AC3E}">
        <p14:creationId xmlns:p14="http://schemas.microsoft.com/office/powerpoint/2010/main" val="9587802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lang="en-US" dirty="0"/>
              <a:t>Defect Priority</a:t>
            </a:r>
          </a:p>
        </p:txBody>
      </p:sp>
      <p:sp>
        <p:nvSpPr>
          <p:cNvPr id="761859" name="Rectangle 3"/>
          <p:cNvSpPr>
            <a:spLocks noGrp="1" noChangeArrowheads="1"/>
          </p:cNvSpPr>
          <p:nvPr>
            <p:ph type="body" idx="1"/>
          </p:nvPr>
        </p:nvSpPr>
        <p:spPr>
          <a:xfrm>
            <a:off x="264696" y="1676400"/>
            <a:ext cx="11271138" cy="4705350"/>
          </a:xfrm>
        </p:spPr>
        <p:txBody>
          <a:bodyPr/>
          <a:lstStyle/>
          <a:p>
            <a:pPr>
              <a:lnSpc>
                <a:spcPct val="80000"/>
              </a:lnSpc>
            </a:pPr>
            <a:r>
              <a:rPr lang="en-US" sz="2400" dirty="0"/>
              <a:t>Priority: </a:t>
            </a:r>
            <a:r>
              <a:rPr lang="en-IE" sz="2400" dirty="0"/>
              <a:t>defines the order in which we should resolve a defect. Can be of following types (sometimes companies use numbers, i.e. 1-3 priority types):</a:t>
            </a:r>
          </a:p>
          <a:p>
            <a:pPr>
              <a:lnSpc>
                <a:spcPct val="80000"/>
              </a:lnSpc>
            </a:pPr>
            <a:endParaRPr lang="en-IE" sz="2400" dirty="0"/>
          </a:p>
          <a:p>
            <a:pPr>
              <a:lnSpc>
                <a:spcPct val="80000"/>
              </a:lnSpc>
            </a:pPr>
            <a:r>
              <a:rPr lang="en-IE" sz="2400" dirty="0"/>
              <a:t>    </a:t>
            </a:r>
          </a:p>
          <a:p>
            <a:pPr>
              <a:lnSpc>
                <a:spcPct val="80000"/>
              </a:lnSpc>
            </a:pPr>
            <a:r>
              <a:rPr lang="en-IE" sz="2400" dirty="0"/>
              <a:t>    (1) </a:t>
            </a:r>
            <a:r>
              <a:rPr lang="en-IE" sz="2400" u="sng" dirty="0"/>
              <a:t>Low</a:t>
            </a:r>
            <a:r>
              <a:rPr lang="en-IE" sz="2400" dirty="0"/>
              <a:t>: The defect is an irritant which should be repaired, but repair can be deferred until after more serious defect have been fixed.</a:t>
            </a:r>
          </a:p>
          <a:p>
            <a:pPr>
              <a:lnSpc>
                <a:spcPct val="80000"/>
              </a:lnSpc>
            </a:pPr>
            <a:r>
              <a:rPr lang="en-IE" sz="2400" dirty="0"/>
              <a:t>    (2) </a:t>
            </a:r>
            <a:r>
              <a:rPr lang="en-IE" sz="2400" u="sng" dirty="0"/>
              <a:t>Medium</a:t>
            </a:r>
            <a:r>
              <a:rPr lang="en-IE" sz="2400" dirty="0"/>
              <a:t>: The defect should be resolved in the normal course of development activities. It can wait until a new build or version is created.</a:t>
            </a:r>
          </a:p>
          <a:p>
            <a:pPr>
              <a:lnSpc>
                <a:spcPct val="80000"/>
              </a:lnSpc>
            </a:pPr>
            <a:r>
              <a:rPr lang="en-IE" sz="2400" dirty="0"/>
              <a:t>    (3) </a:t>
            </a:r>
            <a:r>
              <a:rPr lang="en-IE" sz="2400" u="sng" dirty="0"/>
              <a:t>High</a:t>
            </a:r>
            <a:r>
              <a:rPr lang="en-IE" sz="2400" dirty="0"/>
              <a:t>: The defect must be resolved as soon as possible because the defect is affecting the application or the product severely. The system cannot be used until the  repair has been done.</a:t>
            </a:r>
          </a:p>
          <a:p>
            <a:pPr>
              <a:lnSpc>
                <a:spcPct val="80000"/>
              </a:lnSpc>
            </a:pPr>
            <a:endParaRPr lang="en-US" sz="2400" dirty="0"/>
          </a:p>
          <a:p>
            <a:pPr>
              <a:lnSpc>
                <a:spcPct val="80000"/>
              </a:lnSpc>
            </a:pPr>
            <a:r>
              <a:rPr lang="en-US" sz="2400" dirty="0"/>
              <a:t>Sometimes, the priority can be escalated upward based on the reporter. </a:t>
            </a:r>
            <a:endParaRPr lang="en-IE" sz="2400" dirty="0"/>
          </a:p>
          <a:p>
            <a:pPr>
              <a:lnSpc>
                <a:spcPct val="80000"/>
              </a:lnSpc>
            </a:pPr>
            <a:endParaRPr lang="en-US" sz="2400" dirty="0"/>
          </a:p>
        </p:txBody>
      </p:sp>
    </p:spTree>
    <p:extLst>
      <p:ext uri="{BB962C8B-B14F-4D97-AF65-F5344CB8AC3E}">
        <p14:creationId xmlns:p14="http://schemas.microsoft.com/office/powerpoint/2010/main" val="14966723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p:cNvSpPr>
            <a:spLocks noGrp="1" noChangeArrowheads="1"/>
          </p:cNvSpPr>
          <p:nvPr>
            <p:ph type="title"/>
          </p:nvPr>
        </p:nvSpPr>
        <p:spPr/>
        <p:txBody>
          <a:bodyPr/>
          <a:lstStyle/>
          <a:p>
            <a:r>
              <a:rPr lang="en-US" dirty="0"/>
              <a:t>Defect Severity and Priority</a:t>
            </a:r>
          </a:p>
        </p:txBody>
      </p:sp>
      <p:sp>
        <p:nvSpPr>
          <p:cNvPr id="761859" name="Rectangle 3"/>
          <p:cNvSpPr>
            <a:spLocks noGrp="1" noChangeArrowheads="1"/>
          </p:cNvSpPr>
          <p:nvPr>
            <p:ph type="body" idx="1"/>
          </p:nvPr>
        </p:nvSpPr>
        <p:spPr>
          <a:xfrm>
            <a:off x="264696" y="1676400"/>
            <a:ext cx="11271138" cy="4705350"/>
          </a:xfrm>
        </p:spPr>
        <p:txBody>
          <a:bodyPr/>
          <a:lstStyle/>
          <a:p>
            <a:pPr>
              <a:lnSpc>
                <a:spcPct val="80000"/>
              </a:lnSpc>
            </a:pPr>
            <a:r>
              <a:rPr lang="en-IE" sz="2400" dirty="0"/>
              <a:t>High Priority &amp; High Severity: An error which occurs on the basic functionality of the application and </a:t>
            </a:r>
            <a:r>
              <a:rPr lang="en-IE" sz="2400" b="1" i="1" u="sng" dirty="0"/>
              <a:t>will not allow the user to use the system</a:t>
            </a:r>
            <a:r>
              <a:rPr lang="en-IE" sz="2400" dirty="0"/>
              <a:t>. </a:t>
            </a:r>
          </a:p>
          <a:p>
            <a:pPr>
              <a:lnSpc>
                <a:spcPct val="80000"/>
              </a:lnSpc>
            </a:pPr>
            <a:endParaRPr lang="en-IE" sz="2400" dirty="0"/>
          </a:p>
          <a:p>
            <a:pPr>
              <a:lnSpc>
                <a:spcPct val="80000"/>
              </a:lnSpc>
            </a:pPr>
            <a:r>
              <a:rPr lang="en-IE" sz="2400" dirty="0"/>
              <a:t>High Priority &amp; Low Severity: The spelling mistakes that happens on the cover page or heading or title of an application.</a:t>
            </a:r>
          </a:p>
          <a:p>
            <a:pPr>
              <a:lnSpc>
                <a:spcPct val="80000"/>
              </a:lnSpc>
            </a:pPr>
            <a:endParaRPr lang="en-IE" sz="2400" dirty="0"/>
          </a:p>
          <a:p>
            <a:pPr>
              <a:lnSpc>
                <a:spcPct val="80000"/>
              </a:lnSpc>
            </a:pPr>
            <a:r>
              <a:rPr lang="en-IE" sz="2400" dirty="0"/>
              <a:t>High Severity &amp; Low Priority: An error which occurs on the functionality of the application (for which there is no workaround) and will not allow the user to use the system but on click of link which is </a:t>
            </a:r>
            <a:r>
              <a:rPr lang="en-IE" sz="2400" b="1" i="1" u="sng" dirty="0"/>
              <a:t>rarely used </a:t>
            </a:r>
            <a:r>
              <a:rPr lang="en-IE" sz="2400" dirty="0"/>
              <a:t>by the end user.</a:t>
            </a:r>
          </a:p>
          <a:p>
            <a:pPr>
              <a:lnSpc>
                <a:spcPct val="80000"/>
              </a:lnSpc>
            </a:pPr>
            <a:endParaRPr lang="en-IE" sz="2400" dirty="0"/>
          </a:p>
          <a:p>
            <a:pPr>
              <a:lnSpc>
                <a:spcPct val="80000"/>
              </a:lnSpc>
            </a:pPr>
            <a:r>
              <a:rPr lang="en-IE" sz="2400" dirty="0"/>
              <a:t>Low Priority and Low Severity: Any cosmetic or spelling issues which is within a paragraph or in the report (Not on cover page, heading, title).</a:t>
            </a:r>
          </a:p>
          <a:p>
            <a:pPr>
              <a:lnSpc>
                <a:spcPct val="80000"/>
              </a:lnSpc>
            </a:pPr>
            <a:endParaRPr lang="en-US" sz="2400" dirty="0"/>
          </a:p>
        </p:txBody>
      </p:sp>
    </p:spTree>
    <p:extLst>
      <p:ext uri="{BB962C8B-B14F-4D97-AF65-F5344CB8AC3E}">
        <p14:creationId xmlns:p14="http://schemas.microsoft.com/office/powerpoint/2010/main" val="29217293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10" name="Rectangle 6"/>
          <p:cNvSpPr>
            <a:spLocks noGrp="1" noChangeArrowheads="1"/>
          </p:cNvSpPr>
          <p:nvPr>
            <p:ph type="title"/>
          </p:nvPr>
        </p:nvSpPr>
        <p:spPr/>
        <p:txBody>
          <a:bodyPr/>
          <a:lstStyle/>
          <a:p>
            <a:r>
              <a:rPr lang="en-US"/>
              <a:t>Decision time</a:t>
            </a:r>
          </a:p>
        </p:txBody>
      </p:sp>
      <p:sp>
        <p:nvSpPr>
          <p:cNvPr id="763911" name="Rectangle 7"/>
          <p:cNvSpPr>
            <a:spLocks noGrp="1" noChangeArrowheads="1"/>
          </p:cNvSpPr>
          <p:nvPr>
            <p:ph type="body" idx="1"/>
          </p:nvPr>
        </p:nvSpPr>
        <p:spPr/>
        <p:txBody>
          <a:bodyPr/>
          <a:lstStyle/>
          <a:p>
            <a:pPr>
              <a:lnSpc>
                <a:spcPct val="90000"/>
              </a:lnSpc>
            </a:pPr>
            <a:r>
              <a:rPr lang="en-US" sz="2400"/>
              <a:t>When deadline arrives, may have to stop tests now</a:t>
            </a:r>
          </a:p>
          <a:p>
            <a:pPr lvl="1">
              <a:lnSpc>
                <a:spcPct val="90000"/>
              </a:lnSpc>
            </a:pPr>
            <a:r>
              <a:rPr lang="en-US" sz="2000"/>
              <a:t>Some faults may be acceptable (for this release)</a:t>
            </a:r>
          </a:p>
          <a:p>
            <a:pPr lvl="1">
              <a:lnSpc>
                <a:spcPct val="90000"/>
              </a:lnSpc>
            </a:pPr>
            <a:r>
              <a:rPr lang="en-US" sz="2000"/>
              <a:t>Some tests may not be run at all</a:t>
            </a:r>
          </a:p>
          <a:p>
            <a:pPr>
              <a:lnSpc>
                <a:spcPct val="90000"/>
              </a:lnSpc>
            </a:pPr>
            <a:r>
              <a:rPr lang="en-US" sz="2400"/>
              <a:t>Might have to relax the exit criteria – assess the risk and agree with customer and document the changes</a:t>
            </a:r>
          </a:p>
          <a:p>
            <a:pPr lvl="1">
              <a:lnSpc>
                <a:spcPct val="90000"/>
              </a:lnSpc>
            </a:pPr>
            <a:r>
              <a:rPr lang="en-US" sz="2000"/>
              <a:t>(release the software now, but testing could continue)</a:t>
            </a:r>
          </a:p>
          <a:p>
            <a:pPr>
              <a:lnSpc>
                <a:spcPct val="90000"/>
              </a:lnSpc>
            </a:pPr>
            <a:r>
              <a:rPr lang="en-US" sz="2400"/>
              <a:t>If exit criteria are met, the software/system can be released to the next test phase or production</a:t>
            </a:r>
          </a:p>
          <a:p>
            <a:pPr>
              <a:lnSpc>
                <a:spcPct val="90000"/>
              </a:lnSpc>
            </a:pPr>
            <a:r>
              <a:rPr lang="en-US" sz="2400"/>
              <a:t>What if you finish the test plan very early?</a:t>
            </a:r>
          </a:p>
          <a:p>
            <a:pPr lvl="1">
              <a:lnSpc>
                <a:spcPct val="90000"/>
              </a:lnSpc>
            </a:pPr>
            <a:r>
              <a:rPr lang="en-US" sz="2000"/>
              <a:t>Have you done enough?</a:t>
            </a:r>
          </a:p>
          <a:p>
            <a:pPr lvl="1">
              <a:lnSpc>
                <a:spcPct val="90000"/>
              </a:lnSpc>
            </a:pPr>
            <a:r>
              <a:rPr lang="en-US" sz="2000"/>
              <a:t>Strengthen the exit criteria, perhaps and create more tests?</a:t>
            </a:r>
          </a:p>
        </p:txBody>
      </p:sp>
    </p:spTree>
    <p:extLst>
      <p:ext uri="{BB962C8B-B14F-4D97-AF65-F5344CB8AC3E}">
        <p14:creationId xmlns:p14="http://schemas.microsoft.com/office/powerpoint/2010/main" val="28966480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2"/>
          <p:cNvSpPr>
            <a:spLocks noGrp="1" noChangeArrowheads="1"/>
          </p:cNvSpPr>
          <p:nvPr>
            <p:ph type="ctrTitle"/>
          </p:nvPr>
        </p:nvSpPr>
        <p:spPr/>
        <p:txBody>
          <a:bodyPr/>
          <a:lstStyle/>
          <a:p>
            <a:r>
              <a:rPr lang="en-US"/>
              <a:t>Test Estimation</a:t>
            </a:r>
          </a:p>
        </p:txBody>
      </p:sp>
    </p:spTree>
    <p:extLst>
      <p:ext uri="{BB962C8B-B14F-4D97-AF65-F5344CB8AC3E}">
        <p14:creationId xmlns:p14="http://schemas.microsoft.com/office/powerpoint/2010/main" val="34969107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p:cNvSpPr>
            <a:spLocks noGrp="1" noChangeArrowheads="1"/>
          </p:cNvSpPr>
          <p:nvPr>
            <p:ph type="title"/>
          </p:nvPr>
        </p:nvSpPr>
        <p:spPr/>
        <p:txBody>
          <a:bodyPr/>
          <a:lstStyle/>
          <a:p>
            <a:r>
              <a:rPr lang="en-US"/>
              <a:t>Why do we need to estimate?</a:t>
            </a:r>
          </a:p>
        </p:txBody>
      </p:sp>
      <p:sp>
        <p:nvSpPr>
          <p:cNvPr id="768003" name="Rectangle 3"/>
          <p:cNvSpPr>
            <a:spLocks noGrp="1" noChangeArrowheads="1"/>
          </p:cNvSpPr>
          <p:nvPr>
            <p:ph type="body" idx="1"/>
          </p:nvPr>
        </p:nvSpPr>
        <p:spPr/>
        <p:txBody>
          <a:bodyPr/>
          <a:lstStyle/>
          <a:p>
            <a:r>
              <a:rPr lang="en-US"/>
              <a:t>The Project Manager wants you to predict:</a:t>
            </a:r>
          </a:p>
          <a:p>
            <a:pPr lvl="1"/>
            <a:r>
              <a:rPr lang="en-US"/>
              <a:t>how long testing will take in elapsed time</a:t>
            </a:r>
          </a:p>
          <a:p>
            <a:pPr lvl="1"/>
            <a:r>
              <a:rPr lang="en-US"/>
              <a:t>how much effort will be needed</a:t>
            </a:r>
          </a:p>
          <a:p>
            <a:pPr lvl="1"/>
            <a:r>
              <a:rPr lang="en-US"/>
              <a:t>when specialist skills/resources may be required</a:t>
            </a:r>
          </a:p>
          <a:p>
            <a:r>
              <a:rPr lang="en-US"/>
              <a:t>Resources can be testers, external consultants or services, tools, environments, hardware or software.</a:t>
            </a:r>
          </a:p>
        </p:txBody>
      </p:sp>
    </p:spTree>
    <p:extLst>
      <p:ext uri="{BB962C8B-B14F-4D97-AF65-F5344CB8AC3E}">
        <p14:creationId xmlns:p14="http://schemas.microsoft.com/office/powerpoint/2010/main" val="2427191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2"/>
          <p:cNvSpPr>
            <a:spLocks noGrp="1" noChangeArrowheads="1"/>
          </p:cNvSpPr>
          <p:nvPr>
            <p:ph type="title"/>
          </p:nvPr>
        </p:nvSpPr>
        <p:spPr/>
        <p:txBody>
          <a:bodyPr/>
          <a:lstStyle/>
          <a:p>
            <a:r>
              <a:rPr lang="en-US"/>
              <a:t>What is an estimate?</a:t>
            </a:r>
          </a:p>
        </p:txBody>
      </p:sp>
      <p:sp>
        <p:nvSpPr>
          <p:cNvPr id="770051" name="Rectangle 3"/>
          <p:cNvSpPr>
            <a:spLocks noGrp="1" noChangeArrowheads="1"/>
          </p:cNvSpPr>
          <p:nvPr>
            <p:ph type="body" idx="1"/>
          </p:nvPr>
        </p:nvSpPr>
        <p:spPr/>
        <p:txBody>
          <a:bodyPr/>
          <a:lstStyle/>
          <a:p>
            <a:r>
              <a:rPr lang="en-US"/>
              <a:t>For each task or activity...</a:t>
            </a:r>
          </a:p>
          <a:p>
            <a:pPr lvl="1"/>
            <a:r>
              <a:rPr lang="en-US"/>
              <a:t>e.g. prepare a test plan, or procedure</a:t>
            </a:r>
          </a:p>
          <a:p>
            <a:r>
              <a:rPr lang="en-US"/>
              <a:t>What resources are required:</a:t>
            </a:r>
          </a:p>
          <a:p>
            <a:pPr lvl="1"/>
            <a:r>
              <a:rPr lang="en-US"/>
              <a:t>people, tools, test environments etc.</a:t>
            </a:r>
          </a:p>
          <a:p>
            <a:pPr lvl="1"/>
            <a:r>
              <a:rPr lang="en-US"/>
              <a:t>for how long?</a:t>
            </a:r>
          </a:p>
          <a:p>
            <a:pPr lvl="1"/>
            <a:r>
              <a:rPr lang="en-US"/>
              <a:t>what is the resource utilisation? Full time, 50%, occasionally?</a:t>
            </a:r>
          </a:p>
          <a:p>
            <a:pPr lvl="1"/>
            <a:r>
              <a:rPr lang="en-US"/>
              <a:t>what is the lead time for obtaining that resource?</a:t>
            </a:r>
          </a:p>
        </p:txBody>
      </p:sp>
    </p:spTree>
    <p:extLst>
      <p:ext uri="{BB962C8B-B14F-4D97-AF65-F5344CB8AC3E}">
        <p14:creationId xmlns:p14="http://schemas.microsoft.com/office/powerpoint/2010/main" val="2086065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p:cNvSpPr>
            <a:spLocks noGrp="1" noChangeArrowheads="1"/>
          </p:cNvSpPr>
          <p:nvPr>
            <p:ph type="title"/>
          </p:nvPr>
        </p:nvSpPr>
        <p:spPr/>
        <p:txBody>
          <a:bodyPr/>
          <a:lstStyle/>
          <a:p>
            <a:r>
              <a:rPr lang="en-US"/>
              <a:t>Test Estimation</a:t>
            </a:r>
          </a:p>
        </p:txBody>
      </p:sp>
      <p:sp>
        <p:nvSpPr>
          <p:cNvPr id="772099" name="Rectangle 3"/>
          <p:cNvSpPr>
            <a:spLocks noGrp="1" noChangeArrowheads="1"/>
          </p:cNvSpPr>
          <p:nvPr>
            <p:ph type="body" idx="1"/>
          </p:nvPr>
        </p:nvSpPr>
        <p:spPr/>
        <p:txBody>
          <a:bodyPr/>
          <a:lstStyle/>
          <a:p>
            <a:r>
              <a:rPr lang="en-US"/>
              <a:t>Estimation is not an exact science</a:t>
            </a:r>
          </a:p>
          <a:p>
            <a:r>
              <a:rPr lang="en-US"/>
              <a:t>It's an approximate calculation or judgement based on:</a:t>
            </a:r>
          </a:p>
          <a:p>
            <a:pPr lvl="1"/>
            <a:r>
              <a:rPr lang="en-US"/>
              <a:t>direct experience</a:t>
            </a:r>
          </a:p>
          <a:p>
            <a:pPr lvl="1"/>
            <a:r>
              <a:rPr lang="en-US"/>
              <a:t>related experience</a:t>
            </a:r>
          </a:p>
          <a:p>
            <a:pPr lvl="1"/>
            <a:r>
              <a:rPr lang="en-US"/>
              <a:t>informed guesswork.</a:t>
            </a:r>
          </a:p>
        </p:txBody>
      </p:sp>
    </p:spTree>
    <p:extLst>
      <p:ext uri="{BB962C8B-B14F-4D97-AF65-F5344CB8AC3E}">
        <p14:creationId xmlns:p14="http://schemas.microsoft.com/office/powerpoint/2010/main" val="36390013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title"/>
          </p:nvPr>
        </p:nvSpPr>
        <p:spPr/>
        <p:txBody>
          <a:bodyPr/>
          <a:lstStyle/>
          <a:p>
            <a:r>
              <a:rPr lang="en-US"/>
              <a:t>Usually a 'bottom-up' activity</a:t>
            </a:r>
          </a:p>
        </p:txBody>
      </p:sp>
      <p:sp>
        <p:nvSpPr>
          <p:cNvPr id="774147" name="Rectangle 3"/>
          <p:cNvSpPr>
            <a:spLocks noGrp="1" noChangeArrowheads="1"/>
          </p:cNvSpPr>
          <p:nvPr>
            <p:ph type="body" idx="1"/>
          </p:nvPr>
        </p:nvSpPr>
        <p:spPr/>
        <p:txBody>
          <a:bodyPr/>
          <a:lstStyle/>
          <a:p>
            <a:r>
              <a:rPr lang="en-US" sz="2400"/>
              <a:t>Break down large complex tasks into smaller, simpler tasks to start with</a:t>
            </a:r>
          </a:p>
          <a:p>
            <a:r>
              <a:rPr lang="en-US" sz="2400"/>
              <a:t>Estimation 'in the small' is easier to do but.…</a:t>
            </a:r>
          </a:p>
          <a:p>
            <a:pPr lvl="1"/>
            <a:r>
              <a:rPr lang="en-US" sz="2000"/>
              <a:t>do you estimate in days, hours (minutes?)</a:t>
            </a:r>
          </a:p>
          <a:p>
            <a:pPr lvl="1"/>
            <a:r>
              <a:rPr lang="en-US" sz="2000"/>
              <a:t>it takes more effort to estimate large numbers of tasks</a:t>
            </a:r>
          </a:p>
          <a:p>
            <a:pPr lvl="1"/>
            <a:r>
              <a:rPr lang="en-US" sz="2000"/>
              <a:t>contingencies add up (you may overdo it)</a:t>
            </a:r>
          </a:p>
          <a:p>
            <a:pPr lvl="1"/>
            <a:r>
              <a:rPr lang="en-US" sz="2000"/>
              <a:t>some tasks may overlap (double accounting); some tasks may be incomplete (inadequate estimate).</a:t>
            </a:r>
          </a:p>
        </p:txBody>
      </p:sp>
    </p:spTree>
    <p:extLst>
      <p:ext uri="{BB962C8B-B14F-4D97-AF65-F5344CB8AC3E}">
        <p14:creationId xmlns:p14="http://schemas.microsoft.com/office/powerpoint/2010/main" val="25532585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ChangeArrowheads="1"/>
          </p:cNvSpPr>
          <p:nvPr>
            <p:ph type="title"/>
          </p:nvPr>
        </p:nvSpPr>
        <p:spPr/>
        <p:txBody>
          <a:bodyPr/>
          <a:lstStyle/>
          <a:p>
            <a:r>
              <a:rPr lang="en-US"/>
              <a:t>What do we need estimates of?</a:t>
            </a:r>
          </a:p>
        </p:txBody>
      </p:sp>
      <p:sp>
        <p:nvSpPr>
          <p:cNvPr id="776195" name="Rectangle 3"/>
          <p:cNvSpPr>
            <a:spLocks noGrp="1" noChangeArrowheads="1"/>
          </p:cNvSpPr>
          <p:nvPr>
            <p:ph type="body" idx="1"/>
          </p:nvPr>
        </p:nvSpPr>
        <p:spPr/>
        <p:txBody>
          <a:bodyPr/>
          <a:lstStyle/>
          <a:p>
            <a:r>
              <a:rPr lang="en-US" dirty="0"/>
              <a:t>Just about everything</a:t>
            </a:r>
          </a:p>
          <a:p>
            <a:r>
              <a:rPr lang="en-US" dirty="0"/>
              <a:t>Need estimates for all explicit activities:</a:t>
            </a:r>
          </a:p>
          <a:p>
            <a:pPr lvl="1"/>
            <a:r>
              <a:rPr lang="en-US" dirty="0"/>
              <a:t>test planning, design, implementation, execution</a:t>
            </a:r>
          </a:p>
          <a:p>
            <a:pPr lvl="1"/>
            <a:r>
              <a:rPr lang="en-US" dirty="0"/>
              <a:t>early meetings, test environment, standards/document templates</a:t>
            </a:r>
          </a:p>
          <a:p>
            <a:r>
              <a:rPr lang="en-US" dirty="0"/>
              <a:t>Also need to consider 'follow-up' activities:</a:t>
            </a:r>
          </a:p>
          <a:p>
            <a:pPr lvl="1"/>
            <a:r>
              <a:rPr lang="en-US" dirty="0"/>
              <a:t>re-testing, incident reviews, shut-down and clean-up, handover.</a:t>
            </a:r>
          </a:p>
        </p:txBody>
      </p:sp>
    </p:spTree>
    <p:extLst>
      <p:ext uri="{BB962C8B-B14F-4D97-AF65-F5344CB8AC3E}">
        <p14:creationId xmlns:p14="http://schemas.microsoft.com/office/powerpoint/2010/main" val="956510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p:cNvSpPr>
            <a:spLocks noGrp="1" noChangeArrowheads="1"/>
          </p:cNvSpPr>
          <p:nvPr>
            <p:ph type="title"/>
          </p:nvPr>
        </p:nvSpPr>
        <p:spPr/>
        <p:txBody>
          <a:bodyPr/>
          <a:lstStyle/>
          <a:p>
            <a:r>
              <a:rPr lang="en-US"/>
              <a:t>What gets forgotten?</a:t>
            </a:r>
          </a:p>
        </p:txBody>
      </p:sp>
      <p:sp>
        <p:nvSpPr>
          <p:cNvPr id="778243" name="Rectangle 3"/>
          <p:cNvSpPr>
            <a:spLocks noGrp="1" noChangeArrowheads="1"/>
          </p:cNvSpPr>
          <p:nvPr>
            <p:ph type="body" idx="1"/>
          </p:nvPr>
        </p:nvSpPr>
        <p:spPr/>
        <p:txBody>
          <a:bodyPr/>
          <a:lstStyle/>
          <a:p>
            <a:pPr>
              <a:lnSpc>
                <a:spcPct val="90000"/>
              </a:lnSpc>
            </a:pPr>
            <a:r>
              <a:rPr lang="en-US" sz="2400"/>
              <a:t>Training</a:t>
            </a:r>
          </a:p>
          <a:p>
            <a:pPr>
              <a:lnSpc>
                <a:spcPct val="90000"/>
              </a:lnSpc>
            </a:pPr>
            <a:r>
              <a:rPr lang="en-US" sz="2400"/>
              <a:t>'True' cost of tools (selection, pilot, implementation and roll-out)</a:t>
            </a:r>
          </a:p>
          <a:p>
            <a:pPr>
              <a:lnSpc>
                <a:spcPct val="90000"/>
              </a:lnSpc>
            </a:pPr>
            <a:r>
              <a:rPr lang="en-US" sz="2400"/>
              <a:t>Relocation of people, desks, comms, pcs etc</a:t>
            </a:r>
          </a:p>
          <a:p>
            <a:pPr>
              <a:lnSpc>
                <a:spcPct val="90000"/>
              </a:lnSpc>
            </a:pPr>
            <a:r>
              <a:rPr lang="en-US" sz="2400"/>
              <a:t>Reading time, 'getting up to speed'</a:t>
            </a:r>
          </a:p>
          <a:p>
            <a:pPr>
              <a:lnSpc>
                <a:spcPct val="90000"/>
              </a:lnSpc>
            </a:pPr>
            <a:r>
              <a:rPr lang="en-US" sz="2400"/>
              <a:t>Meetings and interviews take elapsed time to organise</a:t>
            </a:r>
          </a:p>
          <a:p>
            <a:pPr>
              <a:lnSpc>
                <a:spcPct val="90000"/>
              </a:lnSpc>
            </a:pPr>
            <a:r>
              <a:rPr lang="en-US" sz="2400"/>
              <a:t>'QA' and reviews as zero-duration tasks</a:t>
            </a:r>
          </a:p>
          <a:p>
            <a:pPr>
              <a:lnSpc>
                <a:spcPct val="90000"/>
              </a:lnSpc>
            </a:pPr>
            <a:r>
              <a:rPr lang="en-US" sz="2400"/>
              <a:t>Contingency.</a:t>
            </a:r>
          </a:p>
        </p:txBody>
      </p:sp>
    </p:spTree>
    <p:extLst>
      <p:ext uri="{BB962C8B-B14F-4D97-AF65-F5344CB8AC3E}">
        <p14:creationId xmlns:p14="http://schemas.microsoft.com/office/powerpoint/2010/main" val="36152272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r>
              <a:rPr lang="en-US"/>
              <a:t>Contingency</a:t>
            </a:r>
          </a:p>
        </p:txBody>
      </p:sp>
      <p:sp>
        <p:nvSpPr>
          <p:cNvPr id="780291" name="Rectangle 3"/>
          <p:cNvSpPr>
            <a:spLocks noGrp="1" noChangeArrowheads="1"/>
          </p:cNvSpPr>
          <p:nvPr>
            <p:ph type="body" idx="1"/>
          </p:nvPr>
        </p:nvSpPr>
        <p:spPr/>
        <p:txBody>
          <a:bodyPr/>
          <a:lstStyle/>
          <a:p>
            <a:r>
              <a:rPr lang="en-US"/>
              <a:t>Contingency is not a cop-out</a:t>
            </a:r>
          </a:p>
          <a:p>
            <a:r>
              <a:rPr lang="en-US"/>
              <a:t>You never have complete information, so estimation is imprecise and prone to error</a:t>
            </a:r>
          </a:p>
          <a:p>
            <a:r>
              <a:rPr lang="en-US"/>
              <a:t>Contingency accounts for potential under-estimation</a:t>
            </a:r>
          </a:p>
          <a:p>
            <a:r>
              <a:rPr lang="en-US"/>
              <a:t>Some tasks may not require contingency</a:t>
            </a:r>
          </a:p>
          <a:p>
            <a:r>
              <a:rPr lang="en-US"/>
              <a:t>Agree a percentage contingency on the risky tasks e.g. 10% or 15%</a:t>
            </a:r>
          </a:p>
        </p:txBody>
      </p:sp>
    </p:spTree>
    <p:extLst>
      <p:ext uri="{BB962C8B-B14F-4D97-AF65-F5344CB8AC3E}">
        <p14:creationId xmlns:p14="http://schemas.microsoft.com/office/powerpoint/2010/main" val="8879122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p:txBody>
          <a:bodyPr/>
          <a:lstStyle/>
          <a:p>
            <a:r>
              <a:rPr lang="en-US"/>
              <a:t>Problems in estimating</a:t>
            </a:r>
          </a:p>
        </p:txBody>
      </p:sp>
      <p:sp>
        <p:nvSpPr>
          <p:cNvPr id="782339" name="Rectangle 3"/>
          <p:cNvSpPr>
            <a:spLocks noGrp="1" noChangeArrowheads="1"/>
          </p:cNvSpPr>
          <p:nvPr>
            <p:ph type="body" idx="1"/>
          </p:nvPr>
        </p:nvSpPr>
        <p:spPr/>
        <p:txBody>
          <a:bodyPr/>
          <a:lstStyle/>
          <a:p>
            <a:r>
              <a:rPr lang="en-US" dirty="0"/>
              <a:t>Total effort for testing is </a:t>
            </a:r>
            <a:r>
              <a:rPr lang="en-US" b="1" i="1" dirty="0"/>
              <a:t>indeterminate</a:t>
            </a:r>
          </a:p>
          <a:p>
            <a:pPr lvl="1"/>
            <a:r>
              <a:rPr lang="en-US" dirty="0"/>
              <a:t>you can't predict how many faults will occur</a:t>
            </a:r>
          </a:p>
          <a:p>
            <a:pPr lvl="1"/>
            <a:r>
              <a:rPr lang="en-US" dirty="0"/>
              <a:t>you can't predict their severity</a:t>
            </a:r>
          </a:p>
          <a:p>
            <a:pPr lvl="1"/>
            <a:r>
              <a:rPr lang="en-US" dirty="0"/>
              <a:t>you can't predict time taken to fix</a:t>
            </a:r>
          </a:p>
          <a:p>
            <a:pPr lvl="1"/>
            <a:r>
              <a:rPr lang="en-US" dirty="0"/>
              <a:t>you can't predict when testing will stop</a:t>
            </a:r>
          </a:p>
        </p:txBody>
      </p:sp>
    </p:spTree>
    <p:extLst>
      <p:ext uri="{BB962C8B-B14F-4D97-AF65-F5344CB8AC3E}">
        <p14:creationId xmlns:p14="http://schemas.microsoft.com/office/powerpoint/2010/main" val="37249727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p:cNvSpPr>
            <a:spLocks noGrp="1" noChangeArrowheads="1"/>
          </p:cNvSpPr>
          <p:nvPr>
            <p:ph type="title"/>
          </p:nvPr>
        </p:nvSpPr>
        <p:spPr/>
        <p:txBody>
          <a:bodyPr/>
          <a:lstStyle/>
          <a:p>
            <a:r>
              <a:rPr lang="en-US"/>
              <a:t>Allowing enough time to test</a:t>
            </a:r>
          </a:p>
        </p:txBody>
      </p:sp>
      <p:sp>
        <p:nvSpPr>
          <p:cNvPr id="784387" name="Rectangle 3"/>
          <p:cNvSpPr>
            <a:spLocks noGrp="1" noChangeArrowheads="1"/>
          </p:cNvSpPr>
          <p:nvPr>
            <p:ph type="body" idx="1"/>
          </p:nvPr>
        </p:nvSpPr>
        <p:spPr/>
        <p:txBody>
          <a:bodyPr/>
          <a:lstStyle/>
          <a:p>
            <a:r>
              <a:rPr lang="en-US"/>
              <a:t>Allow for all stages in the test process</a:t>
            </a:r>
          </a:p>
          <a:p>
            <a:r>
              <a:rPr lang="en-US"/>
              <a:t>Don't underestimate the time taken to set up the testing environment, find data etc.</a:t>
            </a:r>
          </a:p>
          <a:p>
            <a:r>
              <a:rPr lang="en-US"/>
              <a:t>Testing rarely goes 'smoothly'</a:t>
            </a:r>
          </a:p>
          <a:p>
            <a:pPr lvl="1"/>
            <a:r>
              <a:rPr lang="en-US"/>
              <a:t>plan for faults to occur</a:t>
            </a:r>
          </a:p>
          <a:p>
            <a:pPr lvl="1"/>
            <a:r>
              <a:rPr lang="en-US"/>
              <a:t>assume 2-3 passes through system test.</a:t>
            </a:r>
          </a:p>
        </p:txBody>
      </p:sp>
    </p:spTree>
    <p:extLst>
      <p:ext uri="{BB962C8B-B14F-4D97-AF65-F5344CB8AC3E}">
        <p14:creationId xmlns:p14="http://schemas.microsoft.com/office/powerpoint/2010/main" val="41280406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End of Session 2</a:t>
            </a:r>
            <a:endParaRPr lang="en-IE" dirty="0"/>
          </a:p>
        </p:txBody>
      </p:sp>
      <p:sp>
        <p:nvSpPr>
          <p:cNvPr id="3" name="Content Placeholder 2"/>
          <p:cNvSpPr>
            <a:spLocks noGrp="1"/>
          </p:cNvSpPr>
          <p:nvPr>
            <p:ph idx="1"/>
          </p:nvPr>
        </p:nvSpPr>
        <p:spPr/>
        <p:txBody>
          <a:bodyPr/>
          <a:lstStyle/>
          <a:p>
            <a:r>
              <a:rPr lang="en-IE" dirty="0" smtClean="0"/>
              <a:t>Any Questions?</a:t>
            </a:r>
            <a:endParaRPr lang="en-IE" dirty="0"/>
          </a:p>
        </p:txBody>
      </p:sp>
    </p:spTree>
    <p:extLst>
      <p:ext uri="{BB962C8B-B14F-4D97-AF65-F5344CB8AC3E}">
        <p14:creationId xmlns:p14="http://schemas.microsoft.com/office/powerpoint/2010/main" val="354390244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p:txBody>
          <a:bodyPr/>
          <a:lstStyle/>
          <a:p>
            <a:r>
              <a:rPr lang="en-US"/>
              <a:t>Sources of estimation knowledge</a:t>
            </a:r>
          </a:p>
        </p:txBody>
      </p:sp>
      <p:sp>
        <p:nvSpPr>
          <p:cNvPr id="786435" name="Rectangle 3"/>
          <p:cNvSpPr>
            <a:spLocks noGrp="1" noChangeArrowheads="1"/>
          </p:cNvSpPr>
          <p:nvPr>
            <p:ph type="body" idx="1"/>
          </p:nvPr>
        </p:nvSpPr>
        <p:spPr/>
        <p:txBody>
          <a:bodyPr/>
          <a:lstStyle/>
          <a:p>
            <a:r>
              <a:rPr lang="en-US"/>
              <a:t>Intuition, guesswork</a:t>
            </a:r>
          </a:p>
          <a:p>
            <a:r>
              <a:rPr lang="en-US"/>
              <a:t>Previous experience</a:t>
            </a:r>
          </a:p>
          <a:p>
            <a:r>
              <a:rPr lang="en-US"/>
              <a:t>Company estimating standards</a:t>
            </a:r>
          </a:p>
          <a:p>
            <a:endParaRPr lang="en-US"/>
          </a:p>
        </p:txBody>
      </p:sp>
    </p:spTree>
    <p:extLst>
      <p:ext uri="{BB962C8B-B14F-4D97-AF65-F5344CB8AC3E}">
        <p14:creationId xmlns:p14="http://schemas.microsoft.com/office/powerpoint/2010/main" val="20167601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2"/>
          <p:cNvSpPr>
            <a:spLocks noGrp="1" noChangeArrowheads="1"/>
          </p:cNvSpPr>
          <p:nvPr>
            <p:ph type="ctrTitle"/>
          </p:nvPr>
        </p:nvSpPr>
        <p:spPr/>
        <p:txBody>
          <a:bodyPr/>
          <a:lstStyle/>
          <a:p>
            <a:r>
              <a:rPr lang="en-US"/>
              <a:t>Test Approaches (strategies)</a:t>
            </a:r>
          </a:p>
        </p:txBody>
      </p:sp>
    </p:spTree>
    <p:extLst>
      <p:ext uri="{BB962C8B-B14F-4D97-AF65-F5344CB8AC3E}">
        <p14:creationId xmlns:p14="http://schemas.microsoft.com/office/powerpoint/2010/main" val="83646316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2" name="Rectangle 4"/>
          <p:cNvSpPr>
            <a:spLocks noGrp="1" noChangeArrowheads="1"/>
          </p:cNvSpPr>
          <p:nvPr>
            <p:ph type="title"/>
          </p:nvPr>
        </p:nvSpPr>
        <p:spPr/>
        <p:txBody>
          <a:bodyPr/>
          <a:lstStyle/>
          <a:p>
            <a:r>
              <a:rPr lang="en-US"/>
              <a:t>Preventative v reactive test approaches</a:t>
            </a:r>
          </a:p>
        </p:txBody>
      </p:sp>
      <p:sp>
        <p:nvSpPr>
          <p:cNvPr id="790533" name="Rectangle 5"/>
          <p:cNvSpPr>
            <a:spLocks noGrp="1" noChangeArrowheads="1"/>
          </p:cNvSpPr>
          <p:nvPr>
            <p:ph type="body" idx="1"/>
          </p:nvPr>
        </p:nvSpPr>
        <p:spPr/>
        <p:txBody>
          <a:bodyPr/>
          <a:lstStyle/>
          <a:p>
            <a:r>
              <a:rPr lang="en-US"/>
              <a:t>One way to classify test approaches or strategies is based on the point in time at which the bulk of the test design work is begun: </a:t>
            </a:r>
          </a:p>
          <a:p>
            <a:pPr lvl="1"/>
            <a:r>
              <a:rPr lang="en-US"/>
              <a:t>Preventative approaches, where tests are designed as early as possible.</a:t>
            </a:r>
          </a:p>
          <a:p>
            <a:pPr lvl="1"/>
            <a:r>
              <a:rPr lang="en-US"/>
              <a:t>Reactive approaches, where test design comes after the software or system has been produced.</a:t>
            </a:r>
          </a:p>
        </p:txBody>
      </p:sp>
    </p:spTree>
    <p:extLst>
      <p:ext uri="{BB962C8B-B14F-4D97-AF65-F5344CB8AC3E}">
        <p14:creationId xmlns:p14="http://schemas.microsoft.com/office/powerpoint/2010/main" val="35196061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30" name="Rectangle 6"/>
          <p:cNvSpPr>
            <a:spLocks noGrp="1" noChangeArrowheads="1"/>
          </p:cNvSpPr>
          <p:nvPr>
            <p:ph type="title"/>
          </p:nvPr>
        </p:nvSpPr>
        <p:spPr/>
        <p:txBody>
          <a:bodyPr/>
          <a:lstStyle/>
          <a:p>
            <a:r>
              <a:rPr lang="en-US"/>
              <a:t>Selecting an approach</a:t>
            </a:r>
          </a:p>
        </p:txBody>
      </p:sp>
      <p:sp>
        <p:nvSpPr>
          <p:cNvPr id="794631" name="Rectangle 7"/>
          <p:cNvSpPr>
            <a:spLocks noGrp="1" noChangeArrowheads="1"/>
          </p:cNvSpPr>
          <p:nvPr>
            <p:ph type="body" idx="1"/>
          </p:nvPr>
        </p:nvSpPr>
        <p:spPr/>
        <p:txBody>
          <a:bodyPr/>
          <a:lstStyle/>
          <a:p>
            <a:r>
              <a:rPr lang="en-US" sz="2400"/>
              <a:t>The selection of a test approach should consider the context, including:</a:t>
            </a:r>
          </a:p>
          <a:p>
            <a:pPr lvl="1"/>
            <a:r>
              <a:rPr lang="en-US" sz="2000"/>
              <a:t>The risk of failure of the project, hazards to the product and risks of product failure to humans, the environment and the company</a:t>
            </a:r>
          </a:p>
          <a:p>
            <a:pPr lvl="1"/>
            <a:r>
              <a:rPr lang="en-US" sz="2000"/>
              <a:t>The skills and experience of the people in the proposed techniques, tools and methods</a:t>
            </a:r>
          </a:p>
          <a:p>
            <a:pPr lvl="1"/>
            <a:r>
              <a:rPr lang="en-US" sz="2000"/>
              <a:t>The objective of the testing and the mission of the testing team</a:t>
            </a:r>
          </a:p>
          <a:p>
            <a:pPr lvl="1"/>
            <a:r>
              <a:rPr lang="en-US" sz="2000"/>
              <a:t>Regulatory aspects, such as external and internal regulations for the development process</a:t>
            </a:r>
          </a:p>
          <a:p>
            <a:pPr lvl="1"/>
            <a:r>
              <a:rPr lang="en-US" sz="2000"/>
              <a:t>The nature of the product and the business.</a:t>
            </a:r>
          </a:p>
        </p:txBody>
      </p:sp>
    </p:spTree>
    <p:extLst>
      <p:ext uri="{BB962C8B-B14F-4D97-AF65-F5344CB8AC3E}">
        <p14:creationId xmlns:p14="http://schemas.microsoft.com/office/powerpoint/2010/main" val="2965282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ctrTitle"/>
          </p:nvPr>
        </p:nvSpPr>
        <p:spPr/>
        <p:txBody>
          <a:bodyPr/>
          <a:lstStyle/>
          <a:p>
            <a:r>
              <a:rPr lang="en-US"/>
              <a:t>Test Progress Monitoring and Control</a:t>
            </a:r>
          </a:p>
        </p:txBody>
      </p:sp>
    </p:spTree>
    <p:extLst>
      <p:ext uri="{BB962C8B-B14F-4D97-AF65-F5344CB8AC3E}">
        <p14:creationId xmlns:p14="http://schemas.microsoft.com/office/powerpoint/2010/main" val="23237727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2"/>
          <p:cNvSpPr>
            <a:spLocks noGrp="1" noChangeArrowheads="1"/>
          </p:cNvSpPr>
          <p:nvPr>
            <p:ph type="title"/>
          </p:nvPr>
        </p:nvSpPr>
        <p:spPr/>
        <p:txBody>
          <a:bodyPr/>
          <a:lstStyle/>
          <a:p>
            <a:r>
              <a:rPr lang="en-US"/>
              <a:t>Test progress monitoring</a:t>
            </a:r>
          </a:p>
        </p:txBody>
      </p:sp>
      <p:sp>
        <p:nvSpPr>
          <p:cNvPr id="798723" name="Rectangle 3"/>
          <p:cNvSpPr>
            <a:spLocks noGrp="1" noChangeArrowheads="1"/>
          </p:cNvSpPr>
          <p:nvPr>
            <p:ph type="body" idx="1"/>
          </p:nvPr>
        </p:nvSpPr>
        <p:spPr/>
        <p:txBody>
          <a:bodyPr/>
          <a:lstStyle/>
          <a:p>
            <a:r>
              <a:rPr lang="en-US"/>
              <a:t>The purpose of test monitoring is to give feedback and visibility about test activities</a:t>
            </a:r>
          </a:p>
          <a:p>
            <a:r>
              <a:rPr lang="en-US"/>
              <a:t>Information to be monitored may be collected manually or automatically and may be used to measure exit criteria, such as coverage</a:t>
            </a:r>
          </a:p>
          <a:p>
            <a:r>
              <a:rPr lang="en-US"/>
              <a:t>Metrics may also be used to assess progress against the planned schedule and budget</a:t>
            </a:r>
          </a:p>
        </p:txBody>
      </p:sp>
    </p:spTree>
    <p:extLst>
      <p:ext uri="{BB962C8B-B14F-4D97-AF65-F5344CB8AC3E}">
        <p14:creationId xmlns:p14="http://schemas.microsoft.com/office/powerpoint/2010/main" val="1946616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4" name="Rectangle 6"/>
          <p:cNvSpPr>
            <a:spLocks noGrp="1" noChangeArrowheads="1"/>
          </p:cNvSpPr>
          <p:nvPr>
            <p:ph type="title"/>
          </p:nvPr>
        </p:nvSpPr>
        <p:spPr/>
        <p:txBody>
          <a:bodyPr/>
          <a:lstStyle/>
          <a:p>
            <a:r>
              <a:rPr lang="en-US"/>
              <a:t>Common test metrics</a:t>
            </a:r>
          </a:p>
        </p:txBody>
      </p:sp>
      <p:sp>
        <p:nvSpPr>
          <p:cNvPr id="800775" name="Rectangle 7"/>
          <p:cNvSpPr>
            <a:spLocks noGrp="1" noChangeArrowheads="1"/>
          </p:cNvSpPr>
          <p:nvPr>
            <p:ph type="body" idx="1"/>
          </p:nvPr>
        </p:nvSpPr>
        <p:spPr/>
        <p:txBody>
          <a:bodyPr/>
          <a:lstStyle/>
          <a:p>
            <a:r>
              <a:rPr lang="en-US" sz="2400" i="1" dirty="0"/>
              <a:t>Percentage of work done </a:t>
            </a:r>
            <a:r>
              <a:rPr lang="en-US" sz="2400" dirty="0"/>
              <a:t>in test case preparation (or percentage of planned test cases prepared)</a:t>
            </a:r>
          </a:p>
          <a:p>
            <a:r>
              <a:rPr lang="en-US" sz="2400" dirty="0"/>
              <a:t>Percentage of work done in test environment preparation</a:t>
            </a:r>
          </a:p>
          <a:p>
            <a:r>
              <a:rPr lang="en-US" sz="2400" i="1" dirty="0"/>
              <a:t>Test case execution </a:t>
            </a:r>
            <a:r>
              <a:rPr lang="en-US" sz="2400" dirty="0"/>
              <a:t>(e.g. number of test cases run/not run, and test cases passed/failed)</a:t>
            </a:r>
          </a:p>
          <a:p>
            <a:r>
              <a:rPr lang="en-US" sz="2400" i="1" dirty="0"/>
              <a:t>Defect information </a:t>
            </a:r>
            <a:r>
              <a:rPr lang="en-US" sz="2400" dirty="0"/>
              <a:t>(e.g. defect density, defects found and fixed, failure rate, and retest results)</a:t>
            </a:r>
          </a:p>
          <a:p>
            <a:r>
              <a:rPr lang="en-US" sz="2400" i="1" dirty="0"/>
              <a:t>Test coverage </a:t>
            </a:r>
            <a:r>
              <a:rPr lang="en-US" sz="2400" dirty="0"/>
              <a:t>of requirements, risks or code</a:t>
            </a:r>
          </a:p>
          <a:p>
            <a:r>
              <a:rPr lang="en-US" sz="2400" i="1" dirty="0"/>
              <a:t>Testing costs</a:t>
            </a:r>
            <a:r>
              <a:rPr lang="en-US" sz="2400" dirty="0"/>
              <a:t>, including the cost compared to the benefit of finding the next defect or to run the next test.</a:t>
            </a:r>
          </a:p>
        </p:txBody>
      </p:sp>
    </p:spTree>
    <p:extLst>
      <p:ext uri="{BB962C8B-B14F-4D97-AF65-F5344CB8AC3E}">
        <p14:creationId xmlns:p14="http://schemas.microsoft.com/office/powerpoint/2010/main" val="17027286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p:cNvSpPr>
            <a:spLocks noGrp="1" noChangeArrowheads="1"/>
          </p:cNvSpPr>
          <p:nvPr>
            <p:ph type="title"/>
          </p:nvPr>
        </p:nvSpPr>
        <p:spPr/>
        <p:txBody>
          <a:bodyPr/>
          <a:lstStyle/>
          <a:p>
            <a:r>
              <a:rPr lang="en-US"/>
              <a:t>Test Reporting</a:t>
            </a:r>
          </a:p>
        </p:txBody>
      </p:sp>
      <p:sp>
        <p:nvSpPr>
          <p:cNvPr id="802819" name="Rectangle 3"/>
          <p:cNvSpPr>
            <a:spLocks noGrp="1" noChangeArrowheads="1"/>
          </p:cNvSpPr>
          <p:nvPr>
            <p:ph type="body" idx="1"/>
          </p:nvPr>
        </p:nvSpPr>
        <p:spPr/>
        <p:txBody>
          <a:bodyPr/>
          <a:lstStyle/>
          <a:p>
            <a:r>
              <a:rPr lang="en-US"/>
              <a:t>Test reporting is concerned with summarizing information about the testing endeavour, including: </a:t>
            </a:r>
          </a:p>
          <a:p>
            <a:pPr lvl="1"/>
            <a:r>
              <a:rPr lang="en-US"/>
              <a:t>What happened during a period of testing, such as dates when exit criteria were met.</a:t>
            </a:r>
          </a:p>
          <a:p>
            <a:pPr lvl="1"/>
            <a:r>
              <a:rPr lang="en-US"/>
              <a:t>Analyzed information and metrics to support recommendations and decisions about future actions, such as an assessment of defects remaining, the economic </a:t>
            </a:r>
          </a:p>
        </p:txBody>
      </p:sp>
    </p:spTree>
    <p:extLst>
      <p:ext uri="{BB962C8B-B14F-4D97-AF65-F5344CB8AC3E}">
        <p14:creationId xmlns:p14="http://schemas.microsoft.com/office/powerpoint/2010/main" val="11763945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r>
              <a:rPr lang="en-US" sz="3200"/>
              <a:t>IEEE 829 test summary report composition</a:t>
            </a:r>
          </a:p>
        </p:txBody>
      </p:sp>
      <p:sp>
        <p:nvSpPr>
          <p:cNvPr id="804867" name="Rectangle 3"/>
          <p:cNvSpPr>
            <a:spLocks noGrp="1" noChangeArrowheads="1"/>
          </p:cNvSpPr>
          <p:nvPr>
            <p:ph type="body" idx="1"/>
          </p:nvPr>
        </p:nvSpPr>
        <p:spPr/>
        <p:txBody>
          <a:bodyPr/>
          <a:lstStyle/>
          <a:p>
            <a:r>
              <a:rPr lang="en-US"/>
              <a:t>Summary</a:t>
            </a:r>
          </a:p>
          <a:p>
            <a:r>
              <a:rPr lang="en-US"/>
              <a:t>Variances</a:t>
            </a:r>
          </a:p>
          <a:p>
            <a:r>
              <a:rPr lang="en-US"/>
              <a:t>Comprehensive assessment</a:t>
            </a:r>
          </a:p>
          <a:p>
            <a:r>
              <a:rPr lang="en-US"/>
              <a:t>Summary of results</a:t>
            </a:r>
          </a:p>
          <a:p>
            <a:r>
              <a:rPr lang="en-US"/>
              <a:t>Evaluation</a:t>
            </a:r>
          </a:p>
          <a:p>
            <a:r>
              <a:rPr lang="en-US"/>
              <a:t>Summary of Activities</a:t>
            </a:r>
          </a:p>
          <a:p>
            <a:r>
              <a:rPr lang="en-US"/>
              <a:t>Approvals</a:t>
            </a:r>
          </a:p>
        </p:txBody>
      </p:sp>
    </p:spTree>
    <p:extLst>
      <p:ext uri="{BB962C8B-B14F-4D97-AF65-F5344CB8AC3E}">
        <p14:creationId xmlns:p14="http://schemas.microsoft.com/office/powerpoint/2010/main" val="38359542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p:txBody>
          <a:bodyPr/>
          <a:lstStyle/>
          <a:p>
            <a:r>
              <a:rPr lang="en-US"/>
              <a:t>Quantification of the testing</a:t>
            </a:r>
          </a:p>
        </p:txBody>
      </p:sp>
      <p:sp>
        <p:nvSpPr>
          <p:cNvPr id="806915" name="Rectangle 3"/>
          <p:cNvSpPr>
            <a:spLocks noGrp="1" noChangeArrowheads="1"/>
          </p:cNvSpPr>
          <p:nvPr>
            <p:ph type="body" idx="1"/>
          </p:nvPr>
        </p:nvSpPr>
        <p:spPr/>
        <p:txBody>
          <a:bodyPr/>
          <a:lstStyle/>
          <a:p>
            <a:r>
              <a:rPr lang="en-US"/>
              <a:t>Metrics should be collected during and at the end of a test level in order to assess:</a:t>
            </a:r>
          </a:p>
          <a:p>
            <a:pPr lvl="1"/>
            <a:r>
              <a:rPr lang="en-US"/>
              <a:t>The adequacy of the test objectives for that test level</a:t>
            </a:r>
          </a:p>
          <a:p>
            <a:pPr lvl="1"/>
            <a:r>
              <a:rPr lang="en-US"/>
              <a:t>The adequacy of the test approaches taken</a:t>
            </a:r>
          </a:p>
          <a:p>
            <a:pPr lvl="1"/>
            <a:r>
              <a:rPr lang="en-US"/>
              <a:t>The effectiveness of the testing with respect to its objectives.</a:t>
            </a:r>
          </a:p>
        </p:txBody>
      </p:sp>
    </p:spTree>
    <p:extLst>
      <p:ext uri="{BB962C8B-B14F-4D97-AF65-F5344CB8AC3E}">
        <p14:creationId xmlns:p14="http://schemas.microsoft.com/office/powerpoint/2010/main" val="3191430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6" name="Rectangle 6"/>
          <p:cNvSpPr>
            <a:spLocks noGrp="1" noChangeArrowheads="1"/>
          </p:cNvSpPr>
          <p:nvPr>
            <p:ph type="title"/>
          </p:nvPr>
        </p:nvSpPr>
        <p:spPr/>
        <p:txBody>
          <a:bodyPr/>
          <a:lstStyle/>
          <a:p>
            <a:r>
              <a:rPr lang="en-US" dirty="0"/>
              <a:t>Test control</a:t>
            </a:r>
          </a:p>
        </p:txBody>
      </p:sp>
      <p:sp>
        <p:nvSpPr>
          <p:cNvPr id="808967" name="Rectangle 7"/>
          <p:cNvSpPr>
            <a:spLocks noGrp="1" noChangeArrowheads="1"/>
          </p:cNvSpPr>
          <p:nvPr>
            <p:ph type="body" idx="1"/>
          </p:nvPr>
        </p:nvSpPr>
        <p:spPr/>
        <p:txBody>
          <a:bodyPr/>
          <a:lstStyle/>
          <a:p>
            <a:r>
              <a:rPr lang="en-US" sz="2400" dirty="0"/>
              <a:t>Test control describes any guiding or corrective actions taken as a result of information and metrics gathered and reported.</a:t>
            </a:r>
          </a:p>
          <a:p>
            <a:r>
              <a:rPr lang="en-US" sz="2400" dirty="0"/>
              <a:t>Actions may cover any test activity and may affect any other software life cycle activity or task.</a:t>
            </a:r>
          </a:p>
          <a:p>
            <a:r>
              <a:rPr lang="en-US" sz="2400" dirty="0"/>
              <a:t>Examples of test control actions are</a:t>
            </a:r>
          </a:p>
          <a:p>
            <a:pPr lvl="1"/>
            <a:r>
              <a:rPr lang="en-US" sz="2000" dirty="0"/>
              <a:t>Re-prioritize tests when an identified risk occurs</a:t>
            </a:r>
          </a:p>
          <a:p>
            <a:pPr lvl="1"/>
            <a:r>
              <a:rPr lang="en-US" sz="2000" dirty="0"/>
              <a:t>Change the test schedule due to availability of a test environment.</a:t>
            </a:r>
          </a:p>
          <a:p>
            <a:pPr lvl="1"/>
            <a:r>
              <a:rPr lang="en-US" sz="2000" dirty="0"/>
              <a:t>Set an entry criterion requiring fixes to have been retested by a developer before accepting them into a build.</a:t>
            </a:r>
          </a:p>
        </p:txBody>
      </p:sp>
    </p:spTree>
    <p:extLst>
      <p:ext uri="{BB962C8B-B14F-4D97-AF65-F5344CB8AC3E}">
        <p14:creationId xmlns:p14="http://schemas.microsoft.com/office/powerpoint/2010/main" val="823562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End of Session 3</a:t>
            </a:r>
            <a:endParaRPr lang="en-IE" dirty="0"/>
          </a:p>
        </p:txBody>
      </p:sp>
      <p:sp>
        <p:nvSpPr>
          <p:cNvPr id="3" name="Content Placeholder 2"/>
          <p:cNvSpPr>
            <a:spLocks noGrp="1"/>
          </p:cNvSpPr>
          <p:nvPr>
            <p:ph idx="1"/>
          </p:nvPr>
        </p:nvSpPr>
        <p:spPr/>
        <p:txBody>
          <a:bodyPr/>
          <a:lstStyle/>
          <a:p>
            <a:r>
              <a:rPr lang="en-IE" dirty="0" smtClean="0"/>
              <a:t>Any Questions?</a:t>
            </a:r>
            <a:endParaRPr lang="en-IE" dirty="0"/>
          </a:p>
        </p:txBody>
      </p:sp>
    </p:spTree>
    <p:extLst>
      <p:ext uri="{BB962C8B-B14F-4D97-AF65-F5344CB8AC3E}">
        <p14:creationId xmlns:p14="http://schemas.microsoft.com/office/powerpoint/2010/main" val="158638433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53173</TotalTime>
  <Words>2418</Words>
  <Application>Microsoft Office PowerPoint</Application>
  <PresentationFormat>Widescreen</PresentationFormat>
  <Paragraphs>291</Paragraphs>
  <Slides>44</Slides>
  <Notes>41</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ＭＳ Ｐゴシック</vt:lpstr>
      <vt:lpstr>Arial</vt:lpstr>
      <vt:lpstr>Calibri</vt:lpstr>
      <vt:lpstr>Monotype Sorts</vt:lpstr>
      <vt:lpstr>1_EvolutifStandard</vt:lpstr>
      <vt:lpstr>Test Organisation</vt:lpstr>
      <vt:lpstr>Who does the testing?</vt:lpstr>
      <vt:lpstr>Test team roles</vt:lpstr>
      <vt:lpstr>Test team roles</vt:lpstr>
      <vt:lpstr>Support staff</vt:lpstr>
      <vt:lpstr>Test Planning and Estimation</vt:lpstr>
      <vt:lpstr>Test plans are often layered</vt:lpstr>
      <vt:lpstr>Test planning</vt:lpstr>
      <vt:lpstr>Test planning activities</vt:lpstr>
      <vt:lpstr>Exit criteria</vt:lpstr>
      <vt:lpstr>Exit Criteria 2</vt:lpstr>
      <vt:lpstr>Component Integration test completion criteria</vt:lpstr>
      <vt:lpstr>Typical (Functional) System Test completion criteria</vt:lpstr>
      <vt:lpstr>Acceptance Test completion criteria</vt:lpstr>
      <vt:lpstr>End of Session 1</vt:lpstr>
      <vt:lpstr>Large Scale Integration Test completion criteria</vt:lpstr>
      <vt:lpstr>Defect Severity &amp; Priority</vt:lpstr>
      <vt:lpstr>Defect Severity</vt:lpstr>
      <vt:lpstr>Defect Priority</vt:lpstr>
      <vt:lpstr>Defect Severity and Priority</vt:lpstr>
      <vt:lpstr>Decision time</vt:lpstr>
      <vt:lpstr>Test Estimation</vt:lpstr>
      <vt:lpstr>Why do we need to estimate?</vt:lpstr>
      <vt:lpstr>What is an estimate?</vt:lpstr>
      <vt:lpstr>Test Estimation</vt:lpstr>
      <vt:lpstr>Usually a 'bottom-up' activity</vt:lpstr>
      <vt:lpstr>What do we need estimates of?</vt:lpstr>
      <vt:lpstr>What gets forgotten?</vt:lpstr>
      <vt:lpstr>Contingency</vt:lpstr>
      <vt:lpstr>Problems in estimating</vt:lpstr>
      <vt:lpstr>Allowing enough time to test</vt:lpstr>
      <vt:lpstr>End of Session 2</vt:lpstr>
      <vt:lpstr>Sources of estimation knowledge</vt:lpstr>
      <vt:lpstr>Test Approaches (strategies)</vt:lpstr>
      <vt:lpstr>Preventative v reactive test approaches</vt:lpstr>
      <vt:lpstr>Selecting an approach</vt:lpstr>
      <vt:lpstr>Test Progress Monitoring and Control</vt:lpstr>
      <vt:lpstr>Test progress monitoring</vt:lpstr>
      <vt:lpstr>Common test metrics</vt:lpstr>
      <vt:lpstr>Test Reporting</vt:lpstr>
      <vt:lpstr>IEEE 829 test summary report composition</vt:lpstr>
      <vt:lpstr>Quantification of the testing</vt:lpstr>
      <vt:lpstr>Test control</vt:lpstr>
      <vt:lpstr>End of Session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we start</dc:title>
  <dc:creator>Windows User</dc:creator>
  <cp:lastModifiedBy>Silvana MacMahon</cp:lastModifiedBy>
  <cp:revision>176</cp:revision>
  <cp:lastPrinted>2018-11-16T12:05:11Z</cp:lastPrinted>
  <dcterms:created xsi:type="dcterms:W3CDTF">2016-09-21T15:13:11Z</dcterms:created>
  <dcterms:modified xsi:type="dcterms:W3CDTF">2020-03-24T13:38:28Z</dcterms:modified>
</cp:coreProperties>
</file>