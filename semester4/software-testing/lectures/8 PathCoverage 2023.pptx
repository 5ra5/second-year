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8" r:id="rId2"/>
  </p:sldMasterIdLst>
  <p:notesMasterIdLst>
    <p:notesMasterId r:id="rId24"/>
  </p:notesMasterIdLst>
  <p:handoutMasterIdLst>
    <p:handoutMasterId r:id="rId25"/>
  </p:handoutMasterIdLst>
  <p:sldIdLst>
    <p:sldId id="464" r:id="rId3"/>
    <p:sldId id="494" r:id="rId4"/>
    <p:sldId id="499" r:id="rId5"/>
    <p:sldId id="496" r:id="rId6"/>
    <p:sldId id="465" r:id="rId7"/>
    <p:sldId id="466" r:id="rId8"/>
    <p:sldId id="500" r:id="rId9"/>
    <p:sldId id="505" r:id="rId10"/>
    <p:sldId id="506" r:id="rId11"/>
    <p:sldId id="468" r:id="rId12"/>
    <p:sldId id="502" r:id="rId13"/>
    <p:sldId id="467" r:id="rId14"/>
    <p:sldId id="469" r:id="rId15"/>
    <p:sldId id="470" r:id="rId16"/>
    <p:sldId id="471" r:id="rId17"/>
    <p:sldId id="365" r:id="rId18"/>
    <p:sldId id="366" r:id="rId19"/>
    <p:sldId id="367" r:id="rId20"/>
    <p:sldId id="472" r:id="rId21"/>
    <p:sldId id="368" r:id="rId22"/>
    <p:sldId id="286" r:id="rId23"/>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557" autoAdjust="0"/>
    <p:restoredTop sz="94660"/>
  </p:normalViewPr>
  <p:slideViewPr>
    <p:cSldViewPr snapToGrid="0">
      <p:cViewPr varScale="1">
        <p:scale>
          <a:sx n="85" d="100"/>
          <a:sy n="85" d="100"/>
        </p:scale>
        <p:origin x="96" y="666"/>
      </p:cViewPr>
      <p:guideLst/>
    </p:cSldViewPr>
  </p:slideViewPr>
  <p:notesTextViewPr>
    <p:cViewPr>
      <p:scale>
        <a:sx n="1" d="1"/>
        <a:sy n="1" d="1"/>
      </p:scale>
      <p:origin x="0" y="0"/>
    </p:cViewPr>
  </p:notesTextViewPr>
  <p:sorterViewPr>
    <p:cViewPr>
      <p:scale>
        <a:sx n="110" d="100"/>
        <a:sy n="11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329EA51-299A-4F88-AEAA-6A4A910B2623}"/>
              </a:ext>
            </a:extLst>
          </p:cNvPr>
          <p:cNvSpPr>
            <a:spLocks noGrp="1"/>
          </p:cNvSpPr>
          <p:nvPr>
            <p:ph type="hdr" sz="quarter"/>
          </p:nvPr>
        </p:nvSpPr>
        <p:spPr>
          <a:xfrm>
            <a:off x="1" y="0"/>
            <a:ext cx="3078427" cy="513508"/>
          </a:xfrm>
          <a:prstGeom prst="rect">
            <a:avLst/>
          </a:prstGeom>
        </p:spPr>
        <p:txBody>
          <a:bodyPr vert="horz" lIns="95088" tIns="47544" rIns="95088" bIns="47544" rtlCol="0"/>
          <a:lstStyle>
            <a:lvl1pPr algn="l">
              <a:defRPr sz="1200"/>
            </a:lvl1pPr>
          </a:lstStyle>
          <a:p>
            <a:endParaRPr lang="en-IE"/>
          </a:p>
        </p:txBody>
      </p:sp>
      <p:sp>
        <p:nvSpPr>
          <p:cNvPr id="3" name="Date Placeholder 2">
            <a:extLst>
              <a:ext uri="{FF2B5EF4-FFF2-40B4-BE49-F238E27FC236}">
                <a16:creationId xmlns:a16="http://schemas.microsoft.com/office/drawing/2014/main" id="{8D22439C-CD59-4163-A143-3A677CFCF7F4}"/>
              </a:ext>
            </a:extLst>
          </p:cNvPr>
          <p:cNvSpPr>
            <a:spLocks noGrp="1"/>
          </p:cNvSpPr>
          <p:nvPr>
            <p:ph type="dt" sz="quarter" idx="1"/>
          </p:nvPr>
        </p:nvSpPr>
        <p:spPr>
          <a:xfrm>
            <a:off x="4023993" y="0"/>
            <a:ext cx="3078427" cy="513508"/>
          </a:xfrm>
          <a:prstGeom prst="rect">
            <a:avLst/>
          </a:prstGeom>
        </p:spPr>
        <p:txBody>
          <a:bodyPr vert="horz" lIns="95088" tIns="47544" rIns="95088" bIns="47544" rtlCol="0"/>
          <a:lstStyle>
            <a:lvl1pPr algn="r">
              <a:defRPr sz="1200"/>
            </a:lvl1pPr>
          </a:lstStyle>
          <a:p>
            <a:endParaRPr lang="en-IE"/>
          </a:p>
        </p:txBody>
      </p:sp>
      <p:sp>
        <p:nvSpPr>
          <p:cNvPr id="4" name="Footer Placeholder 3">
            <a:extLst>
              <a:ext uri="{FF2B5EF4-FFF2-40B4-BE49-F238E27FC236}">
                <a16:creationId xmlns:a16="http://schemas.microsoft.com/office/drawing/2014/main" id="{95A2DF7B-83ED-44CC-BA17-6CD5783B853C}"/>
              </a:ext>
            </a:extLst>
          </p:cNvPr>
          <p:cNvSpPr>
            <a:spLocks noGrp="1"/>
          </p:cNvSpPr>
          <p:nvPr>
            <p:ph type="ftr" sz="quarter" idx="2"/>
          </p:nvPr>
        </p:nvSpPr>
        <p:spPr>
          <a:xfrm>
            <a:off x="1" y="9721106"/>
            <a:ext cx="3078427" cy="513507"/>
          </a:xfrm>
          <a:prstGeom prst="rect">
            <a:avLst/>
          </a:prstGeom>
        </p:spPr>
        <p:txBody>
          <a:bodyPr vert="horz" lIns="95088" tIns="47544" rIns="95088" bIns="47544"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8A493A6D-341F-4BBE-BBB4-7920704D0C21}"/>
              </a:ext>
            </a:extLst>
          </p:cNvPr>
          <p:cNvSpPr>
            <a:spLocks noGrp="1"/>
          </p:cNvSpPr>
          <p:nvPr>
            <p:ph type="sldNum" sz="quarter" idx="3"/>
          </p:nvPr>
        </p:nvSpPr>
        <p:spPr>
          <a:xfrm>
            <a:off x="4023993" y="9721106"/>
            <a:ext cx="3078427" cy="513507"/>
          </a:xfrm>
          <a:prstGeom prst="rect">
            <a:avLst/>
          </a:prstGeom>
        </p:spPr>
        <p:txBody>
          <a:bodyPr vert="horz" lIns="95088" tIns="47544" rIns="95088" bIns="47544" rtlCol="0" anchor="b"/>
          <a:lstStyle>
            <a:lvl1pPr algn="r">
              <a:defRPr sz="1200"/>
            </a:lvl1pPr>
          </a:lstStyle>
          <a:p>
            <a:fld id="{C4A2C250-49C1-4F5E-B116-790850E44B69}" type="slidenum">
              <a:rPr lang="en-IE" smtClean="0"/>
              <a:t>‹#›</a:t>
            </a:fld>
            <a:endParaRPr lang="en-IE"/>
          </a:p>
        </p:txBody>
      </p:sp>
    </p:spTree>
    <p:extLst>
      <p:ext uri="{BB962C8B-B14F-4D97-AF65-F5344CB8AC3E}">
        <p14:creationId xmlns:p14="http://schemas.microsoft.com/office/powerpoint/2010/main" val="241719843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8427" cy="513508"/>
          </a:xfrm>
          <a:prstGeom prst="rect">
            <a:avLst/>
          </a:prstGeom>
        </p:spPr>
        <p:txBody>
          <a:bodyPr vert="horz" lIns="95088" tIns="47544" rIns="95088" bIns="47544" rtlCol="0"/>
          <a:lstStyle>
            <a:lvl1pPr algn="l">
              <a:defRPr sz="1200"/>
            </a:lvl1pPr>
          </a:lstStyle>
          <a:p>
            <a:endParaRPr lang="en-IE"/>
          </a:p>
        </p:txBody>
      </p:sp>
      <p:sp>
        <p:nvSpPr>
          <p:cNvPr id="3" name="Date Placeholder 2"/>
          <p:cNvSpPr>
            <a:spLocks noGrp="1"/>
          </p:cNvSpPr>
          <p:nvPr>
            <p:ph type="dt" idx="1"/>
          </p:nvPr>
        </p:nvSpPr>
        <p:spPr>
          <a:xfrm>
            <a:off x="4023993" y="0"/>
            <a:ext cx="3078427" cy="513508"/>
          </a:xfrm>
          <a:prstGeom prst="rect">
            <a:avLst/>
          </a:prstGeom>
        </p:spPr>
        <p:txBody>
          <a:bodyPr vert="horz" lIns="95088" tIns="47544" rIns="95088" bIns="47544" rtlCol="0"/>
          <a:lstStyle>
            <a:lvl1pPr algn="r">
              <a:defRPr sz="1200"/>
            </a:lvl1pPr>
          </a:lstStyle>
          <a:p>
            <a:endParaRPr lang="en-IE"/>
          </a:p>
        </p:txBody>
      </p:sp>
      <p:sp>
        <p:nvSpPr>
          <p:cNvPr id="4" name="Slide Image Placeholder 3"/>
          <p:cNvSpPr>
            <a:spLocks noGrp="1" noRot="1" noChangeAspect="1"/>
          </p:cNvSpPr>
          <p:nvPr>
            <p:ph type="sldImg" idx="2"/>
          </p:nvPr>
        </p:nvSpPr>
        <p:spPr>
          <a:xfrm>
            <a:off x="479425" y="1277938"/>
            <a:ext cx="6145213" cy="3455987"/>
          </a:xfrm>
          <a:prstGeom prst="rect">
            <a:avLst/>
          </a:prstGeom>
          <a:noFill/>
          <a:ln w="12700">
            <a:solidFill>
              <a:prstClr val="black"/>
            </a:solidFill>
          </a:ln>
        </p:spPr>
        <p:txBody>
          <a:bodyPr vert="horz" lIns="95088" tIns="47544" rIns="95088" bIns="47544" rtlCol="0" anchor="ctr"/>
          <a:lstStyle/>
          <a:p>
            <a:endParaRPr lang="en-IE"/>
          </a:p>
        </p:txBody>
      </p:sp>
      <p:sp>
        <p:nvSpPr>
          <p:cNvPr id="5" name="Notes Placeholder 4"/>
          <p:cNvSpPr>
            <a:spLocks noGrp="1"/>
          </p:cNvSpPr>
          <p:nvPr>
            <p:ph type="body" sz="quarter" idx="3"/>
          </p:nvPr>
        </p:nvSpPr>
        <p:spPr>
          <a:xfrm>
            <a:off x="710407" y="4925408"/>
            <a:ext cx="5683250" cy="4029879"/>
          </a:xfrm>
          <a:prstGeom prst="rect">
            <a:avLst/>
          </a:prstGeom>
        </p:spPr>
        <p:txBody>
          <a:bodyPr vert="horz" lIns="95088" tIns="47544" rIns="95088" bIns="475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1" y="9721106"/>
            <a:ext cx="3078427" cy="513507"/>
          </a:xfrm>
          <a:prstGeom prst="rect">
            <a:avLst/>
          </a:prstGeom>
        </p:spPr>
        <p:txBody>
          <a:bodyPr vert="horz" lIns="95088" tIns="47544" rIns="95088" bIns="47544" rtlCol="0" anchor="b"/>
          <a:lstStyle>
            <a:lvl1pPr algn="l">
              <a:defRPr sz="1200"/>
            </a:lvl1pPr>
          </a:lstStyle>
          <a:p>
            <a:endParaRPr lang="en-IE"/>
          </a:p>
        </p:txBody>
      </p:sp>
      <p:sp>
        <p:nvSpPr>
          <p:cNvPr id="7" name="Slide Number Placeholder 6"/>
          <p:cNvSpPr>
            <a:spLocks noGrp="1"/>
          </p:cNvSpPr>
          <p:nvPr>
            <p:ph type="sldNum" sz="quarter" idx="5"/>
          </p:nvPr>
        </p:nvSpPr>
        <p:spPr>
          <a:xfrm>
            <a:off x="4023993" y="9721106"/>
            <a:ext cx="3078427" cy="513507"/>
          </a:xfrm>
          <a:prstGeom prst="rect">
            <a:avLst/>
          </a:prstGeom>
        </p:spPr>
        <p:txBody>
          <a:bodyPr vert="horz" lIns="95088" tIns="47544" rIns="95088" bIns="47544" rtlCol="0" anchor="b"/>
          <a:lstStyle>
            <a:lvl1pPr algn="r">
              <a:defRPr sz="1200"/>
            </a:lvl1pPr>
          </a:lstStyle>
          <a:p>
            <a:fld id="{3C219D62-09B2-4A5B-B346-9F6AA3D1583C}" type="slidenum">
              <a:rPr lang="en-IE" smtClean="0"/>
              <a:t>‹#›</a:t>
            </a:fld>
            <a:endParaRPr lang="en-IE"/>
          </a:p>
        </p:txBody>
      </p:sp>
    </p:spTree>
    <p:extLst>
      <p:ext uri="{BB962C8B-B14F-4D97-AF65-F5344CB8AC3E}">
        <p14:creationId xmlns:p14="http://schemas.microsoft.com/office/powerpoint/2010/main" val="1680987566"/>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FD3B6D-1C94-3443-BA5C-69CF1791619A}" type="slidenum">
              <a:rPr lang="en-GB">
                <a:solidFill>
                  <a:srgbClr val="000000"/>
                </a:solidFill>
              </a:rPr>
              <a:pPr/>
              <a:t>1</a:t>
            </a:fld>
            <a:endParaRPr lang="en-GB">
              <a:solidFill>
                <a:srgbClr val="000000"/>
              </a:solidFill>
            </a:endParaRPr>
          </a:p>
        </p:txBody>
      </p:sp>
      <p:sp>
        <p:nvSpPr>
          <p:cNvPr id="423938"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23939"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30735A71-1FA0-4DB0-8878-30C0960C0832}"/>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2434973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670FDD-9456-CB46-A17C-C03CCB643100}" type="slidenum">
              <a:rPr lang="en-GB"/>
              <a:pPr/>
              <a:t>2</a:t>
            </a:fld>
            <a:endParaRPr lang="en-GB"/>
          </a:p>
        </p:txBody>
      </p:sp>
      <p:sp>
        <p:nvSpPr>
          <p:cNvPr id="425986"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25987"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3EDA686F-B8F4-4494-A28B-F7D8E9925035}"/>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810496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670FDD-9456-CB46-A17C-C03CCB643100}" type="slidenum">
              <a:rPr lang="en-GB"/>
              <a:pPr/>
              <a:t>3</a:t>
            </a:fld>
            <a:endParaRPr lang="en-GB"/>
          </a:p>
        </p:txBody>
      </p:sp>
      <p:sp>
        <p:nvSpPr>
          <p:cNvPr id="425986"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25987"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5D9D48B5-1879-4BDA-B8BB-B4C482FB1148}"/>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29208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6C0C39-CB32-A945-8515-170FE165F318}" type="slidenum">
              <a:rPr lang="en-GB"/>
              <a:pPr/>
              <a:t>4</a:t>
            </a:fld>
            <a:endParaRPr lang="en-GB"/>
          </a:p>
        </p:txBody>
      </p:sp>
      <p:sp>
        <p:nvSpPr>
          <p:cNvPr id="430082"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30083"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7023F019-D4BA-4D2D-AE7B-9EAE2409AA10}"/>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18935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54DDDB-72B0-024D-A834-15EB97ABAF31}" type="slidenum">
              <a:rPr lang="en-GB">
                <a:solidFill>
                  <a:srgbClr val="000000"/>
                </a:solidFill>
              </a:rPr>
              <a:pPr/>
              <a:t>5</a:t>
            </a:fld>
            <a:endParaRPr lang="en-GB">
              <a:solidFill>
                <a:srgbClr val="000000"/>
              </a:solidFill>
            </a:endParaRPr>
          </a:p>
        </p:txBody>
      </p:sp>
      <p:sp>
        <p:nvSpPr>
          <p:cNvPr id="432130"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32131"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2940C10A-571A-430E-8692-108CC3D88550}"/>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079690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58C923-6B1B-4E42-B55B-022C0510D843}" type="slidenum">
              <a:rPr lang="en-GB">
                <a:solidFill>
                  <a:srgbClr val="000000"/>
                </a:solidFill>
              </a:rPr>
              <a:pPr/>
              <a:t>6</a:t>
            </a:fld>
            <a:endParaRPr lang="en-GB">
              <a:solidFill>
                <a:srgbClr val="000000"/>
              </a:solidFill>
            </a:endParaRPr>
          </a:p>
        </p:txBody>
      </p:sp>
      <p:sp>
        <p:nvSpPr>
          <p:cNvPr id="434178"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34179"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56094607-B8D7-4EA7-845F-66AC790C003E}"/>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2991153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58C923-6B1B-4E42-B55B-022C0510D843}" type="slidenum">
              <a:rPr lang="en-GB">
                <a:solidFill>
                  <a:srgbClr val="000000"/>
                </a:solidFill>
              </a:rPr>
              <a:pPr/>
              <a:t>7</a:t>
            </a:fld>
            <a:endParaRPr lang="en-GB">
              <a:solidFill>
                <a:srgbClr val="000000"/>
              </a:solidFill>
            </a:endParaRPr>
          </a:p>
        </p:txBody>
      </p:sp>
      <p:sp>
        <p:nvSpPr>
          <p:cNvPr id="434178"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34179"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7A5DD93B-58AF-4965-9C69-FEB5254575C4}"/>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1816348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C32E11-B421-D143-9751-0CBC5F327BB0}" type="slidenum">
              <a:rPr lang="en-GB"/>
              <a:pPr/>
              <a:t>8</a:t>
            </a:fld>
            <a:endParaRPr lang="en-GB"/>
          </a:p>
        </p:txBody>
      </p:sp>
      <p:sp>
        <p:nvSpPr>
          <p:cNvPr id="448514"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 xmlns:ma14="http://schemas.microsoft.com/office/mac/drawingml/2011/main" val="1"/>
            </a:ext>
          </a:extLst>
        </p:spPr>
      </p:sp>
      <p:sp>
        <p:nvSpPr>
          <p:cNvPr id="44851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1D260158-60EA-4DF0-AAA5-D575C7E2D9EC}"/>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707399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E377D4-00F8-CD45-B2F3-B615DC6E7157}" type="slidenum">
              <a:rPr lang="en-GB"/>
              <a:pPr/>
              <a:t>9</a:t>
            </a:fld>
            <a:endParaRPr lang="en-GB"/>
          </a:p>
        </p:txBody>
      </p:sp>
      <p:sp>
        <p:nvSpPr>
          <p:cNvPr id="436226"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 xmlns:ma14="http://schemas.microsoft.com/office/mac/drawingml/2011/main" val="1"/>
            </a:ext>
          </a:extLst>
        </p:spPr>
      </p:sp>
      <p:sp>
        <p:nvSpPr>
          <p:cNvPr id="436227"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F3902457-2DC5-4ED4-8079-A48494A2BFFA}"/>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2101556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BCDE33-05A6-5642-9B9E-AD8735731B8B}" type="slidenum">
              <a:rPr lang="en-GB">
                <a:solidFill>
                  <a:srgbClr val="000000"/>
                </a:solidFill>
              </a:rPr>
              <a:pPr/>
              <a:t>10</a:t>
            </a:fld>
            <a:endParaRPr lang="en-GB">
              <a:solidFill>
                <a:srgbClr val="000000"/>
              </a:solidFill>
            </a:endParaRPr>
          </a:p>
        </p:txBody>
      </p:sp>
      <p:sp>
        <p:nvSpPr>
          <p:cNvPr id="440322"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40323"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A3D91C52-3ED7-43DC-8911-DCAAE36F0330}"/>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034250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EFD652-3A4D-ED41-A44C-FC2969009B39}" type="slidenum">
              <a:rPr lang="en-GB"/>
              <a:pPr/>
              <a:t>11</a:t>
            </a:fld>
            <a:endParaRPr lang="en-GB"/>
          </a:p>
        </p:txBody>
      </p:sp>
      <p:sp>
        <p:nvSpPr>
          <p:cNvPr id="442370"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 xmlns:ma14="http://schemas.microsoft.com/office/mac/drawingml/2011/main" val="1"/>
            </a:ext>
          </a:extLst>
        </p:spPr>
      </p:sp>
      <p:sp>
        <p:nvSpPr>
          <p:cNvPr id="442371"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11554B16-68C7-43D1-A8A9-1E6E89D26189}"/>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564780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73EBB4-84BD-B347-B3C3-712016D4949C}" type="slidenum">
              <a:rPr lang="en-GB">
                <a:solidFill>
                  <a:srgbClr val="000000"/>
                </a:solidFill>
              </a:rPr>
              <a:pPr/>
              <a:t>12</a:t>
            </a:fld>
            <a:endParaRPr lang="en-GB">
              <a:solidFill>
                <a:srgbClr val="000000"/>
              </a:solidFill>
            </a:endParaRPr>
          </a:p>
        </p:txBody>
      </p:sp>
      <p:sp>
        <p:nvSpPr>
          <p:cNvPr id="438274"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3827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5F3A3A0A-547F-4905-997A-D3FD5C4ECD35}"/>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31028769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AEB18F-328B-814F-BA5A-E24A34923DD5}" type="slidenum">
              <a:rPr lang="en-GB">
                <a:solidFill>
                  <a:srgbClr val="000000"/>
                </a:solidFill>
              </a:rPr>
              <a:pPr/>
              <a:t>13</a:t>
            </a:fld>
            <a:endParaRPr lang="en-GB">
              <a:solidFill>
                <a:srgbClr val="000000"/>
              </a:solidFill>
            </a:endParaRPr>
          </a:p>
        </p:txBody>
      </p:sp>
      <p:sp>
        <p:nvSpPr>
          <p:cNvPr id="446466"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46467"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771D3F65-D022-41C7-9C87-4E16A130582C}"/>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787240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C32E11-B421-D143-9751-0CBC5F327BB0}" type="slidenum">
              <a:rPr lang="en-GB">
                <a:solidFill>
                  <a:srgbClr val="000000"/>
                </a:solidFill>
              </a:rPr>
              <a:pPr/>
              <a:t>14</a:t>
            </a:fld>
            <a:endParaRPr lang="en-GB">
              <a:solidFill>
                <a:srgbClr val="000000"/>
              </a:solidFill>
            </a:endParaRPr>
          </a:p>
        </p:txBody>
      </p:sp>
      <p:sp>
        <p:nvSpPr>
          <p:cNvPr id="448514"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4851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8F3A5DD1-24C0-487D-8928-6CEE7BAE24A4}"/>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353486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C32E11-B421-D143-9751-0CBC5F327BB0}" type="slidenum">
              <a:rPr lang="en-GB">
                <a:solidFill>
                  <a:srgbClr val="000000"/>
                </a:solidFill>
              </a:rPr>
              <a:pPr/>
              <a:t>15</a:t>
            </a:fld>
            <a:endParaRPr lang="en-GB">
              <a:solidFill>
                <a:srgbClr val="000000"/>
              </a:solidFill>
            </a:endParaRPr>
          </a:p>
        </p:txBody>
      </p:sp>
      <p:sp>
        <p:nvSpPr>
          <p:cNvPr id="448514"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4851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DF0BDFE6-998D-4495-97BD-20D829B6A7BC}"/>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398795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B48663-2483-5E45-8CDA-3D3FB19B1F5F}" type="slidenum">
              <a:rPr lang="en-GB"/>
              <a:pPr/>
              <a:t>16</a:t>
            </a:fld>
            <a:endParaRPr lang="en-GB"/>
          </a:p>
        </p:txBody>
      </p:sp>
      <p:sp>
        <p:nvSpPr>
          <p:cNvPr id="450562"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50563"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924BCE6B-939C-4A1A-8132-AABD2226209F}"/>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25938023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4350B8-AE87-DC41-951E-531BFBFE7A0A}" type="slidenum">
              <a:rPr lang="en-GB"/>
              <a:pPr/>
              <a:t>17</a:t>
            </a:fld>
            <a:endParaRPr lang="en-GB"/>
          </a:p>
        </p:txBody>
      </p:sp>
      <p:sp>
        <p:nvSpPr>
          <p:cNvPr id="452610"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52611"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F0B39777-F61E-478E-BD8D-0D8DC59EF303}"/>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512296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C32E11-B421-D143-9751-0CBC5F327BB0}" type="slidenum">
              <a:rPr lang="en-GB"/>
              <a:pPr/>
              <a:t>18</a:t>
            </a:fld>
            <a:endParaRPr lang="en-GB"/>
          </a:p>
        </p:txBody>
      </p:sp>
      <p:sp>
        <p:nvSpPr>
          <p:cNvPr id="448514"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4851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A752BAAC-47B2-4843-BE43-BF2E85E5CC7B}"/>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2823187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C32E11-B421-D143-9751-0CBC5F327BB0}" type="slidenum">
              <a:rPr lang="en-GB"/>
              <a:pPr/>
              <a:t>19</a:t>
            </a:fld>
            <a:endParaRPr lang="en-GB"/>
          </a:p>
        </p:txBody>
      </p:sp>
      <p:sp>
        <p:nvSpPr>
          <p:cNvPr id="448514"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4851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1A7409C5-14B6-4617-AF3F-D8377E3604A1}"/>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6028119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C32E11-B421-D143-9751-0CBC5F327BB0}" type="slidenum">
              <a:rPr lang="en-GB"/>
              <a:pPr/>
              <a:t>20</a:t>
            </a:fld>
            <a:endParaRPr lang="en-GB"/>
          </a:p>
        </p:txBody>
      </p:sp>
      <p:sp>
        <p:nvSpPr>
          <p:cNvPr id="448514" name="Rectangle 2"/>
          <p:cNvSpPr>
            <a:spLocks noGrp="1" noRot="1" noChangeAspect="1" noChangeArrowheads="1" noTextEdit="1"/>
          </p:cNvSpPr>
          <p:nvPr>
            <p:ph type="sldImg"/>
          </p:nvPr>
        </p:nvSpPr>
        <p:spPr>
          <a:xfrm>
            <a:off x="-184150" y="831850"/>
            <a:ext cx="7410450" cy="4168775"/>
          </a:xfrm>
          <a:ln/>
          <a:extLst>
            <a:ext uri="{FAA26D3D-D897-4be2-8F04-BA451C77F1D7}">
              <ma14:placeholderFlag xmlns:ma14="http://schemas.microsoft.com/office/mac/drawingml/2011/main" xmlns="" val="1"/>
            </a:ext>
          </a:extLst>
        </p:spPr>
      </p:sp>
      <p:sp>
        <p:nvSpPr>
          <p:cNvPr id="448515" name="Rectangle 3"/>
          <p:cNvSpPr>
            <a:spLocks noGrp="1" noChangeArrowheads="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4D3FB1A6-6958-416D-9701-02F9CF2D73CE}"/>
              </a:ext>
            </a:extLst>
          </p:cNvPr>
          <p:cNvSpPr>
            <a:spLocks noGrp="1"/>
          </p:cNvSpPr>
          <p:nvPr>
            <p:ph type="dt" idx="1"/>
          </p:nvPr>
        </p:nvSpPr>
        <p:spPr/>
        <p:txBody>
          <a:bodyPr/>
          <a:lstStyle/>
          <a:p>
            <a:endParaRPr lang="en-IE"/>
          </a:p>
        </p:txBody>
      </p:sp>
    </p:spTree>
    <p:extLst>
      <p:ext uri="{BB962C8B-B14F-4D97-AF65-F5344CB8AC3E}">
        <p14:creationId xmlns:p14="http://schemas.microsoft.com/office/powerpoint/2010/main" val="10565542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solidFill>
                  <a:srgbClr val="000000"/>
                </a:solidFill>
              </a:rPr>
              <a:t>Foundation Course in Software Testing</a:t>
            </a:r>
          </a:p>
        </p:txBody>
      </p:sp>
      <p:sp>
        <p:nvSpPr>
          <p:cNvPr id="6" name="Rectangle 6"/>
          <p:cNvSpPr>
            <a:spLocks noGrp="1" noChangeArrowheads="1"/>
          </p:cNvSpPr>
          <p:nvPr>
            <p:ph type="ftr" sz="quarter" idx="4"/>
          </p:nvPr>
        </p:nvSpPr>
        <p:spPr>
          <a:ln/>
        </p:spPr>
        <p:txBody>
          <a:bodyPr/>
          <a:lstStyle/>
          <a:p>
            <a:r>
              <a:rPr lang="en-GB">
                <a:solidFill>
                  <a:srgbClr val="000000"/>
                </a:solidFill>
              </a:rPr>
              <a:t>Copyright Systeme Evolutif 2006</a:t>
            </a:r>
          </a:p>
        </p:txBody>
      </p:sp>
      <p:sp>
        <p:nvSpPr>
          <p:cNvPr id="7" name="Rectangle 7"/>
          <p:cNvSpPr>
            <a:spLocks noGrp="1" noChangeArrowheads="1"/>
          </p:cNvSpPr>
          <p:nvPr>
            <p:ph type="sldNum" sz="quarter" idx="5"/>
          </p:nvPr>
        </p:nvSpPr>
        <p:spPr>
          <a:ln/>
        </p:spPr>
        <p:txBody>
          <a:bodyPr/>
          <a:lstStyle/>
          <a:p>
            <a:fld id="{59ED9EF3-53DA-9045-9866-83028123DD24}" type="slidenum">
              <a:rPr lang="en-GB">
                <a:solidFill>
                  <a:srgbClr val="000000"/>
                </a:solidFill>
              </a:rPr>
              <a:pPr/>
              <a:t>21</a:t>
            </a:fld>
            <a:endParaRPr lang="en-GB">
              <a:solidFill>
                <a:srgbClr val="000000"/>
              </a:solidFill>
            </a:endParaRPr>
          </a:p>
        </p:txBody>
      </p:sp>
      <p:sp>
        <p:nvSpPr>
          <p:cNvPr id="33259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325955" name="Rectangle 3"/>
          <p:cNvSpPr>
            <a:spLocks noGrp="1" noChangeArrowheads="1"/>
          </p:cNvSpPr>
          <p:nvPr>
            <p:ph type="body" idx="1"/>
          </p:nvPr>
        </p:nvSpPr>
        <p:spPr/>
        <p:txBody>
          <a:bodyPr/>
          <a:lstStyle/>
          <a:p>
            <a:endParaRPr lang="en-GB"/>
          </a:p>
        </p:txBody>
      </p:sp>
      <p:sp>
        <p:nvSpPr>
          <p:cNvPr id="2" name="Date Placeholder 1"/>
          <p:cNvSpPr>
            <a:spLocks noGrp="1"/>
          </p:cNvSpPr>
          <p:nvPr>
            <p:ph type="dt" idx="10"/>
          </p:nvPr>
        </p:nvSpPr>
        <p:spPr/>
        <p:txBody>
          <a:bodyPr/>
          <a:lstStyle/>
          <a:p>
            <a:endParaRPr lang="en-IE"/>
          </a:p>
        </p:txBody>
      </p:sp>
    </p:spTree>
    <p:extLst>
      <p:ext uri="{BB962C8B-B14F-4D97-AF65-F5344CB8AC3E}">
        <p14:creationId xmlns:p14="http://schemas.microsoft.com/office/powerpoint/2010/main" val="4045246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ga-IE"/>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ga-IE"/>
              <a:t>Click to edit Master subtitle style</a:t>
            </a:r>
            <a:endParaRPr lang="en-US"/>
          </a:p>
        </p:txBody>
      </p:sp>
    </p:spTree>
    <p:extLst>
      <p:ext uri="{BB962C8B-B14F-4D97-AF65-F5344CB8AC3E}">
        <p14:creationId xmlns:p14="http://schemas.microsoft.com/office/powerpoint/2010/main" val="1173697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idx="1"/>
          </p:nvPr>
        </p:nvSpPr>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1569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ga-IE"/>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ga-IE"/>
              <a:t>Click to edit Master text styles</a:t>
            </a:r>
          </a:p>
        </p:txBody>
      </p:sp>
    </p:spTree>
    <p:extLst>
      <p:ext uri="{BB962C8B-B14F-4D97-AF65-F5344CB8AC3E}">
        <p14:creationId xmlns:p14="http://schemas.microsoft.com/office/powerpoint/2010/main" val="601675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sz="half" idx="1"/>
          </p:nvPr>
        </p:nvSpPr>
        <p:spPr>
          <a:xfrm>
            <a:off x="937684" y="1676400"/>
            <a:ext cx="5196416"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6337300" y="1676400"/>
            <a:ext cx="5198533"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646892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ga-IE"/>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360246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Tree>
    <p:extLst>
      <p:ext uri="{BB962C8B-B14F-4D97-AF65-F5344CB8AC3E}">
        <p14:creationId xmlns:p14="http://schemas.microsoft.com/office/powerpoint/2010/main" val="325034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059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ga-IE"/>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3715237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ga-IE"/>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3946948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297664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82051" y="266700"/>
            <a:ext cx="2753783" cy="6115050"/>
          </a:xfrm>
        </p:spPr>
        <p:txBody>
          <a:bodyPr vert="eaVert"/>
          <a:lstStyle/>
          <a:p>
            <a:r>
              <a:rPr lang="ga-IE"/>
              <a:t>Click to edit Master title style</a:t>
            </a:r>
            <a:endParaRPr lang="en-US"/>
          </a:p>
        </p:txBody>
      </p:sp>
      <p:sp>
        <p:nvSpPr>
          <p:cNvPr id="3" name="Vertical Text Placeholder 2"/>
          <p:cNvSpPr>
            <a:spLocks noGrp="1"/>
          </p:cNvSpPr>
          <p:nvPr>
            <p:ph type="body" orient="vert" idx="1"/>
          </p:nvPr>
        </p:nvSpPr>
        <p:spPr>
          <a:xfrm>
            <a:off x="518584" y="266700"/>
            <a:ext cx="8060267" cy="6115050"/>
          </a:xfrm>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667147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8584" y="266700"/>
            <a:ext cx="10860616" cy="11049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937684" y="1676400"/>
            <a:ext cx="5196416"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6337300" y="1676400"/>
            <a:ext cx="5198533"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2665880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18584" y="266700"/>
            <a:ext cx="10860616" cy="11049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937684" y="1676400"/>
            <a:ext cx="5196416" cy="4705350"/>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quarter" idx="2"/>
          </p:nvPr>
        </p:nvSpPr>
        <p:spPr>
          <a:xfrm>
            <a:off x="6337300" y="1676401"/>
            <a:ext cx="5198533" cy="2276475"/>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Content Placeholder 4"/>
          <p:cNvSpPr>
            <a:spLocks noGrp="1"/>
          </p:cNvSpPr>
          <p:nvPr>
            <p:ph sz="quarter" idx="3"/>
          </p:nvPr>
        </p:nvSpPr>
        <p:spPr>
          <a:xfrm>
            <a:off x="6337300" y="4105276"/>
            <a:ext cx="5198533" cy="2276475"/>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847393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543985" y="350839"/>
            <a:ext cx="11231033" cy="630237"/>
          </a:xfrm>
        </p:spPr>
        <p:txBody>
          <a:bodyPr/>
          <a:lstStyle/>
          <a:p>
            <a:r>
              <a:rPr lang="en-US"/>
              <a:t>Click to edit Master title style</a:t>
            </a:r>
          </a:p>
        </p:txBody>
      </p:sp>
      <p:sp>
        <p:nvSpPr>
          <p:cNvPr id="3" name="Content Placeholder 2"/>
          <p:cNvSpPr>
            <a:spLocks noGrp="1"/>
          </p:cNvSpPr>
          <p:nvPr>
            <p:ph sz="half" idx="1"/>
          </p:nvPr>
        </p:nvSpPr>
        <p:spPr>
          <a:xfrm>
            <a:off x="539751" y="1190625"/>
            <a:ext cx="5513916" cy="5219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56867" y="1190625"/>
            <a:ext cx="5513917" cy="5219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9"/>
          <p:cNvSpPr>
            <a:spLocks noGrp="1"/>
          </p:cNvSpPr>
          <p:nvPr>
            <p:ph type="sldNum" sz="quarter" idx="10"/>
          </p:nvPr>
        </p:nvSpPr>
        <p:spPr>
          <a:xfrm>
            <a:off x="11815234" y="1"/>
            <a:ext cx="376767" cy="142875"/>
          </a:xfrm>
          <a:prstGeom prst="rect">
            <a:avLst/>
          </a:prstGeom>
        </p:spPr>
        <p:txBody>
          <a:bodyPr/>
          <a:lstStyle>
            <a:lvl1pPr>
              <a:defRPr/>
            </a:lvl1pPr>
          </a:lstStyle>
          <a:p>
            <a:pPr algn="r" fontAlgn="base">
              <a:spcBef>
                <a:spcPct val="0"/>
              </a:spcBef>
              <a:spcAft>
                <a:spcPct val="0"/>
              </a:spcAft>
              <a:defRPr/>
            </a:pPr>
            <a:fld id="{ADF6390F-1603-4606-96BE-11F29AAF5AE2}" type="slidenum">
              <a:rPr lang="en-GB" sz="1600">
                <a:solidFill>
                  <a:srgbClr val="FFFFFF"/>
                </a:solidFill>
              </a:rPr>
              <a:pPr algn="r" fontAlgn="base">
                <a:spcBef>
                  <a:spcPct val="0"/>
                </a:spcBef>
                <a:spcAft>
                  <a:spcPct val="0"/>
                </a:spcAft>
                <a:defRPr/>
              </a:pPr>
              <a:t>‹#›</a:t>
            </a:fld>
            <a:endParaRPr lang="en-GB" sz="1600">
              <a:solidFill>
                <a:srgbClr val="FFFFFF"/>
              </a:solidFill>
            </a:endParaRPr>
          </a:p>
        </p:txBody>
      </p:sp>
    </p:spTree>
    <p:extLst>
      <p:ext uri="{BB962C8B-B14F-4D97-AF65-F5344CB8AC3E}">
        <p14:creationId xmlns:p14="http://schemas.microsoft.com/office/powerpoint/2010/main" val="17109785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ga-IE"/>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ga-IE"/>
              <a:t>Click to edit Master subtitle style</a:t>
            </a:r>
            <a:endParaRPr lang="en-US"/>
          </a:p>
        </p:txBody>
      </p:sp>
      <p:sp>
        <p:nvSpPr>
          <p:cNvPr id="4" name="Slide Number Placeholder 3"/>
          <p:cNvSpPr>
            <a:spLocks noGrp="1"/>
          </p:cNvSpPr>
          <p:nvPr>
            <p:ph type="sldNum" sz="quarter" idx="10"/>
          </p:nvPr>
        </p:nvSpPr>
        <p:spPr/>
        <p:txBody>
          <a:bodyPr/>
          <a:lstStyle>
            <a:lvl1pPr>
              <a:defRPr/>
            </a:lvl1pPr>
          </a:lstStyle>
          <a:p>
            <a:fld id="{044F7F5A-6502-7F43-AEA1-E28C36DB868A}" type="slidenum">
              <a:rPr lang="en-GB">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40786756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idx="1"/>
          </p:nvPr>
        </p:nvSpPr>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Slide Number Placeholder 3"/>
          <p:cNvSpPr>
            <a:spLocks noGrp="1"/>
          </p:cNvSpPr>
          <p:nvPr>
            <p:ph type="sldNum" sz="quarter" idx="10"/>
          </p:nvPr>
        </p:nvSpPr>
        <p:spPr/>
        <p:txBody>
          <a:bodyPr/>
          <a:lstStyle>
            <a:lvl1pPr>
              <a:defRPr/>
            </a:lvl1pPr>
          </a:lstStyle>
          <a:p>
            <a:fld id="{960ECEAC-EB66-8146-9E06-4318883458DF}" type="slidenum">
              <a:rPr lang="en-GB">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5002164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ga-IE"/>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ga-IE"/>
              <a:t>Click to edit Master text styles</a:t>
            </a:r>
          </a:p>
        </p:txBody>
      </p:sp>
      <p:sp>
        <p:nvSpPr>
          <p:cNvPr id="4" name="Slide Number Placeholder 3"/>
          <p:cNvSpPr>
            <a:spLocks noGrp="1"/>
          </p:cNvSpPr>
          <p:nvPr>
            <p:ph type="sldNum" sz="quarter" idx="10"/>
          </p:nvPr>
        </p:nvSpPr>
        <p:spPr/>
        <p:txBody>
          <a:bodyPr/>
          <a:lstStyle>
            <a:lvl1pPr>
              <a:defRPr/>
            </a:lvl1pPr>
          </a:lstStyle>
          <a:p>
            <a:fld id="{8A21A46A-E2A9-854A-8481-130F914C0331}" type="slidenum">
              <a:rPr lang="en-GB">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1222484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sz="half" idx="1"/>
          </p:nvPr>
        </p:nvSpPr>
        <p:spPr>
          <a:xfrm>
            <a:off x="609600" y="1600200"/>
            <a:ext cx="5384800" cy="48529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6197600" y="1600200"/>
            <a:ext cx="5384800" cy="48529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Slide Number Placeholder 4"/>
          <p:cNvSpPr>
            <a:spLocks noGrp="1"/>
          </p:cNvSpPr>
          <p:nvPr>
            <p:ph type="sldNum" sz="quarter" idx="10"/>
          </p:nvPr>
        </p:nvSpPr>
        <p:spPr/>
        <p:txBody>
          <a:bodyPr/>
          <a:lstStyle>
            <a:lvl1pPr>
              <a:defRPr/>
            </a:lvl1pPr>
          </a:lstStyle>
          <a:p>
            <a:fld id="{0E101E21-7096-7044-ABFB-E5BAF1D92EA1}" type="slidenum">
              <a:rPr lang="en-GB">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7883240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ga-IE"/>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7" name="Slide Number Placeholder 6"/>
          <p:cNvSpPr>
            <a:spLocks noGrp="1"/>
          </p:cNvSpPr>
          <p:nvPr>
            <p:ph type="sldNum" sz="quarter" idx="10"/>
          </p:nvPr>
        </p:nvSpPr>
        <p:spPr/>
        <p:txBody>
          <a:bodyPr/>
          <a:lstStyle>
            <a:lvl1pPr>
              <a:defRPr/>
            </a:lvl1pPr>
          </a:lstStyle>
          <a:p>
            <a:fld id="{4CFA7EDD-FD6A-114F-B814-74FE640651D2}" type="slidenum">
              <a:rPr lang="en-GB">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22826301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DFF13312-83CC-0F45-8590-6E571D55ED5E}" type="slidenum">
              <a:rPr lang="en-GB">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37858103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64F2DAC4-A054-5E46-BD1C-062A7891B186}" type="slidenum">
              <a:rPr lang="en-GB">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27296872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ga-IE"/>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
        <p:nvSpPr>
          <p:cNvPr id="5" name="Slide Number Placeholder 4"/>
          <p:cNvSpPr>
            <a:spLocks noGrp="1"/>
          </p:cNvSpPr>
          <p:nvPr>
            <p:ph type="sldNum" sz="quarter" idx="10"/>
          </p:nvPr>
        </p:nvSpPr>
        <p:spPr/>
        <p:txBody>
          <a:bodyPr/>
          <a:lstStyle>
            <a:lvl1pPr>
              <a:defRPr/>
            </a:lvl1pPr>
          </a:lstStyle>
          <a:p>
            <a:fld id="{A1C244DA-D199-D248-9E88-5A6258650513}" type="slidenum">
              <a:rPr lang="en-GB">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30236247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ga-IE"/>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
        <p:nvSpPr>
          <p:cNvPr id="5" name="Slide Number Placeholder 4"/>
          <p:cNvSpPr>
            <a:spLocks noGrp="1"/>
          </p:cNvSpPr>
          <p:nvPr>
            <p:ph type="sldNum" sz="quarter" idx="10"/>
          </p:nvPr>
        </p:nvSpPr>
        <p:spPr/>
        <p:txBody>
          <a:bodyPr/>
          <a:lstStyle>
            <a:lvl1pPr>
              <a:defRPr/>
            </a:lvl1pPr>
          </a:lstStyle>
          <a:p>
            <a:fld id="{957E2B39-DCE1-724B-8BD7-34DFA72D5E4B}" type="slidenum">
              <a:rPr lang="en-GB">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1592422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Slide Number Placeholder 3"/>
          <p:cNvSpPr>
            <a:spLocks noGrp="1"/>
          </p:cNvSpPr>
          <p:nvPr>
            <p:ph type="sldNum" sz="quarter" idx="10"/>
          </p:nvPr>
        </p:nvSpPr>
        <p:spPr/>
        <p:txBody>
          <a:bodyPr/>
          <a:lstStyle>
            <a:lvl1pPr>
              <a:defRPr/>
            </a:lvl1pPr>
          </a:lstStyle>
          <a:p>
            <a:fld id="{93AEC821-258B-B247-B813-3D0AEBB8A6FE}" type="slidenum">
              <a:rPr lang="en-GB">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29849820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6178550"/>
          </a:xfrm>
        </p:spPr>
        <p:txBody>
          <a:bodyPr vert="eaVert"/>
          <a:lstStyle/>
          <a:p>
            <a:r>
              <a:rPr lang="ga-IE"/>
              <a:t>Click to edit Master title style</a:t>
            </a:r>
            <a:endParaRPr lang="en-US"/>
          </a:p>
        </p:txBody>
      </p:sp>
      <p:sp>
        <p:nvSpPr>
          <p:cNvPr id="3" name="Vertical Text Placeholder 2"/>
          <p:cNvSpPr>
            <a:spLocks noGrp="1"/>
          </p:cNvSpPr>
          <p:nvPr>
            <p:ph type="body" orient="vert" idx="1"/>
          </p:nvPr>
        </p:nvSpPr>
        <p:spPr>
          <a:xfrm>
            <a:off x="609600" y="274638"/>
            <a:ext cx="8026400" cy="6178550"/>
          </a:xfrm>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Slide Number Placeholder 3"/>
          <p:cNvSpPr>
            <a:spLocks noGrp="1"/>
          </p:cNvSpPr>
          <p:nvPr>
            <p:ph type="sldNum" sz="quarter" idx="10"/>
          </p:nvPr>
        </p:nvSpPr>
        <p:spPr/>
        <p:txBody>
          <a:bodyPr/>
          <a:lstStyle>
            <a:lvl1pPr>
              <a:defRPr/>
            </a:lvl1pPr>
          </a:lstStyle>
          <a:p>
            <a:fld id="{214F3714-185B-1F47-B143-58965C23FE03}" type="slidenum">
              <a:rPr lang="en-GB">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6264118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ga-IE"/>
              <a:t>Click to edit Master title style</a:t>
            </a:r>
            <a:endParaRPr lang="en-US"/>
          </a:p>
        </p:txBody>
      </p:sp>
      <p:sp>
        <p:nvSpPr>
          <p:cNvPr id="3" name="Text Placeholder 2"/>
          <p:cNvSpPr>
            <a:spLocks noGrp="1"/>
          </p:cNvSpPr>
          <p:nvPr>
            <p:ph type="body" sz="half" idx="1"/>
          </p:nvPr>
        </p:nvSpPr>
        <p:spPr>
          <a:xfrm>
            <a:off x="609600" y="1600200"/>
            <a:ext cx="5384800" cy="4852988"/>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6197600" y="1600200"/>
            <a:ext cx="5384800" cy="4852988"/>
          </a:xfrm>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Slide Number Placeholder 4"/>
          <p:cNvSpPr>
            <a:spLocks noGrp="1"/>
          </p:cNvSpPr>
          <p:nvPr>
            <p:ph type="sldNum" sz="quarter" idx="10"/>
          </p:nvPr>
        </p:nvSpPr>
        <p:spPr>
          <a:xfrm>
            <a:off x="8737600" y="6524625"/>
            <a:ext cx="2844800" cy="196850"/>
          </a:xfrm>
        </p:spPr>
        <p:txBody>
          <a:bodyPr/>
          <a:lstStyle>
            <a:lvl1pPr>
              <a:defRPr/>
            </a:lvl1pPr>
          </a:lstStyle>
          <a:p>
            <a:fld id="{73663C00-9574-4C4B-A4ED-A06C86C98229}" type="slidenum">
              <a:rPr lang="en-GB">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16903748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ga-IE"/>
              <a:t>Click to edit Master title style</a:t>
            </a:r>
            <a:endParaRPr lang="en-US"/>
          </a:p>
        </p:txBody>
      </p:sp>
      <p:sp>
        <p:nvSpPr>
          <p:cNvPr id="3" name="Table Placeholder 2"/>
          <p:cNvSpPr>
            <a:spLocks noGrp="1"/>
          </p:cNvSpPr>
          <p:nvPr>
            <p:ph type="tbl" idx="1"/>
          </p:nvPr>
        </p:nvSpPr>
        <p:spPr>
          <a:xfrm>
            <a:off x="609600" y="1600200"/>
            <a:ext cx="10972800" cy="4852988"/>
          </a:xfrm>
        </p:spPr>
        <p:txBody>
          <a:bodyPr/>
          <a:lstStyle/>
          <a:p>
            <a:endParaRPr lang="en-US"/>
          </a:p>
        </p:txBody>
      </p:sp>
      <p:sp>
        <p:nvSpPr>
          <p:cNvPr id="4" name="Slide Number Placeholder 3"/>
          <p:cNvSpPr>
            <a:spLocks noGrp="1"/>
          </p:cNvSpPr>
          <p:nvPr>
            <p:ph type="sldNum" sz="quarter" idx="10"/>
          </p:nvPr>
        </p:nvSpPr>
        <p:spPr>
          <a:xfrm>
            <a:off x="8737600" y="6524625"/>
            <a:ext cx="2844800" cy="196850"/>
          </a:xfrm>
        </p:spPr>
        <p:txBody>
          <a:bodyPr/>
          <a:lstStyle>
            <a:lvl1pPr>
              <a:defRPr/>
            </a:lvl1pPr>
          </a:lstStyle>
          <a:p>
            <a:fld id="{CACD4FFF-91F2-3543-A7DB-97A252BD42B9}" type="slidenum">
              <a:rPr lang="en-GB">
                <a:solidFill>
                  <a:srgbClr val="000000"/>
                </a:solidFill>
              </a:rPr>
              <a:pPr/>
              <a:t>‹#›</a:t>
            </a:fld>
            <a:endParaRPr lang="en-GB">
              <a:solidFill>
                <a:srgbClr val="000000"/>
              </a:solidFill>
            </a:endParaRPr>
          </a:p>
        </p:txBody>
      </p:sp>
    </p:spTree>
    <p:extLst>
      <p:ext uri="{BB962C8B-B14F-4D97-AF65-F5344CB8AC3E}">
        <p14:creationId xmlns:p14="http://schemas.microsoft.com/office/powerpoint/2010/main" val="529670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06978" name="Line 2"/>
          <p:cNvSpPr>
            <a:spLocks noChangeShapeType="1"/>
          </p:cNvSpPr>
          <p:nvPr/>
        </p:nvSpPr>
        <p:spPr bwMode="auto">
          <a:xfrm>
            <a:off x="2117" y="1484313"/>
            <a:ext cx="12088283" cy="0"/>
          </a:xfrm>
          <a:prstGeom prst="line">
            <a:avLst/>
          </a:prstGeom>
          <a:noFill/>
          <a:ln w="5080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r" fontAlgn="base">
              <a:spcBef>
                <a:spcPct val="0"/>
              </a:spcBef>
              <a:spcAft>
                <a:spcPct val="0"/>
              </a:spcAft>
            </a:pPr>
            <a:endParaRPr lang="en-US" sz="1600">
              <a:solidFill>
                <a:srgbClr val="FFFFFF"/>
              </a:solidFill>
            </a:endParaRPr>
          </a:p>
        </p:txBody>
      </p:sp>
      <p:sp>
        <p:nvSpPr>
          <p:cNvPr id="1406979" name="Rectangle 3"/>
          <p:cNvSpPr>
            <a:spLocks noGrp="1" noChangeArrowheads="1"/>
          </p:cNvSpPr>
          <p:nvPr>
            <p:ph type="title"/>
          </p:nvPr>
        </p:nvSpPr>
        <p:spPr bwMode="auto">
          <a:xfrm>
            <a:off x="518584" y="266700"/>
            <a:ext cx="10860616"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b" anchorCtr="0" compatLnSpc="1">
            <a:prstTxWarp prst="textNoShape">
              <a:avLst/>
            </a:prstTxWarp>
          </a:bodyPr>
          <a:lstStyle/>
          <a:p>
            <a:pPr lvl="0"/>
            <a:r>
              <a:rPr lang="en-US"/>
              <a:t>Click to edit Master title style</a:t>
            </a:r>
          </a:p>
        </p:txBody>
      </p:sp>
      <p:sp>
        <p:nvSpPr>
          <p:cNvPr id="1406980" name="Rectangle 4"/>
          <p:cNvSpPr>
            <a:spLocks noGrp="1" noChangeArrowheads="1"/>
          </p:cNvSpPr>
          <p:nvPr>
            <p:ph type="body" idx="1"/>
          </p:nvPr>
        </p:nvSpPr>
        <p:spPr bwMode="auto">
          <a:xfrm>
            <a:off x="937684" y="1676400"/>
            <a:ext cx="10598149" cy="470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06982" name="Rectangle 6"/>
          <p:cNvSpPr>
            <a:spLocks noChangeArrowheads="1"/>
          </p:cNvSpPr>
          <p:nvPr/>
        </p:nvSpPr>
        <p:spPr bwMode="auto">
          <a:xfrm>
            <a:off x="10896600" y="6400801"/>
            <a:ext cx="601133"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spAutoFit/>
          </a:bodyPr>
          <a:lstStyle/>
          <a:p>
            <a:pPr algn="r" eaLnBrk="0" fontAlgn="base" hangingPunct="0">
              <a:spcBef>
                <a:spcPct val="0"/>
              </a:spcBef>
              <a:spcAft>
                <a:spcPct val="0"/>
              </a:spcAft>
            </a:pPr>
            <a:fld id="{F04697A2-D443-9B46-B76B-C17EBA70E809}" type="slidenum">
              <a:rPr lang="en-US" sz="1000">
                <a:solidFill>
                  <a:srgbClr val="00279F"/>
                </a:solidFill>
              </a:rPr>
              <a:pPr algn="r" eaLnBrk="0" fontAlgn="base" hangingPunct="0">
                <a:spcBef>
                  <a:spcPct val="0"/>
                </a:spcBef>
                <a:spcAft>
                  <a:spcPct val="0"/>
                </a:spcAft>
              </a:pPr>
              <a:t>‹#›</a:t>
            </a:fld>
            <a:endParaRPr lang="en-US" sz="1000">
              <a:solidFill>
                <a:srgbClr val="00279F"/>
              </a:solidFill>
            </a:endParaRPr>
          </a:p>
        </p:txBody>
      </p:sp>
    </p:spTree>
    <p:extLst>
      <p:ext uri="{BB962C8B-B14F-4D97-AF65-F5344CB8AC3E}">
        <p14:creationId xmlns:p14="http://schemas.microsoft.com/office/powerpoint/2010/main" val="369378066"/>
      </p:ext>
    </p:extLst>
  </p:cSld>
  <p:clrMap bg1="dk2" tx1="lt1" bg2="dk1"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xStyles>
    <p:titleStyle>
      <a:lvl1pPr algn="l" rtl="0" fontAlgn="base">
        <a:spcBef>
          <a:spcPct val="0"/>
        </a:spcBef>
        <a:spcAft>
          <a:spcPct val="0"/>
        </a:spcAft>
        <a:defRPr sz="3600" b="1">
          <a:solidFill>
            <a:schemeClr val="bg2"/>
          </a:solidFill>
          <a:latin typeface="+mj-lt"/>
          <a:ea typeface="+mj-ea"/>
          <a:cs typeface="+mj-cs"/>
        </a:defRPr>
      </a:lvl1pPr>
      <a:lvl2pPr algn="l" rtl="0" fontAlgn="base">
        <a:spcBef>
          <a:spcPct val="0"/>
        </a:spcBef>
        <a:spcAft>
          <a:spcPct val="0"/>
        </a:spcAft>
        <a:defRPr sz="3600" b="1">
          <a:solidFill>
            <a:schemeClr val="bg2"/>
          </a:solidFill>
          <a:latin typeface="Arial" charset="0"/>
          <a:ea typeface="ＭＳ Ｐゴシック" charset="0"/>
        </a:defRPr>
      </a:lvl2pPr>
      <a:lvl3pPr algn="l" rtl="0" fontAlgn="base">
        <a:spcBef>
          <a:spcPct val="0"/>
        </a:spcBef>
        <a:spcAft>
          <a:spcPct val="0"/>
        </a:spcAft>
        <a:defRPr sz="3600" b="1">
          <a:solidFill>
            <a:schemeClr val="bg2"/>
          </a:solidFill>
          <a:latin typeface="Arial" charset="0"/>
          <a:ea typeface="ＭＳ Ｐゴシック" charset="0"/>
        </a:defRPr>
      </a:lvl3pPr>
      <a:lvl4pPr algn="l" rtl="0" fontAlgn="base">
        <a:spcBef>
          <a:spcPct val="0"/>
        </a:spcBef>
        <a:spcAft>
          <a:spcPct val="0"/>
        </a:spcAft>
        <a:defRPr sz="3600" b="1">
          <a:solidFill>
            <a:schemeClr val="bg2"/>
          </a:solidFill>
          <a:latin typeface="Arial" charset="0"/>
          <a:ea typeface="ＭＳ Ｐゴシック" charset="0"/>
        </a:defRPr>
      </a:lvl4pPr>
      <a:lvl5pPr algn="l" rtl="0" fontAlgn="base">
        <a:spcBef>
          <a:spcPct val="0"/>
        </a:spcBef>
        <a:spcAft>
          <a:spcPct val="0"/>
        </a:spcAft>
        <a:defRPr sz="3600" b="1">
          <a:solidFill>
            <a:schemeClr val="bg2"/>
          </a:solidFill>
          <a:latin typeface="Arial" charset="0"/>
          <a:ea typeface="ＭＳ Ｐゴシック" charset="0"/>
        </a:defRPr>
      </a:lvl5pPr>
      <a:lvl6pPr marL="457200" algn="l" rtl="0" fontAlgn="base">
        <a:spcBef>
          <a:spcPct val="0"/>
        </a:spcBef>
        <a:spcAft>
          <a:spcPct val="0"/>
        </a:spcAft>
        <a:defRPr sz="3600" b="1">
          <a:solidFill>
            <a:schemeClr val="bg2"/>
          </a:solidFill>
          <a:latin typeface="Arial" charset="0"/>
          <a:ea typeface="ＭＳ Ｐゴシック" charset="0"/>
        </a:defRPr>
      </a:lvl6pPr>
      <a:lvl7pPr marL="914400" algn="l" rtl="0" fontAlgn="base">
        <a:spcBef>
          <a:spcPct val="0"/>
        </a:spcBef>
        <a:spcAft>
          <a:spcPct val="0"/>
        </a:spcAft>
        <a:defRPr sz="3600" b="1">
          <a:solidFill>
            <a:schemeClr val="bg2"/>
          </a:solidFill>
          <a:latin typeface="Arial" charset="0"/>
          <a:ea typeface="ＭＳ Ｐゴシック" charset="0"/>
        </a:defRPr>
      </a:lvl7pPr>
      <a:lvl8pPr marL="1371600" algn="l" rtl="0" fontAlgn="base">
        <a:spcBef>
          <a:spcPct val="0"/>
        </a:spcBef>
        <a:spcAft>
          <a:spcPct val="0"/>
        </a:spcAft>
        <a:defRPr sz="3600" b="1">
          <a:solidFill>
            <a:schemeClr val="bg2"/>
          </a:solidFill>
          <a:latin typeface="Arial" charset="0"/>
          <a:ea typeface="ＭＳ Ｐゴシック" charset="0"/>
        </a:defRPr>
      </a:lvl8pPr>
      <a:lvl9pPr marL="1828800" algn="l" rtl="0" fontAlgn="base">
        <a:spcBef>
          <a:spcPct val="0"/>
        </a:spcBef>
        <a:spcAft>
          <a:spcPct val="0"/>
        </a:spcAft>
        <a:defRPr sz="3600" b="1">
          <a:solidFill>
            <a:schemeClr val="bg2"/>
          </a:solidFill>
          <a:latin typeface="Arial" charset="0"/>
          <a:ea typeface="ＭＳ Ｐゴシック" charset="0"/>
        </a:defRPr>
      </a:lvl9pPr>
    </p:titleStyle>
    <p:body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609600" y="1600200"/>
            <a:ext cx="10972800" cy="485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30" name="Rectangle 6"/>
          <p:cNvSpPr>
            <a:spLocks noGrp="1" noChangeArrowheads="1"/>
          </p:cNvSpPr>
          <p:nvPr>
            <p:ph type="sldNum" sz="quarter" idx="4"/>
          </p:nvPr>
        </p:nvSpPr>
        <p:spPr bwMode="auto">
          <a:xfrm>
            <a:off x="8737600" y="6524625"/>
            <a:ext cx="284480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200"/>
            </a:lvl1pPr>
          </a:lstStyle>
          <a:p>
            <a:pPr fontAlgn="base">
              <a:spcBef>
                <a:spcPct val="0"/>
              </a:spcBef>
              <a:spcAft>
                <a:spcPct val="0"/>
              </a:spcAft>
            </a:pPr>
            <a:fld id="{EE3DEE33-3116-9141-9DC5-72DD8B3C103D}" type="slidenum">
              <a:rPr lang="en-GB">
                <a:solidFill>
                  <a:srgbClr val="000000"/>
                </a:solidFill>
              </a:rPr>
              <a:pPr fontAlgn="base">
                <a:spcBef>
                  <a:spcPct val="0"/>
                </a:spcBef>
                <a:spcAft>
                  <a:spcPct val="0"/>
                </a:spcAft>
              </a:pPr>
              <a:t>‹#›</a:t>
            </a:fld>
            <a:endParaRPr lang="en-GB">
              <a:solidFill>
                <a:srgbClr val="000000"/>
              </a:solidFill>
            </a:endParaRPr>
          </a:p>
        </p:txBody>
      </p:sp>
      <p:sp>
        <p:nvSpPr>
          <p:cNvPr id="1031" name="Line 7"/>
          <p:cNvSpPr>
            <a:spLocks noChangeShapeType="1"/>
          </p:cNvSpPr>
          <p:nvPr userDrawn="1"/>
        </p:nvSpPr>
        <p:spPr bwMode="auto">
          <a:xfrm>
            <a:off x="624418" y="1484313"/>
            <a:ext cx="10847916" cy="0"/>
          </a:xfrm>
          <a:prstGeom prst="line">
            <a:avLst/>
          </a:prstGeom>
          <a:noFill/>
          <a:ln w="3810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pPr>
            <a:endParaRPr lang="en-US" sz="1000">
              <a:solidFill>
                <a:srgbClr val="000000"/>
              </a:solidFill>
            </a:endParaRPr>
          </a:p>
        </p:txBody>
      </p:sp>
    </p:spTree>
    <p:extLst>
      <p:ext uri="{BB962C8B-B14F-4D97-AF65-F5344CB8AC3E}">
        <p14:creationId xmlns:p14="http://schemas.microsoft.com/office/powerpoint/2010/main" val="2664608569"/>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txStyles>
    <p:titleStyle>
      <a:lvl1pPr algn="ctr" rtl="0" fontAlgn="base">
        <a:spcBef>
          <a:spcPct val="0"/>
        </a:spcBef>
        <a:spcAft>
          <a:spcPct val="0"/>
        </a:spcAft>
        <a:defRPr sz="3600" b="1">
          <a:solidFill>
            <a:schemeClr val="accent2"/>
          </a:solidFill>
          <a:latin typeface="+mj-lt"/>
          <a:ea typeface="+mj-ea"/>
          <a:cs typeface="+mj-cs"/>
        </a:defRPr>
      </a:lvl1pPr>
      <a:lvl2pPr algn="ctr" rtl="0" fontAlgn="base">
        <a:spcBef>
          <a:spcPct val="0"/>
        </a:spcBef>
        <a:spcAft>
          <a:spcPct val="0"/>
        </a:spcAft>
        <a:defRPr sz="3600" b="1">
          <a:solidFill>
            <a:schemeClr val="accent2"/>
          </a:solidFill>
          <a:latin typeface="Arial" charset="0"/>
          <a:ea typeface="ＭＳ Ｐゴシック" charset="0"/>
        </a:defRPr>
      </a:lvl2pPr>
      <a:lvl3pPr algn="ctr" rtl="0" fontAlgn="base">
        <a:spcBef>
          <a:spcPct val="0"/>
        </a:spcBef>
        <a:spcAft>
          <a:spcPct val="0"/>
        </a:spcAft>
        <a:defRPr sz="3600" b="1">
          <a:solidFill>
            <a:schemeClr val="accent2"/>
          </a:solidFill>
          <a:latin typeface="Arial" charset="0"/>
          <a:ea typeface="ＭＳ Ｐゴシック" charset="0"/>
        </a:defRPr>
      </a:lvl3pPr>
      <a:lvl4pPr algn="ctr" rtl="0" fontAlgn="base">
        <a:spcBef>
          <a:spcPct val="0"/>
        </a:spcBef>
        <a:spcAft>
          <a:spcPct val="0"/>
        </a:spcAft>
        <a:defRPr sz="3600" b="1">
          <a:solidFill>
            <a:schemeClr val="accent2"/>
          </a:solidFill>
          <a:latin typeface="Arial" charset="0"/>
          <a:ea typeface="ＭＳ Ｐゴシック" charset="0"/>
        </a:defRPr>
      </a:lvl4pPr>
      <a:lvl5pPr algn="ctr" rtl="0" fontAlgn="base">
        <a:spcBef>
          <a:spcPct val="0"/>
        </a:spcBef>
        <a:spcAft>
          <a:spcPct val="0"/>
        </a:spcAft>
        <a:defRPr sz="3600" b="1">
          <a:solidFill>
            <a:schemeClr val="accent2"/>
          </a:solidFill>
          <a:latin typeface="Arial" charset="0"/>
          <a:ea typeface="ＭＳ Ｐゴシック" charset="0"/>
        </a:defRPr>
      </a:lvl5pPr>
      <a:lvl6pPr marL="457200" algn="ctr" rtl="0" fontAlgn="base">
        <a:spcBef>
          <a:spcPct val="0"/>
        </a:spcBef>
        <a:spcAft>
          <a:spcPct val="0"/>
        </a:spcAft>
        <a:defRPr sz="3600" b="1">
          <a:solidFill>
            <a:schemeClr val="accent2"/>
          </a:solidFill>
          <a:latin typeface="Arial" charset="0"/>
          <a:ea typeface="ＭＳ Ｐゴシック" charset="0"/>
        </a:defRPr>
      </a:lvl6pPr>
      <a:lvl7pPr marL="914400" algn="ctr" rtl="0" fontAlgn="base">
        <a:spcBef>
          <a:spcPct val="0"/>
        </a:spcBef>
        <a:spcAft>
          <a:spcPct val="0"/>
        </a:spcAft>
        <a:defRPr sz="3600" b="1">
          <a:solidFill>
            <a:schemeClr val="accent2"/>
          </a:solidFill>
          <a:latin typeface="Arial" charset="0"/>
          <a:ea typeface="ＭＳ Ｐゴシック" charset="0"/>
        </a:defRPr>
      </a:lvl7pPr>
      <a:lvl8pPr marL="1371600" algn="ctr" rtl="0" fontAlgn="base">
        <a:spcBef>
          <a:spcPct val="0"/>
        </a:spcBef>
        <a:spcAft>
          <a:spcPct val="0"/>
        </a:spcAft>
        <a:defRPr sz="3600" b="1">
          <a:solidFill>
            <a:schemeClr val="accent2"/>
          </a:solidFill>
          <a:latin typeface="Arial" charset="0"/>
          <a:ea typeface="ＭＳ Ｐゴシック" charset="0"/>
        </a:defRPr>
      </a:lvl8pPr>
      <a:lvl9pPr marL="1828800" algn="ctr" rtl="0" fontAlgn="base">
        <a:spcBef>
          <a:spcPct val="0"/>
        </a:spcBef>
        <a:spcAft>
          <a:spcPct val="0"/>
        </a:spcAft>
        <a:defRPr sz="3600" b="1">
          <a:solidFill>
            <a:schemeClr val="accent2"/>
          </a:solidFill>
          <a:latin typeface="Arial" charset="0"/>
          <a:ea typeface="ＭＳ Ｐゴシック" charset="0"/>
        </a:defRPr>
      </a:lvl9pPr>
    </p:titleStyle>
    <p:bodyStyle>
      <a:lvl1pPr marL="342900" indent="-342900" algn="l" rtl="0" fontAlgn="base">
        <a:spcBef>
          <a:spcPct val="20000"/>
        </a:spcBef>
        <a:spcAft>
          <a:spcPct val="30000"/>
        </a:spcAft>
        <a:defRPr sz="2800">
          <a:solidFill>
            <a:schemeClr val="accent2"/>
          </a:solidFill>
          <a:latin typeface="+mn-lt"/>
          <a:ea typeface="+mn-ea"/>
          <a:cs typeface="+mn-cs"/>
        </a:defRPr>
      </a:lvl1pPr>
      <a:lvl2pPr marL="742950" indent="-285750" algn="l" rtl="0" fontAlgn="base">
        <a:spcBef>
          <a:spcPct val="20000"/>
        </a:spcBef>
        <a:spcAft>
          <a:spcPct val="30000"/>
        </a:spcAft>
        <a:defRPr sz="2400">
          <a:solidFill>
            <a:schemeClr val="accent2"/>
          </a:solidFill>
          <a:latin typeface="+mn-lt"/>
          <a:ea typeface="+mn-ea"/>
        </a:defRPr>
      </a:lvl2pPr>
      <a:lvl3pPr marL="1143000" indent="-228600" algn="l" rtl="0" fontAlgn="base">
        <a:spcBef>
          <a:spcPct val="20000"/>
        </a:spcBef>
        <a:spcAft>
          <a:spcPct val="30000"/>
        </a:spcAft>
        <a:defRPr sz="2000">
          <a:solidFill>
            <a:schemeClr val="accent2"/>
          </a:solidFill>
          <a:latin typeface="+mn-lt"/>
          <a:ea typeface="+mn-ea"/>
        </a:defRPr>
      </a:lvl3pPr>
      <a:lvl4pPr marL="1600200" indent="-228600" algn="l" rtl="0" fontAlgn="base">
        <a:spcBef>
          <a:spcPct val="20000"/>
        </a:spcBef>
        <a:spcAft>
          <a:spcPct val="30000"/>
        </a:spcAft>
        <a:defRPr>
          <a:solidFill>
            <a:schemeClr val="accent2"/>
          </a:solidFill>
          <a:latin typeface="+mn-lt"/>
          <a:ea typeface="+mn-ea"/>
        </a:defRPr>
      </a:lvl4pPr>
      <a:lvl5pPr marL="2057400" indent="-228600" algn="l" rtl="0" fontAlgn="base">
        <a:spcBef>
          <a:spcPct val="20000"/>
        </a:spcBef>
        <a:spcAft>
          <a:spcPct val="30000"/>
        </a:spcAft>
        <a:defRPr>
          <a:solidFill>
            <a:schemeClr val="accent2"/>
          </a:solidFill>
          <a:latin typeface="+mn-lt"/>
          <a:ea typeface="+mn-ea"/>
        </a:defRPr>
      </a:lvl5pPr>
      <a:lvl6pPr marL="2514600" indent="-228600" algn="l" rtl="0" fontAlgn="base">
        <a:spcBef>
          <a:spcPct val="20000"/>
        </a:spcBef>
        <a:spcAft>
          <a:spcPct val="30000"/>
        </a:spcAft>
        <a:defRPr>
          <a:solidFill>
            <a:schemeClr val="accent2"/>
          </a:solidFill>
          <a:latin typeface="+mn-lt"/>
          <a:ea typeface="+mn-ea"/>
        </a:defRPr>
      </a:lvl6pPr>
      <a:lvl7pPr marL="2971800" indent="-228600" algn="l" rtl="0" fontAlgn="base">
        <a:spcBef>
          <a:spcPct val="20000"/>
        </a:spcBef>
        <a:spcAft>
          <a:spcPct val="30000"/>
        </a:spcAft>
        <a:defRPr>
          <a:solidFill>
            <a:schemeClr val="accent2"/>
          </a:solidFill>
          <a:latin typeface="+mn-lt"/>
          <a:ea typeface="+mn-ea"/>
        </a:defRPr>
      </a:lvl7pPr>
      <a:lvl8pPr marL="3429000" indent="-228600" algn="l" rtl="0" fontAlgn="base">
        <a:spcBef>
          <a:spcPct val="20000"/>
        </a:spcBef>
        <a:spcAft>
          <a:spcPct val="30000"/>
        </a:spcAft>
        <a:defRPr>
          <a:solidFill>
            <a:schemeClr val="accent2"/>
          </a:solidFill>
          <a:latin typeface="+mn-lt"/>
          <a:ea typeface="+mn-ea"/>
        </a:defRPr>
      </a:lvl8pPr>
      <a:lvl9pPr marL="3886200" indent="-228600" algn="l" rtl="0" fontAlgn="base">
        <a:spcBef>
          <a:spcPct val="20000"/>
        </a:spcBef>
        <a:spcAft>
          <a:spcPct val="30000"/>
        </a:spcAft>
        <a:defRPr>
          <a:solidFill>
            <a:schemeClr val="accent2"/>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ctrTitle"/>
          </p:nvPr>
        </p:nvSpPr>
        <p:spPr/>
        <p:txBody>
          <a:bodyPr/>
          <a:lstStyle/>
          <a:p>
            <a:r>
              <a:rPr lang="en-US"/>
              <a:t>Path Testing</a:t>
            </a:r>
          </a:p>
        </p:txBody>
      </p:sp>
    </p:spTree>
    <p:extLst>
      <p:ext uri="{BB962C8B-B14F-4D97-AF65-F5344CB8AC3E}">
        <p14:creationId xmlns:p14="http://schemas.microsoft.com/office/powerpoint/2010/main" val="2924012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lstStyle/>
          <a:p>
            <a:r>
              <a:rPr lang="en-US"/>
              <a:t>Path testing</a:t>
            </a:r>
          </a:p>
        </p:txBody>
      </p:sp>
      <p:sp>
        <p:nvSpPr>
          <p:cNvPr id="424963" name="Rectangle 3"/>
          <p:cNvSpPr>
            <a:spLocks noGrp="1" noChangeArrowheads="1"/>
          </p:cNvSpPr>
          <p:nvPr>
            <p:ph type="body" idx="1"/>
          </p:nvPr>
        </p:nvSpPr>
        <p:spPr/>
        <p:txBody>
          <a:bodyPr/>
          <a:lstStyle/>
          <a:p>
            <a:pPr>
              <a:lnSpc>
                <a:spcPct val="90000"/>
              </a:lnSpc>
            </a:pPr>
            <a:r>
              <a:rPr lang="en-US" sz="2400" dirty="0"/>
              <a:t>We need, first of all, to talk about path testing in general.</a:t>
            </a:r>
          </a:p>
          <a:p>
            <a:pPr>
              <a:lnSpc>
                <a:spcPct val="90000"/>
              </a:lnSpc>
            </a:pPr>
            <a:r>
              <a:rPr lang="en-US" sz="2400" dirty="0"/>
              <a:t>Program execution can follow distinct paths</a:t>
            </a:r>
          </a:p>
          <a:p>
            <a:pPr>
              <a:lnSpc>
                <a:spcPct val="90000"/>
              </a:lnSpc>
            </a:pPr>
            <a:r>
              <a:rPr lang="en-US" sz="2400" dirty="0"/>
              <a:t>Path testing is concerned with test cases that cause chosen paths</a:t>
            </a:r>
          </a:p>
          <a:p>
            <a:pPr>
              <a:lnSpc>
                <a:spcPct val="90000"/>
              </a:lnSpc>
            </a:pPr>
            <a:r>
              <a:rPr lang="en-US" sz="2400" dirty="0"/>
              <a:t>It's primarily applicable to component testing</a:t>
            </a:r>
          </a:p>
          <a:p>
            <a:pPr>
              <a:lnSpc>
                <a:spcPct val="90000"/>
              </a:lnSpc>
            </a:pPr>
            <a:r>
              <a:rPr lang="en-US" sz="2400" dirty="0"/>
              <a:t>It requires intimate knowledge of the program structure i.e. source code.</a:t>
            </a:r>
          </a:p>
        </p:txBody>
      </p:sp>
    </p:spTree>
    <p:extLst>
      <p:ext uri="{BB962C8B-B14F-4D97-AF65-F5344CB8AC3E}">
        <p14:creationId xmlns:p14="http://schemas.microsoft.com/office/powerpoint/2010/main" val="2223750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lstStyle/>
          <a:p>
            <a:r>
              <a:rPr lang="en-US"/>
              <a:t>Path testing</a:t>
            </a:r>
          </a:p>
        </p:txBody>
      </p:sp>
      <p:sp>
        <p:nvSpPr>
          <p:cNvPr id="424963" name="Rectangle 3"/>
          <p:cNvSpPr>
            <a:spLocks noGrp="1" noChangeArrowheads="1"/>
          </p:cNvSpPr>
          <p:nvPr>
            <p:ph type="body" idx="1"/>
          </p:nvPr>
        </p:nvSpPr>
        <p:spPr/>
        <p:txBody>
          <a:bodyPr/>
          <a:lstStyle/>
          <a:p>
            <a:pPr>
              <a:lnSpc>
                <a:spcPct val="90000"/>
              </a:lnSpc>
            </a:pPr>
            <a:r>
              <a:rPr lang="en-US" sz="2400" dirty="0"/>
              <a:t>When a program is executed it can follow various “paths”</a:t>
            </a:r>
          </a:p>
          <a:p>
            <a:pPr>
              <a:lnSpc>
                <a:spcPct val="90000"/>
              </a:lnSpc>
            </a:pPr>
            <a:r>
              <a:rPr lang="en-US" sz="2400" dirty="0"/>
              <a:t>Certain sequences of program code are executed depending on various criteria (e.g. value of data input to the program</a:t>
            </a:r>
          </a:p>
          <a:p>
            <a:pPr>
              <a:lnSpc>
                <a:spcPct val="90000"/>
              </a:lnSpc>
            </a:pPr>
            <a:r>
              <a:rPr lang="en-US" sz="2400" dirty="0"/>
              <a:t>On any possible path through the system, the behavior may change in the sense that the execution of a particular statement is dependent on the statements that were executed prior to that and therefore influence the possible outcome of the statement execution</a:t>
            </a:r>
          </a:p>
          <a:p>
            <a:pPr>
              <a:lnSpc>
                <a:spcPct val="90000"/>
              </a:lnSpc>
            </a:pPr>
            <a:r>
              <a:rPr lang="en-US" sz="2400" dirty="0"/>
              <a:t> In path testing we are concerned with identifying possible paths through code and identifying test cases with knowledge of the possible paths in advance</a:t>
            </a:r>
          </a:p>
          <a:p>
            <a:pPr>
              <a:lnSpc>
                <a:spcPct val="90000"/>
              </a:lnSpc>
            </a:pPr>
            <a:r>
              <a:rPr lang="en-US" sz="2400" dirty="0"/>
              <a:t>Helps to raise our confidence in a piece of code because the more possible paths we have tested the more certain we can be about the </a:t>
            </a:r>
            <a:r>
              <a:rPr lang="en-US" sz="2400" dirty="0" err="1"/>
              <a:t>behaviour</a:t>
            </a:r>
            <a:r>
              <a:rPr lang="en-US" sz="2400" dirty="0"/>
              <a:t> of the system.</a:t>
            </a:r>
          </a:p>
        </p:txBody>
      </p:sp>
    </p:spTree>
    <p:extLst>
      <p:ext uri="{BB962C8B-B14F-4D97-AF65-F5344CB8AC3E}">
        <p14:creationId xmlns:p14="http://schemas.microsoft.com/office/powerpoint/2010/main" val="1035187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a:lstStyle/>
          <a:p>
            <a:r>
              <a:rPr lang="en-US"/>
              <a:t>Bug assumption for path testing</a:t>
            </a:r>
          </a:p>
        </p:txBody>
      </p:sp>
      <p:sp>
        <p:nvSpPr>
          <p:cNvPr id="429059" name="Rectangle 3"/>
          <p:cNvSpPr>
            <a:spLocks noGrp="1" noChangeArrowheads="1"/>
          </p:cNvSpPr>
          <p:nvPr>
            <p:ph type="body" idx="1"/>
          </p:nvPr>
        </p:nvSpPr>
        <p:spPr/>
        <p:txBody>
          <a:bodyPr/>
          <a:lstStyle/>
          <a:p>
            <a:pPr>
              <a:lnSpc>
                <a:spcPct val="90000"/>
              </a:lnSpc>
            </a:pPr>
            <a:r>
              <a:rPr lang="en-US" sz="2000"/>
              <a:t>We assume the program either:</a:t>
            </a:r>
          </a:p>
          <a:p>
            <a:pPr lvl="1">
              <a:lnSpc>
                <a:spcPct val="90000"/>
              </a:lnSpc>
            </a:pPr>
            <a:r>
              <a:rPr lang="en-US" sz="1800"/>
              <a:t>Makes the right decision at the wrong time OR</a:t>
            </a:r>
          </a:p>
          <a:p>
            <a:pPr lvl="1">
              <a:lnSpc>
                <a:spcPct val="90000"/>
              </a:lnSpc>
            </a:pPr>
            <a:r>
              <a:rPr lang="en-US" sz="1800"/>
              <a:t>Makes the wrong decision at the right time</a:t>
            </a:r>
          </a:p>
          <a:p>
            <a:pPr>
              <a:lnSpc>
                <a:spcPct val="90000"/>
              </a:lnSpc>
            </a:pPr>
            <a:r>
              <a:rPr lang="en-US" sz="2000"/>
              <a:t>That is, we assume the program takes the </a:t>
            </a:r>
            <a:r>
              <a:rPr lang="en-US" sz="2000" b="1" i="1"/>
              <a:t>wrong path</a:t>
            </a:r>
          </a:p>
          <a:p>
            <a:pPr>
              <a:lnSpc>
                <a:spcPct val="90000"/>
              </a:lnSpc>
            </a:pPr>
            <a:r>
              <a:rPr lang="en-US" sz="2000"/>
              <a:t>Here are some code examples that might be defective:</a:t>
            </a:r>
          </a:p>
          <a:p>
            <a:pPr lvl="1">
              <a:lnSpc>
                <a:spcPct val="90000"/>
              </a:lnSpc>
            </a:pPr>
            <a:r>
              <a:rPr lang="en-US" sz="1800"/>
              <a:t>IF X&gt;0 THEN… rather than IF X&lt;0 THEN…</a:t>
            </a:r>
          </a:p>
          <a:p>
            <a:pPr lvl="1">
              <a:lnSpc>
                <a:spcPct val="90000"/>
              </a:lnSpc>
            </a:pPr>
            <a:r>
              <a:rPr lang="en-US" sz="1800"/>
              <a:t>IF SALARY &gt; 100.00 rather than IF SALARY &gt;=100.0</a:t>
            </a:r>
          </a:p>
          <a:p>
            <a:pPr lvl="1">
              <a:lnSpc>
                <a:spcPct val="90000"/>
              </a:lnSpc>
            </a:pPr>
            <a:r>
              <a:rPr lang="en-US" sz="1800"/>
              <a:t>GOTO A rather than GOTO B</a:t>
            </a:r>
          </a:p>
          <a:p>
            <a:pPr lvl="1">
              <a:lnSpc>
                <a:spcPct val="90000"/>
              </a:lnSpc>
            </a:pPr>
            <a:r>
              <a:rPr lang="en-US" sz="1800"/>
              <a:t>And so on…</a:t>
            </a:r>
          </a:p>
        </p:txBody>
      </p:sp>
    </p:spTree>
    <p:extLst>
      <p:ext uri="{BB962C8B-B14F-4D97-AF65-F5344CB8AC3E}">
        <p14:creationId xmlns:p14="http://schemas.microsoft.com/office/powerpoint/2010/main" val="113790334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r>
              <a:rPr lang="en-US" dirty="0"/>
              <a:t>Coverage</a:t>
            </a:r>
          </a:p>
        </p:txBody>
      </p:sp>
      <p:sp>
        <p:nvSpPr>
          <p:cNvPr id="431107" name="Rectangle 3"/>
          <p:cNvSpPr>
            <a:spLocks noGrp="1" noChangeArrowheads="1"/>
          </p:cNvSpPr>
          <p:nvPr>
            <p:ph type="body" idx="1"/>
          </p:nvPr>
        </p:nvSpPr>
        <p:spPr/>
        <p:txBody>
          <a:bodyPr/>
          <a:lstStyle/>
          <a:p>
            <a:pPr>
              <a:lnSpc>
                <a:spcPct val="90000"/>
              </a:lnSpc>
            </a:pPr>
            <a:r>
              <a:rPr lang="en-US" sz="2400" dirty="0"/>
              <a:t>The two techniques that we need to discuss are </a:t>
            </a:r>
            <a:r>
              <a:rPr lang="en-US" sz="2400" b="1" dirty="0"/>
              <a:t>statement testing</a:t>
            </a:r>
            <a:r>
              <a:rPr lang="en-US" sz="2400" dirty="0"/>
              <a:t> and </a:t>
            </a:r>
            <a:r>
              <a:rPr lang="en-US" sz="2400" b="1" dirty="0"/>
              <a:t>branch testing</a:t>
            </a:r>
            <a:r>
              <a:rPr lang="en-US" sz="2400" dirty="0"/>
              <a:t>. Firstly, lets look at the coverage measurement.</a:t>
            </a:r>
          </a:p>
          <a:p>
            <a:pPr>
              <a:lnSpc>
                <a:spcPct val="90000"/>
              </a:lnSpc>
            </a:pPr>
            <a:r>
              <a:rPr lang="en-US" sz="2400" b="1" dirty="0"/>
              <a:t>Statement coverage</a:t>
            </a:r>
          </a:p>
          <a:p>
            <a:pPr lvl="1">
              <a:lnSpc>
                <a:spcPct val="90000"/>
              </a:lnSpc>
            </a:pPr>
            <a:r>
              <a:rPr lang="en-US" sz="2000" dirty="0"/>
              <a:t>most basic</a:t>
            </a:r>
          </a:p>
          <a:p>
            <a:pPr lvl="1">
              <a:lnSpc>
                <a:spcPct val="90000"/>
              </a:lnSpc>
            </a:pPr>
            <a:r>
              <a:rPr lang="en-US" sz="2000" b="1" dirty="0"/>
              <a:t>every statement executed </a:t>
            </a:r>
            <a:r>
              <a:rPr lang="en-US" sz="2000" b="1" u="sng" dirty="0"/>
              <a:t>at least once</a:t>
            </a:r>
          </a:p>
          <a:p>
            <a:pPr>
              <a:lnSpc>
                <a:spcPct val="90000"/>
              </a:lnSpc>
            </a:pPr>
            <a:r>
              <a:rPr lang="en-US" sz="2400" b="1" dirty="0"/>
              <a:t>Branch coverage</a:t>
            </a:r>
          </a:p>
          <a:p>
            <a:pPr lvl="1">
              <a:lnSpc>
                <a:spcPct val="90000"/>
              </a:lnSpc>
            </a:pPr>
            <a:r>
              <a:rPr lang="en-US" sz="2000" dirty="0"/>
              <a:t>more refined</a:t>
            </a:r>
          </a:p>
          <a:p>
            <a:pPr lvl="1">
              <a:lnSpc>
                <a:spcPct val="90000"/>
              </a:lnSpc>
            </a:pPr>
            <a:r>
              <a:rPr lang="en-US" sz="2000" b="1" u="sng" dirty="0"/>
              <a:t>every outcome of every decision executed at least once</a:t>
            </a:r>
          </a:p>
        </p:txBody>
      </p:sp>
    </p:spTree>
    <p:extLst>
      <p:ext uri="{BB962C8B-B14F-4D97-AF65-F5344CB8AC3E}">
        <p14:creationId xmlns:p14="http://schemas.microsoft.com/office/powerpoint/2010/main" val="1779910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p:txBody>
          <a:bodyPr/>
          <a:lstStyle/>
          <a:p>
            <a:r>
              <a:rPr lang="en-US"/>
              <a:t>Coverage measurement</a:t>
            </a:r>
          </a:p>
        </p:txBody>
      </p:sp>
      <p:sp>
        <p:nvSpPr>
          <p:cNvPr id="4" name="Rectangle 3"/>
          <p:cNvSpPr txBox="1">
            <a:spLocks noChangeArrowheads="1"/>
          </p:cNvSpPr>
          <p:nvPr/>
        </p:nvSpPr>
        <p:spPr bwMode="auto">
          <a:xfrm>
            <a:off x="1981199" y="1600200"/>
            <a:ext cx="9146345" cy="485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30000"/>
              </a:spcAft>
              <a:defRPr sz="2800">
                <a:solidFill>
                  <a:schemeClr val="accent2"/>
                </a:solidFill>
                <a:latin typeface="+mn-lt"/>
                <a:ea typeface="+mn-ea"/>
                <a:cs typeface="+mn-cs"/>
              </a:defRPr>
            </a:lvl1pPr>
            <a:lvl2pPr marL="742950" indent="-285750" algn="l" rtl="0" fontAlgn="base">
              <a:spcBef>
                <a:spcPct val="20000"/>
              </a:spcBef>
              <a:spcAft>
                <a:spcPct val="30000"/>
              </a:spcAft>
              <a:defRPr sz="2400">
                <a:solidFill>
                  <a:schemeClr val="accent2"/>
                </a:solidFill>
                <a:latin typeface="+mn-lt"/>
                <a:ea typeface="+mn-ea"/>
              </a:defRPr>
            </a:lvl2pPr>
            <a:lvl3pPr marL="1143000" indent="-228600" algn="l" rtl="0" fontAlgn="base">
              <a:spcBef>
                <a:spcPct val="20000"/>
              </a:spcBef>
              <a:spcAft>
                <a:spcPct val="30000"/>
              </a:spcAft>
              <a:defRPr sz="2000">
                <a:solidFill>
                  <a:schemeClr val="accent2"/>
                </a:solidFill>
                <a:latin typeface="+mn-lt"/>
                <a:ea typeface="+mn-ea"/>
              </a:defRPr>
            </a:lvl3pPr>
            <a:lvl4pPr marL="1600200" indent="-228600" algn="l" rtl="0" fontAlgn="base">
              <a:spcBef>
                <a:spcPct val="20000"/>
              </a:spcBef>
              <a:spcAft>
                <a:spcPct val="30000"/>
              </a:spcAft>
              <a:defRPr>
                <a:solidFill>
                  <a:schemeClr val="accent2"/>
                </a:solidFill>
                <a:latin typeface="+mn-lt"/>
                <a:ea typeface="+mn-ea"/>
              </a:defRPr>
            </a:lvl4pPr>
            <a:lvl5pPr marL="2057400" indent="-228600" algn="l" rtl="0" fontAlgn="base">
              <a:spcBef>
                <a:spcPct val="20000"/>
              </a:spcBef>
              <a:spcAft>
                <a:spcPct val="30000"/>
              </a:spcAft>
              <a:defRPr>
                <a:solidFill>
                  <a:schemeClr val="accent2"/>
                </a:solidFill>
                <a:latin typeface="+mn-lt"/>
                <a:ea typeface="+mn-ea"/>
              </a:defRPr>
            </a:lvl5pPr>
            <a:lvl6pPr marL="2514600" indent="-228600" algn="l" rtl="0" fontAlgn="base">
              <a:spcBef>
                <a:spcPct val="20000"/>
              </a:spcBef>
              <a:spcAft>
                <a:spcPct val="30000"/>
              </a:spcAft>
              <a:defRPr>
                <a:solidFill>
                  <a:schemeClr val="accent2"/>
                </a:solidFill>
                <a:latin typeface="+mn-lt"/>
                <a:ea typeface="+mn-ea"/>
              </a:defRPr>
            </a:lvl6pPr>
            <a:lvl7pPr marL="2971800" indent="-228600" algn="l" rtl="0" fontAlgn="base">
              <a:spcBef>
                <a:spcPct val="20000"/>
              </a:spcBef>
              <a:spcAft>
                <a:spcPct val="30000"/>
              </a:spcAft>
              <a:defRPr>
                <a:solidFill>
                  <a:schemeClr val="accent2"/>
                </a:solidFill>
                <a:latin typeface="+mn-lt"/>
                <a:ea typeface="+mn-ea"/>
              </a:defRPr>
            </a:lvl7pPr>
            <a:lvl8pPr marL="3429000" indent="-228600" algn="l" rtl="0" fontAlgn="base">
              <a:spcBef>
                <a:spcPct val="20000"/>
              </a:spcBef>
              <a:spcAft>
                <a:spcPct val="30000"/>
              </a:spcAft>
              <a:defRPr>
                <a:solidFill>
                  <a:schemeClr val="accent2"/>
                </a:solidFill>
                <a:latin typeface="+mn-lt"/>
                <a:ea typeface="+mn-ea"/>
              </a:defRPr>
            </a:lvl8pPr>
            <a:lvl9pPr marL="3886200" indent="-228600" algn="l" rtl="0" fontAlgn="base">
              <a:spcBef>
                <a:spcPct val="20000"/>
              </a:spcBef>
              <a:spcAft>
                <a:spcPct val="30000"/>
              </a:spcAft>
              <a:defRPr>
                <a:solidFill>
                  <a:schemeClr val="accent2"/>
                </a:solidFill>
                <a:latin typeface="+mn-lt"/>
                <a:ea typeface="+mn-ea"/>
              </a:defRPr>
            </a:lvl9pPr>
          </a:lstStyle>
          <a:p>
            <a:pPr>
              <a:lnSpc>
                <a:spcPct val="90000"/>
              </a:lnSpc>
            </a:pPr>
            <a:r>
              <a:rPr lang="en-US" sz="2000" kern="0" dirty="0">
                <a:solidFill>
                  <a:srgbClr val="333399"/>
                </a:solidFill>
              </a:rPr>
              <a:t>Achieving coverage is incremental</a:t>
            </a:r>
          </a:p>
          <a:p>
            <a:pPr>
              <a:lnSpc>
                <a:spcPct val="90000"/>
              </a:lnSpc>
            </a:pPr>
            <a:r>
              <a:rPr lang="en-US" sz="2000" kern="0" dirty="0">
                <a:solidFill>
                  <a:srgbClr val="333399"/>
                </a:solidFill>
              </a:rPr>
              <a:t>Coverage is normally measured as a percentage. </a:t>
            </a:r>
          </a:p>
          <a:p>
            <a:pPr>
              <a:lnSpc>
                <a:spcPct val="90000"/>
              </a:lnSpc>
            </a:pPr>
            <a:endParaRPr lang="en-US" sz="2000" kern="0" dirty="0">
              <a:solidFill>
                <a:srgbClr val="333399"/>
              </a:solidFill>
            </a:endParaRPr>
          </a:p>
          <a:p>
            <a:pPr lvl="1">
              <a:lnSpc>
                <a:spcPct val="90000"/>
              </a:lnSpc>
            </a:pPr>
            <a:r>
              <a:rPr lang="en-US" sz="1800" b="1" kern="0" dirty="0">
                <a:solidFill>
                  <a:srgbClr val="333399"/>
                </a:solidFill>
              </a:rPr>
              <a:t>Statement Coverage = (statements executed / total statements) * 100</a:t>
            </a:r>
          </a:p>
          <a:p>
            <a:pPr lvl="1">
              <a:lnSpc>
                <a:spcPct val="90000"/>
              </a:lnSpc>
            </a:pPr>
            <a:endParaRPr lang="en-US" sz="1800" b="1" kern="0" dirty="0">
              <a:solidFill>
                <a:srgbClr val="333399"/>
              </a:solidFill>
            </a:endParaRPr>
          </a:p>
          <a:p>
            <a:pPr lvl="1">
              <a:lnSpc>
                <a:spcPct val="90000"/>
              </a:lnSpc>
            </a:pPr>
            <a:r>
              <a:rPr lang="en-US" sz="1800" b="1" kern="0" dirty="0">
                <a:solidFill>
                  <a:srgbClr val="333399"/>
                </a:solidFill>
              </a:rPr>
              <a:t>Branch Coverage = (branch outcomes executed / total branch outcomes) * 100</a:t>
            </a:r>
          </a:p>
          <a:p>
            <a:pPr lvl="1">
              <a:lnSpc>
                <a:spcPct val="90000"/>
              </a:lnSpc>
            </a:pPr>
            <a:endParaRPr lang="en-US" sz="1800" b="1" kern="0" dirty="0">
              <a:solidFill>
                <a:srgbClr val="333399"/>
              </a:solidFill>
            </a:endParaRPr>
          </a:p>
          <a:p>
            <a:pPr lvl="1">
              <a:lnSpc>
                <a:spcPct val="90000"/>
              </a:lnSpc>
            </a:pPr>
            <a:r>
              <a:rPr lang="en-US" sz="1800" b="1" kern="0" dirty="0">
                <a:solidFill>
                  <a:srgbClr val="333399"/>
                </a:solidFill>
              </a:rPr>
              <a:t>Path Coverage = (paths executed / total number of paths) * 100</a:t>
            </a:r>
          </a:p>
          <a:p>
            <a:pPr lvl="1">
              <a:lnSpc>
                <a:spcPct val="90000"/>
              </a:lnSpc>
            </a:pPr>
            <a:endParaRPr lang="en-US" sz="1600" kern="0" dirty="0">
              <a:solidFill>
                <a:srgbClr val="333399"/>
              </a:solidFill>
            </a:endParaRPr>
          </a:p>
        </p:txBody>
      </p:sp>
    </p:spTree>
    <p:extLst>
      <p:ext uri="{BB962C8B-B14F-4D97-AF65-F5344CB8AC3E}">
        <p14:creationId xmlns:p14="http://schemas.microsoft.com/office/powerpoint/2010/main" val="2130524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p:txBody>
          <a:bodyPr/>
          <a:lstStyle/>
          <a:p>
            <a:r>
              <a:rPr lang="en-US" dirty="0"/>
              <a:t>Path Coverage in practice?</a:t>
            </a:r>
          </a:p>
        </p:txBody>
      </p:sp>
      <p:sp>
        <p:nvSpPr>
          <p:cNvPr id="4" name="Rectangle 3"/>
          <p:cNvSpPr txBox="1">
            <a:spLocks noChangeArrowheads="1"/>
          </p:cNvSpPr>
          <p:nvPr/>
        </p:nvSpPr>
        <p:spPr bwMode="auto">
          <a:xfrm>
            <a:off x="827645" y="1600200"/>
            <a:ext cx="10215493" cy="485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30000"/>
              </a:spcAft>
              <a:defRPr sz="2800">
                <a:solidFill>
                  <a:schemeClr val="accent2"/>
                </a:solidFill>
                <a:latin typeface="+mn-lt"/>
                <a:ea typeface="+mn-ea"/>
                <a:cs typeface="+mn-cs"/>
              </a:defRPr>
            </a:lvl1pPr>
            <a:lvl2pPr marL="742950" indent="-285750" algn="l" rtl="0" fontAlgn="base">
              <a:spcBef>
                <a:spcPct val="20000"/>
              </a:spcBef>
              <a:spcAft>
                <a:spcPct val="30000"/>
              </a:spcAft>
              <a:defRPr sz="2400">
                <a:solidFill>
                  <a:schemeClr val="accent2"/>
                </a:solidFill>
                <a:latin typeface="+mn-lt"/>
                <a:ea typeface="+mn-ea"/>
              </a:defRPr>
            </a:lvl2pPr>
            <a:lvl3pPr marL="1143000" indent="-228600" algn="l" rtl="0" fontAlgn="base">
              <a:spcBef>
                <a:spcPct val="20000"/>
              </a:spcBef>
              <a:spcAft>
                <a:spcPct val="30000"/>
              </a:spcAft>
              <a:defRPr sz="2000">
                <a:solidFill>
                  <a:schemeClr val="accent2"/>
                </a:solidFill>
                <a:latin typeface="+mn-lt"/>
                <a:ea typeface="+mn-ea"/>
              </a:defRPr>
            </a:lvl3pPr>
            <a:lvl4pPr marL="1600200" indent="-228600" algn="l" rtl="0" fontAlgn="base">
              <a:spcBef>
                <a:spcPct val="20000"/>
              </a:spcBef>
              <a:spcAft>
                <a:spcPct val="30000"/>
              </a:spcAft>
              <a:defRPr>
                <a:solidFill>
                  <a:schemeClr val="accent2"/>
                </a:solidFill>
                <a:latin typeface="+mn-lt"/>
                <a:ea typeface="+mn-ea"/>
              </a:defRPr>
            </a:lvl4pPr>
            <a:lvl5pPr marL="2057400" indent="-228600" algn="l" rtl="0" fontAlgn="base">
              <a:spcBef>
                <a:spcPct val="20000"/>
              </a:spcBef>
              <a:spcAft>
                <a:spcPct val="30000"/>
              </a:spcAft>
              <a:defRPr>
                <a:solidFill>
                  <a:schemeClr val="accent2"/>
                </a:solidFill>
                <a:latin typeface="+mn-lt"/>
                <a:ea typeface="+mn-ea"/>
              </a:defRPr>
            </a:lvl5pPr>
            <a:lvl6pPr marL="2514600" indent="-228600" algn="l" rtl="0" fontAlgn="base">
              <a:spcBef>
                <a:spcPct val="20000"/>
              </a:spcBef>
              <a:spcAft>
                <a:spcPct val="30000"/>
              </a:spcAft>
              <a:defRPr>
                <a:solidFill>
                  <a:schemeClr val="accent2"/>
                </a:solidFill>
                <a:latin typeface="+mn-lt"/>
                <a:ea typeface="+mn-ea"/>
              </a:defRPr>
            </a:lvl6pPr>
            <a:lvl7pPr marL="2971800" indent="-228600" algn="l" rtl="0" fontAlgn="base">
              <a:spcBef>
                <a:spcPct val="20000"/>
              </a:spcBef>
              <a:spcAft>
                <a:spcPct val="30000"/>
              </a:spcAft>
              <a:defRPr>
                <a:solidFill>
                  <a:schemeClr val="accent2"/>
                </a:solidFill>
                <a:latin typeface="+mn-lt"/>
                <a:ea typeface="+mn-ea"/>
              </a:defRPr>
            </a:lvl7pPr>
            <a:lvl8pPr marL="3429000" indent="-228600" algn="l" rtl="0" fontAlgn="base">
              <a:spcBef>
                <a:spcPct val="20000"/>
              </a:spcBef>
              <a:spcAft>
                <a:spcPct val="30000"/>
              </a:spcAft>
              <a:defRPr>
                <a:solidFill>
                  <a:schemeClr val="accent2"/>
                </a:solidFill>
                <a:latin typeface="+mn-lt"/>
                <a:ea typeface="+mn-ea"/>
              </a:defRPr>
            </a:lvl8pPr>
            <a:lvl9pPr marL="3886200" indent="-228600" algn="l" rtl="0" fontAlgn="base">
              <a:spcBef>
                <a:spcPct val="20000"/>
              </a:spcBef>
              <a:spcAft>
                <a:spcPct val="30000"/>
              </a:spcAft>
              <a:defRPr>
                <a:solidFill>
                  <a:schemeClr val="accent2"/>
                </a:solidFill>
                <a:latin typeface="+mn-lt"/>
                <a:ea typeface="+mn-ea"/>
              </a:defRPr>
            </a:lvl9pPr>
          </a:lstStyle>
          <a:p>
            <a:pPr>
              <a:lnSpc>
                <a:spcPct val="90000"/>
              </a:lnSpc>
              <a:buFont typeface="Arial" panose="020B0604020202020204" pitchFamily="34" charset="0"/>
              <a:buChar char="•"/>
            </a:pPr>
            <a:r>
              <a:rPr lang="en-US" kern="0" dirty="0">
                <a:solidFill>
                  <a:srgbClr val="333399"/>
                </a:solidFill>
              </a:rPr>
              <a:t>Statement coverage is the easiest path testing to achieve.</a:t>
            </a:r>
          </a:p>
          <a:p>
            <a:pPr>
              <a:lnSpc>
                <a:spcPct val="90000"/>
              </a:lnSpc>
              <a:buFont typeface="Arial" panose="020B0604020202020204" pitchFamily="34" charset="0"/>
              <a:buChar char="•"/>
            </a:pPr>
            <a:r>
              <a:rPr lang="en-US" kern="0" dirty="0">
                <a:solidFill>
                  <a:srgbClr val="333399"/>
                </a:solidFill>
              </a:rPr>
              <a:t>Branch / Decision coverage is more difficult, it requires testing all possible outcomes for all decisions/branches.</a:t>
            </a:r>
          </a:p>
          <a:p>
            <a:pPr>
              <a:lnSpc>
                <a:spcPct val="90000"/>
              </a:lnSpc>
              <a:buFont typeface="Arial" panose="020B0604020202020204" pitchFamily="34" charset="0"/>
              <a:buChar char="•"/>
            </a:pPr>
            <a:r>
              <a:rPr lang="en-US" kern="0" dirty="0">
                <a:solidFill>
                  <a:srgbClr val="333399"/>
                </a:solidFill>
              </a:rPr>
              <a:t>Path coverages is the most difficult to achieve, as it is concerned with testing all possible outcomes from all possible statements / decisions and in all possible combinations. But is </a:t>
            </a:r>
            <a:r>
              <a:rPr lang="en-US" kern="0">
                <a:solidFill>
                  <a:srgbClr val="333399"/>
                </a:solidFill>
              </a:rPr>
              <a:t>it necessary? </a:t>
            </a:r>
            <a:endParaRPr lang="en-US" kern="0" dirty="0">
              <a:solidFill>
                <a:srgbClr val="333399"/>
              </a:solidFill>
            </a:endParaRPr>
          </a:p>
        </p:txBody>
      </p:sp>
    </p:spTree>
    <p:extLst>
      <p:ext uri="{BB962C8B-B14F-4D97-AF65-F5344CB8AC3E}">
        <p14:creationId xmlns:p14="http://schemas.microsoft.com/office/powerpoint/2010/main" val="3823015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r>
              <a:rPr lang="en-US"/>
              <a:t>Procedure for statement testing</a:t>
            </a:r>
          </a:p>
        </p:txBody>
      </p:sp>
      <p:sp>
        <p:nvSpPr>
          <p:cNvPr id="447491" name="Rectangle 3"/>
          <p:cNvSpPr>
            <a:spLocks noGrp="1" noChangeArrowheads="1"/>
          </p:cNvSpPr>
          <p:nvPr>
            <p:ph type="body" idx="1"/>
          </p:nvPr>
        </p:nvSpPr>
        <p:spPr/>
        <p:txBody>
          <a:bodyPr/>
          <a:lstStyle/>
          <a:p>
            <a:pPr marL="609600" indent="-609600">
              <a:lnSpc>
                <a:spcPct val="90000"/>
              </a:lnSpc>
            </a:pPr>
            <a:r>
              <a:rPr lang="en-US" sz="2000"/>
              <a:t>A generic process for statement test design.</a:t>
            </a:r>
          </a:p>
          <a:p>
            <a:pPr marL="990600" lvl="1" indent="-533400">
              <a:lnSpc>
                <a:spcPct val="90000"/>
              </a:lnSpc>
            </a:pPr>
            <a:r>
              <a:rPr lang="en-US" sz="1800"/>
              <a:t>Identify all the executable statements</a:t>
            </a:r>
          </a:p>
          <a:p>
            <a:pPr marL="990600" lvl="1" indent="-533400">
              <a:lnSpc>
                <a:spcPct val="90000"/>
              </a:lnSpc>
            </a:pPr>
            <a:r>
              <a:rPr lang="en-US" sz="1800"/>
              <a:t>Trace execution from first statement</a:t>
            </a:r>
          </a:p>
          <a:p>
            <a:pPr marL="990600" lvl="1" indent="-533400">
              <a:lnSpc>
                <a:spcPct val="90000"/>
              </a:lnSpc>
            </a:pPr>
            <a:r>
              <a:rPr lang="en-US" sz="1800"/>
              <a:t>For each decision encountered, choose the true outcome first; write down values for the variable(s) in the predicates that make it true</a:t>
            </a:r>
          </a:p>
          <a:p>
            <a:pPr marL="990600" lvl="1" indent="-533400">
              <a:lnSpc>
                <a:spcPct val="90000"/>
              </a:lnSpc>
            </a:pPr>
            <a:r>
              <a:rPr lang="en-US" sz="1800"/>
              <a:t>Are all statements covered? If not, select test values to reach the next uncovered statement in the code and continue covering statements as you proceed </a:t>
            </a:r>
          </a:p>
          <a:p>
            <a:pPr marL="990600" lvl="1" indent="-533400">
              <a:lnSpc>
                <a:spcPct val="90000"/>
              </a:lnSpc>
            </a:pPr>
            <a:r>
              <a:rPr lang="en-US" sz="1800"/>
              <a:t>Repeat 4 until all statements covered by at least one test case</a:t>
            </a:r>
          </a:p>
          <a:p>
            <a:pPr marL="990600" lvl="1" indent="-533400">
              <a:lnSpc>
                <a:spcPct val="90000"/>
              </a:lnSpc>
            </a:pPr>
            <a:r>
              <a:rPr lang="en-US" sz="1800"/>
              <a:t>For all test cases, record the variable values required to force the execution path you take.</a:t>
            </a:r>
          </a:p>
        </p:txBody>
      </p:sp>
    </p:spTree>
    <p:extLst>
      <p:ext uri="{BB962C8B-B14F-4D97-AF65-F5344CB8AC3E}">
        <p14:creationId xmlns:p14="http://schemas.microsoft.com/office/powerpoint/2010/main" val="20932348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r>
              <a:rPr lang="en-US"/>
              <a:t>From paths to test cases</a:t>
            </a:r>
          </a:p>
        </p:txBody>
      </p:sp>
      <p:sp>
        <p:nvSpPr>
          <p:cNvPr id="435203" name="Rectangle 3"/>
          <p:cNvSpPr>
            <a:spLocks noGrp="1" noChangeArrowheads="1"/>
          </p:cNvSpPr>
          <p:nvPr>
            <p:ph type="body" idx="1"/>
          </p:nvPr>
        </p:nvSpPr>
        <p:spPr/>
        <p:txBody>
          <a:bodyPr/>
          <a:lstStyle/>
          <a:p>
            <a:r>
              <a:rPr lang="en-US"/>
              <a:t>Need to understand the relationship between paths and test cases</a:t>
            </a:r>
          </a:p>
          <a:p>
            <a:r>
              <a:rPr lang="en-US"/>
              <a:t>Process of choosing input values is called "sensitising the path"</a:t>
            </a:r>
          </a:p>
          <a:p>
            <a:r>
              <a:rPr lang="en-US"/>
              <a:t>Sometimes difficult for code buried deep in complex programs</a:t>
            </a:r>
          </a:p>
          <a:p>
            <a:r>
              <a:rPr lang="en-US"/>
              <a:t>You are free to choose which paths so choose the easiest.</a:t>
            </a:r>
          </a:p>
        </p:txBody>
      </p:sp>
    </p:spTree>
    <p:extLst>
      <p:ext uri="{BB962C8B-B14F-4D97-AF65-F5344CB8AC3E}">
        <p14:creationId xmlns:p14="http://schemas.microsoft.com/office/powerpoint/2010/main" val="604712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ctrTitle"/>
          </p:nvPr>
        </p:nvSpPr>
        <p:spPr/>
        <p:txBody>
          <a:bodyPr/>
          <a:lstStyle/>
          <a:p>
            <a:r>
              <a:rPr lang="en-US"/>
              <a:t>Statement Testing</a:t>
            </a:r>
          </a:p>
        </p:txBody>
      </p:sp>
    </p:spTree>
    <p:extLst>
      <p:ext uri="{BB962C8B-B14F-4D97-AF65-F5344CB8AC3E}">
        <p14:creationId xmlns:p14="http://schemas.microsoft.com/office/powerpoint/2010/main" val="2997798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r>
              <a:rPr lang="en-US"/>
              <a:t>What are statements?</a:t>
            </a:r>
          </a:p>
        </p:txBody>
      </p:sp>
      <p:sp>
        <p:nvSpPr>
          <p:cNvPr id="441347" name="Rectangle 3"/>
          <p:cNvSpPr>
            <a:spLocks noGrp="1" noChangeArrowheads="1"/>
          </p:cNvSpPr>
          <p:nvPr>
            <p:ph type="body" idx="1"/>
          </p:nvPr>
        </p:nvSpPr>
        <p:spPr/>
        <p:txBody>
          <a:bodyPr/>
          <a:lstStyle/>
          <a:p>
            <a:r>
              <a:rPr lang="en-US"/>
              <a:t>For the purpose of statement testing, executable statements “do something”</a:t>
            </a:r>
          </a:p>
          <a:p>
            <a:r>
              <a:rPr lang="en-US"/>
              <a:t>Data definitions, ELSEs, ENDIFs etc. do not count as executable statements</a:t>
            </a:r>
          </a:p>
          <a:p>
            <a:r>
              <a:rPr lang="en-US"/>
              <a:t>Statement coverage requires you to exercise each executable statement at least ONCE.</a:t>
            </a:r>
          </a:p>
        </p:txBody>
      </p:sp>
    </p:spTree>
    <p:extLst>
      <p:ext uri="{BB962C8B-B14F-4D97-AF65-F5344CB8AC3E}">
        <p14:creationId xmlns:p14="http://schemas.microsoft.com/office/powerpoint/2010/main" val="3070090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r>
              <a:rPr lang="en-US"/>
              <a:t>Sensitising the paths</a:t>
            </a:r>
          </a:p>
        </p:txBody>
      </p:sp>
      <p:pic>
        <p:nvPicPr>
          <p:cNvPr id="437251" name="Picture 3" descr="sensitiz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8550" y="1557339"/>
            <a:ext cx="7327900" cy="4848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264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p:txBody>
          <a:bodyPr/>
          <a:lstStyle/>
          <a:p>
            <a:r>
              <a:rPr lang="en-US"/>
              <a:t>Statement coverage</a:t>
            </a:r>
          </a:p>
        </p:txBody>
      </p:sp>
      <p:sp>
        <p:nvSpPr>
          <p:cNvPr id="2" name="Rectangle 1"/>
          <p:cNvSpPr/>
          <p:nvPr/>
        </p:nvSpPr>
        <p:spPr>
          <a:xfrm>
            <a:off x="462844" y="1577624"/>
            <a:ext cx="11119556" cy="5047536"/>
          </a:xfrm>
          <a:prstGeom prst="rect">
            <a:avLst/>
          </a:prstGeom>
        </p:spPr>
        <p:txBody>
          <a:bodyPr wrap="square">
            <a:spAutoFit/>
          </a:bodyPr>
          <a:lstStyle/>
          <a:p>
            <a:r>
              <a:rPr lang="en-IE" sz="1400" dirty="0"/>
              <a:t>(Statement coverage = No of statements Executed/Total no of statements in the source code * 100)</a:t>
            </a:r>
          </a:p>
          <a:p>
            <a:endParaRPr lang="en-IE" sz="1400" dirty="0"/>
          </a:p>
          <a:p>
            <a:r>
              <a:rPr lang="en-IE" sz="1400" dirty="0"/>
              <a:t>Example:</a:t>
            </a:r>
          </a:p>
          <a:p>
            <a:endParaRPr lang="en-IE" sz="1400" dirty="0"/>
          </a:p>
          <a:p>
            <a:r>
              <a:rPr lang="en-IE" sz="1400" dirty="0"/>
              <a:t>Read A</a:t>
            </a:r>
          </a:p>
          <a:p>
            <a:r>
              <a:rPr lang="en-IE" sz="1400" dirty="0"/>
              <a:t>Read B</a:t>
            </a:r>
          </a:p>
          <a:p>
            <a:r>
              <a:rPr lang="en-IE" sz="1400" dirty="0"/>
              <a:t>if A &gt; B</a:t>
            </a:r>
          </a:p>
          <a:p>
            <a:r>
              <a:rPr lang="en-IE" sz="1400" dirty="0"/>
              <a:t>  Print “A is greater than B”</a:t>
            </a:r>
          </a:p>
          <a:p>
            <a:r>
              <a:rPr lang="en-IE" sz="1400" dirty="0"/>
              <a:t>else</a:t>
            </a:r>
          </a:p>
          <a:p>
            <a:r>
              <a:rPr lang="en-IE" sz="1400" dirty="0"/>
              <a:t>  Print "B is greater than A"</a:t>
            </a:r>
          </a:p>
          <a:p>
            <a:r>
              <a:rPr lang="en-IE" sz="1400" dirty="0" err="1"/>
              <a:t>endif</a:t>
            </a:r>
            <a:endParaRPr lang="en-IE" sz="1400" dirty="0"/>
          </a:p>
          <a:p>
            <a:endParaRPr lang="en-IE" sz="1400" dirty="0" smtClean="0"/>
          </a:p>
          <a:p>
            <a:pPr lvl="1"/>
            <a:r>
              <a:rPr lang="en-IE" sz="1400" dirty="0" smtClean="0"/>
              <a:t>Set </a:t>
            </a:r>
            <a:r>
              <a:rPr lang="en-IE" sz="1400" dirty="0"/>
              <a:t>1: If A = 5, B = 2</a:t>
            </a:r>
          </a:p>
          <a:p>
            <a:pPr lvl="1"/>
            <a:endParaRPr lang="en-IE" sz="1400" dirty="0"/>
          </a:p>
          <a:p>
            <a:pPr lvl="2"/>
            <a:r>
              <a:rPr lang="en-IE" sz="1400" dirty="0"/>
              <a:t>No of statements Executed: 5</a:t>
            </a:r>
          </a:p>
          <a:p>
            <a:pPr lvl="2"/>
            <a:r>
              <a:rPr lang="en-IE" sz="1400" dirty="0"/>
              <a:t>Total no of statements in the source code: 7</a:t>
            </a:r>
          </a:p>
          <a:p>
            <a:pPr lvl="2"/>
            <a:r>
              <a:rPr lang="en-IE" sz="1400" dirty="0"/>
              <a:t>Statement coverage =5/7*100 = 71.00 %</a:t>
            </a:r>
          </a:p>
          <a:p>
            <a:endParaRPr lang="en-IE" sz="1400" dirty="0" smtClean="0"/>
          </a:p>
          <a:p>
            <a:pPr lvl="1"/>
            <a:r>
              <a:rPr lang="en-IE" sz="1400" dirty="0" smtClean="0"/>
              <a:t>Set </a:t>
            </a:r>
            <a:r>
              <a:rPr lang="en-IE" sz="1400" dirty="0"/>
              <a:t>2: If A = 2, B = 5</a:t>
            </a:r>
          </a:p>
          <a:p>
            <a:endParaRPr lang="en-IE" sz="1400" dirty="0"/>
          </a:p>
          <a:p>
            <a:pPr lvl="2"/>
            <a:r>
              <a:rPr lang="en-IE" sz="1400" dirty="0"/>
              <a:t>No of statements Executed: 6</a:t>
            </a:r>
          </a:p>
          <a:p>
            <a:pPr lvl="2"/>
            <a:r>
              <a:rPr lang="en-IE" sz="1400" dirty="0"/>
              <a:t>Total no of statements in the source code: 7</a:t>
            </a:r>
          </a:p>
          <a:p>
            <a:pPr lvl="2"/>
            <a:r>
              <a:rPr lang="en-IE" sz="1400" dirty="0"/>
              <a:t>Statement coverage =6/7*100 = 85.20 %</a:t>
            </a:r>
          </a:p>
        </p:txBody>
      </p:sp>
    </p:spTree>
    <p:extLst>
      <p:ext uri="{BB962C8B-B14F-4D97-AF65-F5344CB8AC3E}">
        <p14:creationId xmlns:p14="http://schemas.microsoft.com/office/powerpoint/2010/main" val="3727825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r>
              <a:rPr lang="en-US" dirty="0"/>
              <a:t>Pencils to the ready… </a:t>
            </a:r>
          </a:p>
        </p:txBody>
      </p:sp>
      <p:sp>
        <p:nvSpPr>
          <p:cNvPr id="9" name="TextBox 8"/>
          <p:cNvSpPr txBox="1"/>
          <p:nvPr/>
        </p:nvSpPr>
        <p:spPr>
          <a:xfrm>
            <a:off x="4606777" y="1832248"/>
            <a:ext cx="3068635" cy="2585323"/>
          </a:xfrm>
          <a:prstGeom prst="rect">
            <a:avLst/>
          </a:prstGeom>
          <a:noFill/>
        </p:spPr>
        <p:txBody>
          <a:bodyPr wrap="square" rtlCol="0">
            <a:spAutoFit/>
          </a:bodyPr>
          <a:lstStyle/>
          <a:p>
            <a:pPr fontAlgn="base">
              <a:spcBef>
                <a:spcPct val="0"/>
              </a:spcBef>
              <a:spcAft>
                <a:spcPct val="0"/>
              </a:spcAft>
            </a:pPr>
            <a:r>
              <a:rPr lang="en-US" dirty="0">
                <a:solidFill>
                  <a:srgbClr val="000000"/>
                </a:solidFill>
              </a:rPr>
              <a:t>Read P </a:t>
            </a:r>
          </a:p>
          <a:p>
            <a:pPr fontAlgn="base">
              <a:spcBef>
                <a:spcPct val="0"/>
              </a:spcBef>
              <a:spcAft>
                <a:spcPct val="0"/>
              </a:spcAft>
            </a:pPr>
            <a:r>
              <a:rPr lang="en-US" dirty="0">
                <a:solidFill>
                  <a:srgbClr val="000000"/>
                </a:solidFill>
              </a:rPr>
              <a:t>Read Q </a:t>
            </a:r>
          </a:p>
          <a:p>
            <a:pPr fontAlgn="base">
              <a:spcBef>
                <a:spcPct val="0"/>
              </a:spcBef>
              <a:spcAft>
                <a:spcPct val="0"/>
              </a:spcAft>
            </a:pPr>
            <a:r>
              <a:rPr lang="en-US" dirty="0">
                <a:solidFill>
                  <a:srgbClr val="000000"/>
                </a:solidFill>
              </a:rPr>
              <a:t>IF P+Q &gt; 100 THEN </a:t>
            </a:r>
          </a:p>
          <a:p>
            <a:pPr fontAlgn="base">
              <a:spcBef>
                <a:spcPct val="0"/>
              </a:spcBef>
              <a:spcAft>
                <a:spcPct val="0"/>
              </a:spcAft>
            </a:pPr>
            <a:r>
              <a:rPr lang="en-US" dirty="0">
                <a:solidFill>
                  <a:srgbClr val="000000"/>
                </a:solidFill>
              </a:rPr>
              <a:t>Print “Large” </a:t>
            </a:r>
          </a:p>
          <a:p>
            <a:pPr fontAlgn="base">
              <a:spcBef>
                <a:spcPct val="0"/>
              </a:spcBef>
              <a:spcAft>
                <a:spcPct val="0"/>
              </a:spcAft>
            </a:pPr>
            <a:r>
              <a:rPr lang="en-US" dirty="0">
                <a:solidFill>
                  <a:srgbClr val="000000"/>
                </a:solidFill>
              </a:rPr>
              <a:t>ENDIF </a:t>
            </a:r>
          </a:p>
          <a:p>
            <a:pPr fontAlgn="base">
              <a:spcBef>
                <a:spcPct val="0"/>
              </a:spcBef>
              <a:spcAft>
                <a:spcPct val="0"/>
              </a:spcAft>
            </a:pPr>
            <a:r>
              <a:rPr lang="en-US" dirty="0">
                <a:solidFill>
                  <a:srgbClr val="000000"/>
                </a:solidFill>
              </a:rPr>
              <a:t>If P &gt; 50 THEN </a:t>
            </a:r>
          </a:p>
          <a:p>
            <a:pPr fontAlgn="base">
              <a:spcBef>
                <a:spcPct val="0"/>
              </a:spcBef>
              <a:spcAft>
                <a:spcPct val="0"/>
              </a:spcAft>
            </a:pPr>
            <a:r>
              <a:rPr lang="en-US" dirty="0">
                <a:solidFill>
                  <a:srgbClr val="000000"/>
                </a:solidFill>
              </a:rPr>
              <a:t>Print “P Large” </a:t>
            </a:r>
          </a:p>
          <a:p>
            <a:pPr fontAlgn="base">
              <a:spcBef>
                <a:spcPct val="0"/>
              </a:spcBef>
              <a:spcAft>
                <a:spcPct val="0"/>
              </a:spcAft>
            </a:pPr>
            <a:r>
              <a:rPr lang="en-US" dirty="0">
                <a:solidFill>
                  <a:srgbClr val="000000"/>
                </a:solidFill>
              </a:rPr>
              <a:t>ENDIF</a:t>
            </a:r>
          </a:p>
          <a:p>
            <a:pPr fontAlgn="base">
              <a:spcBef>
                <a:spcPct val="0"/>
              </a:spcBef>
              <a:spcAft>
                <a:spcPct val="0"/>
              </a:spcAft>
            </a:pPr>
            <a:endParaRPr lang="en-IE" dirty="0">
              <a:solidFill>
                <a:srgbClr val="000000"/>
              </a:solidFill>
            </a:endParaRPr>
          </a:p>
        </p:txBody>
      </p:sp>
      <p:sp>
        <p:nvSpPr>
          <p:cNvPr id="68" name="TextBox 67"/>
          <p:cNvSpPr txBox="1"/>
          <p:nvPr/>
        </p:nvSpPr>
        <p:spPr>
          <a:xfrm>
            <a:off x="2073944" y="4483868"/>
            <a:ext cx="9916645" cy="1477328"/>
          </a:xfrm>
          <a:prstGeom prst="rect">
            <a:avLst/>
          </a:prstGeom>
          <a:noFill/>
        </p:spPr>
        <p:txBody>
          <a:bodyPr wrap="square" rtlCol="0">
            <a:spAutoFit/>
          </a:bodyPr>
          <a:lstStyle/>
          <a:p>
            <a:pPr fontAlgn="base">
              <a:spcBef>
                <a:spcPct val="0"/>
              </a:spcBef>
              <a:spcAft>
                <a:spcPct val="0"/>
              </a:spcAft>
            </a:pPr>
            <a:r>
              <a:rPr lang="en-US" b="1" u="sng" dirty="0">
                <a:solidFill>
                  <a:srgbClr val="000000"/>
                </a:solidFill>
              </a:rPr>
              <a:t>Statement Testing:</a:t>
            </a:r>
          </a:p>
          <a:p>
            <a:pPr fontAlgn="base">
              <a:spcBef>
                <a:spcPct val="0"/>
              </a:spcBef>
              <a:spcAft>
                <a:spcPct val="0"/>
              </a:spcAft>
            </a:pPr>
            <a:r>
              <a:rPr lang="en-US" dirty="0">
                <a:solidFill>
                  <a:srgbClr val="000000"/>
                </a:solidFill>
              </a:rPr>
              <a:t>The test case(s) is / are executed in such a way that every statement  of the code is executed at least once.</a:t>
            </a:r>
          </a:p>
          <a:p>
            <a:pPr fontAlgn="base">
              <a:spcBef>
                <a:spcPct val="0"/>
              </a:spcBef>
              <a:spcAft>
                <a:spcPct val="0"/>
              </a:spcAft>
            </a:pPr>
            <a:endParaRPr lang="en-US" dirty="0">
              <a:solidFill>
                <a:srgbClr val="000000"/>
              </a:solidFill>
            </a:endParaRPr>
          </a:p>
          <a:p>
            <a:pPr fontAlgn="base">
              <a:spcBef>
                <a:spcPct val="0"/>
              </a:spcBef>
              <a:spcAft>
                <a:spcPct val="0"/>
              </a:spcAft>
            </a:pPr>
            <a:endParaRPr lang="en-IE" dirty="0">
              <a:solidFill>
                <a:srgbClr val="000000"/>
              </a:solidFill>
            </a:endParaRPr>
          </a:p>
        </p:txBody>
      </p:sp>
      <p:sp>
        <p:nvSpPr>
          <p:cNvPr id="71" name="TextBox 70"/>
          <p:cNvSpPr txBox="1"/>
          <p:nvPr/>
        </p:nvSpPr>
        <p:spPr>
          <a:xfrm>
            <a:off x="2073944" y="5710417"/>
            <a:ext cx="9367197" cy="646331"/>
          </a:xfrm>
          <a:prstGeom prst="rect">
            <a:avLst/>
          </a:prstGeom>
          <a:noFill/>
        </p:spPr>
        <p:txBody>
          <a:bodyPr wrap="square" rtlCol="0">
            <a:spAutoFit/>
          </a:bodyPr>
          <a:lstStyle/>
          <a:p>
            <a:pPr fontAlgn="base">
              <a:spcBef>
                <a:spcPct val="0"/>
              </a:spcBef>
              <a:spcAft>
                <a:spcPct val="0"/>
              </a:spcAft>
            </a:pPr>
            <a:r>
              <a:rPr lang="en-US" dirty="0">
                <a:solidFill>
                  <a:srgbClr val="000000"/>
                </a:solidFill>
              </a:rPr>
              <a:t>If a single path can execute all statements then choose this one – the most cost effective from a statement testing perspective.. </a:t>
            </a:r>
            <a:endParaRPr lang="en-IE" dirty="0">
              <a:solidFill>
                <a:srgbClr val="000000"/>
              </a:solidFill>
            </a:endParaRPr>
          </a:p>
        </p:txBody>
      </p:sp>
    </p:spTree>
    <p:extLst>
      <p:ext uri="{BB962C8B-B14F-4D97-AF65-F5344CB8AC3E}">
        <p14:creationId xmlns:p14="http://schemas.microsoft.com/office/powerpoint/2010/main" val="362674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7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r>
              <a:rPr lang="en-US" dirty="0"/>
              <a:t>Pencils to the ready… </a:t>
            </a:r>
          </a:p>
        </p:txBody>
      </p:sp>
      <p:sp>
        <p:nvSpPr>
          <p:cNvPr id="4" name="Rectangle 3"/>
          <p:cNvSpPr/>
          <p:nvPr/>
        </p:nvSpPr>
        <p:spPr>
          <a:xfrm>
            <a:off x="5512292" y="1832248"/>
            <a:ext cx="18002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r>
              <a:rPr lang="en-GB" sz="1000" dirty="0">
                <a:solidFill>
                  <a:srgbClr val="000000"/>
                </a:solidFill>
              </a:rPr>
              <a:t>Read P</a:t>
            </a:r>
          </a:p>
          <a:p>
            <a:pPr algn="ctr" fontAlgn="base">
              <a:spcBef>
                <a:spcPct val="0"/>
              </a:spcBef>
              <a:spcAft>
                <a:spcPct val="0"/>
              </a:spcAft>
            </a:pPr>
            <a:r>
              <a:rPr lang="en-GB" sz="1000" dirty="0">
                <a:solidFill>
                  <a:srgbClr val="000000"/>
                </a:solidFill>
              </a:rPr>
              <a:t>Read Q</a:t>
            </a:r>
            <a:endParaRPr lang="en-IE" sz="1000" dirty="0">
              <a:solidFill>
                <a:srgbClr val="000000"/>
              </a:solidFill>
            </a:endParaRPr>
          </a:p>
        </p:txBody>
      </p:sp>
      <p:sp>
        <p:nvSpPr>
          <p:cNvPr id="5" name="Flowchart: Connector 4"/>
          <p:cNvSpPr/>
          <p:nvPr/>
        </p:nvSpPr>
        <p:spPr>
          <a:xfrm>
            <a:off x="6298092" y="6253411"/>
            <a:ext cx="228600" cy="228600"/>
          </a:xfrm>
          <a:prstGeom prst="flowChartConnector">
            <a:avLst/>
          </a:prstGeom>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IE" sz="1000">
              <a:solidFill>
                <a:srgbClr val="FFFFFF"/>
              </a:solidFill>
            </a:endParaRPr>
          </a:p>
        </p:txBody>
      </p:sp>
      <p:sp>
        <p:nvSpPr>
          <p:cNvPr id="10" name="Flowchart: Connector 9"/>
          <p:cNvSpPr/>
          <p:nvPr/>
        </p:nvSpPr>
        <p:spPr>
          <a:xfrm>
            <a:off x="6298092" y="4308134"/>
            <a:ext cx="228600" cy="228600"/>
          </a:xfrm>
          <a:prstGeom prst="flowChartConnector">
            <a:avLst/>
          </a:prstGeom>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IE" sz="1000">
              <a:solidFill>
                <a:srgbClr val="FFFFFF"/>
              </a:solidFill>
            </a:endParaRPr>
          </a:p>
        </p:txBody>
      </p:sp>
      <p:sp>
        <p:nvSpPr>
          <p:cNvPr id="6" name="Flowchart: Decision 5"/>
          <p:cNvSpPr/>
          <p:nvPr/>
        </p:nvSpPr>
        <p:spPr>
          <a:xfrm>
            <a:off x="5656308" y="2651019"/>
            <a:ext cx="1512168" cy="710675"/>
          </a:xfrm>
          <a:prstGeom prst="flowChartDecisi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r>
              <a:rPr lang="en-GB" sz="1000" dirty="0">
                <a:solidFill>
                  <a:srgbClr val="000000"/>
                </a:solidFill>
              </a:rPr>
              <a:t>P+Q&gt;100</a:t>
            </a:r>
            <a:endParaRPr lang="en-IE" sz="1000" dirty="0">
              <a:solidFill>
                <a:srgbClr val="000000"/>
              </a:solidFill>
            </a:endParaRPr>
          </a:p>
        </p:txBody>
      </p:sp>
      <p:sp>
        <p:nvSpPr>
          <p:cNvPr id="13" name="Rectangle 12"/>
          <p:cNvSpPr/>
          <p:nvPr/>
        </p:nvSpPr>
        <p:spPr>
          <a:xfrm>
            <a:off x="8184232" y="3361693"/>
            <a:ext cx="18002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r>
              <a:rPr lang="en-GB" sz="1000" dirty="0">
                <a:solidFill>
                  <a:srgbClr val="000000"/>
                </a:solidFill>
              </a:rPr>
              <a:t>Print “Large”</a:t>
            </a:r>
          </a:p>
        </p:txBody>
      </p:sp>
      <p:sp>
        <p:nvSpPr>
          <p:cNvPr id="14" name="Rectangle 13"/>
          <p:cNvSpPr/>
          <p:nvPr/>
        </p:nvSpPr>
        <p:spPr>
          <a:xfrm>
            <a:off x="8328248" y="5564088"/>
            <a:ext cx="18002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r>
              <a:rPr lang="en-GB" sz="1000" dirty="0">
                <a:solidFill>
                  <a:srgbClr val="000000"/>
                </a:solidFill>
              </a:rPr>
              <a:t>Print “P Large”</a:t>
            </a:r>
            <a:endParaRPr lang="en-IE" sz="1000" dirty="0">
              <a:solidFill>
                <a:srgbClr val="000000"/>
              </a:solidFill>
            </a:endParaRPr>
          </a:p>
        </p:txBody>
      </p:sp>
      <p:sp>
        <p:nvSpPr>
          <p:cNvPr id="15" name="Flowchart: Decision 14"/>
          <p:cNvSpPr/>
          <p:nvPr/>
        </p:nvSpPr>
        <p:spPr>
          <a:xfrm>
            <a:off x="5656308" y="4806558"/>
            <a:ext cx="1512168" cy="710675"/>
          </a:xfrm>
          <a:prstGeom prst="flowChartDecisi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r>
              <a:rPr lang="en-GB" sz="1000" dirty="0">
                <a:solidFill>
                  <a:srgbClr val="000000"/>
                </a:solidFill>
              </a:rPr>
              <a:t>P&gt;50</a:t>
            </a:r>
            <a:endParaRPr lang="en-IE" sz="1000" dirty="0">
              <a:solidFill>
                <a:srgbClr val="000000"/>
              </a:solidFill>
            </a:endParaRPr>
          </a:p>
        </p:txBody>
      </p:sp>
      <p:sp>
        <p:nvSpPr>
          <p:cNvPr id="9" name="TextBox 8"/>
          <p:cNvSpPr txBox="1"/>
          <p:nvPr/>
        </p:nvSpPr>
        <p:spPr>
          <a:xfrm>
            <a:off x="2999656" y="1832248"/>
            <a:ext cx="1656184" cy="1477328"/>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Read P </a:t>
            </a:r>
          </a:p>
          <a:p>
            <a:pPr fontAlgn="base">
              <a:spcBef>
                <a:spcPct val="0"/>
              </a:spcBef>
              <a:spcAft>
                <a:spcPct val="0"/>
              </a:spcAft>
            </a:pPr>
            <a:r>
              <a:rPr lang="en-US" sz="1000" dirty="0">
                <a:solidFill>
                  <a:srgbClr val="000000"/>
                </a:solidFill>
              </a:rPr>
              <a:t>Read Q </a:t>
            </a:r>
          </a:p>
          <a:p>
            <a:pPr fontAlgn="base">
              <a:spcBef>
                <a:spcPct val="0"/>
              </a:spcBef>
              <a:spcAft>
                <a:spcPct val="0"/>
              </a:spcAft>
            </a:pPr>
            <a:r>
              <a:rPr lang="en-US" sz="1000" dirty="0">
                <a:solidFill>
                  <a:srgbClr val="000000"/>
                </a:solidFill>
              </a:rPr>
              <a:t>IF P+Q &gt; 100 THEN </a:t>
            </a:r>
          </a:p>
          <a:p>
            <a:pPr fontAlgn="base">
              <a:spcBef>
                <a:spcPct val="0"/>
              </a:spcBef>
              <a:spcAft>
                <a:spcPct val="0"/>
              </a:spcAft>
            </a:pPr>
            <a:r>
              <a:rPr lang="en-US" sz="1000" dirty="0">
                <a:solidFill>
                  <a:srgbClr val="000000"/>
                </a:solidFill>
              </a:rPr>
              <a:t>Print “Large” </a:t>
            </a:r>
          </a:p>
          <a:p>
            <a:pPr fontAlgn="base">
              <a:spcBef>
                <a:spcPct val="0"/>
              </a:spcBef>
              <a:spcAft>
                <a:spcPct val="0"/>
              </a:spcAft>
            </a:pPr>
            <a:r>
              <a:rPr lang="en-US" sz="1000" dirty="0">
                <a:solidFill>
                  <a:srgbClr val="000000"/>
                </a:solidFill>
              </a:rPr>
              <a:t>ENDIF </a:t>
            </a:r>
          </a:p>
          <a:p>
            <a:pPr fontAlgn="base">
              <a:spcBef>
                <a:spcPct val="0"/>
              </a:spcBef>
              <a:spcAft>
                <a:spcPct val="0"/>
              </a:spcAft>
            </a:pPr>
            <a:r>
              <a:rPr lang="en-US" sz="1000" dirty="0">
                <a:solidFill>
                  <a:srgbClr val="000000"/>
                </a:solidFill>
              </a:rPr>
              <a:t>If P &gt; 50 THEN </a:t>
            </a:r>
          </a:p>
          <a:p>
            <a:pPr fontAlgn="base">
              <a:spcBef>
                <a:spcPct val="0"/>
              </a:spcBef>
              <a:spcAft>
                <a:spcPct val="0"/>
              </a:spcAft>
            </a:pPr>
            <a:r>
              <a:rPr lang="en-US" sz="1000" dirty="0">
                <a:solidFill>
                  <a:srgbClr val="000000"/>
                </a:solidFill>
              </a:rPr>
              <a:t>Print “P Large” </a:t>
            </a:r>
          </a:p>
          <a:p>
            <a:pPr fontAlgn="base">
              <a:spcBef>
                <a:spcPct val="0"/>
              </a:spcBef>
              <a:spcAft>
                <a:spcPct val="0"/>
              </a:spcAft>
            </a:pPr>
            <a:r>
              <a:rPr lang="en-US" sz="1000" dirty="0">
                <a:solidFill>
                  <a:srgbClr val="000000"/>
                </a:solidFill>
              </a:rPr>
              <a:t>ENDIF</a:t>
            </a:r>
          </a:p>
          <a:p>
            <a:pPr fontAlgn="base">
              <a:spcBef>
                <a:spcPct val="0"/>
              </a:spcBef>
              <a:spcAft>
                <a:spcPct val="0"/>
              </a:spcAft>
            </a:pPr>
            <a:endParaRPr lang="en-IE" sz="1000" dirty="0">
              <a:solidFill>
                <a:srgbClr val="000000"/>
              </a:solidFill>
            </a:endParaRPr>
          </a:p>
        </p:txBody>
      </p:sp>
      <p:cxnSp>
        <p:nvCxnSpPr>
          <p:cNvPr id="19" name="Straight Arrow Connector 18"/>
          <p:cNvCxnSpPr>
            <a:stCxn id="13" idx="2"/>
            <a:endCxn id="10" idx="6"/>
          </p:cNvCxnSpPr>
          <p:nvPr/>
        </p:nvCxnSpPr>
        <p:spPr>
          <a:xfrm flipH="1">
            <a:off x="6526692" y="3818894"/>
            <a:ext cx="2557640" cy="603541"/>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stCxn id="4" idx="2"/>
            <a:endCxn id="6" idx="0"/>
          </p:cNvCxnSpPr>
          <p:nvPr/>
        </p:nvCxnSpPr>
        <p:spPr>
          <a:xfrm>
            <a:off x="6412392" y="2289448"/>
            <a:ext cx="0" cy="36157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a:stCxn id="6" idx="3"/>
            <a:endCxn id="13" idx="0"/>
          </p:cNvCxnSpPr>
          <p:nvPr/>
        </p:nvCxnSpPr>
        <p:spPr>
          <a:xfrm>
            <a:off x="7168476" y="3006357"/>
            <a:ext cx="1915856" cy="35533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6" idx="2"/>
            <a:endCxn id="10" idx="0"/>
          </p:cNvCxnSpPr>
          <p:nvPr/>
        </p:nvCxnSpPr>
        <p:spPr>
          <a:xfrm>
            <a:off x="6412392" y="3361694"/>
            <a:ext cx="0" cy="946441"/>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0" idx="4"/>
            <a:endCxn id="15" idx="0"/>
          </p:cNvCxnSpPr>
          <p:nvPr/>
        </p:nvCxnSpPr>
        <p:spPr>
          <a:xfrm>
            <a:off x="6412392" y="4536735"/>
            <a:ext cx="0" cy="26982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5" idx="3"/>
            <a:endCxn id="14" idx="0"/>
          </p:cNvCxnSpPr>
          <p:nvPr/>
        </p:nvCxnSpPr>
        <p:spPr>
          <a:xfrm>
            <a:off x="7168476" y="5161896"/>
            <a:ext cx="2059872" cy="40219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15" idx="2"/>
            <a:endCxn id="5" idx="0"/>
          </p:cNvCxnSpPr>
          <p:nvPr/>
        </p:nvCxnSpPr>
        <p:spPr>
          <a:xfrm>
            <a:off x="6412392" y="5517233"/>
            <a:ext cx="0" cy="736179"/>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a:stCxn id="14" idx="2"/>
            <a:endCxn id="5" idx="6"/>
          </p:cNvCxnSpPr>
          <p:nvPr/>
        </p:nvCxnSpPr>
        <p:spPr>
          <a:xfrm flipH="1">
            <a:off x="6526692" y="6021289"/>
            <a:ext cx="2701656" cy="34642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418680" y="3588693"/>
            <a:ext cx="216024"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B</a:t>
            </a:r>
            <a:endParaRPr lang="en-IE" sz="1000" dirty="0">
              <a:solidFill>
                <a:srgbClr val="000000"/>
              </a:solidFill>
            </a:endParaRPr>
          </a:p>
        </p:txBody>
      </p:sp>
      <p:grpSp>
        <p:nvGrpSpPr>
          <p:cNvPr id="47" name="Group 46"/>
          <p:cNvGrpSpPr/>
          <p:nvPr/>
        </p:nvGrpSpPr>
        <p:grpSpPr>
          <a:xfrm>
            <a:off x="6744073" y="1946121"/>
            <a:ext cx="3925391" cy="4154344"/>
            <a:chOff x="5220072" y="1946121"/>
            <a:chExt cx="3925391" cy="4154344"/>
          </a:xfrm>
        </p:grpSpPr>
        <p:sp>
          <p:nvSpPr>
            <p:cNvPr id="49" name="TextBox 48"/>
            <p:cNvSpPr txBox="1"/>
            <p:nvPr/>
          </p:nvSpPr>
          <p:spPr>
            <a:xfrm>
              <a:off x="5868144" y="1946121"/>
              <a:ext cx="1836204"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Statement Block 1</a:t>
              </a:r>
              <a:endParaRPr lang="en-IE" sz="1000" dirty="0">
                <a:solidFill>
                  <a:srgbClr val="000000"/>
                </a:solidFill>
              </a:endParaRPr>
            </a:p>
          </p:txBody>
        </p:sp>
        <p:sp>
          <p:nvSpPr>
            <p:cNvPr id="51" name="TextBox 50"/>
            <p:cNvSpPr txBox="1"/>
            <p:nvPr/>
          </p:nvSpPr>
          <p:spPr>
            <a:xfrm>
              <a:off x="8604448" y="5546467"/>
              <a:ext cx="539552" cy="553998"/>
            </a:xfrm>
            <a:prstGeom prst="rect">
              <a:avLst/>
            </a:prstGeom>
            <a:noFill/>
          </p:spPr>
          <p:txBody>
            <a:bodyPr wrap="square" rtlCol="0">
              <a:spAutoFit/>
            </a:bodyPr>
            <a:lstStyle/>
            <a:p>
              <a:pPr fontAlgn="base">
                <a:spcBef>
                  <a:spcPct val="0"/>
                </a:spcBef>
                <a:spcAft>
                  <a:spcPct val="0"/>
                </a:spcAft>
              </a:pPr>
              <a:r>
                <a:rPr lang="en-GB" sz="1000" dirty="0">
                  <a:solidFill>
                    <a:srgbClr val="000000"/>
                  </a:solidFill>
                </a:rPr>
                <a:t>St Block 5</a:t>
              </a:r>
              <a:endParaRPr lang="en-IE" sz="1000" dirty="0">
                <a:solidFill>
                  <a:srgbClr val="000000"/>
                </a:solidFill>
              </a:endParaRPr>
            </a:p>
          </p:txBody>
        </p:sp>
        <p:sp>
          <p:nvSpPr>
            <p:cNvPr id="52" name="TextBox 51"/>
            <p:cNvSpPr txBox="1"/>
            <p:nvPr/>
          </p:nvSpPr>
          <p:spPr>
            <a:xfrm>
              <a:off x="5328084" y="4806557"/>
              <a:ext cx="1908212" cy="246221"/>
            </a:xfrm>
            <a:prstGeom prst="rect">
              <a:avLst/>
            </a:prstGeom>
            <a:noFill/>
          </p:spPr>
          <p:txBody>
            <a:bodyPr wrap="square" rtlCol="0">
              <a:spAutoFit/>
            </a:bodyPr>
            <a:lstStyle/>
            <a:p>
              <a:pPr fontAlgn="base">
                <a:spcBef>
                  <a:spcPct val="0"/>
                </a:spcBef>
                <a:spcAft>
                  <a:spcPct val="0"/>
                </a:spcAft>
              </a:pPr>
              <a:r>
                <a:rPr lang="en-GB" sz="1000" dirty="0">
                  <a:solidFill>
                    <a:srgbClr val="000000"/>
                  </a:solidFill>
                </a:rPr>
                <a:t>St Block 4</a:t>
              </a:r>
              <a:endParaRPr lang="en-IE" sz="1000" dirty="0">
                <a:solidFill>
                  <a:srgbClr val="000000"/>
                </a:solidFill>
              </a:endParaRPr>
            </a:p>
          </p:txBody>
        </p:sp>
        <p:sp>
          <p:nvSpPr>
            <p:cNvPr id="53" name="TextBox 52"/>
            <p:cNvSpPr txBox="1"/>
            <p:nvPr/>
          </p:nvSpPr>
          <p:spPr>
            <a:xfrm>
              <a:off x="8497899" y="3409340"/>
              <a:ext cx="647564" cy="400110"/>
            </a:xfrm>
            <a:prstGeom prst="rect">
              <a:avLst/>
            </a:prstGeom>
            <a:noFill/>
          </p:spPr>
          <p:txBody>
            <a:bodyPr wrap="square" rtlCol="0">
              <a:spAutoFit/>
            </a:bodyPr>
            <a:lstStyle/>
            <a:p>
              <a:pPr fontAlgn="base">
                <a:spcBef>
                  <a:spcPct val="0"/>
                </a:spcBef>
                <a:spcAft>
                  <a:spcPct val="0"/>
                </a:spcAft>
              </a:pPr>
              <a:r>
                <a:rPr lang="en-GB" sz="1000" dirty="0">
                  <a:solidFill>
                    <a:srgbClr val="000000"/>
                  </a:solidFill>
                </a:rPr>
                <a:t>St Block 3</a:t>
              </a:r>
              <a:endParaRPr lang="en-IE" sz="1000" dirty="0">
                <a:solidFill>
                  <a:srgbClr val="000000"/>
                </a:solidFill>
              </a:endParaRPr>
            </a:p>
          </p:txBody>
        </p:sp>
        <p:sp>
          <p:nvSpPr>
            <p:cNvPr id="54" name="TextBox 53"/>
            <p:cNvSpPr txBox="1"/>
            <p:nvPr/>
          </p:nvSpPr>
          <p:spPr>
            <a:xfrm>
              <a:off x="5220072" y="2620253"/>
              <a:ext cx="792076" cy="246221"/>
            </a:xfrm>
            <a:prstGeom prst="rect">
              <a:avLst/>
            </a:prstGeom>
            <a:noFill/>
          </p:spPr>
          <p:txBody>
            <a:bodyPr wrap="square" rtlCol="0">
              <a:spAutoFit/>
            </a:bodyPr>
            <a:lstStyle/>
            <a:p>
              <a:pPr fontAlgn="base">
                <a:spcBef>
                  <a:spcPct val="0"/>
                </a:spcBef>
                <a:spcAft>
                  <a:spcPct val="0"/>
                </a:spcAft>
              </a:pPr>
              <a:r>
                <a:rPr lang="en-GB" sz="1000" dirty="0">
                  <a:solidFill>
                    <a:srgbClr val="000000"/>
                  </a:solidFill>
                </a:rPr>
                <a:t>St Block 2</a:t>
              </a:r>
              <a:endParaRPr lang="en-IE" sz="1000" dirty="0">
                <a:solidFill>
                  <a:srgbClr val="000000"/>
                </a:solidFill>
              </a:endParaRPr>
            </a:p>
          </p:txBody>
        </p:sp>
      </p:grpSp>
      <p:sp>
        <p:nvSpPr>
          <p:cNvPr id="55" name="TextBox 54"/>
          <p:cNvSpPr txBox="1"/>
          <p:nvPr/>
        </p:nvSpPr>
        <p:spPr>
          <a:xfrm>
            <a:off x="6418680" y="2343875"/>
            <a:ext cx="216024"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A</a:t>
            </a:r>
            <a:endParaRPr lang="en-IE" sz="1000" dirty="0">
              <a:solidFill>
                <a:srgbClr val="000000"/>
              </a:solidFill>
            </a:endParaRPr>
          </a:p>
        </p:txBody>
      </p:sp>
      <p:sp>
        <p:nvSpPr>
          <p:cNvPr id="56" name="TextBox 55"/>
          <p:cNvSpPr txBox="1"/>
          <p:nvPr/>
        </p:nvSpPr>
        <p:spPr>
          <a:xfrm>
            <a:off x="7901798" y="2889812"/>
            <a:ext cx="216024"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C</a:t>
            </a:r>
            <a:endParaRPr lang="en-IE" sz="1000" dirty="0">
              <a:solidFill>
                <a:srgbClr val="000000"/>
              </a:solidFill>
            </a:endParaRPr>
          </a:p>
        </p:txBody>
      </p:sp>
      <p:sp>
        <p:nvSpPr>
          <p:cNvPr id="57" name="TextBox 56"/>
          <p:cNvSpPr txBox="1"/>
          <p:nvPr/>
        </p:nvSpPr>
        <p:spPr>
          <a:xfrm>
            <a:off x="7685774" y="4120664"/>
            <a:ext cx="216024"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D</a:t>
            </a:r>
            <a:endParaRPr lang="en-IE" sz="1000" dirty="0">
              <a:solidFill>
                <a:srgbClr val="000000"/>
              </a:solidFill>
            </a:endParaRPr>
          </a:p>
        </p:txBody>
      </p:sp>
      <p:sp>
        <p:nvSpPr>
          <p:cNvPr id="58" name="TextBox 57"/>
          <p:cNvSpPr txBox="1"/>
          <p:nvPr/>
        </p:nvSpPr>
        <p:spPr>
          <a:xfrm>
            <a:off x="6425452" y="4528088"/>
            <a:ext cx="216024"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E</a:t>
            </a:r>
            <a:endParaRPr lang="en-IE" sz="1000" dirty="0">
              <a:solidFill>
                <a:srgbClr val="000000"/>
              </a:solidFill>
            </a:endParaRPr>
          </a:p>
        </p:txBody>
      </p:sp>
      <p:sp>
        <p:nvSpPr>
          <p:cNvPr id="59" name="TextBox 58"/>
          <p:cNvSpPr txBox="1"/>
          <p:nvPr/>
        </p:nvSpPr>
        <p:spPr>
          <a:xfrm>
            <a:off x="7536148" y="5985844"/>
            <a:ext cx="216024"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H</a:t>
            </a:r>
            <a:endParaRPr lang="en-IE" sz="1000" dirty="0">
              <a:solidFill>
                <a:srgbClr val="000000"/>
              </a:solidFill>
            </a:endParaRPr>
          </a:p>
        </p:txBody>
      </p:sp>
      <p:sp>
        <p:nvSpPr>
          <p:cNvPr id="60" name="TextBox 59"/>
          <p:cNvSpPr txBox="1"/>
          <p:nvPr/>
        </p:nvSpPr>
        <p:spPr>
          <a:xfrm>
            <a:off x="7901798" y="5114474"/>
            <a:ext cx="216024"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G</a:t>
            </a:r>
            <a:endParaRPr lang="en-IE" sz="1000" dirty="0">
              <a:solidFill>
                <a:srgbClr val="000000"/>
              </a:solidFill>
            </a:endParaRPr>
          </a:p>
        </p:txBody>
      </p:sp>
      <p:sp>
        <p:nvSpPr>
          <p:cNvPr id="61" name="TextBox 60"/>
          <p:cNvSpPr txBox="1"/>
          <p:nvPr/>
        </p:nvSpPr>
        <p:spPr>
          <a:xfrm>
            <a:off x="6412392" y="5669578"/>
            <a:ext cx="216024"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F</a:t>
            </a:r>
            <a:endParaRPr lang="en-IE" sz="1000" dirty="0">
              <a:solidFill>
                <a:srgbClr val="000000"/>
              </a:solidFill>
            </a:endParaRPr>
          </a:p>
        </p:txBody>
      </p:sp>
      <p:sp>
        <p:nvSpPr>
          <p:cNvPr id="62" name="TextBox 61"/>
          <p:cNvSpPr txBox="1"/>
          <p:nvPr/>
        </p:nvSpPr>
        <p:spPr>
          <a:xfrm>
            <a:off x="5657102" y="4316240"/>
            <a:ext cx="648072"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ENDIF</a:t>
            </a:r>
          </a:p>
        </p:txBody>
      </p:sp>
      <p:sp>
        <p:nvSpPr>
          <p:cNvPr id="63" name="TextBox 62"/>
          <p:cNvSpPr txBox="1"/>
          <p:nvPr/>
        </p:nvSpPr>
        <p:spPr>
          <a:xfrm>
            <a:off x="5650020" y="6262922"/>
            <a:ext cx="648072"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ENDIF</a:t>
            </a:r>
          </a:p>
        </p:txBody>
      </p:sp>
      <p:sp>
        <p:nvSpPr>
          <p:cNvPr id="64" name="TextBox 63"/>
          <p:cNvSpPr txBox="1"/>
          <p:nvPr/>
        </p:nvSpPr>
        <p:spPr>
          <a:xfrm>
            <a:off x="6089158" y="3429001"/>
            <a:ext cx="424772"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No</a:t>
            </a:r>
          </a:p>
        </p:txBody>
      </p:sp>
      <p:sp>
        <p:nvSpPr>
          <p:cNvPr id="65" name="TextBox 64"/>
          <p:cNvSpPr txBox="1"/>
          <p:nvPr/>
        </p:nvSpPr>
        <p:spPr>
          <a:xfrm>
            <a:off x="6085706" y="5546468"/>
            <a:ext cx="424772"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No</a:t>
            </a:r>
          </a:p>
        </p:txBody>
      </p:sp>
      <p:sp>
        <p:nvSpPr>
          <p:cNvPr id="66" name="TextBox 65"/>
          <p:cNvSpPr txBox="1"/>
          <p:nvPr/>
        </p:nvSpPr>
        <p:spPr>
          <a:xfrm>
            <a:off x="7392144" y="2866475"/>
            <a:ext cx="424772"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Yes</a:t>
            </a:r>
          </a:p>
        </p:txBody>
      </p:sp>
      <p:sp>
        <p:nvSpPr>
          <p:cNvPr id="67" name="TextBox 66"/>
          <p:cNvSpPr txBox="1"/>
          <p:nvPr/>
        </p:nvSpPr>
        <p:spPr>
          <a:xfrm>
            <a:off x="7408364" y="5038784"/>
            <a:ext cx="424772" cy="246221"/>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Yes</a:t>
            </a:r>
          </a:p>
        </p:txBody>
      </p:sp>
      <p:sp>
        <p:nvSpPr>
          <p:cNvPr id="68" name="TextBox 67"/>
          <p:cNvSpPr txBox="1"/>
          <p:nvPr/>
        </p:nvSpPr>
        <p:spPr>
          <a:xfrm>
            <a:off x="2073946" y="3569471"/>
            <a:ext cx="2448272" cy="1015663"/>
          </a:xfrm>
          <a:prstGeom prst="rect">
            <a:avLst/>
          </a:prstGeom>
          <a:noFill/>
        </p:spPr>
        <p:txBody>
          <a:bodyPr wrap="square" rtlCol="0">
            <a:spAutoFit/>
          </a:bodyPr>
          <a:lstStyle/>
          <a:p>
            <a:pPr fontAlgn="base">
              <a:spcBef>
                <a:spcPct val="0"/>
              </a:spcBef>
              <a:spcAft>
                <a:spcPct val="0"/>
              </a:spcAft>
            </a:pPr>
            <a:r>
              <a:rPr lang="en-US" sz="1000" b="1" u="sng" dirty="0">
                <a:solidFill>
                  <a:srgbClr val="000000"/>
                </a:solidFill>
              </a:rPr>
              <a:t>Statement Testing:</a:t>
            </a:r>
          </a:p>
          <a:p>
            <a:pPr fontAlgn="base">
              <a:spcBef>
                <a:spcPct val="0"/>
              </a:spcBef>
              <a:spcAft>
                <a:spcPct val="0"/>
              </a:spcAft>
            </a:pPr>
            <a:r>
              <a:rPr lang="en-US" sz="1000" dirty="0">
                <a:solidFill>
                  <a:srgbClr val="000000"/>
                </a:solidFill>
              </a:rPr>
              <a:t>The test case(s) is / are executed in such a way that every statement  of the code is executed at least once.</a:t>
            </a:r>
          </a:p>
          <a:p>
            <a:pPr fontAlgn="base">
              <a:spcBef>
                <a:spcPct val="0"/>
              </a:spcBef>
              <a:spcAft>
                <a:spcPct val="0"/>
              </a:spcAft>
            </a:pPr>
            <a:endParaRPr lang="en-US" sz="1000" dirty="0">
              <a:solidFill>
                <a:srgbClr val="000000"/>
              </a:solidFill>
            </a:endParaRPr>
          </a:p>
          <a:p>
            <a:pPr fontAlgn="base">
              <a:spcBef>
                <a:spcPct val="0"/>
              </a:spcBef>
              <a:spcAft>
                <a:spcPct val="0"/>
              </a:spcAft>
            </a:pPr>
            <a:endParaRPr lang="en-IE" sz="1000" dirty="0">
              <a:solidFill>
                <a:srgbClr val="000000"/>
              </a:solidFill>
            </a:endParaRPr>
          </a:p>
        </p:txBody>
      </p:sp>
      <p:sp>
        <p:nvSpPr>
          <p:cNvPr id="69" name="TextBox 68"/>
          <p:cNvSpPr txBox="1"/>
          <p:nvPr/>
        </p:nvSpPr>
        <p:spPr>
          <a:xfrm>
            <a:off x="2073946" y="5038783"/>
            <a:ext cx="2448272" cy="400110"/>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Here by traversing through path </a:t>
            </a:r>
            <a:r>
              <a:rPr lang="en-US" sz="1000" dirty="0">
                <a:solidFill>
                  <a:srgbClr val="FF0000"/>
                </a:solidFill>
              </a:rPr>
              <a:t>1A-2C-3D-E-4G-5H</a:t>
            </a:r>
            <a:r>
              <a:rPr lang="en-US" sz="1000" dirty="0">
                <a:solidFill>
                  <a:srgbClr val="000000"/>
                </a:solidFill>
              </a:rPr>
              <a:t> all the nodes are covered. </a:t>
            </a:r>
            <a:endParaRPr lang="en-IE" sz="1000" dirty="0">
              <a:solidFill>
                <a:srgbClr val="000000"/>
              </a:solidFill>
            </a:endParaRPr>
          </a:p>
        </p:txBody>
      </p:sp>
      <p:sp>
        <p:nvSpPr>
          <p:cNvPr id="71" name="TextBox 70"/>
          <p:cNvSpPr txBox="1"/>
          <p:nvPr/>
        </p:nvSpPr>
        <p:spPr>
          <a:xfrm>
            <a:off x="2073946" y="4297254"/>
            <a:ext cx="2448272" cy="707886"/>
          </a:xfrm>
          <a:prstGeom prst="rect">
            <a:avLst/>
          </a:prstGeom>
          <a:noFill/>
        </p:spPr>
        <p:txBody>
          <a:bodyPr wrap="square" rtlCol="0">
            <a:spAutoFit/>
          </a:bodyPr>
          <a:lstStyle/>
          <a:p>
            <a:pPr fontAlgn="base">
              <a:spcBef>
                <a:spcPct val="0"/>
              </a:spcBef>
              <a:spcAft>
                <a:spcPct val="0"/>
              </a:spcAft>
            </a:pPr>
            <a:r>
              <a:rPr lang="en-US" sz="1000" dirty="0">
                <a:solidFill>
                  <a:srgbClr val="000000"/>
                </a:solidFill>
              </a:rPr>
              <a:t>If a single path can execute all statements then choose this one – the most cost effective from a statement testing perspective.. </a:t>
            </a:r>
            <a:endParaRPr lang="en-IE" sz="1000" dirty="0">
              <a:solidFill>
                <a:srgbClr val="000000"/>
              </a:solidFill>
            </a:endParaRPr>
          </a:p>
        </p:txBody>
      </p:sp>
      <p:grpSp>
        <p:nvGrpSpPr>
          <p:cNvPr id="80" name="Group 79"/>
          <p:cNvGrpSpPr/>
          <p:nvPr/>
        </p:nvGrpSpPr>
        <p:grpSpPr>
          <a:xfrm>
            <a:off x="6533464" y="2343875"/>
            <a:ext cx="1648060" cy="3873139"/>
            <a:chOff x="5009464" y="2343874"/>
            <a:chExt cx="1648060" cy="3873139"/>
          </a:xfrm>
        </p:grpSpPr>
        <p:cxnSp>
          <p:nvCxnSpPr>
            <p:cNvPr id="70" name="Straight Arrow Connector 69"/>
            <p:cNvCxnSpPr>
              <a:endCxn id="54" idx="1"/>
            </p:cNvCxnSpPr>
            <p:nvPr/>
          </p:nvCxnSpPr>
          <p:spPr>
            <a:xfrm>
              <a:off x="5220072" y="2343874"/>
              <a:ext cx="0" cy="39949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a:off x="5616110" y="3190803"/>
              <a:ext cx="869700" cy="238197"/>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H="1">
              <a:off x="5009464" y="3834913"/>
              <a:ext cx="1584358" cy="46234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79" name="Straight Arrow Connector 78"/>
            <p:cNvCxnSpPr/>
            <p:nvPr/>
          </p:nvCxnSpPr>
          <p:spPr>
            <a:xfrm>
              <a:off x="5220072" y="4562460"/>
              <a:ext cx="0" cy="367207"/>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82" name="Straight Arrow Connector 81"/>
            <p:cNvCxnSpPr/>
            <p:nvPr/>
          </p:nvCxnSpPr>
          <p:spPr>
            <a:xfrm>
              <a:off x="5637033" y="5427368"/>
              <a:ext cx="869700" cy="238197"/>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H="1">
              <a:off x="5073166" y="5754672"/>
              <a:ext cx="1584358" cy="46234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5689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5"/>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5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5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6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60"/>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5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68"/>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7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69"/>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22" presetClass="entr" presetSubtype="1" fill="hold" nodeType="clickEffect">
                                  <p:stCondLst>
                                    <p:cond delay="0"/>
                                  </p:stCondLst>
                                  <p:childTnLst>
                                    <p:set>
                                      <p:cBhvr>
                                        <p:cTn id="138" dur="1" fill="hold">
                                          <p:stCondLst>
                                            <p:cond delay="0"/>
                                          </p:stCondLst>
                                        </p:cTn>
                                        <p:tgtEl>
                                          <p:spTgt spid="80"/>
                                        </p:tgtEl>
                                        <p:attrNameLst>
                                          <p:attrName>style.visibility</p:attrName>
                                        </p:attrNameLst>
                                      </p:cBhvr>
                                      <p:to>
                                        <p:strVal val="visible"/>
                                      </p:to>
                                    </p:set>
                                    <p:animEffect transition="in" filter="wipe(up)">
                                      <p:cBhvr>
                                        <p:cTn id="139" dur="20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animBg="1"/>
      <p:bldP spid="6" grpId="0" animBg="1"/>
      <p:bldP spid="13" grpId="0" animBg="1"/>
      <p:bldP spid="14" grpId="0" animBg="1"/>
      <p:bldP spid="15" grpId="0" animBg="1"/>
      <p:bldP spid="50" grpId="0"/>
      <p:bldP spid="55" grpId="0"/>
      <p:bldP spid="56" grpId="0"/>
      <p:bldP spid="57" grpId="0"/>
      <p:bldP spid="58" grpId="0"/>
      <p:bldP spid="59" grpId="0"/>
      <p:bldP spid="60" grpId="0"/>
      <p:bldP spid="61" grpId="0"/>
      <p:bldP spid="62" grpId="0"/>
      <p:bldP spid="63" grpId="0"/>
      <p:bldP spid="64" grpId="0"/>
      <p:bldP spid="65" grpId="0"/>
      <p:bldP spid="66" grpId="0"/>
      <p:bldP spid="67" grpId="0"/>
      <p:bldP spid="68" grpId="0"/>
      <p:bldP spid="69" grpId="0"/>
      <p:bldP spid="7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ctrTitle"/>
          </p:nvPr>
        </p:nvSpPr>
        <p:spPr/>
        <p:txBody>
          <a:bodyPr/>
          <a:lstStyle/>
          <a:p>
            <a:r>
              <a:rPr lang="en-US"/>
              <a:t>Branch/Decision Testing</a:t>
            </a:r>
          </a:p>
        </p:txBody>
      </p:sp>
    </p:spTree>
    <p:extLst>
      <p:ext uri="{BB962C8B-B14F-4D97-AF65-F5344CB8AC3E}">
        <p14:creationId xmlns:p14="http://schemas.microsoft.com/office/powerpoint/2010/main" val="3199243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r>
              <a:rPr lang="en-US"/>
              <a:t>Decision testing</a:t>
            </a:r>
          </a:p>
        </p:txBody>
      </p:sp>
      <p:sp>
        <p:nvSpPr>
          <p:cNvPr id="451587" name="Rectangle 3"/>
          <p:cNvSpPr>
            <a:spLocks noGrp="1" noChangeArrowheads="1"/>
          </p:cNvSpPr>
          <p:nvPr>
            <p:ph type="body" idx="1"/>
          </p:nvPr>
        </p:nvSpPr>
        <p:spPr/>
        <p:txBody>
          <a:bodyPr/>
          <a:lstStyle/>
          <a:p>
            <a:r>
              <a:rPr lang="en-US" dirty="0"/>
              <a:t>Decision coverage requires you to </a:t>
            </a:r>
            <a:r>
              <a:rPr lang="en-US" b="1" dirty="0"/>
              <a:t>exercise all outcomes of the decisions </a:t>
            </a:r>
            <a:r>
              <a:rPr lang="en-US" dirty="0"/>
              <a:t>in the code</a:t>
            </a:r>
          </a:p>
          <a:p>
            <a:r>
              <a:rPr lang="en-US" dirty="0"/>
              <a:t>Normally, </a:t>
            </a:r>
            <a:r>
              <a:rPr lang="en-US" b="1" dirty="0"/>
              <a:t>reuse the test cases for statement testing and add new ones </a:t>
            </a:r>
            <a:r>
              <a:rPr lang="en-US" dirty="0"/>
              <a:t>to achieve this</a:t>
            </a:r>
          </a:p>
          <a:p>
            <a:r>
              <a:rPr lang="en-US" dirty="0"/>
              <a:t>From scratch, trace one path through the code, then pick off the remaining decisions with new tests.</a:t>
            </a:r>
          </a:p>
        </p:txBody>
      </p:sp>
    </p:spTree>
    <p:extLst>
      <p:ext uri="{BB962C8B-B14F-4D97-AF65-F5344CB8AC3E}">
        <p14:creationId xmlns:p14="http://schemas.microsoft.com/office/powerpoint/2010/main" val="1054794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r>
              <a:rPr lang="en-US" dirty="0"/>
              <a:t>Pencils to the ready… again!</a:t>
            </a:r>
          </a:p>
        </p:txBody>
      </p:sp>
      <p:sp>
        <p:nvSpPr>
          <p:cNvPr id="128" name="TextBox 127"/>
          <p:cNvSpPr txBox="1"/>
          <p:nvPr/>
        </p:nvSpPr>
        <p:spPr>
          <a:xfrm>
            <a:off x="3918561" y="1731569"/>
            <a:ext cx="2482241" cy="2308324"/>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rPr>
              <a:t>Read P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rPr>
              <a:t>Read Q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rPr>
              <a:t>IF P+Q &gt; 100 THEN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rPr>
              <a:t>Print “Large”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rPr>
              <a:t>ENDIF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rPr>
              <a:t>If P &gt; 50 THEN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rPr>
              <a:t>Print “P Large”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rPr>
              <a:t>ENDIF</a:t>
            </a:r>
          </a:p>
          <a:p>
            <a:pPr marL="0" marR="0" lvl="0" indent="0" defTabSz="914400" eaLnBrk="1" fontAlgn="base" latinLnBrk="0" hangingPunct="1">
              <a:lnSpc>
                <a:spcPct val="100000"/>
              </a:lnSpc>
              <a:spcBef>
                <a:spcPct val="0"/>
              </a:spcBef>
              <a:spcAft>
                <a:spcPct val="0"/>
              </a:spcAft>
              <a:buClrTx/>
              <a:buSzTx/>
              <a:buFontTx/>
              <a:buNone/>
              <a:tabLst/>
              <a:defRPr/>
            </a:pPr>
            <a:endParaRPr kumimoji="0" lang="en-IE" sz="1600" b="0" i="0" u="none" strike="noStrike" kern="0" cap="none" spc="0" normalizeH="0" baseline="0" noProof="0" dirty="0">
              <a:ln>
                <a:noFill/>
              </a:ln>
              <a:solidFill>
                <a:srgbClr val="000000"/>
              </a:solidFill>
              <a:effectLst/>
              <a:uLnTx/>
              <a:uFillTx/>
            </a:endParaRPr>
          </a:p>
        </p:txBody>
      </p:sp>
      <p:sp>
        <p:nvSpPr>
          <p:cNvPr id="156" name="TextBox 155"/>
          <p:cNvSpPr txBox="1"/>
          <p:nvPr/>
        </p:nvSpPr>
        <p:spPr>
          <a:xfrm>
            <a:off x="1256531" y="4400746"/>
            <a:ext cx="9148234" cy="584775"/>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sng" strike="noStrike" kern="0" cap="none" spc="0" normalizeH="0" baseline="0" noProof="0" dirty="0">
                <a:ln>
                  <a:noFill/>
                </a:ln>
                <a:solidFill>
                  <a:srgbClr val="000000"/>
                </a:solidFill>
                <a:effectLst/>
                <a:uLnTx/>
                <a:uFillTx/>
              </a:rPr>
              <a:t>Branch/Decision Testing</a:t>
            </a:r>
            <a:r>
              <a:rPr kumimoji="0" lang="en-US" sz="1600" b="0" i="0" u="none" strike="noStrike" kern="0" cap="none" spc="0" normalizeH="0" baseline="0" noProof="0" dirty="0">
                <a:ln>
                  <a:noFill/>
                </a:ln>
                <a:solidFill>
                  <a:srgbClr val="000000"/>
                </a:solidFill>
                <a:effectLst/>
                <a:uLnTx/>
                <a:uFillTx/>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rPr>
              <a:t>The test case(s) is / are executed in such a manner so as to cover all possible true/false decisions.</a:t>
            </a:r>
          </a:p>
        </p:txBody>
      </p:sp>
      <p:sp>
        <p:nvSpPr>
          <p:cNvPr id="158" name="TextBox 157"/>
          <p:cNvSpPr txBox="1"/>
          <p:nvPr/>
        </p:nvSpPr>
        <p:spPr>
          <a:xfrm>
            <a:off x="1256531" y="5044813"/>
            <a:ext cx="9148234" cy="584775"/>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rPr>
              <a:t>Find out the minimum number of paths which will ensure covering of all the branches. In this case there is no single path which will ensure coverage of all the edges at one go.. </a:t>
            </a:r>
            <a:endParaRPr kumimoji="0" lang="en-IE" sz="16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61702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p:bldP spid="15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r>
              <a:rPr lang="en-US" dirty="0"/>
              <a:t>Pencils to the ready… again!</a:t>
            </a:r>
          </a:p>
        </p:txBody>
      </p:sp>
      <p:sp>
        <p:nvSpPr>
          <p:cNvPr id="121" name="Rectangle 120"/>
          <p:cNvSpPr/>
          <p:nvPr/>
        </p:nvSpPr>
        <p:spPr>
          <a:xfrm>
            <a:off x="5276767" y="1832248"/>
            <a:ext cx="1800200" cy="457200"/>
          </a:xfrm>
          <a:prstGeom prst="rect">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latin typeface="Arial"/>
                <a:ea typeface="ＭＳ Ｐゴシック"/>
                <a:cs typeface="+mn-cs"/>
              </a:rPr>
              <a:t>Read P</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latin typeface="Arial"/>
                <a:ea typeface="ＭＳ Ｐゴシック"/>
                <a:cs typeface="+mn-cs"/>
              </a:rPr>
              <a:t>Read Q</a:t>
            </a:r>
            <a:endParaRPr kumimoji="0" lang="en-IE" sz="1000" b="0" i="0" u="none" strike="noStrike" kern="0" cap="none" spc="0" normalizeH="0" baseline="0" noProof="0" dirty="0">
              <a:ln>
                <a:noFill/>
              </a:ln>
              <a:solidFill>
                <a:srgbClr val="000000"/>
              </a:solidFill>
              <a:effectLst/>
              <a:uLnTx/>
              <a:uFillTx/>
              <a:latin typeface="Arial"/>
              <a:ea typeface="ＭＳ Ｐゴシック"/>
              <a:cs typeface="+mn-cs"/>
            </a:endParaRPr>
          </a:p>
        </p:txBody>
      </p:sp>
      <p:sp>
        <p:nvSpPr>
          <p:cNvPr id="122" name="Flowchart: Connector 121"/>
          <p:cNvSpPr/>
          <p:nvPr/>
        </p:nvSpPr>
        <p:spPr>
          <a:xfrm>
            <a:off x="6062567" y="6253411"/>
            <a:ext cx="228600" cy="228600"/>
          </a:xfrm>
          <a:prstGeom prst="flowChartConnector">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IE" sz="1000" b="0" i="0" u="none" strike="noStrike" kern="0" cap="none" spc="0" normalizeH="0" baseline="0" noProof="0">
              <a:ln>
                <a:noFill/>
              </a:ln>
              <a:solidFill>
                <a:srgbClr val="FFFFFF"/>
              </a:solidFill>
              <a:effectLst/>
              <a:uLnTx/>
              <a:uFillTx/>
              <a:latin typeface="Arial"/>
              <a:ea typeface="ＭＳ Ｐゴシック"/>
              <a:cs typeface="+mn-cs"/>
            </a:endParaRPr>
          </a:p>
        </p:txBody>
      </p:sp>
      <p:sp>
        <p:nvSpPr>
          <p:cNvPr id="123" name="Flowchart: Connector 122"/>
          <p:cNvSpPr/>
          <p:nvPr/>
        </p:nvSpPr>
        <p:spPr>
          <a:xfrm>
            <a:off x="6062567" y="4308134"/>
            <a:ext cx="228600" cy="228600"/>
          </a:xfrm>
          <a:prstGeom prst="flowChartConnector">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IE" sz="1000" b="0" i="0" u="none" strike="noStrike" kern="0" cap="none" spc="0" normalizeH="0" baseline="0" noProof="0">
              <a:ln>
                <a:noFill/>
              </a:ln>
              <a:solidFill>
                <a:srgbClr val="FFFFFF"/>
              </a:solidFill>
              <a:effectLst/>
              <a:uLnTx/>
              <a:uFillTx/>
              <a:latin typeface="Arial"/>
              <a:ea typeface="ＭＳ Ｐゴシック"/>
              <a:cs typeface="+mn-cs"/>
            </a:endParaRPr>
          </a:p>
        </p:txBody>
      </p:sp>
      <p:sp>
        <p:nvSpPr>
          <p:cNvPr id="124" name="Flowchart: Decision 123"/>
          <p:cNvSpPr/>
          <p:nvPr/>
        </p:nvSpPr>
        <p:spPr>
          <a:xfrm>
            <a:off x="5420783" y="2651018"/>
            <a:ext cx="1512168" cy="710675"/>
          </a:xfrm>
          <a:prstGeom prst="flowChartDecision">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latin typeface="Arial"/>
                <a:ea typeface="ＭＳ Ｐゴシック"/>
                <a:cs typeface="+mn-cs"/>
              </a:rPr>
              <a:t>P+Q&gt;100</a:t>
            </a:r>
            <a:endParaRPr kumimoji="0" lang="en-IE" sz="1000" b="0" i="0" u="none" strike="noStrike" kern="0" cap="none" spc="0" normalizeH="0" baseline="0" noProof="0" dirty="0">
              <a:ln>
                <a:noFill/>
              </a:ln>
              <a:solidFill>
                <a:srgbClr val="000000"/>
              </a:solidFill>
              <a:effectLst/>
              <a:uLnTx/>
              <a:uFillTx/>
              <a:latin typeface="Arial"/>
              <a:ea typeface="ＭＳ Ｐゴシック"/>
              <a:cs typeface="+mn-cs"/>
            </a:endParaRPr>
          </a:p>
        </p:txBody>
      </p:sp>
      <p:sp>
        <p:nvSpPr>
          <p:cNvPr id="125" name="Rectangle 124"/>
          <p:cNvSpPr/>
          <p:nvPr/>
        </p:nvSpPr>
        <p:spPr>
          <a:xfrm>
            <a:off x="7948707" y="3361693"/>
            <a:ext cx="1800200" cy="457200"/>
          </a:xfrm>
          <a:prstGeom prst="rect">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latin typeface="Arial"/>
                <a:ea typeface="ＭＳ Ｐゴシック"/>
                <a:cs typeface="+mn-cs"/>
              </a:rPr>
              <a:t>Print “Large”</a:t>
            </a:r>
          </a:p>
        </p:txBody>
      </p:sp>
      <p:sp>
        <p:nvSpPr>
          <p:cNvPr id="126" name="Rectangle 125"/>
          <p:cNvSpPr/>
          <p:nvPr/>
        </p:nvSpPr>
        <p:spPr>
          <a:xfrm>
            <a:off x="8092723" y="5564088"/>
            <a:ext cx="1800200" cy="457200"/>
          </a:xfrm>
          <a:prstGeom prst="rect">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latin typeface="Arial"/>
                <a:ea typeface="ＭＳ Ｐゴシック"/>
                <a:cs typeface="+mn-cs"/>
              </a:rPr>
              <a:t>Print “P Large”</a:t>
            </a:r>
            <a:endParaRPr kumimoji="0" lang="en-IE" sz="1000" b="0" i="0" u="none" strike="noStrike" kern="0" cap="none" spc="0" normalizeH="0" baseline="0" noProof="0" dirty="0">
              <a:ln>
                <a:noFill/>
              </a:ln>
              <a:solidFill>
                <a:srgbClr val="000000"/>
              </a:solidFill>
              <a:effectLst/>
              <a:uLnTx/>
              <a:uFillTx/>
              <a:latin typeface="Arial"/>
              <a:ea typeface="ＭＳ Ｐゴシック"/>
              <a:cs typeface="+mn-cs"/>
            </a:endParaRPr>
          </a:p>
        </p:txBody>
      </p:sp>
      <p:sp>
        <p:nvSpPr>
          <p:cNvPr id="127" name="Flowchart: Decision 126"/>
          <p:cNvSpPr/>
          <p:nvPr/>
        </p:nvSpPr>
        <p:spPr>
          <a:xfrm>
            <a:off x="5420783" y="4806557"/>
            <a:ext cx="1512168" cy="710675"/>
          </a:xfrm>
          <a:prstGeom prst="flowChartDecision">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latin typeface="Arial"/>
                <a:ea typeface="ＭＳ Ｐゴシック"/>
                <a:cs typeface="+mn-cs"/>
              </a:rPr>
              <a:t>P&gt;50</a:t>
            </a:r>
            <a:endParaRPr kumimoji="0" lang="en-IE" sz="1000" b="0" i="0" u="none" strike="noStrike" kern="0" cap="none" spc="0" normalizeH="0" baseline="0" noProof="0" dirty="0">
              <a:ln>
                <a:noFill/>
              </a:ln>
              <a:solidFill>
                <a:srgbClr val="000000"/>
              </a:solidFill>
              <a:effectLst/>
              <a:uLnTx/>
              <a:uFillTx/>
              <a:latin typeface="Arial"/>
              <a:ea typeface="ＭＳ Ｐゴシック"/>
              <a:cs typeface="+mn-cs"/>
            </a:endParaRPr>
          </a:p>
        </p:txBody>
      </p:sp>
      <p:sp>
        <p:nvSpPr>
          <p:cNvPr id="128" name="TextBox 127"/>
          <p:cNvSpPr txBox="1"/>
          <p:nvPr/>
        </p:nvSpPr>
        <p:spPr>
          <a:xfrm>
            <a:off x="1715687" y="1731569"/>
            <a:ext cx="2448272" cy="1477328"/>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Read P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Read Q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IF P+Q &gt; 100 THEN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Print “Large”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ENDIF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If P &gt; 50 THEN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Print “P Large”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ENDIF</a:t>
            </a:r>
          </a:p>
          <a:p>
            <a:pPr marL="0" marR="0" lvl="0" indent="0" defTabSz="914400" eaLnBrk="1" fontAlgn="base" latinLnBrk="0" hangingPunct="1">
              <a:lnSpc>
                <a:spcPct val="100000"/>
              </a:lnSpc>
              <a:spcBef>
                <a:spcPct val="0"/>
              </a:spcBef>
              <a:spcAft>
                <a:spcPct val="0"/>
              </a:spcAft>
              <a:buClrTx/>
              <a:buSzTx/>
              <a:buFontTx/>
              <a:buNone/>
              <a:tabLst/>
              <a:defRPr/>
            </a:pPr>
            <a:endParaRPr kumimoji="0" lang="en-IE" sz="1000" b="0" i="0" u="none" strike="noStrike" kern="0" cap="none" spc="0" normalizeH="0" baseline="0" noProof="0" dirty="0">
              <a:ln>
                <a:noFill/>
              </a:ln>
              <a:solidFill>
                <a:srgbClr val="000000"/>
              </a:solidFill>
              <a:effectLst/>
              <a:uLnTx/>
              <a:uFillTx/>
            </a:endParaRPr>
          </a:p>
        </p:txBody>
      </p:sp>
      <p:cxnSp>
        <p:nvCxnSpPr>
          <p:cNvPr id="129" name="Straight Arrow Connector 128"/>
          <p:cNvCxnSpPr>
            <a:stCxn id="125" idx="2"/>
            <a:endCxn id="123" idx="6"/>
          </p:cNvCxnSpPr>
          <p:nvPr/>
        </p:nvCxnSpPr>
        <p:spPr>
          <a:xfrm flipH="1">
            <a:off x="6291167" y="3818893"/>
            <a:ext cx="2557640" cy="603541"/>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130" name="Straight Arrow Connector 129"/>
          <p:cNvCxnSpPr>
            <a:stCxn id="121" idx="2"/>
            <a:endCxn id="124" idx="0"/>
          </p:cNvCxnSpPr>
          <p:nvPr/>
        </p:nvCxnSpPr>
        <p:spPr>
          <a:xfrm>
            <a:off x="6176867" y="2289448"/>
            <a:ext cx="0" cy="361570"/>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131" name="Straight Arrow Connector 130"/>
          <p:cNvCxnSpPr>
            <a:stCxn id="124" idx="3"/>
            <a:endCxn id="125" idx="0"/>
          </p:cNvCxnSpPr>
          <p:nvPr/>
        </p:nvCxnSpPr>
        <p:spPr>
          <a:xfrm>
            <a:off x="6932951" y="3006356"/>
            <a:ext cx="1915856" cy="355337"/>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132" name="Straight Arrow Connector 131"/>
          <p:cNvCxnSpPr>
            <a:stCxn id="124" idx="2"/>
            <a:endCxn id="123" idx="0"/>
          </p:cNvCxnSpPr>
          <p:nvPr/>
        </p:nvCxnSpPr>
        <p:spPr>
          <a:xfrm>
            <a:off x="6176867" y="3361693"/>
            <a:ext cx="0" cy="946441"/>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133" name="Straight Arrow Connector 132"/>
          <p:cNvCxnSpPr>
            <a:stCxn id="123" idx="4"/>
            <a:endCxn id="127" idx="0"/>
          </p:cNvCxnSpPr>
          <p:nvPr/>
        </p:nvCxnSpPr>
        <p:spPr>
          <a:xfrm>
            <a:off x="6176867" y="4536734"/>
            <a:ext cx="0" cy="269823"/>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134" name="Straight Arrow Connector 133"/>
          <p:cNvCxnSpPr>
            <a:stCxn id="127" idx="3"/>
            <a:endCxn id="126" idx="0"/>
          </p:cNvCxnSpPr>
          <p:nvPr/>
        </p:nvCxnSpPr>
        <p:spPr>
          <a:xfrm>
            <a:off x="6932951" y="5161895"/>
            <a:ext cx="2059872" cy="402193"/>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135" name="Straight Arrow Connector 134"/>
          <p:cNvCxnSpPr>
            <a:stCxn id="127" idx="2"/>
            <a:endCxn id="122" idx="0"/>
          </p:cNvCxnSpPr>
          <p:nvPr/>
        </p:nvCxnSpPr>
        <p:spPr>
          <a:xfrm>
            <a:off x="6176867" y="5517232"/>
            <a:ext cx="0" cy="736179"/>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136" name="Straight Arrow Connector 135"/>
          <p:cNvCxnSpPr>
            <a:stCxn id="126" idx="2"/>
            <a:endCxn id="122" idx="6"/>
          </p:cNvCxnSpPr>
          <p:nvPr/>
        </p:nvCxnSpPr>
        <p:spPr>
          <a:xfrm flipH="1">
            <a:off x="6291167" y="6021288"/>
            <a:ext cx="2701656" cy="346423"/>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sp>
        <p:nvSpPr>
          <p:cNvPr id="137" name="TextBox 136"/>
          <p:cNvSpPr txBox="1"/>
          <p:nvPr/>
        </p:nvSpPr>
        <p:spPr>
          <a:xfrm>
            <a:off x="7156619" y="1946121"/>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1</a:t>
            </a:r>
            <a:endParaRPr kumimoji="0" lang="en-IE" sz="1000" b="0" i="0" u="none" strike="noStrike" kern="0" cap="none" spc="0" normalizeH="0" baseline="0" noProof="0" dirty="0">
              <a:ln>
                <a:noFill/>
              </a:ln>
              <a:solidFill>
                <a:srgbClr val="000000"/>
              </a:solidFill>
              <a:effectLst/>
              <a:uLnTx/>
              <a:uFillTx/>
            </a:endParaRPr>
          </a:p>
        </p:txBody>
      </p:sp>
      <p:sp>
        <p:nvSpPr>
          <p:cNvPr id="138" name="TextBox 137"/>
          <p:cNvSpPr txBox="1"/>
          <p:nvPr/>
        </p:nvSpPr>
        <p:spPr>
          <a:xfrm>
            <a:off x="6183155" y="3588692"/>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B</a:t>
            </a:r>
            <a:endParaRPr kumimoji="0" lang="en-IE" sz="1000" b="0" i="0" u="none" strike="noStrike" kern="0" cap="none" spc="0" normalizeH="0" baseline="0" noProof="0" dirty="0">
              <a:ln>
                <a:noFill/>
              </a:ln>
              <a:solidFill>
                <a:srgbClr val="000000"/>
              </a:solidFill>
              <a:effectLst/>
              <a:uLnTx/>
              <a:uFillTx/>
            </a:endParaRPr>
          </a:p>
        </p:txBody>
      </p:sp>
      <p:sp>
        <p:nvSpPr>
          <p:cNvPr id="139" name="TextBox 138"/>
          <p:cNvSpPr txBox="1"/>
          <p:nvPr/>
        </p:nvSpPr>
        <p:spPr>
          <a:xfrm>
            <a:off x="9892923" y="5669577"/>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rPr>
              <a:t>5</a:t>
            </a:r>
            <a:endParaRPr kumimoji="0" lang="en-IE" sz="1000" b="0" i="0" u="none" strike="noStrike" kern="0" cap="none" spc="0" normalizeH="0" baseline="0" noProof="0" dirty="0">
              <a:ln>
                <a:noFill/>
              </a:ln>
              <a:solidFill>
                <a:srgbClr val="000000"/>
              </a:solidFill>
              <a:effectLst/>
              <a:uLnTx/>
              <a:uFillTx/>
            </a:endParaRPr>
          </a:p>
        </p:txBody>
      </p:sp>
      <p:sp>
        <p:nvSpPr>
          <p:cNvPr id="140" name="TextBox 139"/>
          <p:cNvSpPr txBox="1"/>
          <p:nvPr/>
        </p:nvSpPr>
        <p:spPr>
          <a:xfrm>
            <a:off x="6616559" y="4806557"/>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rPr>
              <a:t>4</a:t>
            </a:r>
            <a:endParaRPr kumimoji="0" lang="en-IE" sz="1000" b="0" i="0" u="none" strike="noStrike" kern="0" cap="none" spc="0" normalizeH="0" baseline="0" noProof="0" dirty="0">
              <a:ln>
                <a:noFill/>
              </a:ln>
              <a:solidFill>
                <a:srgbClr val="000000"/>
              </a:solidFill>
              <a:effectLst/>
              <a:uLnTx/>
              <a:uFillTx/>
            </a:endParaRPr>
          </a:p>
        </p:txBody>
      </p:sp>
      <p:sp>
        <p:nvSpPr>
          <p:cNvPr id="141" name="TextBox 140"/>
          <p:cNvSpPr txBox="1"/>
          <p:nvPr/>
        </p:nvSpPr>
        <p:spPr>
          <a:xfrm>
            <a:off x="9784911" y="3467182"/>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rPr>
              <a:t>3</a:t>
            </a:r>
            <a:endParaRPr kumimoji="0" lang="en-IE" sz="1000" b="0" i="0" u="none" strike="noStrike" kern="0" cap="none" spc="0" normalizeH="0" baseline="0" noProof="0" dirty="0">
              <a:ln>
                <a:noFill/>
              </a:ln>
              <a:solidFill>
                <a:srgbClr val="000000"/>
              </a:solidFill>
              <a:effectLst/>
              <a:uLnTx/>
              <a:uFillTx/>
            </a:endParaRPr>
          </a:p>
        </p:txBody>
      </p:sp>
      <p:sp>
        <p:nvSpPr>
          <p:cNvPr id="142" name="TextBox 141"/>
          <p:cNvSpPr txBox="1"/>
          <p:nvPr/>
        </p:nvSpPr>
        <p:spPr>
          <a:xfrm>
            <a:off x="6508547" y="2620253"/>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rPr>
              <a:t>2</a:t>
            </a:r>
            <a:endParaRPr kumimoji="0" lang="en-IE" sz="1000" b="0" i="0" u="none" strike="noStrike" kern="0" cap="none" spc="0" normalizeH="0" baseline="0" noProof="0" dirty="0">
              <a:ln>
                <a:noFill/>
              </a:ln>
              <a:solidFill>
                <a:srgbClr val="000000"/>
              </a:solidFill>
              <a:effectLst/>
              <a:uLnTx/>
              <a:uFillTx/>
            </a:endParaRPr>
          </a:p>
        </p:txBody>
      </p:sp>
      <p:sp>
        <p:nvSpPr>
          <p:cNvPr id="143" name="TextBox 142"/>
          <p:cNvSpPr txBox="1"/>
          <p:nvPr/>
        </p:nvSpPr>
        <p:spPr>
          <a:xfrm>
            <a:off x="6183155" y="2343874"/>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A</a:t>
            </a:r>
            <a:endParaRPr kumimoji="0" lang="en-IE" sz="1000" b="0" i="0" u="none" strike="noStrike" kern="0" cap="none" spc="0" normalizeH="0" baseline="0" noProof="0" dirty="0">
              <a:ln>
                <a:noFill/>
              </a:ln>
              <a:solidFill>
                <a:srgbClr val="000000"/>
              </a:solidFill>
              <a:effectLst/>
              <a:uLnTx/>
              <a:uFillTx/>
            </a:endParaRPr>
          </a:p>
        </p:txBody>
      </p:sp>
      <p:sp>
        <p:nvSpPr>
          <p:cNvPr id="144" name="TextBox 143"/>
          <p:cNvSpPr txBox="1"/>
          <p:nvPr/>
        </p:nvSpPr>
        <p:spPr>
          <a:xfrm>
            <a:off x="7666273" y="2889811"/>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C</a:t>
            </a:r>
            <a:endParaRPr kumimoji="0" lang="en-IE" sz="1000" b="0" i="0" u="none" strike="noStrike" kern="0" cap="none" spc="0" normalizeH="0" baseline="0" noProof="0" dirty="0">
              <a:ln>
                <a:noFill/>
              </a:ln>
              <a:solidFill>
                <a:srgbClr val="000000"/>
              </a:solidFill>
              <a:effectLst/>
              <a:uLnTx/>
              <a:uFillTx/>
            </a:endParaRPr>
          </a:p>
        </p:txBody>
      </p:sp>
      <p:sp>
        <p:nvSpPr>
          <p:cNvPr id="145" name="TextBox 144"/>
          <p:cNvSpPr txBox="1"/>
          <p:nvPr/>
        </p:nvSpPr>
        <p:spPr>
          <a:xfrm>
            <a:off x="7450249" y="4120663"/>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D</a:t>
            </a:r>
            <a:endParaRPr kumimoji="0" lang="en-IE" sz="1000" b="0" i="0" u="none" strike="noStrike" kern="0" cap="none" spc="0" normalizeH="0" baseline="0" noProof="0" dirty="0">
              <a:ln>
                <a:noFill/>
              </a:ln>
              <a:solidFill>
                <a:srgbClr val="000000"/>
              </a:solidFill>
              <a:effectLst/>
              <a:uLnTx/>
              <a:uFillTx/>
            </a:endParaRPr>
          </a:p>
        </p:txBody>
      </p:sp>
      <p:sp>
        <p:nvSpPr>
          <p:cNvPr id="146" name="TextBox 145"/>
          <p:cNvSpPr txBox="1"/>
          <p:nvPr/>
        </p:nvSpPr>
        <p:spPr>
          <a:xfrm>
            <a:off x="6189927" y="4528087"/>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E</a:t>
            </a:r>
            <a:endParaRPr kumimoji="0" lang="en-IE" sz="1000" b="0" i="0" u="none" strike="noStrike" kern="0" cap="none" spc="0" normalizeH="0" baseline="0" noProof="0" dirty="0">
              <a:ln>
                <a:noFill/>
              </a:ln>
              <a:solidFill>
                <a:srgbClr val="000000"/>
              </a:solidFill>
              <a:effectLst/>
              <a:uLnTx/>
              <a:uFillTx/>
            </a:endParaRPr>
          </a:p>
        </p:txBody>
      </p:sp>
      <p:sp>
        <p:nvSpPr>
          <p:cNvPr id="147" name="TextBox 146"/>
          <p:cNvSpPr txBox="1"/>
          <p:nvPr/>
        </p:nvSpPr>
        <p:spPr>
          <a:xfrm>
            <a:off x="7300623" y="5985843"/>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H</a:t>
            </a:r>
            <a:endParaRPr kumimoji="0" lang="en-IE" sz="1000" b="0" i="0" u="none" strike="noStrike" kern="0" cap="none" spc="0" normalizeH="0" baseline="0" noProof="0" dirty="0">
              <a:ln>
                <a:noFill/>
              </a:ln>
              <a:solidFill>
                <a:srgbClr val="000000"/>
              </a:solidFill>
              <a:effectLst/>
              <a:uLnTx/>
              <a:uFillTx/>
            </a:endParaRPr>
          </a:p>
        </p:txBody>
      </p:sp>
      <p:sp>
        <p:nvSpPr>
          <p:cNvPr id="148" name="TextBox 147"/>
          <p:cNvSpPr txBox="1"/>
          <p:nvPr/>
        </p:nvSpPr>
        <p:spPr>
          <a:xfrm>
            <a:off x="7666273" y="5114473"/>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G</a:t>
            </a:r>
            <a:endParaRPr kumimoji="0" lang="en-IE" sz="1000" b="0" i="0" u="none" strike="noStrike" kern="0" cap="none" spc="0" normalizeH="0" baseline="0" noProof="0" dirty="0">
              <a:ln>
                <a:noFill/>
              </a:ln>
              <a:solidFill>
                <a:srgbClr val="000000"/>
              </a:solidFill>
              <a:effectLst/>
              <a:uLnTx/>
              <a:uFillTx/>
            </a:endParaRPr>
          </a:p>
        </p:txBody>
      </p:sp>
      <p:sp>
        <p:nvSpPr>
          <p:cNvPr id="149" name="TextBox 148"/>
          <p:cNvSpPr txBox="1"/>
          <p:nvPr/>
        </p:nvSpPr>
        <p:spPr>
          <a:xfrm>
            <a:off x="6176867" y="5669577"/>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F</a:t>
            </a:r>
            <a:endParaRPr kumimoji="0" lang="en-IE" sz="1000" b="0" i="0" u="none" strike="noStrike" kern="0" cap="none" spc="0" normalizeH="0" baseline="0" noProof="0" dirty="0">
              <a:ln>
                <a:noFill/>
              </a:ln>
              <a:solidFill>
                <a:srgbClr val="000000"/>
              </a:solidFill>
              <a:effectLst/>
              <a:uLnTx/>
              <a:uFillTx/>
            </a:endParaRPr>
          </a:p>
        </p:txBody>
      </p:sp>
      <p:sp>
        <p:nvSpPr>
          <p:cNvPr id="150" name="TextBox 149"/>
          <p:cNvSpPr txBox="1"/>
          <p:nvPr/>
        </p:nvSpPr>
        <p:spPr>
          <a:xfrm>
            <a:off x="5421577" y="4316239"/>
            <a:ext cx="648072"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ENDIF</a:t>
            </a:r>
          </a:p>
        </p:txBody>
      </p:sp>
      <p:sp>
        <p:nvSpPr>
          <p:cNvPr id="151" name="TextBox 150"/>
          <p:cNvSpPr txBox="1"/>
          <p:nvPr/>
        </p:nvSpPr>
        <p:spPr>
          <a:xfrm>
            <a:off x="5414495" y="6262921"/>
            <a:ext cx="648072"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ENDIF</a:t>
            </a:r>
          </a:p>
        </p:txBody>
      </p:sp>
      <p:sp>
        <p:nvSpPr>
          <p:cNvPr id="152" name="TextBox 151"/>
          <p:cNvSpPr txBox="1"/>
          <p:nvPr/>
        </p:nvSpPr>
        <p:spPr>
          <a:xfrm>
            <a:off x="5853633" y="3429000"/>
            <a:ext cx="424772"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No</a:t>
            </a:r>
          </a:p>
        </p:txBody>
      </p:sp>
      <p:sp>
        <p:nvSpPr>
          <p:cNvPr id="153" name="TextBox 152"/>
          <p:cNvSpPr txBox="1"/>
          <p:nvPr/>
        </p:nvSpPr>
        <p:spPr>
          <a:xfrm>
            <a:off x="5850181" y="5546467"/>
            <a:ext cx="424772"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No</a:t>
            </a:r>
          </a:p>
        </p:txBody>
      </p:sp>
      <p:sp>
        <p:nvSpPr>
          <p:cNvPr id="154" name="TextBox 153"/>
          <p:cNvSpPr txBox="1"/>
          <p:nvPr/>
        </p:nvSpPr>
        <p:spPr>
          <a:xfrm>
            <a:off x="7156619" y="2866474"/>
            <a:ext cx="424772"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Yes</a:t>
            </a:r>
          </a:p>
        </p:txBody>
      </p:sp>
      <p:sp>
        <p:nvSpPr>
          <p:cNvPr id="155" name="TextBox 154"/>
          <p:cNvSpPr txBox="1"/>
          <p:nvPr/>
        </p:nvSpPr>
        <p:spPr>
          <a:xfrm>
            <a:off x="7172839" y="5038783"/>
            <a:ext cx="424772"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Yes</a:t>
            </a:r>
          </a:p>
        </p:txBody>
      </p:sp>
      <p:sp>
        <p:nvSpPr>
          <p:cNvPr id="156" name="TextBox 155"/>
          <p:cNvSpPr txBox="1"/>
          <p:nvPr/>
        </p:nvSpPr>
        <p:spPr>
          <a:xfrm>
            <a:off x="1838421" y="3569470"/>
            <a:ext cx="2797918" cy="707886"/>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1" i="0" u="sng" strike="noStrike" kern="0" cap="none" spc="0" normalizeH="0" baseline="0" noProof="0" dirty="0">
                <a:ln>
                  <a:noFill/>
                </a:ln>
                <a:solidFill>
                  <a:srgbClr val="000000"/>
                </a:solidFill>
                <a:effectLst/>
                <a:uLnTx/>
                <a:uFillTx/>
              </a:rPr>
              <a:t>Branch/Decision Testing</a:t>
            </a:r>
            <a:r>
              <a:rPr kumimoji="0" lang="en-US" sz="1000" b="0" i="0" u="none" strike="noStrike" kern="0" cap="none" spc="0" normalizeH="0" baseline="0" noProof="0" dirty="0">
                <a:ln>
                  <a:noFill/>
                </a:ln>
                <a:solidFill>
                  <a:srgbClr val="000000"/>
                </a:solidFill>
                <a:effectLst/>
                <a:uLnTx/>
                <a:uFillTx/>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The test case(s) is / are executed in such a manner so as to cover all possible true/false decisions.</a:t>
            </a:r>
          </a:p>
        </p:txBody>
      </p:sp>
      <p:sp>
        <p:nvSpPr>
          <p:cNvPr id="157" name="TextBox 156"/>
          <p:cNvSpPr txBox="1"/>
          <p:nvPr/>
        </p:nvSpPr>
        <p:spPr>
          <a:xfrm>
            <a:off x="1838421" y="4825424"/>
            <a:ext cx="2797918" cy="116955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000" b="0" i="0" u="none" strike="noStrike" kern="0" cap="none" spc="0" normalizeH="0" baseline="0" noProof="0" dirty="0">
              <a:ln>
                <a:noFill/>
              </a:ln>
              <a:solidFill>
                <a:srgbClr val="000000"/>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By following path </a:t>
            </a:r>
            <a:r>
              <a:rPr kumimoji="0" lang="en-US" sz="1000" b="0" i="0" u="none" strike="noStrike" kern="0" cap="none" spc="0" normalizeH="0" baseline="0" noProof="0" dirty="0">
                <a:ln>
                  <a:noFill/>
                </a:ln>
                <a:solidFill>
                  <a:srgbClr val="FF0000"/>
                </a:solidFill>
                <a:effectLst/>
                <a:uLnTx/>
                <a:uFillTx/>
              </a:rPr>
              <a:t>1A-2C-3D-E-4G-5H</a:t>
            </a:r>
            <a:r>
              <a:rPr kumimoji="0" lang="en-US" sz="1000" b="0" i="0" u="none" strike="noStrike" kern="0" cap="none" spc="0" normalizeH="0" baseline="0" noProof="0" dirty="0">
                <a:ln>
                  <a:noFill/>
                </a:ln>
                <a:solidFill>
                  <a:srgbClr val="000000"/>
                </a:solidFill>
                <a:effectLst/>
                <a:uLnTx/>
                <a:uFillTx/>
              </a:rPr>
              <a:t>, maximum  numbers of edges (A, C, D, E, G and H) are covered but edges B and F are left. To cover these edges we can follow </a:t>
            </a:r>
            <a:r>
              <a:rPr kumimoji="0" lang="en-US" sz="1000" b="0" i="0" u="none" strike="noStrike" kern="0" cap="none" spc="0" normalizeH="0" baseline="0" noProof="0" dirty="0">
                <a:ln>
                  <a:noFill/>
                </a:ln>
                <a:solidFill>
                  <a:srgbClr val="00B050"/>
                </a:solidFill>
                <a:effectLst/>
                <a:uLnTx/>
                <a:uFillTx/>
              </a:rPr>
              <a:t>1A-2B-E-4F</a:t>
            </a:r>
            <a:r>
              <a:rPr kumimoji="0" lang="en-US" sz="1000" b="0" i="0" u="none" strike="noStrike" kern="0" cap="none" spc="0" normalizeH="0" baseline="0" noProof="0" dirty="0">
                <a:ln>
                  <a:noFill/>
                </a:ln>
                <a:solidFill>
                  <a:srgbClr val="000000"/>
                </a:solidFill>
                <a:effectLst/>
                <a:uLnTx/>
                <a:uFillTx/>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000" b="0" i="0" u="none" strike="noStrike" kern="0" cap="none" spc="0" normalizeH="0" baseline="0" noProof="0" dirty="0">
              <a:ln>
                <a:noFill/>
              </a:ln>
              <a:solidFill>
                <a:srgbClr val="000000"/>
              </a:solidFill>
              <a:effectLst/>
              <a:uLnTx/>
              <a:uFillTx/>
            </a:endParaRPr>
          </a:p>
        </p:txBody>
      </p:sp>
      <p:sp>
        <p:nvSpPr>
          <p:cNvPr id="158" name="TextBox 157"/>
          <p:cNvSpPr txBox="1"/>
          <p:nvPr/>
        </p:nvSpPr>
        <p:spPr>
          <a:xfrm>
            <a:off x="1838421" y="4213537"/>
            <a:ext cx="2797918" cy="707886"/>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Find out the minimum number of paths which will ensure covering of all the branches. In this case there is no single path which will ensure coverage of all the edges at one go.. </a:t>
            </a:r>
            <a:endParaRPr kumimoji="0" lang="en-IE" sz="1000" b="0" i="0" u="none" strike="noStrike" kern="0" cap="none" spc="0" normalizeH="0" baseline="0" noProof="0" dirty="0">
              <a:ln>
                <a:noFill/>
              </a:ln>
              <a:solidFill>
                <a:srgbClr val="000000"/>
              </a:solidFill>
              <a:effectLst/>
              <a:uLnTx/>
              <a:uFillTx/>
            </a:endParaRPr>
          </a:p>
        </p:txBody>
      </p:sp>
      <p:grpSp>
        <p:nvGrpSpPr>
          <p:cNvPr id="159" name="Group 158"/>
          <p:cNvGrpSpPr/>
          <p:nvPr/>
        </p:nvGrpSpPr>
        <p:grpSpPr>
          <a:xfrm>
            <a:off x="6297939" y="2343874"/>
            <a:ext cx="1648060" cy="3873139"/>
            <a:chOff x="5009464" y="2343874"/>
            <a:chExt cx="1648060" cy="3873139"/>
          </a:xfrm>
        </p:grpSpPr>
        <p:cxnSp>
          <p:nvCxnSpPr>
            <p:cNvPr id="160" name="Straight Arrow Connector 159"/>
            <p:cNvCxnSpPr/>
            <p:nvPr/>
          </p:nvCxnSpPr>
          <p:spPr>
            <a:xfrm>
              <a:off x="5220072" y="2343874"/>
              <a:ext cx="0" cy="399490"/>
            </a:xfrm>
            <a:prstGeom prst="straightConnector1">
              <a:avLst/>
            </a:prstGeom>
            <a:noFill/>
            <a:ln w="25400" cap="flat" cmpd="sng" algn="ctr">
              <a:solidFill>
                <a:srgbClr val="FF0000"/>
              </a:solidFill>
              <a:prstDash val="solid"/>
              <a:tailEnd type="arrow"/>
            </a:ln>
            <a:effectLst>
              <a:outerShdw blurRad="40000" dist="20000" dir="5400000" rotWithShape="0">
                <a:srgbClr val="000000">
                  <a:alpha val="38000"/>
                </a:srgbClr>
              </a:outerShdw>
            </a:effectLst>
          </p:spPr>
        </p:cxnSp>
        <p:cxnSp>
          <p:nvCxnSpPr>
            <p:cNvPr id="161" name="Straight Arrow Connector 160"/>
            <p:cNvCxnSpPr/>
            <p:nvPr/>
          </p:nvCxnSpPr>
          <p:spPr>
            <a:xfrm>
              <a:off x="5616110" y="3190803"/>
              <a:ext cx="869700" cy="238197"/>
            </a:xfrm>
            <a:prstGeom prst="straightConnector1">
              <a:avLst/>
            </a:prstGeom>
            <a:noFill/>
            <a:ln w="25400" cap="flat" cmpd="sng" algn="ctr">
              <a:solidFill>
                <a:srgbClr val="FF0000"/>
              </a:solidFill>
              <a:prstDash val="solid"/>
              <a:tailEnd type="arrow"/>
            </a:ln>
            <a:effectLst>
              <a:outerShdw blurRad="40000" dist="20000" dir="5400000" rotWithShape="0">
                <a:srgbClr val="000000">
                  <a:alpha val="38000"/>
                </a:srgbClr>
              </a:outerShdw>
            </a:effectLst>
          </p:spPr>
        </p:cxnSp>
        <p:cxnSp>
          <p:nvCxnSpPr>
            <p:cNvPr id="162" name="Straight Arrow Connector 161"/>
            <p:cNvCxnSpPr/>
            <p:nvPr/>
          </p:nvCxnSpPr>
          <p:spPr>
            <a:xfrm flipH="1">
              <a:off x="5009464" y="3834913"/>
              <a:ext cx="1584358" cy="462341"/>
            </a:xfrm>
            <a:prstGeom prst="straightConnector1">
              <a:avLst/>
            </a:prstGeom>
            <a:noFill/>
            <a:ln w="25400" cap="flat" cmpd="sng" algn="ctr">
              <a:solidFill>
                <a:srgbClr val="FF0000"/>
              </a:solidFill>
              <a:prstDash val="solid"/>
              <a:tailEnd type="arrow"/>
            </a:ln>
            <a:effectLst>
              <a:outerShdw blurRad="40000" dist="20000" dir="5400000" rotWithShape="0">
                <a:srgbClr val="000000">
                  <a:alpha val="38000"/>
                </a:srgbClr>
              </a:outerShdw>
            </a:effectLst>
          </p:spPr>
        </p:cxnSp>
        <p:cxnSp>
          <p:nvCxnSpPr>
            <p:cNvPr id="163" name="Straight Arrow Connector 162"/>
            <p:cNvCxnSpPr/>
            <p:nvPr/>
          </p:nvCxnSpPr>
          <p:spPr>
            <a:xfrm>
              <a:off x="5220072" y="4562460"/>
              <a:ext cx="0" cy="367207"/>
            </a:xfrm>
            <a:prstGeom prst="straightConnector1">
              <a:avLst/>
            </a:prstGeom>
            <a:noFill/>
            <a:ln w="25400" cap="flat" cmpd="sng" algn="ctr">
              <a:solidFill>
                <a:srgbClr val="FF0000"/>
              </a:solidFill>
              <a:prstDash val="solid"/>
              <a:tailEnd type="arrow"/>
            </a:ln>
            <a:effectLst>
              <a:outerShdw blurRad="40000" dist="20000" dir="5400000" rotWithShape="0">
                <a:srgbClr val="000000">
                  <a:alpha val="38000"/>
                </a:srgbClr>
              </a:outerShdw>
            </a:effectLst>
          </p:spPr>
        </p:cxnSp>
        <p:cxnSp>
          <p:nvCxnSpPr>
            <p:cNvPr id="164" name="Straight Arrow Connector 163"/>
            <p:cNvCxnSpPr/>
            <p:nvPr/>
          </p:nvCxnSpPr>
          <p:spPr>
            <a:xfrm>
              <a:off x="5637033" y="5427368"/>
              <a:ext cx="869700" cy="238197"/>
            </a:xfrm>
            <a:prstGeom prst="straightConnector1">
              <a:avLst/>
            </a:prstGeom>
            <a:noFill/>
            <a:ln w="25400" cap="flat" cmpd="sng" algn="ctr">
              <a:solidFill>
                <a:srgbClr val="FF0000"/>
              </a:solidFill>
              <a:prstDash val="solid"/>
              <a:tailEnd type="arrow"/>
            </a:ln>
            <a:effectLst>
              <a:outerShdw blurRad="40000" dist="20000" dir="5400000" rotWithShape="0">
                <a:srgbClr val="000000">
                  <a:alpha val="38000"/>
                </a:srgbClr>
              </a:outerShdw>
            </a:effectLst>
          </p:spPr>
        </p:cxnSp>
        <p:cxnSp>
          <p:nvCxnSpPr>
            <p:cNvPr id="165" name="Straight Arrow Connector 164"/>
            <p:cNvCxnSpPr/>
            <p:nvPr/>
          </p:nvCxnSpPr>
          <p:spPr>
            <a:xfrm flipH="1">
              <a:off x="5073166" y="5754672"/>
              <a:ext cx="1584358" cy="462341"/>
            </a:xfrm>
            <a:prstGeom prst="straightConnector1">
              <a:avLst/>
            </a:prstGeom>
            <a:noFill/>
            <a:ln w="25400" cap="flat" cmpd="sng" algn="ctr">
              <a:solidFill>
                <a:srgbClr val="FF0000"/>
              </a:solidFill>
              <a:prstDash val="solid"/>
              <a:tailEnd type="arrow"/>
            </a:ln>
            <a:effectLst>
              <a:outerShdw blurRad="40000" dist="20000" dir="5400000" rotWithShape="0">
                <a:srgbClr val="000000">
                  <a:alpha val="38000"/>
                </a:srgbClr>
              </a:outerShdw>
            </a:effectLst>
          </p:spPr>
        </p:cxnSp>
      </p:grpSp>
      <p:grpSp>
        <p:nvGrpSpPr>
          <p:cNvPr id="166" name="Group 165"/>
          <p:cNvGrpSpPr/>
          <p:nvPr/>
        </p:nvGrpSpPr>
        <p:grpSpPr>
          <a:xfrm>
            <a:off x="5738531" y="2343874"/>
            <a:ext cx="28947" cy="3677414"/>
            <a:chOff x="4450056" y="2343874"/>
            <a:chExt cx="28947" cy="3677414"/>
          </a:xfrm>
        </p:grpSpPr>
        <p:cxnSp>
          <p:nvCxnSpPr>
            <p:cNvPr id="167" name="Straight Arrow Connector 166"/>
            <p:cNvCxnSpPr/>
            <p:nvPr/>
          </p:nvCxnSpPr>
          <p:spPr>
            <a:xfrm>
              <a:off x="4479003" y="2343874"/>
              <a:ext cx="0" cy="399490"/>
            </a:xfrm>
            <a:prstGeom prst="straightConnector1">
              <a:avLst/>
            </a:prstGeom>
            <a:noFill/>
            <a:ln w="25400" cap="flat" cmpd="sng" algn="ctr">
              <a:solidFill>
                <a:srgbClr val="00B050"/>
              </a:solidFill>
              <a:prstDash val="solid"/>
              <a:tailEnd type="arrow"/>
            </a:ln>
            <a:effectLst>
              <a:outerShdw blurRad="40000" dist="20000" dir="5400000" rotWithShape="0">
                <a:srgbClr val="000000">
                  <a:alpha val="38000"/>
                </a:srgbClr>
              </a:outerShdw>
            </a:effectLst>
          </p:spPr>
        </p:cxnSp>
        <p:cxnSp>
          <p:nvCxnSpPr>
            <p:cNvPr id="168" name="Straight Arrow Connector 167"/>
            <p:cNvCxnSpPr/>
            <p:nvPr/>
          </p:nvCxnSpPr>
          <p:spPr>
            <a:xfrm>
              <a:off x="4462206" y="3619148"/>
              <a:ext cx="0" cy="399490"/>
            </a:xfrm>
            <a:prstGeom prst="straightConnector1">
              <a:avLst/>
            </a:prstGeom>
            <a:noFill/>
            <a:ln w="25400" cap="flat" cmpd="sng" algn="ctr">
              <a:solidFill>
                <a:srgbClr val="00B050"/>
              </a:solidFill>
              <a:prstDash val="solid"/>
              <a:tailEnd type="arrow"/>
            </a:ln>
            <a:effectLst>
              <a:outerShdw blurRad="40000" dist="20000" dir="5400000" rotWithShape="0">
                <a:srgbClr val="000000">
                  <a:alpha val="38000"/>
                </a:srgbClr>
              </a:outerShdw>
            </a:effectLst>
          </p:spPr>
        </p:cxnSp>
        <p:cxnSp>
          <p:nvCxnSpPr>
            <p:cNvPr id="169" name="Straight Arrow Connector 168"/>
            <p:cNvCxnSpPr/>
            <p:nvPr/>
          </p:nvCxnSpPr>
          <p:spPr>
            <a:xfrm>
              <a:off x="4450056" y="4625679"/>
              <a:ext cx="0" cy="399490"/>
            </a:xfrm>
            <a:prstGeom prst="straightConnector1">
              <a:avLst/>
            </a:prstGeom>
            <a:noFill/>
            <a:ln w="25400" cap="flat" cmpd="sng" algn="ctr">
              <a:solidFill>
                <a:srgbClr val="00B050"/>
              </a:solidFill>
              <a:prstDash val="solid"/>
              <a:tailEnd type="arrow"/>
            </a:ln>
            <a:effectLst>
              <a:outerShdw blurRad="40000" dist="20000" dir="5400000" rotWithShape="0">
                <a:srgbClr val="000000">
                  <a:alpha val="38000"/>
                </a:srgbClr>
              </a:outerShdw>
            </a:effectLst>
          </p:spPr>
        </p:cxnSp>
        <p:cxnSp>
          <p:nvCxnSpPr>
            <p:cNvPr id="170" name="Straight Arrow Connector 169"/>
            <p:cNvCxnSpPr/>
            <p:nvPr/>
          </p:nvCxnSpPr>
          <p:spPr>
            <a:xfrm>
              <a:off x="4450056" y="5621798"/>
              <a:ext cx="0" cy="399490"/>
            </a:xfrm>
            <a:prstGeom prst="straightConnector1">
              <a:avLst/>
            </a:prstGeom>
            <a:noFill/>
            <a:ln w="25400" cap="flat" cmpd="sng" algn="ctr">
              <a:solidFill>
                <a:srgbClr val="00B050"/>
              </a:solidFill>
              <a:prstDash val="solid"/>
              <a:tailEnd type="arrow"/>
            </a:ln>
            <a:effectLst>
              <a:outerShdw blurRad="40000" dist="20000" dir="5400000" rotWithShape="0">
                <a:srgbClr val="000000">
                  <a:alpha val="38000"/>
                </a:srgbClr>
              </a:outerShdw>
            </a:effectLst>
          </p:spPr>
        </p:cxnSp>
      </p:grpSp>
    </p:spTree>
    <p:extLst>
      <p:ext uri="{BB962C8B-B14F-4D97-AF65-F5344CB8AC3E}">
        <p14:creationId xmlns:p14="http://schemas.microsoft.com/office/powerpoint/2010/main" val="274859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59"/>
                                        </p:tgtEl>
                                        <p:attrNameLst>
                                          <p:attrName>style.visibility</p:attrName>
                                        </p:attrNameLst>
                                      </p:cBhvr>
                                      <p:to>
                                        <p:strVal val="visible"/>
                                      </p:to>
                                    </p:set>
                                    <p:animEffect transition="in" filter="wipe(up)">
                                      <p:cBhvr>
                                        <p:cTn id="19" dur="2000"/>
                                        <p:tgtEl>
                                          <p:spTgt spid="15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66"/>
                                        </p:tgtEl>
                                        <p:attrNameLst>
                                          <p:attrName>style.visibility</p:attrName>
                                        </p:attrNameLst>
                                      </p:cBhvr>
                                      <p:to>
                                        <p:strVal val="visible"/>
                                      </p:to>
                                    </p:set>
                                    <p:animEffect transition="in" filter="wipe(up)">
                                      <p:cBhvr>
                                        <p:cTn id="24" dur="2000"/>
                                        <p:tgtEl>
                                          <p:spTgt spid="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p:bldP spid="157" grpId="0"/>
      <p:bldP spid="15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r>
              <a:rPr lang="en-US" dirty="0"/>
              <a:t>A note on path coverage</a:t>
            </a:r>
          </a:p>
        </p:txBody>
      </p:sp>
      <p:sp>
        <p:nvSpPr>
          <p:cNvPr id="40" name="Rectangle 39"/>
          <p:cNvSpPr/>
          <p:nvPr/>
        </p:nvSpPr>
        <p:spPr>
          <a:xfrm>
            <a:off x="5553850" y="1832248"/>
            <a:ext cx="1800200" cy="457200"/>
          </a:xfrm>
          <a:prstGeom prst="rect">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latin typeface="Arial"/>
                <a:ea typeface="ＭＳ Ｐゴシック"/>
                <a:cs typeface="+mn-cs"/>
              </a:rPr>
              <a:t>Read P</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latin typeface="Arial"/>
                <a:ea typeface="ＭＳ Ｐゴシック"/>
                <a:cs typeface="+mn-cs"/>
              </a:rPr>
              <a:t>Read Q</a:t>
            </a:r>
            <a:endParaRPr kumimoji="0" lang="en-IE" sz="1000" b="0" i="0" u="none" strike="noStrike" kern="0" cap="none" spc="0" normalizeH="0" baseline="0" noProof="0" dirty="0">
              <a:ln>
                <a:noFill/>
              </a:ln>
              <a:solidFill>
                <a:srgbClr val="000000"/>
              </a:solidFill>
              <a:effectLst/>
              <a:uLnTx/>
              <a:uFillTx/>
              <a:latin typeface="Arial"/>
              <a:ea typeface="ＭＳ Ｐゴシック"/>
              <a:cs typeface="+mn-cs"/>
            </a:endParaRPr>
          </a:p>
        </p:txBody>
      </p:sp>
      <p:sp>
        <p:nvSpPr>
          <p:cNvPr id="41" name="Flowchart: Connector 40"/>
          <p:cNvSpPr/>
          <p:nvPr/>
        </p:nvSpPr>
        <p:spPr>
          <a:xfrm>
            <a:off x="6339650" y="6253411"/>
            <a:ext cx="228600" cy="228600"/>
          </a:xfrm>
          <a:prstGeom prst="flowChartConnector">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IE" sz="1000" b="0" i="0" u="none" strike="noStrike" kern="0" cap="none" spc="0" normalizeH="0" baseline="0" noProof="0">
              <a:ln>
                <a:noFill/>
              </a:ln>
              <a:solidFill>
                <a:srgbClr val="FFFFFF"/>
              </a:solidFill>
              <a:effectLst/>
              <a:uLnTx/>
              <a:uFillTx/>
              <a:latin typeface="Arial"/>
              <a:ea typeface="ＭＳ Ｐゴシック"/>
              <a:cs typeface="+mn-cs"/>
            </a:endParaRPr>
          </a:p>
        </p:txBody>
      </p:sp>
      <p:sp>
        <p:nvSpPr>
          <p:cNvPr id="43" name="Flowchart: Connector 42"/>
          <p:cNvSpPr/>
          <p:nvPr/>
        </p:nvSpPr>
        <p:spPr>
          <a:xfrm>
            <a:off x="6339650" y="4308134"/>
            <a:ext cx="228600" cy="228600"/>
          </a:xfrm>
          <a:prstGeom prst="flowChartConnector">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IE" sz="1000" b="0" i="0" u="none" strike="noStrike" kern="0" cap="none" spc="0" normalizeH="0" baseline="0" noProof="0">
              <a:ln>
                <a:noFill/>
              </a:ln>
              <a:solidFill>
                <a:srgbClr val="FFFFFF"/>
              </a:solidFill>
              <a:effectLst/>
              <a:uLnTx/>
              <a:uFillTx/>
              <a:latin typeface="Arial"/>
              <a:ea typeface="ＭＳ Ｐゴシック"/>
              <a:cs typeface="+mn-cs"/>
            </a:endParaRPr>
          </a:p>
        </p:txBody>
      </p:sp>
      <p:sp>
        <p:nvSpPr>
          <p:cNvPr id="44" name="Flowchart: Decision 43"/>
          <p:cNvSpPr/>
          <p:nvPr/>
        </p:nvSpPr>
        <p:spPr>
          <a:xfrm>
            <a:off x="5697866" y="2651018"/>
            <a:ext cx="1512168" cy="710675"/>
          </a:xfrm>
          <a:prstGeom prst="flowChartDecision">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latin typeface="Arial"/>
                <a:ea typeface="ＭＳ Ｐゴシック"/>
                <a:cs typeface="+mn-cs"/>
              </a:rPr>
              <a:t>P+Q&gt;100</a:t>
            </a:r>
            <a:endParaRPr kumimoji="0" lang="en-IE" sz="1000" b="0" i="0" u="none" strike="noStrike" kern="0" cap="none" spc="0" normalizeH="0" baseline="0" noProof="0" dirty="0">
              <a:ln>
                <a:noFill/>
              </a:ln>
              <a:solidFill>
                <a:srgbClr val="000000"/>
              </a:solidFill>
              <a:effectLst/>
              <a:uLnTx/>
              <a:uFillTx/>
              <a:latin typeface="Arial"/>
              <a:ea typeface="ＭＳ Ｐゴシック"/>
              <a:cs typeface="+mn-cs"/>
            </a:endParaRPr>
          </a:p>
        </p:txBody>
      </p:sp>
      <p:sp>
        <p:nvSpPr>
          <p:cNvPr id="45" name="Rectangle 44"/>
          <p:cNvSpPr/>
          <p:nvPr/>
        </p:nvSpPr>
        <p:spPr>
          <a:xfrm>
            <a:off x="8225790" y="3361693"/>
            <a:ext cx="1800200" cy="457200"/>
          </a:xfrm>
          <a:prstGeom prst="rect">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latin typeface="Arial"/>
                <a:ea typeface="ＭＳ Ｐゴシック"/>
                <a:cs typeface="+mn-cs"/>
              </a:rPr>
              <a:t>Print “Large”</a:t>
            </a:r>
          </a:p>
        </p:txBody>
      </p:sp>
      <p:sp>
        <p:nvSpPr>
          <p:cNvPr id="46" name="Rectangle 45"/>
          <p:cNvSpPr/>
          <p:nvPr/>
        </p:nvSpPr>
        <p:spPr>
          <a:xfrm>
            <a:off x="8369806" y="5564088"/>
            <a:ext cx="1800200" cy="457200"/>
          </a:xfrm>
          <a:prstGeom prst="rect">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latin typeface="Arial"/>
                <a:ea typeface="ＭＳ Ｐゴシック"/>
                <a:cs typeface="+mn-cs"/>
              </a:rPr>
              <a:t>Print “P Large”</a:t>
            </a:r>
            <a:endParaRPr kumimoji="0" lang="en-IE" sz="1000" b="0" i="0" u="none" strike="noStrike" kern="0" cap="none" spc="0" normalizeH="0" baseline="0" noProof="0" dirty="0">
              <a:ln>
                <a:noFill/>
              </a:ln>
              <a:solidFill>
                <a:srgbClr val="000000"/>
              </a:solidFill>
              <a:effectLst/>
              <a:uLnTx/>
              <a:uFillTx/>
              <a:latin typeface="Arial"/>
              <a:ea typeface="ＭＳ Ｐゴシック"/>
              <a:cs typeface="+mn-cs"/>
            </a:endParaRPr>
          </a:p>
        </p:txBody>
      </p:sp>
      <p:sp>
        <p:nvSpPr>
          <p:cNvPr id="47" name="Flowchart: Decision 46"/>
          <p:cNvSpPr/>
          <p:nvPr/>
        </p:nvSpPr>
        <p:spPr>
          <a:xfrm>
            <a:off x="5697866" y="4806557"/>
            <a:ext cx="1512168" cy="710675"/>
          </a:xfrm>
          <a:prstGeom prst="flowChartDecision">
            <a:avLst/>
          </a:prstGeom>
          <a:gradFill rotWithShape="1">
            <a:gsLst>
              <a:gs pos="0">
                <a:srgbClr val="BBE0E3">
                  <a:tint val="100000"/>
                  <a:shade val="100000"/>
                  <a:satMod val="130000"/>
                </a:srgbClr>
              </a:gs>
              <a:gs pos="100000">
                <a:srgbClr val="BBE0E3">
                  <a:tint val="50000"/>
                  <a:shade val="100000"/>
                  <a:satMod val="350000"/>
                </a:srgbClr>
              </a:gs>
            </a:gsLst>
            <a:lin ang="16200000" scaled="0"/>
          </a:gra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latin typeface="Arial"/>
                <a:ea typeface="ＭＳ Ｐゴシック"/>
                <a:cs typeface="+mn-cs"/>
              </a:rPr>
              <a:t>P&gt;50</a:t>
            </a:r>
            <a:endParaRPr kumimoji="0" lang="en-IE" sz="1000" b="0" i="0" u="none" strike="noStrike" kern="0" cap="none" spc="0" normalizeH="0" baseline="0" noProof="0" dirty="0">
              <a:ln>
                <a:noFill/>
              </a:ln>
              <a:solidFill>
                <a:srgbClr val="000000"/>
              </a:solidFill>
              <a:effectLst/>
              <a:uLnTx/>
              <a:uFillTx/>
              <a:latin typeface="Arial"/>
              <a:ea typeface="ＭＳ Ｐゴシック"/>
              <a:cs typeface="+mn-cs"/>
            </a:endParaRPr>
          </a:p>
        </p:txBody>
      </p:sp>
      <p:sp>
        <p:nvSpPr>
          <p:cNvPr id="48" name="TextBox 47"/>
          <p:cNvSpPr txBox="1"/>
          <p:nvPr/>
        </p:nvSpPr>
        <p:spPr>
          <a:xfrm>
            <a:off x="1992770" y="1731569"/>
            <a:ext cx="2448272" cy="1477328"/>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Read P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Read Q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IF P+Q &gt; 100 THEN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Print “Large”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ENDIF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If P &gt; 50 THEN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Print “P Large”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ENDIF</a:t>
            </a:r>
          </a:p>
          <a:p>
            <a:pPr marL="0" marR="0" lvl="0" indent="0" defTabSz="914400" eaLnBrk="1" fontAlgn="base" latinLnBrk="0" hangingPunct="1">
              <a:lnSpc>
                <a:spcPct val="100000"/>
              </a:lnSpc>
              <a:spcBef>
                <a:spcPct val="0"/>
              </a:spcBef>
              <a:spcAft>
                <a:spcPct val="0"/>
              </a:spcAft>
              <a:buClrTx/>
              <a:buSzTx/>
              <a:buFontTx/>
              <a:buNone/>
              <a:tabLst/>
              <a:defRPr/>
            </a:pPr>
            <a:endParaRPr kumimoji="0" lang="en-IE" sz="1000" b="0" i="0" u="none" strike="noStrike" kern="0" cap="none" spc="0" normalizeH="0" baseline="0" noProof="0" dirty="0">
              <a:ln>
                <a:noFill/>
              </a:ln>
              <a:solidFill>
                <a:srgbClr val="000000"/>
              </a:solidFill>
              <a:effectLst/>
              <a:uLnTx/>
              <a:uFillTx/>
            </a:endParaRPr>
          </a:p>
        </p:txBody>
      </p:sp>
      <p:cxnSp>
        <p:nvCxnSpPr>
          <p:cNvPr id="70" name="Straight Arrow Connector 69"/>
          <p:cNvCxnSpPr>
            <a:stCxn id="45" idx="2"/>
            <a:endCxn id="43" idx="6"/>
          </p:cNvCxnSpPr>
          <p:nvPr/>
        </p:nvCxnSpPr>
        <p:spPr>
          <a:xfrm flipH="1">
            <a:off x="6568250" y="3818893"/>
            <a:ext cx="2557640" cy="603541"/>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71" name="Straight Arrow Connector 70"/>
          <p:cNvCxnSpPr>
            <a:stCxn id="40" idx="2"/>
            <a:endCxn id="44" idx="0"/>
          </p:cNvCxnSpPr>
          <p:nvPr/>
        </p:nvCxnSpPr>
        <p:spPr>
          <a:xfrm>
            <a:off x="6453950" y="2289448"/>
            <a:ext cx="0" cy="361570"/>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72" name="Straight Arrow Connector 71"/>
          <p:cNvCxnSpPr>
            <a:stCxn id="44" idx="3"/>
            <a:endCxn id="45" idx="0"/>
          </p:cNvCxnSpPr>
          <p:nvPr/>
        </p:nvCxnSpPr>
        <p:spPr>
          <a:xfrm>
            <a:off x="7210034" y="3006356"/>
            <a:ext cx="1915856" cy="355337"/>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73" name="Straight Arrow Connector 72"/>
          <p:cNvCxnSpPr>
            <a:stCxn id="44" idx="2"/>
            <a:endCxn id="43" idx="0"/>
          </p:cNvCxnSpPr>
          <p:nvPr/>
        </p:nvCxnSpPr>
        <p:spPr>
          <a:xfrm>
            <a:off x="6453950" y="3361693"/>
            <a:ext cx="0" cy="946441"/>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74" name="Straight Arrow Connector 73"/>
          <p:cNvCxnSpPr>
            <a:stCxn id="43" idx="4"/>
            <a:endCxn id="47" idx="0"/>
          </p:cNvCxnSpPr>
          <p:nvPr/>
        </p:nvCxnSpPr>
        <p:spPr>
          <a:xfrm>
            <a:off x="6453950" y="4536734"/>
            <a:ext cx="0" cy="269823"/>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75" name="Straight Arrow Connector 74"/>
          <p:cNvCxnSpPr>
            <a:stCxn id="47" idx="3"/>
            <a:endCxn id="46" idx="0"/>
          </p:cNvCxnSpPr>
          <p:nvPr/>
        </p:nvCxnSpPr>
        <p:spPr>
          <a:xfrm>
            <a:off x="7210034" y="5161895"/>
            <a:ext cx="2059872" cy="402193"/>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76" name="Straight Arrow Connector 75"/>
          <p:cNvCxnSpPr>
            <a:stCxn id="47" idx="2"/>
            <a:endCxn id="41" idx="0"/>
          </p:cNvCxnSpPr>
          <p:nvPr/>
        </p:nvCxnSpPr>
        <p:spPr>
          <a:xfrm>
            <a:off x="6453950" y="5517232"/>
            <a:ext cx="0" cy="736179"/>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cxnSp>
        <p:nvCxnSpPr>
          <p:cNvPr id="77" name="Straight Arrow Connector 76"/>
          <p:cNvCxnSpPr>
            <a:stCxn id="46" idx="2"/>
            <a:endCxn id="41" idx="6"/>
          </p:cNvCxnSpPr>
          <p:nvPr/>
        </p:nvCxnSpPr>
        <p:spPr>
          <a:xfrm flipH="1">
            <a:off x="6568250" y="6021288"/>
            <a:ext cx="2701656" cy="346423"/>
          </a:xfrm>
          <a:prstGeom prst="straightConnector1">
            <a:avLst/>
          </a:prstGeom>
          <a:noFill/>
          <a:ln w="25400" cap="flat" cmpd="sng" algn="ctr">
            <a:solidFill>
              <a:srgbClr val="000000"/>
            </a:solidFill>
            <a:prstDash val="solid"/>
            <a:tailEnd type="arrow"/>
          </a:ln>
          <a:effectLst>
            <a:outerShdw blurRad="40000" dist="20000" dir="5400000" rotWithShape="0">
              <a:srgbClr val="000000">
                <a:alpha val="38000"/>
              </a:srgbClr>
            </a:outerShdw>
          </a:effectLst>
        </p:spPr>
      </p:cxnSp>
      <p:sp>
        <p:nvSpPr>
          <p:cNvPr id="78" name="TextBox 77"/>
          <p:cNvSpPr txBox="1"/>
          <p:nvPr/>
        </p:nvSpPr>
        <p:spPr>
          <a:xfrm>
            <a:off x="7433702" y="1946121"/>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1</a:t>
            </a:r>
            <a:endParaRPr kumimoji="0" lang="en-IE" sz="1000" b="0" i="0" u="none" strike="noStrike" kern="0" cap="none" spc="0" normalizeH="0" baseline="0" noProof="0" dirty="0">
              <a:ln>
                <a:noFill/>
              </a:ln>
              <a:solidFill>
                <a:srgbClr val="000000"/>
              </a:solidFill>
              <a:effectLst/>
              <a:uLnTx/>
              <a:uFillTx/>
            </a:endParaRPr>
          </a:p>
        </p:txBody>
      </p:sp>
      <p:sp>
        <p:nvSpPr>
          <p:cNvPr id="79" name="TextBox 78"/>
          <p:cNvSpPr txBox="1"/>
          <p:nvPr/>
        </p:nvSpPr>
        <p:spPr>
          <a:xfrm>
            <a:off x="6460238" y="3588692"/>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B</a:t>
            </a:r>
            <a:endParaRPr kumimoji="0" lang="en-IE" sz="1000" b="0" i="0" u="none" strike="noStrike" kern="0" cap="none" spc="0" normalizeH="0" baseline="0" noProof="0" dirty="0">
              <a:ln>
                <a:noFill/>
              </a:ln>
              <a:solidFill>
                <a:srgbClr val="000000"/>
              </a:solidFill>
              <a:effectLst/>
              <a:uLnTx/>
              <a:uFillTx/>
            </a:endParaRPr>
          </a:p>
        </p:txBody>
      </p:sp>
      <p:sp>
        <p:nvSpPr>
          <p:cNvPr id="80" name="TextBox 79"/>
          <p:cNvSpPr txBox="1"/>
          <p:nvPr/>
        </p:nvSpPr>
        <p:spPr>
          <a:xfrm>
            <a:off x="10170006" y="5669577"/>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rPr>
              <a:t>5</a:t>
            </a:r>
            <a:endParaRPr kumimoji="0" lang="en-IE" sz="1000" b="0" i="0" u="none" strike="noStrike" kern="0" cap="none" spc="0" normalizeH="0" baseline="0" noProof="0" dirty="0">
              <a:ln>
                <a:noFill/>
              </a:ln>
              <a:solidFill>
                <a:srgbClr val="000000"/>
              </a:solidFill>
              <a:effectLst/>
              <a:uLnTx/>
              <a:uFillTx/>
            </a:endParaRPr>
          </a:p>
        </p:txBody>
      </p:sp>
      <p:sp>
        <p:nvSpPr>
          <p:cNvPr id="81" name="TextBox 80"/>
          <p:cNvSpPr txBox="1"/>
          <p:nvPr/>
        </p:nvSpPr>
        <p:spPr>
          <a:xfrm>
            <a:off x="6893642" y="4806557"/>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rPr>
              <a:t>4</a:t>
            </a:r>
            <a:endParaRPr kumimoji="0" lang="en-IE" sz="1000" b="0" i="0" u="none" strike="noStrike" kern="0" cap="none" spc="0" normalizeH="0" baseline="0" noProof="0" dirty="0">
              <a:ln>
                <a:noFill/>
              </a:ln>
              <a:solidFill>
                <a:srgbClr val="000000"/>
              </a:solidFill>
              <a:effectLst/>
              <a:uLnTx/>
              <a:uFillTx/>
            </a:endParaRPr>
          </a:p>
        </p:txBody>
      </p:sp>
      <p:sp>
        <p:nvSpPr>
          <p:cNvPr id="82" name="TextBox 81"/>
          <p:cNvSpPr txBox="1"/>
          <p:nvPr/>
        </p:nvSpPr>
        <p:spPr>
          <a:xfrm>
            <a:off x="10061994" y="3467182"/>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rPr>
              <a:t>3</a:t>
            </a:r>
            <a:endParaRPr kumimoji="0" lang="en-IE" sz="1000" b="0" i="0" u="none" strike="noStrike" kern="0" cap="none" spc="0" normalizeH="0" baseline="0" noProof="0" dirty="0">
              <a:ln>
                <a:noFill/>
              </a:ln>
              <a:solidFill>
                <a:srgbClr val="000000"/>
              </a:solidFill>
              <a:effectLst/>
              <a:uLnTx/>
              <a:uFillTx/>
            </a:endParaRPr>
          </a:p>
        </p:txBody>
      </p:sp>
      <p:sp>
        <p:nvSpPr>
          <p:cNvPr id="83" name="TextBox 82"/>
          <p:cNvSpPr txBox="1"/>
          <p:nvPr/>
        </p:nvSpPr>
        <p:spPr>
          <a:xfrm>
            <a:off x="6785630" y="2620253"/>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1000" b="0" i="0" u="none" strike="noStrike" kern="0" cap="none" spc="0" normalizeH="0" baseline="0" noProof="0" dirty="0">
                <a:ln>
                  <a:noFill/>
                </a:ln>
                <a:solidFill>
                  <a:srgbClr val="000000"/>
                </a:solidFill>
                <a:effectLst/>
                <a:uLnTx/>
                <a:uFillTx/>
              </a:rPr>
              <a:t>2</a:t>
            </a:r>
            <a:endParaRPr kumimoji="0" lang="en-IE" sz="1000" b="0" i="0" u="none" strike="noStrike" kern="0" cap="none" spc="0" normalizeH="0" baseline="0" noProof="0" dirty="0">
              <a:ln>
                <a:noFill/>
              </a:ln>
              <a:solidFill>
                <a:srgbClr val="000000"/>
              </a:solidFill>
              <a:effectLst/>
              <a:uLnTx/>
              <a:uFillTx/>
            </a:endParaRPr>
          </a:p>
        </p:txBody>
      </p:sp>
      <p:sp>
        <p:nvSpPr>
          <p:cNvPr id="84" name="TextBox 83"/>
          <p:cNvSpPr txBox="1"/>
          <p:nvPr/>
        </p:nvSpPr>
        <p:spPr>
          <a:xfrm>
            <a:off x="6460238" y="2343874"/>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A</a:t>
            </a:r>
            <a:endParaRPr kumimoji="0" lang="en-IE" sz="1000" b="0" i="0" u="none" strike="noStrike" kern="0" cap="none" spc="0" normalizeH="0" baseline="0" noProof="0" dirty="0">
              <a:ln>
                <a:noFill/>
              </a:ln>
              <a:solidFill>
                <a:srgbClr val="000000"/>
              </a:solidFill>
              <a:effectLst/>
              <a:uLnTx/>
              <a:uFillTx/>
            </a:endParaRPr>
          </a:p>
        </p:txBody>
      </p:sp>
      <p:sp>
        <p:nvSpPr>
          <p:cNvPr id="85" name="TextBox 84"/>
          <p:cNvSpPr txBox="1"/>
          <p:nvPr/>
        </p:nvSpPr>
        <p:spPr>
          <a:xfrm>
            <a:off x="7943356" y="2889811"/>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C</a:t>
            </a:r>
            <a:endParaRPr kumimoji="0" lang="en-IE" sz="1000" b="0" i="0" u="none" strike="noStrike" kern="0" cap="none" spc="0" normalizeH="0" baseline="0" noProof="0" dirty="0">
              <a:ln>
                <a:noFill/>
              </a:ln>
              <a:solidFill>
                <a:srgbClr val="000000"/>
              </a:solidFill>
              <a:effectLst/>
              <a:uLnTx/>
              <a:uFillTx/>
            </a:endParaRPr>
          </a:p>
        </p:txBody>
      </p:sp>
      <p:sp>
        <p:nvSpPr>
          <p:cNvPr id="86" name="TextBox 85"/>
          <p:cNvSpPr txBox="1"/>
          <p:nvPr/>
        </p:nvSpPr>
        <p:spPr>
          <a:xfrm>
            <a:off x="7727332" y="4120663"/>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D</a:t>
            </a:r>
            <a:endParaRPr kumimoji="0" lang="en-IE" sz="1000" b="0" i="0" u="none" strike="noStrike" kern="0" cap="none" spc="0" normalizeH="0" baseline="0" noProof="0" dirty="0">
              <a:ln>
                <a:noFill/>
              </a:ln>
              <a:solidFill>
                <a:srgbClr val="000000"/>
              </a:solidFill>
              <a:effectLst/>
              <a:uLnTx/>
              <a:uFillTx/>
            </a:endParaRPr>
          </a:p>
        </p:txBody>
      </p:sp>
      <p:sp>
        <p:nvSpPr>
          <p:cNvPr id="87" name="TextBox 86"/>
          <p:cNvSpPr txBox="1"/>
          <p:nvPr/>
        </p:nvSpPr>
        <p:spPr>
          <a:xfrm>
            <a:off x="6467010" y="4528087"/>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E</a:t>
            </a:r>
            <a:endParaRPr kumimoji="0" lang="en-IE" sz="1000" b="0" i="0" u="none" strike="noStrike" kern="0" cap="none" spc="0" normalizeH="0" baseline="0" noProof="0" dirty="0">
              <a:ln>
                <a:noFill/>
              </a:ln>
              <a:solidFill>
                <a:srgbClr val="000000"/>
              </a:solidFill>
              <a:effectLst/>
              <a:uLnTx/>
              <a:uFillTx/>
            </a:endParaRPr>
          </a:p>
        </p:txBody>
      </p:sp>
      <p:sp>
        <p:nvSpPr>
          <p:cNvPr id="88" name="TextBox 87"/>
          <p:cNvSpPr txBox="1"/>
          <p:nvPr/>
        </p:nvSpPr>
        <p:spPr>
          <a:xfrm>
            <a:off x="7577706" y="5985843"/>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H</a:t>
            </a:r>
            <a:endParaRPr kumimoji="0" lang="en-IE" sz="1000" b="0" i="0" u="none" strike="noStrike" kern="0" cap="none" spc="0" normalizeH="0" baseline="0" noProof="0" dirty="0">
              <a:ln>
                <a:noFill/>
              </a:ln>
              <a:solidFill>
                <a:srgbClr val="000000"/>
              </a:solidFill>
              <a:effectLst/>
              <a:uLnTx/>
              <a:uFillTx/>
            </a:endParaRPr>
          </a:p>
        </p:txBody>
      </p:sp>
      <p:sp>
        <p:nvSpPr>
          <p:cNvPr id="89" name="TextBox 88"/>
          <p:cNvSpPr txBox="1"/>
          <p:nvPr/>
        </p:nvSpPr>
        <p:spPr>
          <a:xfrm>
            <a:off x="7943356" y="5114473"/>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G</a:t>
            </a:r>
            <a:endParaRPr kumimoji="0" lang="en-IE" sz="1000" b="0" i="0" u="none" strike="noStrike" kern="0" cap="none" spc="0" normalizeH="0" baseline="0" noProof="0" dirty="0">
              <a:ln>
                <a:noFill/>
              </a:ln>
              <a:solidFill>
                <a:srgbClr val="000000"/>
              </a:solidFill>
              <a:effectLst/>
              <a:uLnTx/>
              <a:uFillTx/>
            </a:endParaRPr>
          </a:p>
        </p:txBody>
      </p:sp>
      <p:sp>
        <p:nvSpPr>
          <p:cNvPr id="90" name="TextBox 89"/>
          <p:cNvSpPr txBox="1"/>
          <p:nvPr/>
        </p:nvSpPr>
        <p:spPr>
          <a:xfrm>
            <a:off x="6453950" y="5669577"/>
            <a:ext cx="216024"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F</a:t>
            </a:r>
            <a:endParaRPr kumimoji="0" lang="en-IE" sz="1000" b="0" i="0" u="none" strike="noStrike" kern="0" cap="none" spc="0" normalizeH="0" baseline="0" noProof="0" dirty="0">
              <a:ln>
                <a:noFill/>
              </a:ln>
              <a:solidFill>
                <a:srgbClr val="000000"/>
              </a:solidFill>
              <a:effectLst/>
              <a:uLnTx/>
              <a:uFillTx/>
            </a:endParaRPr>
          </a:p>
        </p:txBody>
      </p:sp>
      <p:sp>
        <p:nvSpPr>
          <p:cNvPr id="91" name="TextBox 90"/>
          <p:cNvSpPr txBox="1"/>
          <p:nvPr/>
        </p:nvSpPr>
        <p:spPr>
          <a:xfrm>
            <a:off x="5698660" y="4316239"/>
            <a:ext cx="648072"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ENDIF</a:t>
            </a:r>
          </a:p>
        </p:txBody>
      </p:sp>
      <p:sp>
        <p:nvSpPr>
          <p:cNvPr id="92" name="TextBox 91"/>
          <p:cNvSpPr txBox="1"/>
          <p:nvPr/>
        </p:nvSpPr>
        <p:spPr>
          <a:xfrm>
            <a:off x="5691578" y="6262921"/>
            <a:ext cx="648072"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ENDIF</a:t>
            </a:r>
          </a:p>
        </p:txBody>
      </p:sp>
      <p:sp>
        <p:nvSpPr>
          <p:cNvPr id="93" name="TextBox 92"/>
          <p:cNvSpPr txBox="1"/>
          <p:nvPr/>
        </p:nvSpPr>
        <p:spPr>
          <a:xfrm>
            <a:off x="6130716" y="3429000"/>
            <a:ext cx="424772"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No</a:t>
            </a:r>
          </a:p>
        </p:txBody>
      </p:sp>
      <p:sp>
        <p:nvSpPr>
          <p:cNvPr id="94" name="TextBox 93"/>
          <p:cNvSpPr txBox="1"/>
          <p:nvPr/>
        </p:nvSpPr>
        <p:spPr>
          <a:xfrm>
            <a:off x="6127264" y="5546467"/>
            <a:ext cx="424772"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No</a:t>
            </a:r>
          </a:p>
        </p:txBody>
      </p:sp>
      <p:sp>
        <p:nvSpPr>
          <p:cNvPr id="95" name="TextBox 94"/>
          <p:cNvSpPr txBox="1"/>
          <p:nvPr/>
        </p:nvSpPr>
        <p:spPr>
          <a:xfrm>
            <a:off x="7433702" y="2866474"/>
            <a:ext cx="424772"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Yes</a:t>
            </a:r>
          </a:p>
        </p:txBody>
      </p:sp>
      <p:sp>
        <p:nvSpPr>
          <p:cNvPr id="96" name="TextBox 95"/>
          <p:cNvSpPr txBox="1"/>
          <p:nvPr/>
        </p:nvSpPr>
        <p:spPr>
          <a:xfrm>
            <a:off x="7449922" y="5038783"/>
            <a:ext cx="424772" cy="24622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Yes</a:t>
            </a:r>
          </a:p>
        </p:txBody>
      </p:sp>
      <p:sp>
        <p:nvSpPr>
          <p:cNvPr id="97" name="TextBox 96"/>
          <p:cNvSpPr txBox="1"/>
          <p:nvPr/>
        </p:nvSpPr>
        <p:spPr>
          <a:xfrm>
            <a:off x="2033102" y="3356992"/>
            <a:ext cx="2448272" cy="1169551"/>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sng" strike="noStrike" kern="0" cap="none" spc="0" normalizeH="0" baseline="0" noProof="0" dirty="0">
                <a:ln>
                  <a:noFill/>
                </a:ln>
                <a:solidFill>
                  <a:srgbClr val="000000"/>
                </a:solidFill>
                <a:effectLst/>
                <a:uLnTx/>
                <a:uFillTx/>
              </a:rPr>
              <a:t>Path Coverage</a:t>
            </a:r>
            <a:r>
              <a:rPr kumimoji="0" lang="en-US" sz="1000" b="0" i="0" u="none" strike="noStrike" kern="0" cap="none" spc="0" normalizeH="0" baseline="0" noProof="0" dirty="0">
                <a:ln>
                  <a:noFill/>
                </a:ln>
                <a:solidFill>
                  <a:srgbClr val="000000"/>
                </a:solidFill>
                <a:effectLst/>
                <a:uLnTx/>
                <a:uFillTx/>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Path Coverage ensures covering of all the paths from start to end.</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000" b="0" i="0" u="none" strike="noStrike" kern="0" cap="none" spc="0" normalizeH="0" baseline="0" noProof="0" dirty="0">
              <a:ln>
                <a:noFill/>
              </a:ln>
              <a:solidFill>
                <a:srgbClr val="000000"/>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All possible paths are?</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000" b="0" i="0" u="none" strike="noStrike" kern="0" cap="none" spc="0" normalizeH="0" baseline="0" noProof="0" dirty="0">
              <a:ln>
                <a:noFill/>
              </a:ln>
              <a:solidFill>
                <a:srgbClr val="000000"/>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IE" sz="1000" b="0" i="0" u="none" strike="noStrike" kern="0" cap="none" spc="0" normalizeH="0" baseline="0" noProof="0" dirty="0">
              <a:ln>
                <a:noFill/>
              </a:ln>
              <a:solidFill>
                <a:srgbClr val="000000"/>
              </a:solidFill>
              <a:effectLst/>
              <a:uLnTx/>
              <a:uFillTx/>
            </a:endParaRPr>
          </a:p>
        </p:txBody>
      </p:sp>
      <p:sp>
        <p:nvSpPr>
          <p:cNvPr id="98" name="TextBox 97"/>
          <p:cNvSpPr txBox="1"/>
          <p:nvPr/>
        </p:nvSpPr>
        <p:spPr>
          <a:xfrm>
            <a:off x="2033102" y="4209357"/>
            <a:ext cx="2797918" cy="1015663"/>
          </a:xfrm>
          <a:prstGeom prst="rect">
            <a:avLst/>
          </a:prstGeom>
          <a:noFill/>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 1A-2B-E-4F</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 1A-2B-E-4G-5H</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 1A-2C-3D-E-4G-5H</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 1A-2C-3D-E-4F</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1000" b="0" i="0" u="none" strike="noStrike" kern="0" cap="none" spc="0" normalizeH="0" baseline="0" noProof="0" dirty="0">
              <a:ln>
                <a:noFill/>
              </a:ln>
              <a:solidFill>
                <a:srgbClr val="000000"/>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rPr>
              <a:t>Hence </a:t>
            </a:r>
            <a:r>
              <a:rPr kumimoji="0" lang="en-US" sz="1000" b="1" i="0" u="none" strike="noStrike" kern="0" cap="none" spc="0" normalizeH="0" baseline="0" noProof="0" dirty="0">
                <a:ln>
                  <a:noFill/>
                </a:ln>
                <a:solidFill>
                  <a:srgbClr val="000000"/>
                </a:solidFill>
                <a:effectLst/>
                <a:uLnTx/>
                <a:uFillTx/>
              </a:rPr>
              <a:t>4 possible paths</a:t>
            </a:r>
            <a:r>
              <a:rPr kumimoji="0" lang="en-US" sz="1000" b="0" i="0" u="none" strike="noStrike" kern="0" cap="none" spc="0" normalizeH="0" baseline="0" noProof="0" dirty="0">
                <a:ln>
                  <a:noFill/>
                </a:ln>
                <a:solidFill>
                  <a:srgbClr val="000000"/>
                </a:solidFill>
                <a:effectLst/>
                <a:uLnTx/>
                <a:uFillTx/>
              </a:rPr>
              <a:t>.</a:t>
            </a:r>
            <a:endParaRPr kumimoji="0" lang="en-IE" sz="10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315724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P spid="98"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24930" name="Rectangle 2"/>
          <p:cNvSpPr>
            <a:spLocks noGrp="1" noChangeArrowheads="1"/>
          </p:cNvSpPr>
          <p:nvPr>
            <p:ph type="title"/>
          </p:nvPr>
        </p:nvSpPr>
        <p:spPr/>
        <p:txBody>
          <a:bodyPr/>
          <a:lstStyle/>
          <a:p>
            <a:r>
              <a:rPr lang="en-US" dirty="0"/>
              <a:t>Coverage in python</a:t>
            </a:r>
          </a:p>
        </p:txBody>
      </p:sp>
      <p:sp>
        <p:nvSpPr>
          <p:cNvPr id="3324931" name="Rectangle 3"/>
          <p:cNvSpPr>
            <a:spLocks noGrp="1" noChangeArrowheads="1"/>
          </p:cNvSpPr>
          <p:nvPr>
            <p:ph type="body" idx="1"/>
          </p:nvPr>
        </p:nvSpPr>
        <p:spPr/>
        <p:txBody>
          <a:bodyPr/>
          <a:lstStyle/>
          <a:p>
            <a:pPr marL="457200" indent="-457200">
              <a:buFont typeface="Arial" panose="020B0604020202020204" pitchFamily="34" charset="0"/>
              <a:buChar char="•"/>
            </a:pPr>
            <a:r>
              <a:rPr lang="en-US" i="1" dirty="0"/>
              <a:t>Coverage</a:t>
            </a:r>
            <a:r>
              <a:rPr lang="en-US" dirty="0"/>
              <a:t> python package</a:t>
            </a:r>
          </a:p>
          <a:p>
            <a:pPr marL="457200" indent="-457200">
              <a:buFont typeface="Arial" panose="020B0604020202020204" pitchFamily="34" charset="0"/>
              <a:buChar char="•"/>
            </a:pPr>
            <a:r>
              <a:rPr lang="en-US" dirty="0"/>
              <a:t>Run tests (using the </a:t>
            </a:r>
            <a:r>
              <a:rPr lang="en-US" dirty="0" err="1"/>
              <a:t>unittest</a:t>
            </a:r>
            <a:r>
              <a:rPr lang="en-US" dirty="0"/>
              <a:t> framework)</a:t>
            </a:r>
          </a:p>
          <a:p>
            <a:pPr marL="457200" indent="-457200">
              <a:buFont typeface="Arial" panose="020B0604020202020204" pitchFamily="34" charset="0"/>
              <a:buChar char="•"/>
            </a:pPr>
            <a:r>
              <a:rPr lang="en-US" dirty="0"/>
              <a:t>Obtain a report on the number of lines executed (or not)</a:t>
            </a:r>
          </a:p>
          <a:p>
            <a:pPr marL="457200" indent="-457200">
              <a:buFont typeface="Arial" panose="020B0604020202020204" pitchFamily="34" charset="0"/>
              <a:buChar char="•"/>
            </a:pPr>
            <a:r>
              <a:rPr lang="en-US" dirty="0"/>
              <a:t>Sample report output</a:t>
            </a:r>
          </a:p>
          <a:p>
            <a:pPr lvl="2"/>
            <a:r>
              <a:rPr lang="en-IE" i="1" dirty="0"/>
              <a:t>$ coverage report</a:t>
            </a:r>
            <a:endParaRPr lang="en-IE" dirty="0"/>
          </a:p>
          <a:p>
            <a:pPr lvl="2"/>
            <a:r>
              <a:rPr lang="en-IE" i="1" dirty="0"/>
              <a:t>Name      </a:t>
            </a:r>
            <a:r>
              <a:rPr lang="en-IE" i="1" dirty="0" err="1"/>
              <a:t>Stmts</a:t>
            </a:r>
            <a:r>
              <a:rPr lang="en-IE" i="1" dirty="0"/>
              <a:t>   Miss  Cover</a:t>
            </a:r>
            <a:endParaRPr lang="en-IE" dirty="0"/>
          </a:p>
          <a:p>
            <a:pPr lvl="2"/>
            <a:r>
              <a:rPr lang="en-IE" i="1" dirty="0"/>
              <a:t>—————————–</a:t>
            </a:r>
            <a:endParaRPr lang="en-IE" dirty="0"/>
          </a:p>
          <a:p>
            <a:pPr lvl="2"/>
            <a:r>
              <a:rPr lang="en-IE" i="1" dirty="0"/>
              <a:t>app.py       14      9    36%</a:t>
            </a:r>
            <a:endParaRPr lang="en-IE" dirty="0"/>
          </a:p>
          <a:p>
            <a:pPr lvl="2"/>
            <a:r>
              <a:rPr lang="en-IE" i="1" dirty="0"/>
              <a:t>test.py      15      0   100%</a:t>
            </a:r>
            <a:endParaRPr lang="en-IE" dirty="0"/>
          </a:p>
          <a:p>
            <a:pPr lvl="2"/>
            <a:r>
              <a:rPr lang="en-IE" i="1" dirty="0"/>
              <a:t>—————————–</a:t>
            </a:r>
            <a:endParaRPr lang="en-IE" dirty="0"/>
          </a:p>
          <a:p>
            <a:pPr lvl="2"/>
            <a:r>
              <a:rPr lang="en-IE" i="1" dirty="0"/>
              <a:t>TOTAL        29      9    69%</a:t>
            </a:r>
            <a:endParaRPr lang="en-IE" dirty="0"/>
          </a:p>
          <a:p>
            <a:endParaRPr lang="en-US" dirty="0"/>
          </a:p>
        </p:txBody>
      </p:sp>
    </p:spTree>
    <p:extLst>
      <p:ext uri="{BB962C8B-B14F-4D97-AF65-F5344CB8AC3E}">
        <p14:creationId xmlns:p14="http://schemas.microsoft.com/office/powerpoint/2010/main" val="39659103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1_EvolutifStandard">
  <a:themeElements>
    <a:clrScheme name="">
      <a:dk1>
        <a:srgbClr val="00279F"/>
      </a:dk1>
      <a:lt1>
        <a:srgbClr val="FFFFFF"/>
      </a:lt1>
      <a:dk2>
        <a:srgbClr val="0000FF"/>
      </a:dk2>
      <a:lt2>
        <a:srgbClr val="FFFF00"/>
      </a:lt2>
      <a:accent1>
        <a:srgbClr val="F57B49"/>
      </a:accent1>
      <a:accent2>
        <a:srgbClr val="FF00FF"/>
      </a:accent2>
      <a:accent3>
        <a:srgbClr val="AAAAFF"/>
      </a:accent3>
      <a:accent4>
        <a:srgbClr val="DADADA"/>
      </a:accent4>
      <a:accent5>
        <a:srgbClr val="F9BFB1"/>
      </a:accent5>
      <a:accent6>
        <a:srgbClr val="E700E7"/>
      </a:accent6>
      <a:hlink>
        <a:srgbClr val="FF0000"/>
      </a:hlink>
      <a:folHlink>
        <a:srgbClr val="919191"/>
      </a:folHlink>
    </a:clrScheme>
    <a:fontScheme name="EvolutifStandard">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lnDef>
  </a:objectDefaults>
  <a:extraClrSchemeLst>
    <a:extraClrScheme>
      <a:clrScheme name="EvolutifStandard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volutifStandar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EvolutifStandard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volutifStandard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volutifStandard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volutifStandard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EvolutifStandard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30512</TotalTime>
  <Words>1554</Words>
  <Application>Microsoft Office PowerPoint</Application>
  <PresentationFormat>Widescreen</PresentationFormat>
  <Paragraphs>272</Paragraphs>
  <Slides>21</Slides>
  <Notes>21</Notes>
  <HiddenSlides>1</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21</vt:i4>
      </vt:variant>
    </vt:vector>
  </HeadingPairs>
  <TitlesOfParts>
    <vt:vector size="27" baseType="lpstr">
      <vt:lpstr>MS PGothic</vt:lpstr>
      <vt:lpstr>Arial</vt:lpstr>
      <vt:lpstr>Calibri</vt:lpstr>
      <vt:lpstr>Monotype Sorts</vt:lpstr>
      <vt:lpstr>1_EvolutifStandard</vt:lpstr>
      <vt:lpstr>Default Design</vt:lpstr>
      <vt:lpstr>Path Testing</vt:lpstr>
      <vt:lpstr>Path testing</vt:lpstr>
      <vt:lpstr>Path testing</vt:lpstr>
      <vt:lpstr>Bug assumption for path testing</vt:lpstr>
      <vt:lpstr>Coverage</vt:lpstr>
      <vt:lpstr>Coverage measurement</vt:lpstr>
      <vt:lpstr>Path Coverage in practice?</vt:lpstr>
      <vt:lpstr>Procedure for statement testing</vt:lpstr>
      <vt:lpstr>From paths to test cases</vt:lpstr>
      <vt:lpstr>Statement Testing</vt:lpstr>
      <vt:lpstr>What are statements?</vt:lpstr>
      <vt:lpstr>Sensitising the paths</vt:lpstr>
      <vt:lpstr>Statement coverage</vt:lpstr>
      <vt:lpstr>Pencils to the ready… </vt:lpstr>
      <vt:lpstr>Pencils to the ready… </vt:lpstr>
      <vt:lpstr>Branch/Decision Testing</vt:lpstr>
      <vt:lpstr>Decision testing</vt:lpstr>
      <vt:lpstr>Pencils to the ready… again!</vt:lpstr>
      <vt:lpstr>Pencils to the ready… again!</vt:lpstr>
      <vt:lpstr>A note on path coverage</vt:lpstr>
      <vt:lpstr>Coverage in python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 we start</dc:title>
  <dc:creator>Windows User</dc:creator>
  <cp:lastModifiedBy>Silvana MacMahon</cp:lastModifiedBy>
  <cp:revision>158</cp:revision>
  <cp:lastPrinted>2019-01-22T23:01:23Z</cp:lastPrinted>
  <dcterms:created xsi:type="dcterms:W3CDTF">2016-09-21T15:13:11Z</dcterms:created>
  <dcterms:modified xsi:type="dcterms:W3CDTF">2023-03-14T12:49:05Z</dcterms:modified>
</cp:coreProperties>
</file>