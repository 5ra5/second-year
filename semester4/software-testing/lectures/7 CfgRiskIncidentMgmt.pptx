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7" r:id="rId2"/>
  </p:sldMasterIdLst>
  <p:notesMasterIdLst>
    <p:notesMasterId r:id="rId30"/>
  </p:notesMasterIdLst>
  <p:handoutMasterIdLst>
    <p:handoutMasterId r:id="rId31"/>
  </p:handoutMasterIdLst>
  <p:sldIdLst>
    <p:sldId id="426" r:id="rId3"/>
    <p:sldId id="427" r:id="rId4"/>
    <p:sldId id="456" r:id="rId5"/>
    <p:sldId id="45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6" r:id="rId14"/>
    <p:sldId id="437" r:id="rId15"/>
    <p:sldId id="438" r:id="rId16"/>
    <p:sldId id="439" r:id="rId17"/>
    <p:sldId id="440" r:id="rId18"/>
    <p:sldId id="441" r:id="rId19"/>
    <p:sldId id="442" r:id="rId20"/>
    <p:sldId id="443" r:id="rId21"/>
    <p:sldId id="444" r:id="rId22"/>
    <p:sldId id="445" r:id="rId23"/>
    <p:sldId id="446" r:id="rId24"/>
    <p:sldId id="447" r:id="rId25"/>
    <p:sldId id="455" r:id="rId26"/>
    <p:sldId id="458" r:id="rId27"/>
    <p:sldId id="448" r:id="rId28"/>
    <p:sldId id="45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557" autoAdjust="0"/>
    <p:restoredTop sz="94660"/>
  </p:normalViewPr>
  <p:slideViewPr>
    <p:cSldViewPr snapToGrid="0">
      <p:cViewPr>
        <p:scale>
          <a:sx n="30" d="100"/>
          <a:sy n="30" d="100"/>
        </p:scale>
        <p:origin x="1584" y="10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93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82EDB4C-C102-4857-885D-DDB0E0AC3A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FFF4C5-DD60-44AE-B2D3-93CBDA7594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C5D97-CD60-4B9B-BCDA-E6BB0C3069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8631F-59B8-4FCE-B74B-3B3F60DE1A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3A6F9-545E-4E4E-8F50-49051E7A1D1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5654652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19D62-09B2-4A5B-B346-9F6AA3D1583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8098756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0C62BF-D795-024A-BE44-E252327F16CA}" type="slidenum">
              <a:rPr lang="en-GB"/>
              <a:pPr>
                <a:defRPr/>
              </a:pPr>
              <a:t>1</a:t>
            </a:fld>
            <a:endParaRPr lang="en-GB"/>
          </a:p>
        </p:txBody>
      </p:sp>
      <p:sp>
        <p:nvSpPr>
          <p:cNvPr id="89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ED6E82-659A-4E98-9512-E4BB59C235A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20261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8BFC85-1E8A-1F4C-AF06-CD8B9679FEAD}" type="slidenum">
              <a:rPr lang="en-GB"/>
              <a:pPr>
                <a:defRPr/>
              </a:pPr>
              <a:t>2</a:t>
            </a:fld>
            <a:endParaRPr lang="en-GB"/>
          </a:p>
        </p:txBody>
      </p:sp>
      <p:sp>
        <p:nvSpPr>
          <p:cNvPr id="89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9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D7170A-0DF1-42E4-BDF1-07A226CC47D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05959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915988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15988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15988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15988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899907F-009F-9A40-83B0-B5BE7757D4DE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 eaLnBrk="1" hangingPunct="1"/>
              <a:t>3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80" y="4342666"/>
            <a:ext cx="5487041" cy="41148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6338EC-F541-4271-BA1D-F4F2C1AFE1A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51295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915988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15988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15988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15988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B0A3AC2-07CD-544F-AF39-38ECC8C02728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 eaLnBrk="1" hangingPunct="1"/>
              <a:t>4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80" y="4342666"/>
            <a:ext cx="5487041" cy="41148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>
              <a:latin typeface="Times New Roman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926AAA-8460-43A2-A780-68D387C8632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89444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90C45B-258A-1F41-B98B-B28D09A9CF72}" type="slidenum">
              <a:rPr lang="en-GB"/>
              <a:pPr>
                <a:defRPr/>
              </a:pPr>
              <a:t>5</a:t>
            </a:fld>
            <a:endParaRPr lang="en-GB"/>
          </a:p>
        </p:txBody>
      </p:sp>
      <p:sp>
        <p:nvSpPr>
          <p:cNvPr id="89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9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B95F37-C85F-45D0-A2E4-717EF5F3F4C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73217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62DCEE-717F-574C-AB4B-BC9ACE462898}" type="slidenum">
              <a:rPr lang="en-GB"/>
              <a:pPr>
                <a:defRPr/>
              </a:pPr>
              <a:t>6</a:t>
            </a:fld>
            <a:endParaRPr lang="en-GB"/>
          </a:p>
        </p:txBody>
      </p:sp>
      <p:sp>
        <p:nvSpPr>
          <p:cNvPr id="89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9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02DF41-110E-4909-B8A1-E5F6E9F8110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3053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12EF6A-86D5-5441-9476-6C8F35832344}" type="slidenum">
              <a:rPr lang="en-GB"/>
              <a:pPr>
                <a:defRPr/>
              </a:pPr>
              <a:t>7</a:t>
            </a:fld>
            <a:endParaRPr lang="en-GB"/>
          </a:p>
        </p:txBody>
      </p:sp>
      <p:sp>
        <p:nvSpPr>
          <p:cNvPr id="90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0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16BD43-9812-43E2-899D-0FDA3258FD7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32628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2AA0CB-8120-F04C-86C3-BBC0D2712BE5}" type="slidenum">
              <a:rPr lang="en-GB"/>
              <a:pPr>
                <a:defRPr/>
              </a:pPr>
              <a:t>8</a:t>
            </a:fld>
            <a:endParaRPr lang="en-GB"/>
          </a:p>
        </p:txBody>
      </p:sp>
      <p:sp>
        <p:nvSpPr>
          <p:cNvPr id="90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0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6BC54-DC20-46B4-B641-99FCD6F06D3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9042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F45E33-0420-DB4F-9453-0AFFC1B94C9B}" type="slidenum">
              <a:rPr lang="en-GB"/>
              <a:pPr>
                <a:defRPr/>
              </a:pPr>
              <a:t>9</a:t>
            </a:fld>
            <a:endParaRPr lang="en-GB"/>
          </a:p>
        </p:txBody>
      </p:sp>
      <p:sp>
        <p:nvSpPr>
          <p:cNvPr id="90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0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078523-38B2-4956-8E91-6812CA66FD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98120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F112AA-BE69-DA49-9AD9-168EE701CD7C}" type="slidenum">
              <a:rPr lang="en-GB"/>
              <a:pPr>
                <a:defRPr/>
              </a:pPr>
              <a:t>10</a:t>
            </a:fld>
            <a:endParaRPr lang="en-GB"/>
          </a:p>
        </p:txBody>
      </p:sp>
      <p:sp>
        <p:nvSpPr>
          <p:cNvPr id="90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0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260B78-046E-4B7E-8F73-2A4920AE174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63583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FACE58-DE46-0D42-BE72-17117F8D3EDF}" type="slidenum">
              <a:rPr lang="en-GB"/>
              <a:pPr>
                <a:defRPr/>
              </a:pPr>
              <a:t>11</a:t>
            </a:fld>
            <a:endParaRPr lang="en-GB"/>
          </a:p>
        </p:txBody>
      </p:sp>
      <p:sp>
        <p:nvSpPr>
          <p:cNvPr id="90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0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B2FC97-4659-43AC-9ED8-92F74E367A2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57729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52CE44-D1EC-504C-90A5-C7F35FEC566C}" type="slidenum">
              <a:rPr lang="en-GB"/>
              <a:pPr>
                <a:defRPr/>
              </a:pPr>
              <a:t>12</a:t>
            </a:fld>
            <a:endParaRPr lang="en-GB"/>
          </a:p>
        </p:txBody>
      </p:sp>
      <p:sp>
        <p:nvSpPr>
          <p:cNvPr id="91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1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9B55F-EBDB-4AAD-A17C-71E058E7DE4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16956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8DE753-B833-634A-8DD1-D5DABB51D05B}" type="slidenum">
              <a:rPr lang="en-GB"/>
              <a:pPr>
                <a:defRPr/>
              </a:pPr>
              <a:t>13</a:t>
            </a:fld>
            <a:endParaRPr lang="en-GB"/>
          </a:p>
        </p:txBody>
      </p:sp>
      <p:sp>
        <p:nvSpPr>
          <p:cNvPr id="91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1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5D2781-8A6F-489B-8D72-A86CC7D0ED7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68234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4D33D8-EFA4-B741-9A09-A4B862D6AAC0}" type="slidenum">
              <a:rPr lang="en-GB"/>
              <a:pPr>
                <a:defRPr/>
              </a:pPr>
              <a:t>14</a:t>
            </a:fld>
            <a:endParaRPr lang="en-GB"/>
          </a:p>
        </p:txBody>
      </p:sp>
      <p:sp>
        <p:nvSpPr>
          <p:cNvPr id="91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1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E5E4E-CD5D-48BD-AA28-BA6D7E5527E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4756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8AADCF-BD95-0848-AC9D-18EDE98E7A55}" type="slidenum">
              <a:rPr lang="en-GB"/>
              <a:pPr>
                <a:defRPr/>
              </a:pPr>
              <a:t>15</a:t>
            </a:fld>
            <a:endParaRPr lang="en-GB"/>
          </a:p>
        </p:txBody>
      </p:sp>
      <p:sp>
        <p:nvSpPr>
          <p:cNvPr id="91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1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472D3-37FB-4741-A78A-1ECEB3C0E57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0277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E893B96-DBA1-7E45-9713-105C55C0DD2B}" type="slidenum">
              <a:rPr lang="en-GB"/>
              <a:pPr>
                <a:defRPr/>
              </a:pPr>
              <a:t>16</a:t>
            </a:fld>
            <a:endParaRPr lang="en-GB"/>
          </a:p>
        </p:txBody>
      </p:sp>
      <p:sp>
        <p:nvSpPr>
          <p:cNvPr id="921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2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E9199-86D5-4E57-870D-996654148E2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447265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6037E3-040F-EF46-B1DD-EB32C12B04A7}" type="slidenum">
              <a:rPr lang="en-GB"/>
              <a:pPr>
                <a:defRPr/>
              </a:pPr>
              <a:t>17</a:t>
            </a:fld>
            <a:endParaRPr lang="en-GB"/>
          </a:p>
        </p:txBody>
      </p:sp>
      <p:sp>
        <p:nvSpPr>
          <p:cNvPr id="923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2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C2505D-C0AC-4113-9A5B-4B75E70AEEC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59341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9FF340-F0C4-ED45-AD5D-206E171AF9FA}" type="slidenum">
              <a:rPr lang="en-GB"/>
              <a:pPr>
                <a:defRPr/>
              </a:pPr>
              <a:t>18</a:t>
            </a:fld>
            <a:endParaRPr lang="en-GB"/>
          </a:p>
        </p:txBody>
      </p:sp>
      <p:sp>
        <p:nvSpPr>
          <p:cNvPr id="1036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36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6C31F3-2658-4B4A-81AA-1EC0C73A305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38367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9D5EF3-433F-F34B-902D-886BCB5AF02A}" type="slidenum">
              <a:rPr lang="en-GB"/>
              <a:pPr>
                <a:defRPr/>
              </a:pPr>
              <a:t>19</a:t>
            </a:fld>
            <a:endParaRPr lang="en-GB"/>
          </a:p>
        </p:txBody>
      </p:sp>
      <p:sp>
        <p:nvSpPr>
          <p:cNvPr id="1040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40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9428EB-B35C-4761-B111-ACC27D07140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344245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C1A0672-229E-2D49-8D4F-7AC01B882FAC}" type="slidenum">
              <a:rPr lang="en-GB"/>
              <a:pPr>
                <a:defRPr/>
              </a:pPr>
              <a:t>20</a:t>
            </a:fld>
            <a:endParaRPr lang="en-GB"/>
          </a:p>
        </p:txBody>
      </p:sp>
      <p:sp>
        <p:nvSpPr>
          <p:cNvPr id="925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25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3BC4CF-10DE-4BFF-9E69-B673F5CD587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289083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36D66B-F866-AF43-AEB8-07E25E20CD8E}" type="slidenum">
              <a:rPr lang="en-GB"/>
              <a:pPr>
                <a:defRPr/>
              </a:pPr>
              <a:t>21</a:t>
            </a:fld>
            <a:endParaRPr lang="en-GB"/>
          </a:p>
        </p:txBody>
      </p:sp>
      <p:sp>
        <p:nvSpPr>
          <p:cNvPr id="92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2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A5EB0-E3DE-4CF9-9A02-962A46D7406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83289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CD715C-BD3B-2C40-A780-9A730E96AC5F}" type="slidenum">
              <a:rPr lang="en-GB"/>
              <a:pPr>
                <a:defRPr/>
              </a:pPr>
              <a:t>22</a:t>
            </a:fld>
            <a:endParaRPr lang="en-GB"/>
          </a:p>
        </p:txBody>
      </p:sp>
      <p:sp>
        <p:nvSpPr>
          <p:cNvPr id="92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2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6DA9B3-7E2F-4048-BD5E-5A859184ACB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30203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BB60A-A104-8643-97F6-51CFB14B4B09}" type="slidenum">
              <a:rPr lang="en-GB"/>
              <a:pPr>
                <a:defRPr/>
              </a:pPr>
              <a:t>23</a:t>
            </a:fld>
            <a:endParaRPr lang="en-GB"/>
          </a:p>
        </p:txBody>
      </p:sp>
      <p:sp>
        <p:nvSpPr>
          <p:cNvPr id="931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31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864F8D-9AD3-4F68-B5DB-FBF49D80700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55204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BB60A-A104-8643-97F6-51CFB14B4B09}" type="slidenum">
              <a:rPr lang="en-GB"/>
              <a:pPr>
                <a:defRPr/>
              </a:pPr>
              <a:t>24</a:t>
            </a:fld>
            <a:endParaRPr lang="en-GB"/>
          </a:p>
        </p:txBody>
      </p:sp>
      <p:sp>
        <p:nvSpPr>
          <p:cNvPr id="931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31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8AE38-0055-493D-BA65-B15097025D6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26068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8BFC85-1E8A-1F4C-AF06-CD8B9679FEAD}" type="slidenum">
              <a:rPr lang="en-GB"/>
              <a:pPr>
                <a:defRPr/>
              </a:pPr>
              <a:t>25</a:t>
            </a:fld>
            <a:endParaRPr lang="en-GB"/>
          </a:p>
        </p:txBody>
      </p:sp>
      <p:sp>
        <p:nvSpPr>
          <p:cNvPr id="89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9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C53A47-E158-4C25-8B7A-9FB43065541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566218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E2ADFFD-4F59-AE4B-9C95-68C9BEEA6EAC}" type="slidenum">
              <a:rPr lang="en-GB"/>
              <a:pPr>
                <a:defRPr/>
              </a:pPr>
              <a:t>26</a:t>
            </a:fld>
            <a:endParaRPr lang="en-GB"/>
          </a:p>
        </p:txBody>
      </p:sp>
      <p:sp>
        <p:nvSpPr>
          <p:cNvPr id="93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3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FD0FE-56FA-44E2-9BEF-303C857E1CA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285456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BB60A-A104-8643-97F6-51CFB14B4B09}" type="slidenum">
              <a:rPr lang="en-GB"/>
              <a:pPr>
                <a:defRPr/>
              </a:pPr>
              <a:t>27</a:t>
            </a:fld>
            <a:endParaRPr lang="en-GB"/>
          </a:p>
        </p:txBody>
      </p:sp>
      <p:sp>
        <p:nvSpPr>
          <p:cNvPr id="931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31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8ADC7-8B71-4136-A10D-79F335CE23A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97071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ga-I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97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1675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7684" y="1676400"/>
            <a:ext cx="5196416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7300" y="1676400"/>
            <a:ext cx="5198533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92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24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4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05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5237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948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64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82051" y="266700"/>
            <a:ext cx="2753783" cy="6115050"/>
          </a:xfrm>
        </p:spPr>
        <p:txBody>
          <a:bodyPr vert="eaVert"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584" y="266700"/>
            <a:ext cx="8060267" cy="6115050"/>
          </a:xfrm>
        </p:spPr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47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584" y="266700"/>
            <a:ext cx="10860616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37684" y="1676400"/>
            <a:ext cx="5196416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7300" y="1676400"/>
            <a:ext cx="5198533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80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584" y="266700"/>
            <a:ext cx="10860616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37684" y="1676400"/>
            <a:ext cx="5196416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337300" y="1676401"/>
            <a:ext cx="5198533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337300" y="4105276"/>
            <a:ext cx="5198533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932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985" y="350839"/>
            <a:ext cx="11231033" cy="6302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1" y="1190625"/>
            <a:ext cx="5513916" cy="5219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6867" y="1190625"/>
            <a:ext cx="5513917" cy="5219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815234" y="1"/>
            <a:ext cx="376767" cy="142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ADF6390F-1603-4606-96BE-11F29AAF5AE2}" type="slidenum">
              <a:rPr lang="en-GB" sz="1600">
                <a:solidFill>
                  <a:srgbClr val="FFFFFF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978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BDD-6275-CE4C-9BFC-EE3910FD4A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32B8-8FAF-964C-A774-9F2CE05AE6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80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BDD-6275-CE4C-9BFC-EE3910FD4A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32B8-8FAF-964C-A774-9F2CE05AE6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6078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BDD-6275-CE4C-9BFC-EE3910FD4A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32B8-8FAF-964C-A774-9F2CE05AE6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47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BDD-6275-CE4C-9BFC-EE3910FD4A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32B8-8FAF-964C-A774-9F2CE05AE6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3042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BDD-6275-CE4C-9BFC-EE3910FD4A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32B8-8FAF-964C-A774-9F2CE05AE6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3216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BDD-6275-CE4C-9BFC-EE3910FD4A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32B8-8FAF-964C-A774-9F2CE05AE6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602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BDD-6275-CE4C-9BFC-EE3910FD4A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32B8-8FAF-964C-A774-9F2CE05AE6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7680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BDD-6275-CE4C-9BFC-EE3910FD4A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32B8-8FAF-964C-A774-9F2CE05AE6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3609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BDD-6275-CE4C-9BFC-EE3910FD4A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32B8-8FAF-964C-A774-9F2CE05AE6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62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BDD-6275-CE4C-9BFC-EE3910FD4A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32B8-8FAF-964C-A774-9F2CE05AE6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5773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69BDD-6275-CE4C-9BFC-EE3910FD4A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332B8-8FAF-964C-A774-9F2CE05AE6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78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978" name="Line 2"/>
          <p:cNvSpPr>
            <a:spLocks noChangeShapeType="1"/>
          </p:cNvSpPr>
          <p:nvPr/>
        </p:nvSpPr>
        <p:spPr bwMode="auto">
          <a:xfrm>
            <a:off x="2117" y="1484313"/>
            <a:ext cx="12088283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40697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18584" y="266700"/>
            <a:ext cx="10860616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0698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7684" y="1676400"/>
            <a:ext cx="10598149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06982" name="Rectangle 6"/>
          <p:cNvSpPr>
            <a:spLocks noChangeArrowheads="1"/>
          </p:cNvSpPr>
          <p:nvPr/>
        </p:nvSpPr>
        <p:spPr bwMode="auto">
          <a:xfrm>
            <a:off x="10896600" y="6400801"/>
            <a:ext cx="601133" cy="24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F04697A2-D443-9B46-B76B-C17EBA70E809}" type="slidenum">
              <a:rPr lang="en-US" sz="1000">
                <a:solidFill>
                  <a:srgbClr val="00279F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>
              <a:solidFill>
                <a:srgbClr val="0027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7806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bg1"/>
        </a:buClr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C669BDD-6275-CE4C-9BFC-EE3910FD4A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3/19/2020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3A5332B8-8FAF-964C-A774-9F2CE05AE6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59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2crowd.com/categories/integrated-development-environment-ide" TargetMode="External"/><Relationship Id="rId13" Type="http://schemas.openxmlformats.org/officeDocument/2006/relationships/hyperlink" Target="https://dzone.com/articles/top-8-continuous-integration-tools" TargetMode="External"/><Relationship Id="rId3" Type="http://schemas.openxmlformats.org/officeDocument/2006/relationships/hyperlink" Target="http://www.softwaretestinghelp.com/popular-bug-tracking-software/" TargetMode="External"/><Relationship Id="rId7" Type="http://schemas.openxmlformats.org/officeDocument/2006/relationships/image" Target="../media/image4.jfif"/><Relationship Id="rId12" Type="http://schemas.openxmlformats.org/officeDocument/2006/relationships/hyperlink" Target="https://www.g2crowd.com/categories/continuous-integration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fNHIqe7HVG8" TargetMode="External"/><Relationship Id="rId11" Type="http://schemas.openxmlformats.org/officeDocument/2006/relationships/hyperlink" Target="https://codeship.com/continuous-integration-essentials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5.gif"/><Relationship Id="rId4" Type="http://schemas.openxmlformats.org/officeDocument/2006/relationships/hyperlink" Target="https://youtu.be/xrCJv0fTyR8" TargetMode="External"/><Relationship Id="rId9" Type="http://schemas.openxmlformats.org/officeDocument/2006/relationships/hyperlink" Target="http://docs.seleniumhq.org/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dzone.com/articles/top-8-continuous-integration-tools" TargetMode="External"/><Relationship Id="rId3" Type="http://schemas.openxmlformats.org/officeDocument/2006/relationships/hyperlink" Target="https://www.g2crowd.com/categories/integrated-development-environment-ide" TargetMode="External"/><Relationship Id="rId7" Type="http://schemas.openxmlformats.org/officeDocument/2006/relationships/hyperlink" Target="https://www.g2crowd.com/categories/continuous-integration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eship.com/continuous-integration-essentials" TargetMode="External"/><Relationship Id="rId5" Type="http://schemas.openxmlformats.org/officeDocument/2006/relationships/hyperlink" Target="http://docs.seleniumhq.org/" TargetMode="External"/><Relationship Id="rId4" Type="http://schemas.openxmlformats.org/officeDocument/2006/relationships/hyperlink" Target="http://www.softwaretestinghelp.com/popular-bug-tracking-software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Configuration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307609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91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Background</a:t>
            </a:r>
          </a:p>
        </p:txBody>
      </p:sp>
      <p:sp>
        <p:nvSpPr>
          <p:cNvPr id="89191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For testing, configuration management may involve ensuring that:</a:t>
            </a:r>
          </a:p>
          <a:p>
            <a:pPr lvl="1" eaLnBrk="1" hangingPunct="1">
              <a:defRPr/>
            </a:pPr>
            <a:r>
              <a:rPr lang="en-US"/>
              <a:t>All items of testware are identified, version controlled, tracked for changes, related to each other and related to development items (test objects) so that </a:t>
            </a:r>
          </a:p>
          <a:p>
            <a:pPr lvl="1" eaLnBrk="1" hangingPunct="1">
              <a:defRPr/>
            </a:pPr>
            <a:r>
              <a:rPr lang="en-US"/>
              <a:t>All identified documents and software items are referenced unambiguously in test documentation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The configuration management procedures and infrastructure (tools) should be chosen, documented and implemented.</a:t>
            </a:r>
          </a:p>
        </p:txBody>
      </p:sp>
    </p:spTree>
    <p:extLst>
      <p:ext uri="{BB962C8B-B14F-4D97-AF65-F5344CB8AC3E}">
        <p14:creationId xmlns:p14="http://schemas.microsoft.com/office/powerpoint/2010/main" val="332625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718D1E2-BFFB-BB43-ADBC-00CEBDB0B45D}" type="slidenum">
              <a:rPr lang="en-AU" sz="900" b="0">
                <a:solidFill>
                  <a:prstClr val="black"/>
                </a:solidFill>
                <a:latin typeface="Tahoma" charset="0"/>
              </a:rPr>
              <a:pPr eaLnBrk="1" hangingPunct="1"/>
              <a:t>3</a:t>
            </a:fld>
            <a:endParaRPr lang="en-AU" sz="900" b="0">
              <a:solidFill>
                <a:prstClr val="black"/>
              </a:solidFill>
              <a:latin typeface="Tahoma" charset="0"/>
            </a:endParaRPr>
          </a:p>
        </p:txBody>
      </p:sp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1774826" y="1125538"/>
            <a:ext cx="8893175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172" name="TextBox 7"/>
          <p:cNvSpPr txBox="1">
            <a:spLocks noChangeArrowheads="1"/>
          </p:cNvSpPr>
          <p:nvPr/>
        </p:nvSpPr>
        <p:spPr bwMode="auto">
          <a:xfrm>
            <a:off x="1558925" y="188913"/>
            <a:ext cx="8382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Req. Spec.</a:t>
            </a:r>
          </a:p>
        </p:txBody>
      </p:sp>
      <p:sp>
        <p:nvSpPr>
          <p:cNvPr id="7173" name="TextBox 8"/>
          <p:cNvSpPr txBox="1">
            <a:spLocks noChangeArrowheads="1"/>
          </p:cNvSpPr>
          <p:nvPr/>
        </p:nvSpPr>
        <p:spPr bwMode="auto">
          <a:xfrm>
            <a:off x="3792539" y="188913"/>
            <a:ext cx="5048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Code</a:t>
            </a:r>
          </a:p>
        </p:txBody>
      </p:sp>
      <p:sp>
        <p:nvSpPr>
          <p:cNvPr id="7174" name="TextBox 9"/>
          <p:cNvSpPr txBox="1">
            <a:spLocks noChangeArrowheads="1"/>
          </p:cNvSpPr>
          <p:nvPr/>
        </p:nvSpPr>
        <p:spPr bwMode="auto">
          <a:xfrm>
            <a:off x="2640014" y="188913"/>
            <a:ext cx="8286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Des. Spec.</a:t>
            </a:r>
          </a:p>
        </p:txBody>
      </p:sp>
      <p:sp>
        <p:nvSpPr>
          <p:cNvPr id="7175" name="TextBox 10"/>
          <p:cNvSpPr txBox="1">
            <a:spLocks noChangeArrowheads="1"/>
          </p:cNvSpPr>
          <p:nvPr/>
        </p:nvSpPr>
        <p:spPr bwMode="auto">
          <a:xfrm>
            <a:off x="5810251" y="188913"/>
            <a:ext cx="987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Config. Files</a:t>
            </a:r>
          </a:p>
        </p:txBody>
      </p:sp>
      <p:sp>
        <p:nvSpPr>
          <p:cNvPr id="7176" name="TextBox 11"/>
          <p:cNvSpPr txBox="1">
            <a:spLocks noChangeArrowheads="1"/>
          </p:cNvSpPr>
          <p:nvPr/>
        </p:nvSpPr>
        <p:spPr bwMode="auto">
          <a:xfrm>
            <a:off x="2351088" y="188913"/>
            <a:ext cx="29051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...</a:t>
            </a:r>
          </a:p>
        </p:txBody>
      </p:sp>
      <p:sp>
        <p:nvSpPr>
          <p:cNvPr id="7177" name="TextBox 12"/>
          <p:cNvSpPr txBox="1">
            <a:spLocks noChangeArrowheads="1"/>
          </p:cNvSpPr>
          <p:nvPr/>
        </p:nvSpPr>
        <p:spPr bwMode="auto">
          <a:xfrm>
            <a:off x="4768851" y="188913"/>
            <a:ext cx="8223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Test Spec.</a:t>
            </a:r>
          </a:p>
        </p:txBody>
      </p:sp>
      <p:sp>
        <p:nvSpPr>
          <p:cNvPr id="7178" name="TextBox 13"/>
          <p:cNvSpPr txBox="1">
            <a:spLocks noChangeArrowheads="1"/>
          </p:cNvSpPr>
          <p:nvPr/>
        </p:nvSpPr>
        <p:spPr bwMode="auto">
          <a:xfrm>
            <a:off x="3432176" y="188913"/>
            <a:ext cx="2905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...</a:t>
            </a:r>
          </a:p>
        </p:txBody>
      </p:sp>
      <p:sp>
        <p:nvSpPr>
          <p:cNvPr id="7179" name="TextBox 14"/>
          <p:cNvSpPr txBox="1">
            <a:spLocks noChangeArrowheads="1"/>
          </p:cNvSpPr>
          <p:nvPr/>
        </p:nvSpPr>
        <p:spPr bwMode="auto">
          <a:xfrm>
            <a:off x="4365626" y="188913"/>
            <a:ext cx="2905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...</a:t>
            </a:r>
          </a:p>
        </p:txBody>
      </p:sp>
      <p:sp>
        <p:nvSpPr>
          <p:cNvPr id="7180" name="TextBox 15"/>
          <p:cNvSpPr txBox="1">
            <a:spLocks noChangeArrowheads="1"/>
          </p:cNvSpPr>
          <p:nvPr/>
        </p:nvSpPr>
        <p:spPr bwMode="auto">
          <a:xfrm>
            <a:off x="5448301" y="188913"/>
            <a:ext cx="2905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...</a:t>
            </a:r>
          </a:p>
        </p:txBody>
      </p:sp>
      <p:sp>
        <p:nvSpPr>
          <p:cNvPr id="7181" name="TextBox 16"/>
          <p:cNvSpPr txBox="1">
            <a:spLocks noChangeArrowheads="1"/>
          </p:cNvSpPr>
          <p:nvPr/>
        </p:nvSpPr>
        <p:spPr bwMode="auto">
          <a:xfrm>
            <a:off x="6959600" y="188913"/>
            <a:ext cx="7747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Build Env</a:t>
            </a:r>
          </a:p>
        </p:txBody>
      </p:sp>
      <p:sp>
        <p:nvSpPr>
          <p:cNvPr id="7182" name="TextBox 17"/>
          <p:cNvSpPr txBox="1">
            <a:spLocks noChangeArrowheads="1"/>
          </p:cNvSpPr>
          <p:nvPr/>
        </p:nvSpPr>
        <p:spPr bwMode="auto">
          <a:xfrm>
            <a:off x="6743701" y="188913"/>
            <a:ext cx="2905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...</a:t>
            </a:r>
          </a:p>
        </p:txBody>
      </p:sp>
      <p:sp>
        <p:nvSpPr>
          <p:cNvPr id="7183" name="Rectangle 34"/>
          <p:cNvSpPr>
            <a:spLocks noChangeArrowheads="1"/>
          </p:cNvSpPr>
          <p:nvPr/>
        </p:nvSpPr>
        <p:spPr bwMode="auto">
          <a:xfrm>
            <a:off x="2779714" y="692150"/>
            <a:ext cx="287337" cy="369332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184" name="Rectangle 35"/>
          <p:cNvSpPr>
            <a:spLocks noChangeArrowheads="1"/>
          </p:cNvSpPr>
          <p:nvPr/>
        </p:nvSpPr>
        <p:spPr bwMode="auto">
          <a:xfrm>
            <a:off x="2851151" y="765175"/>
            <a:ext cx="288925" cy="369332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185" name="Rectangle 36"/>
          <p:cNvSpPr>
            <a:spLocks noChangeArrowheads="1"/>
          </p:cNvSpPr>
          <p:nvPr/>
        </p:nvSpPr>
        <p:spPr bwMode="auto">
          <a:xfrm>
            <a:off x="2924175" y="836613"/>
            <a:ext cx="287338" cy="369332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186" name="Rectangle 37"/>
          <p:cNvSpPr>
            <a:spLocks noChangeArrowheads="1"/>
          </p:cNvSpPr>
          <p:nvPr/>
        </p:nvSpPr>
        <p:spPr bwMode="auto">
          <a:xfrm>
            <a:off x="2995614" y="908050"/>
            <a:ext cx="287337" cy="369332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187" name="Rectangle 38"/>
          <p:cNvSpPr>
            <a:spLocks noChangeArrowheads="1"/>
          </p:cNvSpPr>
          <p:nvPr/>
        </p:nvSpPr>
        <p:spPr bwMode="auto">
          <a:xfrm>
            <a:off x="3067051" y="981075"/>
            <a:ext cx="288925" cy="369332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188" name="TextBox 39"/>
          <p:cNvSpPr txBox="1">
            <a:spLocks noChangeArrowheads="1"/>
          </p:cNvSpPr>
          <p:nvPr/>
        </p:nvSpPr>
        <p:spPr bwMode="auto">
          <a:xfrm>
            <a:off x="3005138" y="620713"/>
            <a:ext cx="27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7189" name="TextBox 40"/>
          <p:cNvSpPr txBox="1">
            <a:spLocks noChangeArrowheads="1"/>
          </p:cNvSpPr>
          <p:nvPr/>
        </p:nvSpPr>
        <p:spPr bwMode="auto">
          <a:xfrm>
            <a:off x="3076575" y="6921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7190" name="TextBox 41"/>
          <p:cNvSpPr txBox="1">
            <a:spLocks noChangeArrowheads="1"/>
          </p:cNvSpPr>
          <p:nvPr/>
        </p:nvSpPr>
        <p:spPr bwMode="auto">
          <a:xfrm>
            <a:off x="3221038" y="836613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7191" name="TextBox 42"/>
          <p:cNvSpPr txBox="1">
            <a:spLocks noChangeArrowheads="1"/>
          </p:cNvSpPr>
          <p:nvPr/>
        </p:nvSpPr>
        <p:spPr bwMode="auto">
          <a:xfrm>
            <a:off x="3287714" y="939800"/>
            <a:ext cx="28257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7192" name="TextBox 44"/>
          <p:cNvSpPr txBox="1">
            <a:spLocks noChangeArrowheads="1"/>
          </p:cNvSpPr>
          <p:nvPr/>
        </p:nvSpPr>
        <p:spPr bwMode="auto">
          <a:xfrm>
            <a:off x="3148013" y="7651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46" name="Rectangle 45"/>
          <p:cNvSpPr/>
          <p:nvPr/>
        </p:nvSpPr>
        <p:spPr bwMode="auto">
          <a:xfrm>
            <a:off x="1766889" y="692150"/>
            <a:ext cx="28733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1838326" y="765175"/>
            <a:ext cx="288925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1911350" y="836613"/>
            <a:ext cx="287338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1982789" y="908050"/>
            <a:ext cx="28733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2054226" y="981075"/>
            <a:ext cx="288925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7198" name="TextBox 50"/>
          <p:cNvSpPr txBox="1">
            <a:spLocks noChangeArrowheads="1"/>
          </p:cNvSpPr>
          <p:nvPr/>
        </p:nvSpPr>
        <p:spPr bwMode="auto">
          <a:xfrm>
            <a:off x="1992313" y="620713"/>
            <a:ext cx="27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7199" name="TextBox 51"/>
          <p:cNvSpPr txBox="1">
            <a:spLocks noChangeArrowheads="1"/>
          </p:cNvSpPr>
          <p:nvPr/>
        </p:nvSpPr>
        <p:spPr bwMode="auto">
          <a:xfrm>
            <a:off x="2063750" y="6921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7200" name="TextBox 52"/>
          <p:cNvSpPr txBox="1">
            <a:spLocks noChangeArrowheads="1"/>
          </p:cNvSpPr>
          <p:nvPr/>
        </p:nvSpPr>
        <p:spPr bwMode="auto">
          <a:xfrm>
            <a:off x="2208213" y="836613"/>
            <a:ext cx="27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7201" name="TextBox 53"/>
          <p:cNvSpPr txBox="1">
            <a:spLocks noChangeArrowheads="1"/>
          </p:cNvSpPr>
          <p:nvPr/>
        </p:nvSpPr>
        <p:spPr bwMode="auto">
          <a:xfrm>
            <a:off x="2278064" y="939800"/>
            <a:ext cx="28257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7202" name="TextBox 54"/>
          <p:cNvSpPr txBox="1">
            <a:spLocks noChangeArrowheads="1"/>
          </p:cNvSpPr>
          <p:nvPr/>
        </p:nvSpPr>
        <p:spPr bwMode="auto">
          <a:xfrm>
            <a:off x="2135188" y="7651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7203" name="Rectangle 55"/>
          <p:cNvSpPr>
            <a:spLocks noChangeArrowheads="1"/>
          </p:cNvSpPr>
          <p:nvPr/>
        </p:nvSpPr>
        <p:spPr bwMode="auto">
          <a:xfrm>
            <a:off x="3927476" y="765175"/>
            <a:ext cx="2889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04" name="Rectangle 56"/>
          <p:cNvSpPr>
            <a:spLocks noChangeArrowheads="1"/>
          </p:cNvSpPr>
          <p:nvPr/>
        </p:nvSpPr>
        <p:spPr bwMode="auto">
          <a:xfrm>
            <a:off x="4000500" y="836613"/>
            <a:ext cx="287338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05" name="Rectangle 57"/>
          <p:cNvSpPr>
            <a:spLocks noChangeArrowheads="1"/>
          </p:cNvSpPr>
          <p:nvPr/>
        </p:nvSpPr>
        <p:spPr bwMode="auto">
          <a:xfrm>
            <a:off x="4071939" y="908050"/>
            <a:ext cx="2889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06" name="Rectangle 58"/>
          <p:cNvSpPr>
            <a:spLocks noChangeArrowheads="1"/>
          </p:cNvSpPr>
          <p:nvPr/>
        </p:nvSpPr>
        <p:spPr bwMode="auto">
          <a:xfrm>
            <a:off x="4143376" y="981075"/>
            <a:ext cx="2889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07" name="Rectangle 59"/>
          <p:cNvSpPr>
            <a:spLocks noChangeArrowheads="1"/>
          </p:cNvSpPr>
          <p:nvPr/>
        </p:nvSpPr>
        <p:spPr bwMode="auto">
          <a:xfrm>
            <a:off x="4216400" y="1052513"/>
            <a:ext cx="287338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08" name="TextBox 60"/>
          <p:cNvSpPr txBox="1">
            <a:spLocks noChangeArrowheads="1"/>
          </p:cNvSpPr>
          <p:nvPr/>
        </p:nvSpPr>
        <p:spPr bwMode="auto">
          <a:xfrm>
            <a:off x="4152900" y="6921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7209" name="TextBox 61"/>
          <p:cNvSpPr txBox="1">
            <a:spLocks noChangeArrowheads="1"/>
          </p:cNvSpPr>
          <p:nvPr/>
        </p:nvSpPr>
        <p:spPr bwMode="auto">
          <a:xfrm>
            <a:off x="4224338" y="7651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7210" name="TextBox 62"/>
          <p:cNvSpPr txBox="1">
            <a:spLocks noChangeArrowheads="1"/>
          </p:cNvSpPr>
          <p:nvPr/>
        </p:nvSpPr>
        <p:spPr bwMode="auto">
          <a:xfrm>
            <a:off x="4368800" y="9080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7211" name="TextBox 63"/>
          <p:cNvSpPr txBox="1">
            <a:spLocks noChangeArrowheads="1"/>
          </p:cNvSpPr>
          <p:nvPr/>
        </p:nvSpPr>
        <p:spPr bwMode="auto">
          <a:xfrm>
            <a:off x="4438651" y="1012825"/>
            <a:ext cx="2825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7212" name="TextBox 64"/>
          <p:cNvSpPr txBox="1">
            <a:spLocks noChangeArrowheads="1"/>
          </p:cNvSpPr>
          <p:nvPr/>
        </p:nvSpPr>
        <p:spPr bwMode="auto">
          <a:xfrm>
            <a:off x="4297363" y="836613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7213" name="TextBox 65"/>
          <p:cNvSpPr txBox="1">
            <a:spLocks noChangeArrowheads="1"/>
          </p:cNvSpPr>
          <p:nvPr/>
        </p:nvSpPr>
        <p:spPr bwMode="auto">
          <a:xfrm>
            <a:off x="3849689" y="549276"/>
            <a:ext cx="5111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b="0">
                <a:solidFill>
                  <a:prstClr val="black"/>
                </a:solidFill>
              </a:rPr>
              <a:t>File 1</a:t>
            </a:r>
          </a:p>
        </p:txBody>
      </p:sp>
      <p:sp>
        <p:nvSpPr>
          <p:cNvPr id="7214" name="Rectangle 66"/>
          <p:cNvSpPr>
            <a:spLocks noChangeArrowheads="1"/>
          </p:cNvSpPr>
          <p:nvPr/>
        </p:nvSpPr>
        <p:spPr bwMode="auto">
          <a:xfrm>
            <a:off x="3933826" y="1628775"/>
            <a:ext cx="2889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15" name="Rectangle 67"/>
          <p:cNvSpPr>
            <a:spLocks noChangeArrowheads="1"/>
          </p:cNvSpPr>
          <p:nvPr/>
        </p:nvSpPr>
        <p:spPr bwMode="auto">
          <a:xfrm>
            <a:off x="4006850" y="1700213"/>
            <a:ext cx="287338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16" name="Rectangle 68"/>
          <p:cNvSpPr>
            <a:spLocks noChangeArrowheads="1"/>
          </p:cNvSpPr>
          <p:nvPr/>
        </p:nvSpPr>
        <p:spPr bwMode="auto">
          <a:xfrm>
            <a:off x="4078289" y="1773238"/>
            <a:ext cx="287337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17" name="Rectangle 69"/>
          <p:cNvSpPr>
            <a:spLocks noChangeArrowheads="1"/>
          </p:cNvSpPr>
          <p:nvPr/>
        </p:nvSpPr>
        <p:spPr bwMode="auto">
          <a:xfrm>
            <a:off x="4149726" y="1844675"/>
            <a:ext cx="2889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18" name="Rectangle 70"/>
          <p:cNvSpPr>
            <a:spLocks noChangeArrowheads="1"/>
          </p:cNvSpPr>
          <p:nvPr/>
        </p:nvSpPr>
        <p:spPr bwMode="auto">
          <a:xfrm>
            <a:off x="4222750" y="1916113"/>
            <a:ext cx="287338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19" name="TextBox 71"/>
          <p:cNvSpPr txBox="1">
            <a:spLocks noChangeArrowheads="1"/>
          </p:cNvSpPr>
          <p:nvPr/>
        </p:nvSpPr>
        <p:spPr bwMode="auto">
          <a:xfrm>
            <a:off x="4159250" y="1557338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7220" name="TextBox 72"/>
          <p:cNvSpPr txBox="1">
            <a:spLocks noChangeArrowheads="1"/>
          </p:cNvSpPr>
          <p:nvPr/>
        </p:nvSpPr>
        <p:spPr bwMode="auto">
          <a:xfrm>
            <a:off x="4230688" y="16287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7221" name="TextBox 73"/>
          <p:cNvSpPr txBox="1">
            <a:spLocks noChangeArrowheads="1"/>
          </p:cNvSpPr>
          <p:nvPr/>
        </p:nvSpPr>
        <p:spPr bwMode="auto">
          <a:xfrm>
            <a:off x="4375150" y="1773238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7222" name="TextBox 74"/>
          <p:cNvSpPr txBox="1">
            <a:spLocks noChangeArrowheads="1"/>
          </p:cNvSpPr>
          <p:nvPr/>
        </p:nvSpPr>
        <p:spPr bwMode="auto">
          <a:xfrm>
            <a:off x="4445001" y="1876425"/>
            <a:ext cx="2825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7223" name="TextBox 75"/>
          <p:cNvSpPr txBox="1">
            <a:spLocks noChangeArrowheads="1"/>
          </p:cNvSpPr>
          <p:nvPr/>
        </p:nvSpPr>
        <p:spPr bwMode="auto">
          <a:xfrm>
            <a:off x="4303713" y="1700214"/>
            <a:ext cx="277812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7224" name="TextBox 76"/>
          <p:cNvSpPr txBox="1">
            <a:spLocks noChangeArrowheads="1"/>
          </p:cNvSpPr>
          <p:nvPr/>
        </p:nvSpPr>
        <p:spPr bwMode="auto">
          <a:xfrm>
            <a:off x="3862389" y="1412876"/>
            <a:ext cx="4968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b="0">
                <a:solidFill>
                  <a:prstClr val="black"/>
                </a:solidFill>
              </a:rPr>
              <a:t>File 2</a:t>
            </a:r>
          </a:p>
        </p:txBody>
      </p:sp>
      <p:sp>
        <p:nvSpPr>
          <p:cNvPr id="7225" name="Rectangle 77"/>
          <p:cNvSpPr>
            <a:spLocks noChangeArrowheads="1"/>
          </p:cNvSpPr>
          <p:nvPr/>
        </p:nvSpPr>
        <p:spPr bwMode="auto">
          <a:xfrm>
            <a:off x="3933826" y="2565400"/>
            <a:ext cx="2889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26" name="Rectangle 78"/>
          <p:cNvSpPr>
            <a:spLocks noChangeArrowheads="1"/>
          </p:cNvSpPr>
          <p:nvPr/>
        </p:nvSpPr>
        <p:spPr bwMode="auto">
          <a:xfrm>
            <a:off x="4006850" y="2636838"/>
            <a:ext cx="287338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27" name="Rectangle 79"/>
          <p:cNvSpPr>
            <a:spLocks noChangeArrowheads="1"/>
          </p:cNvSpPr>
          <p:nvPr/>
        </p:nvSpPr>
        <p:spPr bwMode="auto">
          <a:xfrm>
            <a:off x="4078289" y="2708275"/>
            <a:ext cx="287337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28" name="Rectangle 80"/>
          <p:cNvSpPr>
            <a:spLocks noChangeArrowheads="1"/>
          </p:cNvSpPr>
          <p:nvPr/>
        </p:nvSpPr>
        <p:spPr bwMode="auto">
          <a:xfrm>
            <a:off x="4149726" y="2781300"/>
            <a:ext cx="2889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29" name="Rectangle 81"/>
          <p:cNvSpPr>
            <a:spLocks noChangeArrowheads="1"/>
          </p:cNvSpPr>
          <p:nvPr/>
        </p:nvSpPr>
        <p:spPr bwMode="auto">
          <a:xfrm>
            <a:off x="4222750" y="2852738"/>
            <a:ext cx="287338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30" name="TextBox 82"/>
          <p:cNvSpPr txBox="1">
            <a:spLocks noChangeArrowheads="1"/>
          </p:cNvSpPr>
          <p:nvPr/>
        </p:nvSpPr>
        <p:spPr bwMode="auto">
          <a:xfrm>
            <a:off x="4159250" y="2492375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7231" name="TextBox 83"/>
          <p:cNvSpPr txBox="1">
            <a:spLocks noChangeArrowheads="1"/>
          </p:cNvSpPr>
          <p:nvPr/>
        </p:nvSpPr>
        <p:spPr bwMode="auto">
          <a:xfrm>
            <a:off x="4230688" y="2565400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7232" name="TextBox 84"/>
          <p:cNvSpPr txBox="1">
            <a:spLocks noChangeArrowheads="1"/>
          </p:cNvSpPr>
          <p:nvPr/>
        </p:nvSpPr>
        <p:spPr bwMode="auto">
          <a:xfrm>
            <a:off x="4375150" y="2708275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7233" name="TextBox 85"/>
          <p:cNvSpPr txBox="1">
            <a:spLocks noChangeArrowheads="1"/>
          </p:cNvSpPr>
          <p:nvPr/>
        </p:nvSpPr>
        <p:spPr bwMode="auto">
          <a:xfrm>
            <a:off x="4445001" y="2813050"/>
            <a:ext cx="2825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7234" name="TextBox 86"/>
          <p:cNvSpPr txBox="1">
            <a:spLocks noChangeArrowheads="1"/>
          </p:cNvSpPr>
          <p:nvPr/>
        </p:nvSpPr>
        <p:spPr bwMode="auto">
          <a:xfrm>
            <a:off x="4303713" y="2636838"/>
            <a:ext cx="27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7235" name="TextBox 87"/>
          <p:cNvSpPr txBox="1">
            <a:spLocks noChangeArrowheads="1"/>
          </p:cNvSpPr>
          <p:nvPr/>
        </p:nvSpPr>
        <p:spPr bwMode="auto">
          <a:xfrm>
            <a:off x="3851276" y="2349501"/>
            <a:ext cx="5191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b="0">
                <a:solidFill>
                  <a:prstClr val="black"/>
                </a:solidFill>
              </a:rPr>
              <a:t>File N</a:t>
            </a:r>
          </a:p>
        </p:txBody>
      </p:sp>
      <p:sp>
        <p:nvSpPr>
          <p:cNvPr id="7236" name="Rectangle 88"/>
          <p:cNvSpPr>
            <a:spLocks noChangeArrowheads="1"/>
          </p:cNvSpPr>
          <p:nvPr/>
        </p:nvSpPr>
        <p:spPr bwMode="auto">
          <a:xfrm>
            <a:off x="4872039" y="692150"/>
            <a:ext cx="287337" cy="369332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37" name="Rectangle 89"/>
          <p:cNvSpPr>
            <a:spLocks noChangeArrowheads="1"/>
          </p:cNvSpPr>
          <p:nvPr/>
        </p:nvSpPr>
        <p:spPr bwMode="auto">
          <a:xfrm>
            <a:off x="4943476" y="765175"/>
            <a:ext cx="288925" cy="369332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38" name="Rectangle 90"/>
          <p:cNvSpPr>
            <a:spLocks noChangeArrowheads="1"/>
          </p:cNvSpPr>
          <p:nvPr/>
        </p:nvSpPr>
        <p:spPr bwMode="auto">
          <a:xfrm>
            <a:off x="5016500" y="836613"/>
            <a:ext cx="287338" cy="369332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39" name="Rectangle 91"/>
          <p:cNvSpPr>
            <a:spLocks noChangeArrowheads="1"/>
          </p:cNvSpPr>
          <p:nvPr/>
        </p:nvSpPr>
        <p:spPr bwMode="auto">
          <a:xfrm>
            <a:off x="5087939" y="908050"/>
            <a:ext cx="287337" cy="369332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40" name="Rectangle 92"/>
          <p:cNvSpPr>
            <a:spLocks noChangeArrowheads="1"/>
          </p:cNvSpPr>
          <p:nvPr/>
        </p:nvSpPr>
        <p:spPr bwMode="auto">
          <a:xfrm>
            <a:off x="5159376" y="981075"/>
            <a:ext cx="288925" cy="369332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41" name="TextBox 93"/>
          <p:cNvSpPr txBox="1">
            <a:spLocks noChangeArrowheads="1"/>
          </p:cNvSpPr>
          <p:nvPr/>
        </p:nvSpPr>
        <p:spPr bwMode="auto">
          <a:xfrm>
            <a:off x="5097463" y="620713"/>
            <a:ext cx="27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7242" name="TextBox 94"/>
          <p:cNvSpPr txBox="1">
            <a:spLocks noChangeArrowheads="1"/>
          </p:cNvSpPr>
          <p:nvPr/>
        </p:nvSpPr>
        <p:spPr bwMode="auto">
          <a:xfrm>
            <a:off x="5168900" y="6921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7243" name="TextBox 95"/>
          <p:cNvSpPr txBox="1">
            <a:spLocks noChangeArrowheads="1"/>
          </p:cNvSpPr>
          <p:nvPr/>
        </p:nvSpPr>
        <p:spPr bwMode="auto">
          <a:xfrm>
            <a:off x="5313363" y="836613"/>
            <a:ext cx="27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7244" name="TextBox 96"/>
          <p:cNvSpPr txBox="1">
            <a:spLocks noChangeArrowheads="1"/>
          </p:cNvSpPr>
          <p:nvPr/>
        </p:nvSpPr>
        <p:spPr bwMode="auto">
          <a:xfrm>
            <a:off x="5383214" y="939800"/>
            <a:ext cx="28257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7245" name="TextBox 97"/>
          <p:cNvSpPr txBox="1">
            <a:spLocks noChangeArrowheads="1"/>
          </p:cNvSpPr>
          <p:nvPr/>
        </p:nvSpPr>
        <p:spPr bwMode="auto">
          <a:xfrm>
            <a:off x="5240338" y="7651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7246" name="Rectangle 98"/>
          <p:cNvSpPr>
            <a:spLocks noChangeArrowheads="1"/>
          </p:cNvSpPr>
          <p:nvPr/>
        </p:nvSpPr>
        <p:spPr bwMode="auto">
          <a:xfrm>
            <a:off x="5953126" y="765175"/>
            <a:ext cx="288925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47" name="Rectangle 99"/>
          <p:cNvSpPr>
            <a:spLocks noChangeArrowheads="1"/>
          </p:cNvSpPr>
          <p:nvPr/>
        </p:nvSpPr>
        <p:spPr bwMode="auto">
          <a:xfrm>
            <a:off x="6026150" y="836613"/>
            <a:ext cx="287338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48" name="Rectangle 100"/>
          <p:cNvSpPr>
            <a:spLocks noChangeArrowheads="1"/>
          </p:cNvSpPr>
          <p:nvPr/>
        </p:nvSpPr>
        <p:spPr bwMode="auto">
          <a:xfrm>
            <a:off x="6097589" y="908050"/>
            <a:ext cx="288925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49" name="Rectangle 101"/>
          <p:cNvSpPr>
            <a:spLocks noChangeArrowheads="1"/>
          </p:cNvSpPr>
          <p:nvPr/>
        </p:nvSpPr>
        <p:spPr bwMode="auto">
          <a:xfrm>
            <a:off x="6170614" y="981075"/>
            <a:ext cx="287337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50" name="Rectangle 102"/>
          <p:cNvSpPr>
            <a:spLocks noChangeArrowheads="1"/>
          </p:cNvSpPr>
          <p:nvPr/>
        </p:nvSpPr>
        <p:spPr bwMode="auto">
          <a:xfrm>
            <a:off x="6242050" y="1052513"/>
            <a:ext cx="287338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51" name="TextBox 103"/>
          <p:cNvSpPr txBox="1">
            <a:spLocks noChangeArrowheads="1"/>
          </p:cNvSpPr>
          <p:nvPr/>
        </p:nvSpPr>
        <p:spPr bwMode="auto">
          <a:xfrm>
            <a:off x="6178550" y="6921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7252" name="TextBox 104"/>
          <p:cNvSpPr txBox="1">
            <a:spLocks noChangeArrowheads="1"/>
          </p:cNvSpPr>
          <p:nvPr/>
        </p:nvSpPr>
        <p:spPr bwMode="auto">
          <a:xfrm>
            <a:off x="6249988" y="7651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7253" name="TextBox 105"/>
          <p:cNvSpPr txBox="1">
            <a:spLocks noChangeArrowheads="1"/>
          </p:cNvSpPr>
          <p:nvPr/>
        </p:nvSpPr>
        <p:spPr bwMode="auto">
          <a:xfrm>
            <a:off x="6394450" y="9080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7254" name="TextBox 106"/>
          <p:cNvSpPr txBox="1">
            <a:spLocks noChangeArrowheads="1"/>
          </p:cNvSpPr>
          <p:nvPr/>
        </p:nvSpPr>
        <p:spPr bwMode="auto">
          <a:xfrm>
            <a:off x="6465889" y="1012825"/>
            <a:ext cx="28098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7255" name="TextBox 107"/>
          <p:cNvSpPr txBox="1">
            <a:spLocks noChangeArrowheads="1"/>
          </p:cNvSpPr>
          <p:nvPr/>
        </p:nvSpPr>
        <p:spPr bwMode="auto">
          <a:xfrm>
            <a:off x="6323013" y="836613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7256" name="TextBox 108"/>
          <p:cNvSpPr txBox="1">
            <a:spLocks noChangeArrowheads="1"/>
          </p:cNvSpPr>
          <p:nvPr/>
        </p:nvSpPr>
        <p:spPr bwMode="auto">
          <a:xfrm>
            <a:off x="5875339" y="549276"/>
            <a:ext cx="5111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b="0">
                <a:solidFill>
                  <a:prstClr val="black"/>
                </a:solidFill>
              </a:rPr>
              <a:t>File 1</a:t>
            </a:r>
          </a:p>
        </p:txBody>
      </p:sp>
      <p:sp>
        <p:nvSpPr>
          <p:cNvPr id="7257" name="Rectangle 109"/>
          <p:cNvSpPr>
            <a:spLocks noChangeArrowheads="1"/>
          </p:cNvSpPr>
          <p:nvPr/>
        </p:nvSpPr>
        <p:spPr bwMode="auto">
          <a:xfrm>
            <a:off x="5959476" y="1628775"/>
            <a:ext cx="288925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58" name="Rectangle 110"/>
          <p:cNvSpPr>
            <a:spLocks noChangeArrowheads="1"/>
          </p:cNvSpPr>
          <p:nvPr/>
        </p:nvSpPr>
        <p:spPr bwMode="auto">
          <a:xfrm>
            <a:off x="6032500" y="1700213"/>
            <a:ext cx="287338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59" name="Rectangle 111"/>
          <p:cNvSpPr>
            <a:spLocks noChangeArrowheads="1"/>
          </p:cNvSpPr>
          <p:nvPr/>
        </p:nvSpPr>
        <p:spPr bwMode="auto">
          <a:xfrm>
            <a:off x="6103939" y="1773238"/>
            <a:ext cx="287337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60" name="Rectangle 112"/>
          <p:cNvSpPr>
            <a:spLocks noChangeArrowheads="1"/>
          </p:cNvSpPr>
          <p:nvPr/>
        </p:nvSpPr>
        <p:spPr bwMode="auto">
          <a:xfrm>
            <a:off x="6175376" y="1844675"/>
            <a:ext cx="288925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61" name="Rectangle 113"/>
          <p:cNvSpPr>
            <a:spLocks noChangeArrowheads="1"/>
          </p:cNvSpPr>
          <p:nvPr/>
        </p:nvSpPr>
        <p:spPr bwMode="auto">
          <a:xfrm>
            <a:off x="6248400" y="1916113"/>
            <a:ext cx="287338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62" name="TextBox 114"/>
          <p:cNvSpPr txBox="1">
            <a:spLocks noChangeArrowheads="1"/>
          </p:cNvSpPr>
          <p:nvPr/>
        </p:nvSpPr>
        <p:spPr bwMode="auto">
          <a:xfrm>
            <a:off x="6184900" y="1557338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7263" name="TextBox 115"/>
          <p:cNvSpPr txBox="1">
            <a:spLocks noChangeArrowheads="1"/>
          </p:cNvSpPr>
          <p:nvPr/>
        </p:nvSpPr>
        <p:spPr bwMode="auto">
          <a:xfrm>
            <a:off x="6256338" y="16287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7264" name="TextBox 116"/>
          <p:cNvSpPr txBox="1">
            <a:spLocks noChangeArrowheads="1"/>
          </p:cNvSpPr>
          <p:nvPr/>
        </p:nvSpPr>
        <p:spPr bwMode="auto">
          <a:xfrm>
            <a:off x="6400800" y="1773238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7265" name="TextBox 117"/>
          <p:cNvSpPr txBox="1">
            <a:spLocks noChangeArrowheads="1"/>
          </p:cNvSpPr>
          <p:nvPr/>
        </p:nvSpPr>
        <p:spPr bwMode="auto">
          <a:xfrm>
            <a:off x="6470651" y="1876425"/>
            <a:ext cx="2825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7266" name="TextBox 118"/>
          <p:cNvSpPr txBox="1">
            <a:spLocks noChangeArrowheads="1"/>
          </p:cNvSpPr>
          <p:nvPr/>
        </p:nvSpPr>
        <p:spPr bwMode="auto">
          <a:xfrm>
            <a:off x="6329363" y="1700214"/>
            <a:ext cx="279400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7267" name="TextBox 119"/>
          <p:cNvSpPr txBox="1">
            <a:spLocks noChangeArrowheads="1"/>
          </p:cNvSpPr>
          <p:nvPr/>
        </p:nvSpPr>
        <p:spPr bwMode="auto">
          <a:xfrm>
            <a:off x="5888039" y="1412876"/>
            <a:ext cx="4968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b="0">
                <a:solidFill>
                  <a:prstClr val="black"/>
                </a:solidFill>
              </a:rPr>
              <a:t>File 2</a:t>
            </a:r>
          </a:p>
        </p:txBody>
      </p:sp>
      <p:sp>
        <p:nvSpPr>
          <p:cNvPr id="7268" name="Rectangle 120"/>
          <p:cNvSpPr>
            <a:spLocks noChangeArrowheads="1"/>
          </p:cNvSpPr>
          <p:nvPr/>
        </p:nvSpPr>
        <p:spPr bwMode="auto">
          <a:xfrm>
            <a:off x="5959476" y="2565400"/>
            <a:ext cx="288925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69" name="Rectangle 121"/>
          <p:cNvSpPr>
            <a:spLocks noChangeArrowheads="1"/>
          </p:cNvSpPr>
          <p:nvPr/>
        </p:nvSpPr>
        <p:spPr bwMode="auto">
          <a:xfrm>
            <a:off x="6032500" y="2636838"/>
            <a:ext cx="287338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70" name="Rectangle 122"/>
          <p:cNvSpPr>
            <a:spLocks noChangeArrowheads="1"/>
          </p:cNvSpPr>
          <p:nvPr/>
        </p:nvSpPr>
        <p:spPr bwMode="auto">
          <a:xfrm>
            <a:off x="6103939" y="2708275"/>
            <a:ext cx="287337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71" name="Rectangle 123"/>
          <p:cNvSpPr>
            <a:spLocks noChangeArrowheads="1"/>
          </p:cNvSpPr>
          <p:nvPr/>
        </p:nvSpPr>
        <p:spPr bwMode="auto">
          <a:xfrm>
            <a:off x="6175376" y="2781300"/>
            <a:ext cx="288925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72" name="Rectangle 124"/>
          <p:cNvSpPr>
            <a:spLocks noChangeArrowheads="1"/>
          </p:cNvSpPr>
          <p:nvPr/>
        </p:nvSpPr>
        <p:spPr bwMode="auto">
          <a:xfrm>
            <a:off x="6248400" y="2852738"/>
            <a:ext cx="287338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73" name="TextBox 125"/>
          <p:cNvSpPr txBox="1">
            <a:spLocks noChangeArrowheads="1"/>
          </p:cNvSpPr>
          <p:nvPr/>
        </p:nvSpPr>
        <p:spPr bwMode="auto">
          <a:xfrm>
            <a:off x="6184900" y="2492375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7274" name="TextBox 126"/>
          <p:cNvSpPr txBox="1">
            <a:spLocks noChangeArrowheads="1"/>
          </p:cNvSpPr>
          <p:nvPr/>
        </p:nvSpPr>
        <p:spPr bwMode="auto">
          <a:xfrm>
            <a:off x="6256338" y="2565400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7275" name="TextBox 127"/>
          <p:cNvSpPr txBox="1">
            <a:spLocks noChangeArrowheads="1"/>
          </p:cNvSpPr>
          <p:nvPr/>
        </p:nvSpPr>
        <p:spPr bwMode="auto">
          <a:xfrm>
            <a:off x="6400800" y="2708275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7276" name="TextBox 128"/>
          <p:cNvSpPr txBox="1">
            <a:spLocks noChangeArrowheads="1"/>
          </p:cNvSpPr>
          <p:nvPr/>
        </p:nvSpPr>
        <p:spPr bwMode="auto">
          <a:xfrm>
            <a:off x="6470651" y="2813050"/>
            <a:ext cx="2825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7277" name="TextBox 129"/>
          <p:cNvSpPr txBox="1">
            <a:spLocks noChangeArrowheads="1"/>
          </p:cNvSpPr>
          <p:nvPr/>
        </p:nvSpPr>
        <p:spPr bwMode="auto">
          <a:xfrm>
            <a:off x="6329363" y="2636838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7278" name="TextBox 130"/>
          <p:cNvSpPr txBox="1">
            <a:spLocks noChangeArrowheads="1"/>
          </p:cNvSpPr>
          <p:nvPr/>
        </p:nvSpPr>
        <p:spPr bwMode="auto">
          <a:xfrm>
            <a:off x="5876926" y="2349501"/>
            <a:ext cx="5191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b="0">
                <a:solidFill>
                  <a:prstClr val="black"/>
                </a:solidFill>
              </a:rPr>
              <a:t>File N</a:t>
            </a:r>
          </a:p>
        </p:txBody>
      </p:sp>
      <p:sp>
        <p:nvSpPr>
          <p:cNvPr id="7279" name="Rectangle 131"/>
          <p:cNvSpPr>
            <a:spLocks noChangeArrowheads="1"/>
          </p:cNvSpPr>
          <p:nvPr/>
        </p:nvSpPr>
        <p:spPr bwMode="auto">
          <a:xfrm>
            <a:off x="7042151" y="692150"/>
            <a:ext cx="288925" cy="369332"/>
          </a:xfrm>
          <a:prstGeom prst="rect">
            <a:avLst/>
          </a:prstGeom>
          <a:solidFill>
            <a:srgbClr val="569FB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80" name="Rectangle 132"/>
          <p:cNvSpPr>
            <a:spLocks noChangeArrowheads="1"/>
          </p:cNvSpPr>
          <p:nvPr/>
        </p:nvSpPr>
        <p:spPr bwMode="auto">
          <a:xfrm>
            <a:off x="7115175" y="765175"/>
            <a:ext cx="287338" cy="369332"/>
          </a:xfrm>
          <a:prstGeom prst="rect">
            <a:avLst/>
          </a:prstGeom>
          <a:solidFill>
            <a:srgbClr val="569FB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81" name="Rectangle 133"/>
          <p:cNvSpPr>
            <a:spLocks noChangeArrowheads="1"/>
          </p:cNvSpPr>
          <p:nvPr/>
        </p:nvSpPr>
        <p:spPr bwMode="auto">
          <a:xfrm>
            <a:off x="7186614" y="836613"/>
            <a:ext cx="287337" cy="369332"/>
          </a:xfrm>
          <a:prstGeom prst="rect">
            <a:avLst/>
          </a:prstGeom>
          <a:solidFill>
            <a:srgbClr val="569FB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82" name="Rectangle 134"/>
          <p:cNvSpPr>
            <a:spLocks noChangeArrowheads="1"/>
          </p:cNvSpPr>
          <p:nvPr/>
        </p:nvSpPr>
        <p:spPr bwMode="auto">
          <a:xfrm>
            <a:off x="7258051" y="908050"/>
            <a:ext cx="288925" cy="369332"/>
          </a:xfrm>
          <a:prstGeom prst="rect">
            <a:avLst/>
          </a:prstGeom>
          <a:solidFill>
            <a:srgbClr val="569FB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83" name="Rectangle 135"/>
          <p:cNvSpPr>
            <a:spLocks noChangeArrowheads="1"/>
          </p:cNvSpPr>
          <p:nvPr/>
        </p:nvSpPr>
        <p:spPr bwMode="auto">
          <a:xfrm>
            <a:off x="7331075" y="981075"/>
            <a:ext cx="287338" cy="369332"/>
          </a:xfrm>
          <a:prstGeom prst="rect">
            <a:avLst/>
          </a:prstGeom>
          <a:solidFill>
            <a:srgbClr val="569FB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7284" name="TextBox 136"/>
          <p:cNvSpPr txBox="1">
            <a:spLocks noChangeArrowheads="1"/>
          </p:cNvSpPr>
          <p:nvPr/>
        </p:nvSpPr>
        <p:spPr bwMode="auto">
          <a:xfrm>
            <a:off x="7267575" y="620713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7285" name="TextBox 137"/>
          <p:cNvSpPr txBox="1">
            <a:spLocks noChangeArrowheads="1"/>
          </p:cNvSpPr>
          <p:nvPr/>
        </p:nvSpPr>
        <p:spPr bwMode="auto">
          <a:xfrm>
            <a:off x="7339013" y="6921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7286" name="TextBox 138"/>
          <p:cNvSpPr txBox="1">
            <a:spLocks noChangeArrowheads="1"/>
          </p:cNvSpPr>
          <p:nvPr/>
        </p:nvSpPr>
        <p:spPr bwMode="auto">
          <a:xfrm>
            <a:off x="7483475" y="836613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7287" name="TextBox 139"/>
          <p:cNvSpPr txBox="1">
            <a:spLocks noChangeArrowheads="1"/>
          </p:cNvSpPr>
          <p:nvPr/>
        </p:nvSpPr>
        <p:spPr bwMode="auto">
          <a:xfrm>
            <a:off x="7553326" y="939800"/>
            <a:ext cx="28257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7288" name="TextBox 140"/>
          <p:cNvSpPr txBox="1">
            <a:spLocks noChangeArrowheads="1"/>
          </p:cNvSpPr>
          <p:nvPr/>
        </p:nvSpPr>
        <p:spPr bwMode="auto">
          <a:xfrm>
            <a:off x="7412038" y="7651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7289" name="TextBox 141"/>
          <p:cNvSpPr txBox="1">
            <a:spLocks noChangeArrowheads="1"/>
          </p:cNvSpPr>
          <p:nvPr/>
        </p:nvSpPr>
        <p:spPr bwMode="auto">
          <a:xfrm>
            <a:off x="7951788" y="188913"/>
            <a:ext cx="7366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Releases</a:t>
            </a:r>
          </a:p>
        </p:txBody>
      </p:sp>
      <p:sp>
        <p:nvSpPr>
          <p:cNvPr id="7290" name="TextBox 142"/>
          <p:cNvSpPr txBox="1">
            <a:spLocks noChangeArrowheads="1"/>
          </p:cNvSpPr>
          <p:nvPr/>
        </p:nvSpPr>
        <p:spPr bwMode="auto">
          <a:xfrm>
            <a:off x="8097839" y="692151"/>
            <a:ext cx="446087" cy="246063"/>
          </a:xfrm>
          <a:prstGeom prst="rect">
            <a:avLst/>
          </a:prstGeom>
          <a:solidFill>
            <a:srgbClr val="3399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V1.0</a:t>
            </a:r>
          </a:p>
        </p:txBody>
      </p:sp>
      <p:sp>
        <p:nvSpPr>
          <p:cNvPr id="7291" name="TextBox 146"/>
          <p:cNvSpPr txBox="1">
            <a:spLocks noChangeArrowheads="1"/>
          </p:cNvSpPr>
          <p:nvPr/>
        </p:nvSpPr>
        <p:spPr bwMode="auto">
          <a:xfrm>
            <a:off x="8085139" y="1093788"/>
            <a:ext cx="446087" cy="247650"/>
          </a:xfrm>
          <a:prstGeom prst="rect">
            <a:avLst/>
          </a:prstGeom>
          <a:solidFill>
            <a:srgbClr val="3399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V1.1</a:t>
            </a:r>
          </a:p>
        </p:txBody>
      </p:sp>
      <p:sp>
        <p:nvSpPr>
          <p:cNvPr id="7292" name="TextBox 147"/>
          <p:cNvSpPr txBox="1">
            <a:spLocks noChangeArrowheads="1"/>
          </p:cNvSpPr>
          <p:nvPr/>
        </p:nvSpPr>
        <p:spPr bwMode="auto">
          <a:xfrm>
            <a:off x="8085139" y="1527176"/>
            <a:ext cx="446087" cy="246063"/>
          </a:xfrm>
          <a:prstGeom prst="rect">
            <a:avLst/>
          </a:prstGeom>
          <a:solidFill>
            <a:srgbClr val="3399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V2.0</a:t>
            </a:r>
          </a:p>
        </p:txBody>
      </p:sp>
      <p:sp>
        <p:nvSpPr>
          <p:cNvPr id="7293" name="TextBox 148"/>
          <p:cNvSpPr txBox="1">
            <a:spLocks noChangeArrowheads="1"/>
          </p:cNvSpPr>
          <p:nvPr/>
        </p:nvSpPr>
        <p:spPr bwMode="auto">
          <a:xfrm>
            <a:off x="8085139" y="1958976"/>
            <a:ext cx="446087" cy="246063"/>
          </a:xfrm>
          <a:prstGeom prst="rect">
            <a:avLst/>
          </a:prstGeom>
          <a:solidFill>
            <a:srgbClr val="3399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V2.1</a:t>
            </a:r>
          </a:p>
        </p:txBody>
      </p:sp>
      <p:sp>
        <p:nvSpPr>
          <p:cNvPr id="7294" name="TextBox 149"/>
          <p:cNvSpPr txBox="1">
            <a:spLocks noChangeArrowheads="1"/>
          </p:cNvSpPr>
          <p:nvPr/>
        </p:nvSpPr>
        <p:spPr bwMode="auto">
          <a:xfrm>
            <a:off x="8986839" y="188913"/>
            <a:ext cx="8159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User Docs</a:t>
            </a:r>
          </a:p>
        </p:txBody>
      </p:sp>
      <p:sp>
        <p:nvSpPr>
          <p:cNvPr id="151" name="Rectangle 150"/>
          <p:cNvSpPr/>
          <p:nvPr/>
        </p:nvSpPr>
        <p:spPr bwMode="auto">
          <a:xfrm>
            <a:off x="9183689" y="692150"/>
            <a:ext cx="28733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9255126" y="765175"/>
            <a:ext cx="288925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9328150" y="836613"/>
            <a:ext cx="287338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9399589" y="908050"/>
            <a:ext cx="28733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155" name="Rectangle 154"/>
          <p:cNvSpPr/>
          <p:nvPr/>
        </p:nvSpPr>
        <p:spPr bwMode="auto">
          <a:xfrm>
            <a:off x="9471026" y="981075"/>
            <a:ext cx="288925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7300" name="TextBox 155"/>
          <p:cNvSpPr txBox="1">
            <a:spLocks noChangeArrowheads="1"/>
          </p:cNvSpPr>
          <p:nvPr/>
        </p:nvSpPr>
        <p:spPr bwMode="auto">
          <a:xfrm>
            <a:off x="9409113" y="620713"/>
            <a:ext cx="27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7301" name="TextBox 156"/>
          <p:cNvSpPr txBox="1">
            <a:spLocks noChangeArrowheads="1"/>
          </p:cNvSpPr>
          <p:nvPr/>
        </p:nvSpPr>
        <p:spPr bwMode="auto">
          <a:xfrm>
            <a:off x="9480550" y="6921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7302" name="TextBox 157"/>
          <p:cNvSpPr txBox="1">
            <a:spLocks noChangeArrowheads="1"/>
          </p:cNvSpPr>
          <p:nvPr/>
        </p:nvSpPr>
        <p:spPr bwMode="auto">
          <a:xfrm>
            <a:off x="9625013" y="836613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7303" name="TextBox 158"/>
          <p:cNvSpPr txBox="1">
            <a:spLocks noChangeArrowheads="1"/>
          </p:cNvSpPr>
          <p:nvPr/>
        </p:nvSpPr>
        <p:spPr bwMode="auto">
          <a:xfrm>
            <a:off x="9551988" y="7651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7304" name="TextBox 169"/>
          <p:cNvSpPr txBox="1">
            <a:spLocks noChangeArrowheads="1"/>
          </p:cNvSpPr>
          <p:nvPr/>
        </p:nvSpPr>
        <p:spPr bwMode="auto">
          <a:xfrm>
            <a:off x="9696451" y="939800"/>
            <a:ext cx="28257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</p:spTree>
    <p:extLst>
      <p:ext uri="{BB962C8B-B14F-4D97-AF65-F5344CB8AC3E}">
        <p14:creationId xmlns:p14="http://schemas.microsoft.com/office/powerpoint/2010/main" val="14185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799513" y="6427788"/>
            <a:ext cx="1905000" cy="457200"/>
          </a:xfrm>
        </p:spPr>
        <p:txBody>
          <a:bodyPr/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07C45E9-2005-D249-94FC-5F4665C62D68}" type="slidenum">
              <a:rPr lang="en-AU" sz="900" b="0">
                <a:solidFill>
                  <a:prstClr val="black"/>
                </a:solidFill>
                <a:latin typeface="Tahoma" charset="0"/>
              </a:rPr>
              <a:pPr eaLnBrk="1" hangingPunct="1"/>
              <a:t>4</a:t>
            </a:fld>
            <a:endParaRPr lang="en-AU" sz="900" b="0">
              <a:solidFill>
                <a:prstClr val="black"/>
              </a:solidFill>
              <a:latin typeface="Tahoma" charset="0"/>
            </a:endParaRPr>
          </a:p>
        </p:txBody>
      </p:sp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1774826" y="1125538"/>
            <a:ext cx="8893175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196" name="TextBox 7"/>
          <p:cNvSpPr txBox="1">
            <a:spLocks noChangeArrowheads="1"/>
          </p:cNvSpPr>
          <p:nvPr/>
        </p:nvSpPr>
        <p:spPr bwMode="auto">
          <a:xfrm>
            <a:off x="1558925" y="188913"/>
            <a:ext cx="8382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Req. Spec.</a:t>
            </a:r>
          </a:p>
        </p:txBody>
      </p:sp>
      <p:sp>
        <p:nvSpPr>
          <p:cNvPr id="8197" name="TextBox 8"/>
          <p:cNvSpPr txBox="1">
            <a:spLocks noChangeArrowheads="1"/>
          </p:cNvSpPr>
          <p:nvPr/>
        </p:nvSpPr>
        <p:spPr bwMode="auto">
          <a:xfrm>
            <a:off x="3792539" y="188913"/>
            <a:ext cx="5048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Code</a:t>
            </a:r>
          </a:p>
        </p:txBody>
      </p:sp>
      <p:sp>
        <p:nvSpPr>
          <p:cNvPr id="8198" name="TextBox 9"/>
          <p:cNvSpPr txBox="1">
            <a:spLocks noChangeArrowheads="1"/>
          </p:cNvSpPr>
          <p:nvPr/>
        </p:nvSpPr>
        <p:spPr bwMode="auto">
          <a:xfrm>
            <a:off x="2640014" y="188913"/>
            <a:ext cx="8286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Des. Spec.</a:t>
            </a:r>
          </a:p>
        </p:txBody>
      </p:sp>
      <p:sp>
        <p:nvSpPr>
          <p:cNvPr id="8199" name="TextBox 10"/>
          <p:cNvSpPr txBox="1">
            <a:spLocks noChangeArrowheads="1"/>
          </p:cNvSpPr>
          <p:nvPr/>
        </p:nvSpPr>
        <p:spPr bwMode="auto">
          <a:xfrm>
            <a:off x="5810251" y="188913"/>
            <a:ext cx="9874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Config. Files</a:t>
            </a:r>
          </a:p>
        </p:txBody>
      </p:sp>
      <p:sp>
        <p:nvSpPr>
          <p:cNvPr id="8200" name="TextBox 11"/>
          <p:cNvSpPr txBox="1">
            <a:spLocks noChangeArrowheads="1"/>
          </p:cNvSpPr>
          <p:nvPr/>
        </p:nvSpPr>
        <p:spPr bwMode="auto">
          <a:xfrm>
            <a:off x="2351088" y="188913"/>
            <a:ext cx="29051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...</a:t>
            </a:r>
          </a:p>
        </p:txBody>
      </p:sp>
      <p:sp>
        <p:nvSpPr>
          <p:cNvPr id="8201" name="TextBox 12"/>
          <p:cNvSpPr txBox="1">
            <a:spLocks noChangeArrowheads="1"/>
          </p:cNvSpPr>
          <p:nvPr/>
        </p:nvSpPr>
        <p:spPr bwMode="auto">
          <a:xfrm>
            <a:off x="4768851" y="188913"/>
            <a:ext cx="8223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Test Spec.</a:t>
            </a:r>
          </a:p>
        </p:txBody>
      </p:sp>
      <p:sp>
        <p:nvSpPr>
          <p:cNvPr id="8202" name="TextBox 13"/>
          <p:cNvSpPr txBox="1">
            <a:spLocks noChangeArrowheads="1"/>
          </p:cNvSpPr>
          <p:nvPr/>
        </p:nvSpPr>
        <p:spPr bwMode="auto">
          <a:xfrm>
            <a:off x="3432176" y="188913"/>
            <a:ext cx="2905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...</a:t>
            </a:r>
          </a:p>
        </p:txBody>
      </p:sp>
      <p:sp>
        <p:nvSpPr>
          <p:cNvPr id="8203" name="TextBox 14"/>
          <p:cNvSpPr txBox="1">
            <a:spLocks noChangeArrowheads="1"/>
          </p:cNvSpPr>
          <p:nvPr/>
        </p:nvSpPr>
        <p:spPr bwMode="auto">
          <a:xfrm>
            <a:off x="4365626" y="188913"/>
            <a:ext cx="2905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...</a:t>
            </a:r>
          </a:p>
        </p:txBody>
      </p:sp>
      <p:sp>
        <p:nvSpPr>
          <p:cNvPr id="8204" name="TextBox 15"/>
          <p:cNvSpPr txBox="1">
            <a:spLocks noChangeArrowheads="1"/>
          </p:cNvSpPr>
          <p:nvPr/>
        </p:nvSpPr>
        <p:spPr bwMode="auto">
          <a:xfrm>
            <a:off x="5448301" y="188913"/>
            <a:ext cx="2905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...</a:t>
            </a:r>
          </a:p>
        </p:txBody>
      </p:sp>
      <p:sp>
        <p:nvSpPr>
          <p:cNvPr id="8205" name="TextBox 16"/>
          <p:cNvSpPr txBox="1">
            <a:spLocks noChangeArrowheads="1"/>
          </p:cNvSpPr>
          <p:nvPr/>
        </p:nvSpPr>
        <p:spPr bwMode="auto">
          <a:xfrm>
            <a:off x="6959600" y="188913"/>
            <a:ext cx="7747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Build Env</a:t>
            </a:r>
          </a:p>
        </p:txBody>
      </p:sp>
      <p:sp>
        <p:nvSpPr>
          <p:cNvPr id="8206" name="TextBox 17"/>
          <p:cNvSpPr txBox="1">
            <a:spLocks noChangeArrowheads="1"/>
          </p:cNvSpPr>
          <p:nvPr/>
        </p:nvSpPr>
        <p:spPr bwMode="auto">
          <a:xfrm>
            <a:off x="6743701" y="188913"/>
            <a:ext cx="2905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...</a:t>
            </a:r>
          </a:p>
        </p:txBody>
      </p:sp>
      <p:sp>
        <p:nvSpPr>
          <p:cNvPr id="8207" name="Rectangle 34"/>
          <p:cNvSpPr>
            <a:spLocks noChangeArrowheads="1"/>
          </p:cNvSpPr>
          <p:nvPr/>
        </p:nvSpPr>
        <p:spPr bwMode="auto">
          <a:xfrm>
            <a:off x="2779714" y="692150"/>
            <a:ext cx="287337" cy="369332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08" name="Rectangle 35"/>
          <p:cNvSpPr>
            <a:spLocks noChangeArrowheads="1"/>
          </p:cNvSpPr>
          <p:nvPr/>
        </p:nvSpPr>
        <p:spPr bwMode="auto">
          <a:xfrm>
            <a:off x="2851151" y="765175"/>
            <a:ext cx="288925" cy="369332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09" name="Rectangle 36"/>
          <p:cNvSpPr>
            <a:spLocks noChangeArrowheads="1"/>
          </p:cNvSpPr>
          <p:nvPr/>
        </p:nvSpPr>
        <p:spPr bwMode="auto">
          <a:xfrm>
            <a:off x="2924175" y="836613"/>
            <a:ext cx="287338" cy="36933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10" name="Rectangle 37"/>
          <p:cNvSpPr>
            <a:spLocks noChangeArrowheads="1"/>
          </p:cNvSpPr>
          <p:nvPr/>
        </p:nvSpPr>
        <p:spPr bwMode="auto">
          <a:xfrm>
            <a:off x="2995614" y="908050"/>
            <a:ext cx="287337" cy="36933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11" name="Rectangle 38"/>
          <p:cNvSpPr>
            <a:spLocks noChangeArrowheads="1"/>
          </p:cNvSpPr>
          <p:nvPr/>
        </p:nvSpPr>
        <p:spPr bwMode="auto">
          <a:xfrm>
            <a:off x="3067051" y="981075"/>
            <a:ext cx="288925" cy="369332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12" name="TextBox 39"/>
          <p:cNvSpPr txBox="1">
            <a:spLocks noChangeArrowheads="1"/>
          </p:cNvSpPr>
          <p:nvPr/>
        </p:nvSpPr>
        <p:spPr bwMode="auto">
          <a:xfrm>
            <a:off x="3005138" y="620713"/>
            <a:ext cx="27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8213" name="TextBox 40"/>
          <p:cNvSpPr txBox="1">
            <a:spLocks noChangeArrowheads="1"/>
          </p:cNvSpPr>
          <p:nvPr/>
        </p:nvSpPr>
        <p:spPr bwMode="auto">
          <a:xfrm>
            <a:off x="3076575" y="6921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8214" name="TextBox 41"/>
          <p:cNvSpPr txBox="1">
            <a:spLocks noChangeArrowheads="1"/>
          </p:cNvSpPr>
          <p:nvPr/>
        </p:nvSpPr>
        <p:spPr bwMode="auto">
          <a:xfrm>
            <a:off x="3221038" y="836613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8215" name="TextBox 42"/>
          <p:cNvSpPr txBox="1">
            <a:spLocks noChangeArrowheads="1"/>
          </p:cNvSpPr>
          <p:nvPr/>
        </p:nvSpPr>
        <p:spPr bwMode="auto">
          <a:xfrm>
            <a:off x="3287714" y="939800"/>
            <a:ext cx="28257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8216" name="TextBox 44"/>
          <p:cNvSpPr txBox="1">
            <a:spLocks noChangeArrowheads="1"/>
          </p:cNvSpPr>
          <p:nvPr/>
        </p:nvSpPr>
        <p:spPr bwMode="auto">
          <a:xfrm>
            <a:off x="3148013" y="7651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46" name="Rectangle 45"/>
          <p:cNvSpPr/>
          <p:nvPr/>
        </p:nvSpPr>
        <p:spPr bwMode="auto">
          <a:xfrm>
            <a:off x="1766889" y="692150"/>
            <a:ext cx="28733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1838326" y="765175"/>
            <a:ext cx="288925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8219" name="Rectangle 47"/>
          <p:cNvSpPr>
            <a:spLocks noChangeArrowheads="1"/>
          </p:cNvSpPr>
          <p:nvPr/>
        </p:nvSpPr>
        <p:spPr bwMode="auto">
          <a:xfrm>
            <a:off x="1911350" y="836613"/>
            <a:ext cx="287338" cy="369332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1982789" y="908050"/>
            <a:ext cx="28733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2054226" y="981075"/>
            <a:ext cx="288925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8222" name="TextBox 50"/>
          <p:cNvSpPr txBox="1">
            <a:spLocks noChangeArrowheads="1"/>
          </p:cNvSpPr>
          <p:nvPr/>
        </p:nvSpPr>
        <p:spPr bwMode="auto">
          <a:xfrm>
            <a:off x="1992313" y="620713"/>
            <a:ext cx="27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8223" name="TextBox 51"/>
          <p:cNvSpPr txBox="1">
            <a:spLocks noChangeArrowheads="1"/>
          </p:cNvSpPr>
          <p:nvPr/>
        </p:nvSpPr>
        <p:spPr bwMode="auto">
          <a:xfrm>
            <a:off x="2063750" y="6921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8224" name="TextBox 52"/>
          <p:cNvSpPr txBox="1">
            <a:spLocks noChangeArrowheads="1"/>
          </p:cNvSpPr>
          <p:nvPr/>
        </p:nvSpPr>
        <p:spPr bwMode="auto">
          <a:xfrm>
            <a:off x="2208213" y="836613"/>
            <a:ext cx="27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8225" name="TextBox 53"/>
          <p:cNvSpPr txBox="1">
            <a:spLocks noChangeArrowheads="1"/>
          </p:cNvSpPr>
          <p:nvPr/>
        </p:nvSpPr>
        <p:spPr bwMode="auto">
          <a:xfrm>
            <a:off x="2278064" y="939800"/>
            <a:ext cx="28257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8226" name="TextBox 54"/>
          <p:cNvSpPr txBox="1">
            <a:spLocks noChangeArrowheads="1"/>
          </p:cNvSpPr>
          <p:nvPr/>
        </p:nvSpPr>
        <p:spPr bwMode="auto">
          <a:xfrm>
            <a:off x="2135188" y="7651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8227" name="Rectangle 55"/>
          <p:cNvSpPr>
            <a:spLocks noChangeArrowheads="1"/>
          </p:cNvSpPr>
          <p:nvPr/>
        </p:nvSpPr>
        <p:spPr bwMode="auto">
          <a:xfrm>
            <a:off x="3927476" y="765175"/>
            <a:ext cx="2889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28" name="Rectangle 56"/>
          <p:cNvSpPr>
            <a:spLocks noChangeArrowheads="1"/>
          </p:cNvSpPr>
          <p:nvPr/>
        </p:nvSpPr>
        <p:spPr bwMode="auto">
          <a:xfrm>
            <a:off x="4000500" y="836613"/>
            <a:ext cx="287338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29" name="Rectangle 57"/>
          <p:cNvSpPr>
            <a:spLocks noChangeArrowheads="1"/>
          </p:cNvSpPr>
          <p:nvPr/>
        </p:nvSpPr>
        <p:spPr bwMode="auto">
          <a:xfrm>
            <a:off x="4071939" y="908050"/>
            <a:ext cx="288925" cy="36933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30" name="Rectangle 58"/>
          <p:cNvSpPr>
            <a:spLocks noChangeArrowheads="1"/>
          </p:cNvSpPr>
          <p:nvPr/>
        </p:nvSpPr>
        <p:spPr bwMode="auto">
          <a:xfrm>
            <a:off x="4143376" y="981075"/>
            <a:ext cx="2889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31" name="Rectangle 59"/>
          <p:cNvSpPr>
            <a:spLocks noChangeArrowheads="1"/>
          </p:cNvSpPr>
          <p:nvPr/>
        </p:nvSpPr>
        <p:spPr bwMode="auto">
          <a:xfrm>
            <a:off x="4216400" y="1052513"/>
            <a:ext cx="287338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32" name="TextBox 60"/>
          <p:cNvSpPr txBox="1">
            <a:spLocks noChangeArrowheads="1"/>
          </p:cNvSpPr>
          <p:nvPr/>
        </p:nvSpPr>
        <p:spPr bwMode="auto">
          <a:xfrm>
            <a:off x="4152900" y="6921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8233" name="TextBox 61"/>
          <p:cNvSpPr txBox="1">
            <a:spLocks noChangeArrowheads="1"/>
          </p:cNvSpPr>
          <p:nvPr/>
        </p:nvSpPr>
        <p:spPr bwMode="auto">
          <a:xfrm>
            <a:off x="4224338" y="7651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8234" name="TextBox 62"/>
          <p:cNvSpPr txBox="1">
            <a:spLocks noChangeArrowheads="1"/>
          </p:cNvSpPr>
          <p:nvPr/>
        </p:nvSpPr>
        <p:spPr bwMode="auto">
          <a:xfrm>
            <a:off x="4368800" y="9080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8235" name="TextBox 63"/>
          <p:cNvSpPr txBox="1">
            <a:spLocks noChangeArrowheads="1"/>
          </p:cNvSpPr>
          <p:nvPr/>
        </p:nvSpPr>
        <p:spPr bwMode="auto">
          <a:xfrm>
            <a:off x="4438651" y="1012825"/>
            <a:ext cx="2825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8236" name="TextBox 64"/>
          <p:cNvSpPr txBox="1">
            <a:spLocks noChangeArrowheads="1"/>
          </p:cNvSpPr>
          <p:nvPr/>
        </p:nvSpPr>
        <p:spPr bwMode="auto">
          <a:xfrm>
            <a:off x="4297363" y="836613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8237" name="TextBox 65"/>
          <p:cNvSpPr txBox="1">
            <a:spLocks noChangeArrowheads="1"/>
          </p:cNvSpPr>
          <p:nvPr/>
        </p:nvSpPr>
        <p:spPr bwMode="auto">
          <a:xfrm>
            <a:off x="3849689" y="549276"/>
            <a:ext cx="5111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b="0">
                <a:solidFill>
                  <a:prstClr val="black"/>
                </a:solidFill>
              </a:rPr>
              <a:t>File 1</a:t>
            </a:r>
          </a:p>
        </p:txBody>
      </p:sp>
      <p:sp>
        <p:nvSpPr>
          <p:cNvPr id="8238" name="Rectangle 66"/>
          <p:cNvSpPr>
            <a:spLocks noChangeArrowheads="1"/>
          </p:cNvSpPr>
          <p:nvPr/>
        </p:nvSpPr>
        <p:spPr bwMode="auto">
          <a:xfrm>
            <a:off x="3933826" y="1628775"/>
            <a:ext cx="2889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39" name="Rectangle 67"/>
          <p:cNvSpPr>
            <a:spLocks noChangeArrowheads="1"/>
          </p:cNvSpPr>
          <p:nvPr/>
        </p:nvSpPr>
        <p:spPr bwMode="auto">
          <a:xfrm>
            <a:off x="4006850" y="1700213"/>
            <a:ext cx="287338" cy="36933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40" name="Rectangle 68"/>
          <p:cNvSpPr>
            <a:spLocks noChangeArrowheads="1"/>
          </p:cNvSpPr>
          <p:nvPr/>
        </p:nvSpPr>
        <p:spPr bwMode="auto">
          <a:xfrm>
            <a:off x="4078289" y="1773238"/>
            <a:ext cx="287337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41" name="Rectangle 69"/>
          <p:cNvSpPr>
            <a:spLocks noChangeArrowheads="1"/>
          </p:cNvSpPr>
          <p:nvPr/>
        </p:nvSpPr>
        <p:spPr bwMode="auto">
          <a:xfrm>
            <a:off x="4149726" y="1844675"/>
            <a:ext cx="2889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42" name="Rectangle 70"/>
          <p:cNvSpPr>
            <a:spLocks noChangeArrowheads="1"/>
          </p:cNvSpPr>
          <p:nvPr/>
        </p:nvSpPr>
        <p:spPr bwMode="auto">
          <a:xfrm>
            <a:off x="4222750" y="1916113"/>
            <a:ext cx="287338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43" name="TextBox 71"/>
          <p:cNvSpPr txBox="1">
            <a:spLocks noChangeArrowheads="1"/>
          </p:cNvSpPr>
          <p:nvPr/>
        </p:nvSpPr>
        <p:spPr bwMode="auto">
          <a:xfrm>
            <a:off x="4159250" y="1557338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8244" name="TextBox 72"/>
          <p:cNvSpPr txBox="1">
            <a:spLocks noChangeArrowheads="1"/>
          </p:cNvSpPr>
          <p:nvPr/>
        </p:nvSpPr>
        <p:spPr bwMode="auto">
          <a:xfrm>
            <a:off x="4230688" y="16287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8245" name="TextBox 73"/>
          <p:cNvSpPr txBox="1">
            <a:spLocks noChangeArrowheads="1"/>
          </p:cNvSpPr>
          <p:nvPr/>
        </p:nvSpPr>
        <p:spPr bwMode="auto">
          <a:xfrm>
            <a:off x="4375150" y="1773238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8246" name="TextBox 74"/>
          <p:cNvSpPr txBox="1">
            <a:spLocks noChangeArrowheads="1"/>
          </p:cNvSpPr>
          <p:nvPr/>
        </p:nvSpPr>
        <p:spPr bwMode="auto">
          <a:xfrm>
            <a:off x="4445001" y="1876425"/>
            <a:ext cx="2825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8247" name="TextBox 75"/>
          <p:cNvSpPr txBox="1">
            <a:spLocks noChangeArrowheads="1"/>
          </p:cNvSpPr>
          <p:nvPr/>
        </p:nvSpPr>
        <p:spPr bwMode="auto">
          <a:xfrm>
            <a:off x="4303713" y="1700214"/>
            <a:ext cx="277812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8248" name="TextBox 76"/>
          <p:cNvSpPr txBox="1">
            <a:spLocks noChangeArrowheads="1"/>
          </p:cNvSpPr>
          <p:nvPr/>
        </p:nvSpPr>
        <p:spPr bwMode="auto">
          <a:xfrm>
            <a:off x="3862389" y="1412876"/>
            <a:ext cx="4968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b="0">
                <a:solidFill>
                  <a:prstClr val="black"/>
                </a:solidFill>
              </a:rPr>
              <a:t>File 2</a:t>
            </a:r>
          </a:p>
        </p:txBody>
      </p:sp>
      <p:sp>
        <p:nvSpPr>
          <p:cNvPr id="8249" name="Rectangle 77"/>
          <p:cNvSpPr>
            <a:spLocks noChangeArrowheads="1"/>
          </p:cNvSpPr>
          <p:nvPr/>
        </p:nvSpPr>
        <p:spPr bwMode="auto">
          <a:xfrm>
            <a:off x="3933826" y="2565400"/>
            <a:ext cx="2889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50" name="Rectangle 78"/>
          <p:cNvSpPr>
            <a:spLocks noChangeArrowheads="1"/>
          </p:cNvSpPr>
          <p:nvPr/>
        </p:nvSpPr>
        <p:spPr bwMode="auto">
          <a:xfrm>
            <a:off x="4006850" y="2636838"/>
            <a:ext cx="287338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51" name="Rectangle 79"/>
          <p:cNvSpPr>
            <a:spLocks noChangeArrowheads="1"/>
          </p:cNvSpPr>
          <p:nvPr/>
        </p:nvSpPr>
        <p:spPr bwMode="auto">
          <a:xfrm>
            <a:off x="4078289" y="2708275"/>
            <a:ext cx="287337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52" name="Rectangle 80"/>
          <p:cNvSpPr>
            <a:spLocks noChangeArrowheads="1"/>
          </p:cNvSpPr>
          <p:nvPr/>
        </p:nvSpPr>
        <p:spPr bwMode="auto">
          <a:xfrm>
            <a:off x="4149726" y="2781300"/>
            <a:ext cx="2889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53" name="Rectangle 81"/>
          <p:cNvSpPr>
            <a:spLocks noChangeArrowheads="1"/>
          </p:cNvSpPr>
          <p:nvPr/>
        </p:nvSpPr>
        <p:spPr bwMode="auto">
          <a:xfrm>
            <a:off x="4222750" y="2852738"/>
            <a:ext cx="287338" cy="36933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54" name="TextBox 82"/>
          <p:cNvSpPr txBox="1">
            <a:spLocks noChangeArrowheads="1"/>
          </p:cNvSpPr>
          <p:nvPr/>
        </p:nvSpPr>
        <p:spPr bwMode="auto">
          <a:xfrm>
            <a:off x="4159250" y="2492375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8255" name="TextBox 83"/>
          <p:cNvSpPr txBox="1">
            <a:spLocks noChangeArrowheads="1"/>
          </p:cNvSpPr>
          <p:nvPr/>
        </p:nvSpPr>
        <p:spPr bwMode="auto">
          <a:xfrm>
            <a:off x="4230688" y="2565400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8256" name="TextBox 84"/>
          <p:cNvSpPr txBox="1">
            <a:spLocks noChangeArrowheads="1"/>
          </p:cNvSpPr>
          <p:nvPr/>
        </p:nvSpPr>
        <p:spPr bwMode="auto">
          <a:xfrm>
            <a:off x="4375150" y="2708275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8257" name="TextBox 85"/>
          <p:cNvSpPr txBox="1">
            <a:spLocks noChangeArrowheads="1"/>
          </p:cNvSpPr>
          <p:nvPr/>
        </p:nvSpPr>
        <p:spPr bwMode="auto">
          <a:xfrm>
            <a:off x="4445001" y="2813050"/>
            <a:ext cx="2825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8258" name="TextBox 86"/>
          <p:cNvSpPr txBox="1">
            <a:spLocks noChangeArrowheads="1"/>
          </p:cNvSpPr>
          <p:nvPr/>
        </p:nvSpPr>
        <p:spPr bwMode="auto">
          <a:xfrm>
            <a:off x="4303713" y="2636838"/>
            <a:ext cx="27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8259" name="TextBox 87"/>
          <p:cNvSpPr txBox="1">
            <a:spLocks noChangeArrowheads="1"/>
          </p:cNvSpPr>
          <p:nvPr/>
        </p:nvSpPr>
        <p:spPr bwMode="auto">
          <a:xfrm>
            <a:off x="3851276" y="2349501"/>
            <a:ext cx="5191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b="0">
                <a:solidFill>
                  <a:prstClr val="black"/>
                </a:solidFill>
              </a:rPr>
              <a:t>File N</a:t>
            </a:r>
          </a:p>
        </p:txBody>
      </p:sp>
      <p:sp>
        <p:nvSpPr>
          <p:cNvPr id="8260" name="Rectangle 88"/>
          <p:cNvSpPr>
            <a:spLocks noChangeArrowheads="1"/>
          </p:cNvSpPr>
          <p:nvPr/>
        </p:nvSpPr>
        <p:spPr bwMode="auto">
          <a:xfrm>
            <a:off x="4872039" y="692150"/>
            <a:ext cx="287337" cy="369332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61" name="Rectangle 89"/>
          <p:cNvSpPr>
            <a:spLocks noChangeArrowheads="1"/>
          </p:cNvSpPr>
          <p:nvPr/>
        </p:nvSpPr>
        <p:spPr bwMode="auto">
          <a:xfrm>
            <a:off x="4943476" y="765175"/>
            <a:ext cx="288925" cy="369332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62" name="Rectangle 90"/>
          <p:cNvSpPr>
            <a:spLocks noChangeArrowheads="1"/>
          </p:cNvSpPr>
          <p:nvPr/>
        </p:nvSpPr>
        <p:spPr bwMode="auto">
          <a:xfrm>
            <a:off x="5016500" y="836613"/>
            <a:ext cx="287338" cy="369332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63" name="Rectangle 91"/>
          <p:cNvSpPr>
            <a:spLocks noChangeArrowheads="1"/>
          </p:cNvSpPr>
          <p:nvPr/>
        </p:nvSpPr>
        <p:spPr bwMode="auto">
          <a:xfrm>
            <a:off x="5087939" y="908050"/>
            <a:ext cx="287337" cy="36933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64" name="Rectangle 92"/>
          <p:cNvSpPr>
            <a:spLocks noChangeArrowheads="1"/>
          </p:cNvSpPr>
          <p:nvPr/>
        </p:nvSpPr>
        <p:spPr bwMode="auto">
          <a:xfrm>
            <a:off x="5159376" y="981075"/>
            <a:ext cx="288925" cy="369332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65" name="TextBox 93"/>
          <p:cNvSpPr txBox="1">
            <a:spLocks noChangeArrowheads="1"/>
          </p:cNvSpPr>
          <p:nvPr/>
        </p:nvSpPr>
        <p:spPr bwMode="auto">
          <a:xfrm>
            <a:off x="5097463" y="620713"/>
            <a:ext cx="27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8266" name="TextBox 94"/>
          <p:cNvSpPr txBox="1">
            <a:spLocks noChangeArrowheads="1"/>
          </p:cNvSpPr>
          <p:nvPr/>
        </p:nvSpPr>
        <p:spPr bwMode="auto">
          <a:xfrm>
            <a:off x="5168900" y="6921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8267" name="TextBox 95"/>
          <p:cNvSpPr txBox="1">
            <a:spLocks noChangeArrowheads="1"/>
          </p:cNvSpPr>
          <p:nvPr/>
        </p:nvSpPr>
        <p:spPr bwMode="auto">
          <a:xfrm>
            <a:off x="5313363" y="836613"/>
            <a:ext cx="27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8268" name="TextBox 96"/>
          <p:cNvSpPr txBox="1">
            <a:spLocks noChangeArrowheads="1"/>
          </p:cNvSpPr>
          <p:nvPr/>
        </p:nvSpPr>
        <p:spPr bwMode="auto">
          <a:xfrm>
            <a:off x="5383214" y="939800"/>
            <a:ext cx="28257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8269" name="TextBox 97"/>
          <p:cNvSpPr txBox="1">
            <a:spLocks noChangeArrowheads="1"/>
          </p:cNvSpPr>
          <p:nvPr/>
        </p:nvSpPr>
        <p:spPr bwMode="auto">
          <a:xfrm>
            <a:off x="5240338" y="7651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8270" name="Rectangle 98"/>
          <p:cNvSpPr>
            <a:spLocks noChangeArrowheads="1"/>
          </p:cNvSpPr>
          <p:nvPr/>
        </p:nvSpPr>
        <p:spPr bwMode="auto">
          <a:xfrm>
            <a:off x="5953126" y="765175"/>
            <a:ext cx="288925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71" name="Rectangle 99"/>
          <p:cNvSpPr>
            <a:spLocks noChangeArrowheads="1"/>
          </p:cNvSpPr>
          <p:nvPr/>
        </p:nvSpPr>
        <p:spPr bwMode="auto">
          <a:xfrm>
            <a:off x="6026150" y="836613"/>
            <a:ext cx="287338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72" name="Rectangle 100"/>
          <p:cNvSpPr>
            <a:spLocks noChangeArrowheads="1"/>
          </p:cNvSpPr>
          <p:nvPr/>
        </p:nvSpPr>
        <p:spPr bwMode="auto">
          <a:xfrm>
            <a:off x="6097589" y="908050"/>
            <a:ext cx="288925" cy="36933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73" name="Rectangle 101"/>
          <p:cNvSpPr>
            <a:spLocks noChangeArrowheads="1"/>
          </p:cNvSpPr>
          <p:nvPr/>
        </p:nvSpPr>
        <p:spPr bwMode="auto">
          <a:xfrm>
            <a:off x="6170614" y="981075"/>
            <a:ext cx="287337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74" name="Rectangle 102"/>
          <p:cNvSpPr>
            <a:spLocks noChangeArrowheads="1"/>
          </p:cNvSpPr>
          <p:nvPr/>
        </p:nvSpPr>
        <p:spPr bwMode="auto">
          <a:xfrm>
            <a:off x="6242050" y="1052513"/>
            <a:ext cx="287338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75" name="TextBox 103"/>
          <p:cNvSpPr txBox="1">
            <a:spLocks noChangeArrowheads="1"/>
          </p:cNvSpPr>
          <p:nvPr/>
        </p:nvSpPr>
        <p:spPr bwMode="auto">
          <a:xfrm>
            <a:off x="6178550" y="6921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8276" name="TextBox 104"/>
          <p:cNvSpPr txBox="1">
            <a:spLocks noChangeArrowheads="1"/>
          </p:cNvSpPr>
          <p:nvPr/>
        </p:nvSpPr>
        <p:spPr bwMode="auto">
          <a:xfrm>
            <a:off x="6249988" y="7651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8277" name="TextBox 105"/>
          <p:cNvSpPr txBox="1">
            <a:spLocks noChangeArrowheads="1"/>
          </p:cNvSpPr>
          <p:nvPr/>
        </p:nvSpPr>
        <p:spPr bwMode="auto">
          <a:xfrm>
            <a:off x="6394450" y="9080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8278" name="TextBox 106"/>
          <p:cNvSpPr txBox="1">
            <a:spLocks noChangeArrowheads="1"/>
          </p:cNvSpPr>
          <p:nvPr/>
        </p:nvSpPr>
        <p:spPr bwMode="auto">
          <a:xfrm>
            <a:off x="6465889" y="1012825"/>
            <a:ext cx="28098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8279" name="TextBox 107"/>
          <p:cNvSpPr txBox="1">
            <a:spLocks noChangeArrowheads="1"/>
          </p:cNvSpPr>
          <p:nvPr/>
        </p:nvSpPr>
        <p:spPr bwMode="auto">
          <a:xfrm>
            <a:off x="6323013" y="836613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8280" name="TextBox 108"/>
          <p:cNvSpPr txBox="1">
            <a:spLocks noChangeArrowheads="1"/>
          </p:cNvSpPr>
          <p:nvPr/>
        </p:nvSpPr>
        <p:spPr bwMode="auto">
          <a:xfrm>
            <a:off x="5875339" y="549276"/>
            <a:ext cx="5111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b="0">
                <a:solidFill>
                  <a:prstClr val="black"/>
                </a:solidFill>
              </a:rPr>
              <a:t>File 1</a:t>
            </a:r>
          </a:p>
        </p:txBody>
      </p:sp>
      <p:sp>
        <p:nvSpPr>
          <p:cNvPr id="8281" name="Rectangle 109"/>
          <p:cNvSpPr>
            <a:spLocks noChangeArrowheads="1"/>
          </p:cNvSpPr>
          <p:nvPr/>
        </p:nvSpPr>
        <p:spPr bwMode="auto">
          <a:xfrm>
            <a:off x="5959476" y="1628775"/>
            <a:ext cx="288925" cy="36933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82" name="Rectangle 110"/>
          <p:cNvSpPr>
            <a:spLocks noChangeArrowheads="1"/>
          </p:cNvSpPr>
          <p:nvPr/>
        </p:nvSpPr>
        <p:spPr bwMode="auto">
          <a:xfrm>
            <a:off x="6032500" y="1700213"/>
            <a:ext cx="287338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83" name="Rectangle 111"/>
          <p:cNvSpPr>
            <a:spLocks noChangeArrowheads="1"/>
          </p:cNvSpPr>
          <p:nvPr/>
        </p:nvSpPr>
        <p:spPr bwMode="auto">
          <a:xfrm>
            <a:off x="6103939" y="1773238"/>
            <a:ext cx="287337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84" name="Rectangle 112"/>
          <p:cNvSpPr>
            <a:spLocks noChangeArrowheads="1"/>
          </p:cNvSpPr>
          <p:nvPr/>
        </p:nvSpPr>
        <p:spPr bwMode="auto">
          <a:xfrm>
            <a:off x="6175376" y="1844675"/>
            <a:ext cx="288925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85" name="Rectangle 113"/>
          <p:cNvSpPr>
            <a:spLocks noChangeArrowheads="1"/>
          </p:cNvSpPr>
          <p:nvPr/>
        </p:nvSpPr>
        <p:spPr bwMode="auto">
          <a:xfrm>
            <a:off x="6248400" y="1916113"/>
            <a:ext cx="287338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86" name="TextBox 114"/>
          <p:cNvSpPr txBox="1">
            <a:spLocks noChangeArrowheads="1"/>
          </p:cNvSpPr>
          <p:nvPr/>
        </p:nvSpPr>
        <p:spPr bwMode="auto">
          <a:xfrm>
            <a:off x="6184900" y="1557338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8287" name="TextBox 115"/>
          <p:cNvSpPr txBox="1">
            <a:spLocks noChangeArrowheads="1"/>
          </p:cNvSpPr>
          <p:nvPr/>
        </p:nvSpPr>
        <p:spPr bwMode="auto">
          <a:xfrm>
            <a:off x="6256338" y="16287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8288" name="TextBox 116"/>
          <p:cNvSpPr txBox="1">
            <a:spLocks noChangeArrowheads="1"/>
          </p:cNvSpPr>
          <p:nvPr/>
        </p:nvSpPr>
        <p:spPr bwMode="auto">
          <a:xfrm>
            <a:off x="6400800" y="1773238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8289" name="TextBox 117"/>
          <p:cNvSpPr txBox="1">
            <a:spLocks noChangeArrowheads="1"/>
          </p:cNvSpPr>
          <p:nvPr/>
        </p:nvSpPr>
        <p:spPr bwMode="auto">
          <a:xfrm>
            <a:off x="6470651" y="1876425"/>
            <a:ext cx="2825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8290" name="TextBox 118"/>
          <p:cNvSpPr txBox="1">
            <a:spLocks noChangeArrowheads="1"/>
          </p:cNvSpPr>
          <p:nvPr/>
        </p:nvSpPr>
        <p:spPr bwMode="auto">
          <a:xfrm>
            <a:off x="6329363" y="1700214"/>
            <a:ext cx="279400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8291" name="TextBox 119"/>
          <p:cNvSpPr txBox="1">
            <a:spLocks noChangeArrowheads="1"/>
          </p:cNvSpPr>
          <p:nvPr/>
        </p:nvSpPr>
        <p:spPr bwMode="auto">
          <a:xfrm>
            <a:off x="5888039" y="1412876"/>
            <a:ext cx="4968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b="0">
                <a:solidFill>
                  <a:prstClr val="black"/>
                </a:solidFill>
              </a:rPr>
              <a:t>File 2</a:t>
            </a:r>
          </a:p>
        </p:txBody>
      </p:sp>
      <p:sp>
        <p:nvSpPr>
          <p:cNvPr id="8292" name="Rectangle 120"/>
          <p:cNvSpPr>
            <a:spLocks noChangeArrowheads="1"/>
          </p:cNvSpPr>
          <p:nvPr/>
        </p:nvSpPr>
        <p:spPr bwMode="auto">
          <a:xfrm>
            <a:off x="5959476" y="2565400"/>
            <a:ext cx="288925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93" name="Rectangle 121"/>
          <p:cNvSpPr>
            <a:spLocks noChangeArrowheads="1"/>
          </p:cNvSpPr>
          <p:nvPr/>
        </p:nvSpPr>
        <p:spPr bwMode="auto">
          <a:xfrm>
            <a:off x="6032500" y="2636838"/>
            <a:ext cx="287338" cy="36933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94" name="Rectangle 122"/>
          <p:cNvSpPr>
            <a:spLocks noChangeArrowheads="1"/>
          </p:cNvSpPr>
          <p:nvPr/>
        </p:nvSpPr>
        <p:spPr bwMode="auto">
          <a:xfrm>
            <a:off x="6103939" y="2708275"/>
            <a:ext cx="287337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95" name="Rectangle 123"/>
          <p:cNvSpPr>
            <a:spLocks noChangeArrowheads="1"/>
          </p:cNvSpPr>
          <p:nvPr/>
        </p:nvSpPr>
        <p:spPr bwMode="auto">
          <a:xfrm>
            <a:off x="6175376" y="2781300"/>
            <a:ext cx="288925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96" name="Rectangle 124"/>
          <p:cNvSpPr>
            <a:spLocks noChangeArrowheads="1"/>
          </p:cNvSpPr>
          <p:nvPr/>
        </p:nvSpPr>
        <p:spPr bwMode="auto">
          <a:xfrm>
            <a:off x="6248400" y="2852738"/>
            <a:ext cx="287338" cy="369332"/>
          </a:xfrm>
          <a:prstGeom prst="rect">
            <a:avLst/>
          </a:prstGeom>
          <a:solidFill>
            <a:srgbClr val="B46CA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297" name="TextBox 125"/>
          <p:cNvSpPr txBox="1">
            <a:spLocks noChangeArrowheads="1"/>
          </p:cNvSpPr>
          <p:nvPr/>
        </p:nvSpPr>
        <p:spPr bwMode="auto">
          <a:xfrm>
            <a:off x="6184900" y="2492375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8298" name="TextBox 126"/>
          <p:cNvSpPr txBox="1">
            <a:spLocks noChangeArrowheads="1"/>
          </p:cNvSpPr>
          <p:nvPr/>
        </p:nvSpPr>
        <p:spPr bwMode="auto">
          <a:xfrm>
            <a:off x="6256338" y="2565400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8299" name="TextBox 127"/>
          <p:cNvSpPr txBox="1">
            <a:spLocks noChangeArrowheads="1"/>
          </p:cNvSpPr>
          <p:nvPr/>
        </p:nvSpPr>
        <p:spPr bwMode="auto">
          <a:xfrm>
            <a:off x="6400800" y="2708275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8300" name="TextBox 128"/>
          <p:cNvSpPr txBox="1">
            <a:spLocks noChangeArrowheads="1"/>
          </p:cNvSpPr>
          <p:nvPr/>
        </p:nvSpPr>
        <p:spPr bwMode="auto">
          <a:xfrm>
            <a:off x="6470651" y="2813050"/>
            <a:ext cx="2825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8301" name="TextBox 129"/>
          <p:cNvSpPr txBox="1">
            <a:spLocks noChangeArrowheads="1"/>
          </p:cNvSpPr>
          <p:nvPr/>
        </p:nvSpPr>
        <p:spPr bwMode="auto">
          <a:xfrm>
            <a:off x="6329363" y="2636838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8302" name="TextBox 130"/>
          <p:cNvSpPr txBox="1">
            <a:spLocks noChangeArrowheads="1"/>
          </p:cNvSpPr>
          <p:nvPr/>
        </p:nvSpPr>
        <p:spPr bwMode="auto">
          <a:xfrm>
            <a:off x="5876926" y="2349501"/>
            <a:ext cx="5191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b="0">
                <a:solidFill>
                  <a:prstClr val="black"/>
                </a:solidFill>
              </a:rPr>
              <a:t>File N</a:t>
            </a:r>
          </a:p>
        </p:txBody>
      </p:sp>
      <p:sp>
        <p:nvSpPr>
          <p:cNvPr id="8303" name="Rectangle 131"/>
          <p:cNvSpPr>
            <a:spLocks noChangeArrowheads="1"/>
          </p:cNvSpPr>
          <p:nvPr/>
        </p:nvSpPr>
        <p:spPr bwMode="auto">
          <a:xfrm>
            <a:off x="7042151" y="692150"/>
            <a:ext cx="288925" cy="369332"/>
          </a:xfrm>
          <a:prstGeom prst="rect">
            <a:avLst/>
          </a:prstGeom>
          <a:solidFill>
            <a:srgbClr val="569FB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304" name="Rectangle 132"/>
          <p:cNvSpPr>
            <a:spLocks noChangeArrowheads="1"/>
          </p:cNvSpPr>
          <p:nvPr/>
        </p:nvSpPr>
        <p:spPr bwMode="auto">
          <a:xfrm>
            <a:off x="7115175" y="765175"/>
            <a:ext cx="287338" cy="369332"/>
          </a:xfrm>
          <a:prstGeom prst="rect">
            <a:avLst/>
          </a:prstGeom>
          <a:solidFill>
            <a:srgbClr val="569FB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305" name="Rectangle 133"/>
          <p:cNvSpPr>
            <a:spLocks noChangeArrowheads="1"/>
          </p:cNvSpPr>
          <p:nvPr/>
        </p:nvSpPr>
        <p:spPr bwMode="auto">
          <a:xfrm>
            <a:off x="7186614" y="836613"/>
            <a:ext cx="287337" cy="369332"/>
          </a:xfrm>
          <a:prstGeom prst="rect">
            <a:avLst/>
          </a:prstGeom>
          <a:solidFill>
            <a:srgbClr val="569FB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306" name="Rectangle 134"/>
          <p:cNvSpPr>
            <a:spLocks noChangeArrowheads="1"/>
          </p:cNvSpPr>
          <p:nvPr/>
        </p:nvSpPr>
        <p:spPr bwMode="auto">
          <a:xfrm>
            <a:off x="7258051" y="908050"/>
            <a:ext cx="288925" cy="36933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307" name="Rectangle 135"/>
          <p:cNvSpPr>
            <a:spLocks noChangeArrowheads="1"/>
          </p:cNvSpPr>
          <p:nvPr/>
        </p:nvSpPr>
        <p:spPr bwMode="auto">
          <a:xfrm>
            <a:off x="7331075" y="981075"/>
            <a:ext cx="287338" cy="369332"/>
          </a:xfrm>
          <a:prstGeom prst="rect">
            <a:avLst/>
          </a:prstGeom>
          <a:solidFill>
            <a:srgbClr val="569FB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8308" name="TextBox 136"/>
          <p:cNvSpPr txBox="1">
            <a:spLocks noChangeArrowheads="1"/>
          </p:cNvSpPr>
          <p:nvPr/>
        </p:nvSpPr>
        <p:spPr bwMode="auto">
          <a:xfrm>
            <a:off x="7267575" y="620713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8309" name="TextBox 137"/>
          <p:cNvSpPr txBox="1">
            <a:spLocks noChangeArrowheads="1"/>
          </p:cNvSpPr>
          <p:nvPr/>
        </p:nvSpPr>
        <p:spPr bwMode="auto">
          <a:xfrm>
            <a:off x="7339013" y="6921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8310" name="TextBox 138"/>
          <p:cNvSpPr txBox="1">
            <a:spLocks noChangeArrowheads="1"/>
          </p:cNvSpPr>
          <p:nvPr/>
        </p:nvSpPr>
        <p:spPr bwMode="auto">
          <a:xfrm>
            <a:off x="7483475" y="836613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8311" name="TextBox 139"/>
          <p:cNvSpPr txBox="1">
            <a:spLocks noChangeArrowheads="1"/>
          </p:cNvSpPr>
          <p:nvPr/>
        </p:nvSpPr>
        <p:spPr bwMode="auto">
          <a:xfrm>
            <a:off x="7553326" y="939800"/>
            <a:ext cx="28257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sp>
        <p:nvSpPr>
          <p:cNvPr id="8312" name="TextBox 140"/>
          <p:cNvSpPr txBox="1">
            <a:spLocks noChangeArrowheads="1"/>
          </p:cNvSpPr>
          <p:nvPr/>
        </p:nvSpPr>
        <p:spPr bwMode="auto">
          <a:xfrm>
            <a:off x="7412038" y="7651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8313" name="TextBox 141"/>
          <p:cNvSpPr txBox="1">
            <a:spLocks noChangeArrowheads="1"/>
          </p:cNvSpPr>
          <p:nvPr/>
        </p:nvSpPr>
        <p:spPr bwMode="auto">
          <a:xfrm>
            <a:off x="7951788" y="188913"/>
            <a:ext cx="7366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Releases</a:t>
            </a:r>
          </a:p>
        </p:txBody>
      </p:sp>
      <p:sp>
        <p:nvSpPr>
          <p:cNvPr id="8314" name="TextBox 142"/>
          <p:cNvSpPr txBox="1">
            <a:spLocks noChangeArrowheads="1"/>
          </p:cNvSpPr>
          <p:nvPr/>
        </p:nvSpPr>
        <p:spPr bwMode="auto">
          <a:xfrm>
            <a:off x="8097839" y="692151"/>
            <a:ext cx="446087" cy="246063"/>
          </a:xfrm>
          <a:prstGeom prst="rect">
            <a:avLst/>
          </a:prstGeom>
          <a:solidFill>
            <a:srgbClr val="3399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V1.0</a:t>
            </a:r>
          </a:p>
        </p:txBody>
      </p:sp>
      <p:sp>
        <p:nvSpPr>
          <p:cNvPr id="8315" name="TextBox 146"/>
          <p:cNvSpPr txBox="1">
            <a:spLocks noChangeArrowheads="1"/>
          </p:cNvSpPr>
          <p:nvPr/>
        </p:nvSpPr>
        <p:spPr bwMode="auto">
          <a:xfrm>
            <a:off x="8085139" y="1093788"/>
            <a:ext cx="446087" cy="247650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V1.1</a:t>
            </a:r>
          </a:p>
        </p:txBody>
      </p:sp>
      <p:sp>
        <p:nvSpPr>
          <p:cNvPr id="8316" name="TextBox 147"/>
          <p:cNvSpPr txBox="1">
            <a:spLocks noChangeArrowheads="1"/>
          </p:cNvSpPr>
          <p:nvPr/>
        </p:nvSpPr>
        <p:spPr bwMode="auto">
          <a:xfrm>
            <a:off x="8085139" y="1527176"/>
            <a:ext cx="446087" cy="246063"/>
          </a:xfrm>
          <a:prstGeom prst="rect">
            <a:avLst/>
          </a:prstGeom>
          <a:solidFill>
            <a:srgbClr val="3399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V2.0</a:t>
            </a:r>
          </a:p>
        </p:txBody>
      </p:sp>
      <p:sp>
        <p:nvSpPr>
          <p:cNvPr id="8317" name="TextBox 148"/>
          <p:cNvSpPr txBox="1">
            <a:spLocks noChangeArrowheads="1"/>
          </p:cNvSpPr>
          <p:nvPr/>
        </p:nvSpPr>
        <p:spPr bwMode="auto">
          <a:xfrm>
            <a:off x="8085139" y="1958976"/>
            <a:ext cx="446087" cy="246063"/>
          </a:xfrm>
          <a:prstGeom prst="rect">
            <a:avLst/>
          </a:prstGeom>
          <a:solidFill>
            <a:srgbClr val="3399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V2.1</a:t>
            </a:r>
          </a:p>
        </p:txBody>
      </p:sp>
      <p:sp>
        <p:nvSpPr>
          <p:cNvPr id="8318" name="TextBox 149"/>
          <p:cNvSpPr txBox="1">
            <a:spLocks noChangeArrowheads="1"/>
          </p:cNvSpPr>
          <p:nvPr/>
        </p:nvSpPr>
        <p:spPr bwMode="auto">
          <a:xfrm>
            <a:off x="8986839" y="188913"/>
            <a:ext cx="8159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u="sng">
                <a:solidFill>
                  <a:prstClr val="black"/>
                </a:solidFill>
              </a:rPr>
              <a:t>User Docs</a:t>
            </a:r>
          </a:p>
        </p:txBody>
      </p:sp>
      <p:sp>
        <p:nvSpPr>
          <p:cNvPr id="151" name="Rectangle 150"/>
          <p:cNvSpPr/>
          <p:nvPr/>
        </p:nvSpPr>
        <p:spPr bwMode="auto">
          <a:xfrm>
            <a:off x="9183689" y="692150"/>
            <a:ext cx="28733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8320" name="Rectangle 151"/>
          <p:cNvSpPr>
            <a:spLocks noChangeArrowheads="1"/>
          </p:cNvSpPr>
          <p:nvPr/>
        </p:nvSpPr>
        <p:spPr bwMode="auto">
          <a:xfrm>
            <a:off x="9255126" y="765175"/>
            <a:ext cx="288925" cy="36933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defTabSz="457200"/>
            <a:endParaRPr lang="en-IE">
              <a:solidFill>
                <a:prstClr val="black"/>
              </a:solidFill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9328150" y="836613"/>
            <a:ext cx="287338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9399589" y="908050"/>
            <a:ext cx="28733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155" name="Rectangle 154"/>
          <p:cNvSpPr/>
          <p:nvPr/>
        </p:nvSpPr>
        <p:spPr bwMode="auto">
          <a:xfrm>
            <a:off x="9471026" y="981075"/>
            <a:ext cx="288925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endParaRPr lang="en-IE">
              <a:solidFill>
                <a:prstClr val="black"/>
              </a:solidFill>
            </a:endParaRPr>
          </a:p>
        </p:txBody>
      </p:sp>
      <p:sp>
        <p:nvSpPr>
          <p:cNvPr id="8324" name="TextBox 155"/>
          <p:cNvSpPr txBox="1">
            <a:spLocks noChangeArrowheads="1"/>
          </p:cNvSpPr>
          <p:nvPr/>
        </p:nvSpPr>
        <p:spPr bwMode="auto">
          <a:xfrm>
            <a:off x="9409113" y="620713"/>
            <a:ext cx="27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V1</a:t>
            </a:r>
          </a:p>
        </p:txBody>
      </p:sp>
      <p:sp>
        <p:nvSpPr>
          <p:cNvPr id="8325" name="TextBox 156"/>
          <p:cNvSpPr txBox="1">
            <a:spLocks noChangeArrowheads="1"/>
          </p:cNvSpPr>
          <p:nvPr/>
        </p:nvSpPr>
        <p:spPr bwMode="auto">
          <a:xfrm>
            <a:off x="9480550" y="692150"/>
            <a:ext cx="2794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V2</a:t>
            </a:r>
          </a:p>
        </p:txBody>
      </p:sp>
      <p:sp>
        <p:nvSpPr>
          <p:cNvPr id="8326" name="TextBox 157"/>
          <p:cNvSpPr txBox="1">
            <a:spLocks noChangeArrowheads="1"/>
          </p:cNvSpPr>
          <p:nvPr/>
        </p:nvSpPr>
        <p:spPr bwMode="auto">
          <a:xfrm>
            <a:off x="9625013" y="836613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V4</a:t>
            </a:r>
          </a:p>
        </p:txBody>
      </p:sp>
      <p:sp>
        <p:nvSpPr>
          <p:cNvPr id="8327" name="TextBox 158"/>
          <p:cNvSpPr txBox="1">
            <a:spLocks noChangeArrowheads="1"/>
          </p:cNvSpPr>
          <p:nvPr/>
        </p:nvSpPr>
        <p:spPr bwMode="auto">
          <a:xfrm>
            <a:off x="9551988" y="765175"/>
            <a:ext cx="2794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V3</a:t>
            </a:r>
          </a:p>
        </p:txBody>
      </p:sp>
      <p:sp>
        <p:nvSpPr>
          <p:cNvPr id="8328" name="TextBox 169"/>
          <p:cNvSpPr txBox="1">
            <a:spLocks noChangeArrowheads="1"/>
          </p:cNvSpPr>
          <p:nvPr/>
        </p:nvSpPr>
        <p:spPr bwMode="auto">
          <a:xfrm>
            <a:off x="9696451" y="939800"/>
            <a:ext cx="282575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 sz="600">
                <a:solidFill>
                  <a:prstClr val="black"/>
                </a:solidFill>
              </a:rPr>
              <a:t>Vn</a:t>
            </a:r>
          </a:p>
        </p:txBody>
      </p:sp>
      <p:grpSp>
        <p:nvGrpSpPr>
          <p:cNvPr id="2" name="Group 177"/>
          <p:cNvGrpSpPr>
            <a:grpSpLocks/>
          </p:cNvGrpSpPr>
          <p:nvPr/>
        </p:nvGrpSpPr>
        <p:grpSpPr bwMode="auto">
          <a:xfrm>
            <a:off x="5195889" y="1125539"/>
            <a:ext cx="5221287" cy="5616575"/>
            <a:chOff x="3671504" y="1124744"/>
            <a:chExt cx="5220976" cy="5616624"/>
          </a:xfrm>
        </p:grpSpPr>
        <p:grpSp>
          <p:nvGrpSpPr>
            <p:cNvPr id="8339" name="Group 174"/>
            <p:cNvGrpSpPr>
              <a:grpSpLocks/>
            </p:cNvGrpSpPr>
            <p:nvPr/>
          </p:nvGrpSpPr>
          <p:grpSpPr bwMode="auto">
            <a:xfrm>
              <a:off x="3671504" y="3748970"/>
              <a:ext cx="5220976" cy="2992398"/>
              <a:chOff x="3419872" y="3501008"/>
              <a:chExt cx="5220976" cy="2992398"/>
            </a:xfrm>
          </p:grpSpPr>
          <p:sp>
            <p:nvSpPr>
              <p:cNvPr id="8341" name="TextBox 143"/>
              <p:cNvSpPr txBox="1">
                <a:spLocks noChangeArrowheads="1"/>
              </p:cNvSpPr>
              <p:nvPr/>
            </p:nvSpPr>
            <p:spPr bwMode="auto">
              <a:xfrm>
                <a:off x="7319653" y="3501008"/>
                <a:ext cx="1321195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defTabSz="457200" eaLnBrk="1" hangingPunct="1"/>
                <a:r>
                  <a:rPr lang="en-IE">
                    <a:solidFill>
                      <a:prstClr val="black"/>
                    </a:solidFill>
                  </a:rPr>
                  <a:t>Receive Support &amp;</a:t>
                </a:r>
              </a:p>
              <a:p>
                <a:pPr defTabSz="457200" eaLnBrk="1" hangingPunct="1"/>
                <a:r>
                  <a:rPr lang="en-IE">
                    <a:solidFill>
                      <a:prstClr val="black"/>
                    </a:solidFill>
                  </a:rPr>
                  <a:t>Maint Req.</a:t>
                </a:r>
              </a:p>
            </p:txBody>
          </p:sp>
          <p:sp>
            <p:nvSpPr>
              <p:cNvPr id="8342" name="TextBox 144"/>
              <p:cNvSpPr txBox="1">
                <a:spLocks noChangeArrowheads="1"/>
              </p:cNvSpPr>
              <p:nvPr/>
            </p:nvSpPr>
            <p:spPr bwMode="auto">
              <a:xfrm>
                <a:off x="7236296" y="4181018"/>
                <a:ext cx="1208984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defTabSz="457200" eaLnBrk="1" hangingPunct="1"/>
                <a:r>
                  <a:rPr lang="en-IE">
                    <a:solidFill>
                      <a:prstClr val="black"/>
                    </a:solidFill>
                  </a:rPr>
                  <a:t>Reproduce Build</a:t>
                </a:r>
              </a:p>
              <a:p>
                <a:pPr defTabSz="457200" eaLnBrk="1" hangingPunct="1"/>
                <a:r>
                  <a:rPr lang="en-IE">
                    <a:solidFill>
                      <a:prstClr val="black"/>
                    </a:solidFill>
                  </a:rPr>
                  <a:t>(if necessary)</a:t>
                </a:r>
              </a:p>
            </p:txBody>
          </p:sp>
          <p:sp>
            <p:nvSpPr>
              <p:cNvPr id="8343" name="TextBox 145"/>
              <p:cNvSpPr txBox="1">
                <a:spLocks noChangeArrowheads="1"/>
              </p:cNvSpPr>
              <p:nvPr/>
            </p:nvSpPr>
            <p:spPr bwMode="auto">
              <a:xfrm>
                <a:off x="6945858" y="4829090"/>
                <a:ext cx="1213795" cy="246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defTabSz="457200" eaLnBrk="1" hangingPunct="1"/>
                <a:r>
                  <a:rPr lang="en-IE">
                    <a:solidFill>
                      <a:prstClr val="black"/>
                    </a:solidFill>
                  </a:rPr>
                  <a:t>Reproduce Issue</a:t>
                </a:r>
              </a:p>
            </p:txBody>
          </p:sp>
          <p:sp>
            <p:nvSpPr>
              <p:cNvPr id="8344" name="TextBox 159"/>
              <p:cNvSpPr txBox="1">
                <a:spLocks noChangeArrowheads="1"/>
              </p:cNvSpPr>
              <p:nvPr/>
            </p:nvSpPr>
            <p:spPr bwMode="auto">
              <a:xfrm>
                <a:off x="6329172" y="5333146"/>
                <a:ext cx="1007007" cy="40011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defTabSz="457200" eaLnBrk="1" hangingPunct="1"/>
                <a:r>
                  <a:rPr lang="en-IE">
                    <a:solidFill>
                      <a:prstClr val="black"/>
                    </a:solidFill>
                  </a:rPr>
                  <a:t>Fix Issue</a:t>
                </a:r>
              </a:p>
              <a:p>
                <a:pPr defTabSz="457200" eaLnBrk="1" hangingPunct="1"/>
                <a:r>
                  <a:rPr lang="en-IE">
                    <a:solidFill>
                      <a:prstClr val="black"/>
                    </a:solidFill>
                  </a:rPr>
                  <a:t>(if necessary)</a:t>
                </a:r>
              </a:p>
            </p:txBody>
          </p:sp>
          <p:sp>
            <p:nvSpPr>
              <p:cNvPr id="8345" name="TextBox 160"/>
              <p:cNvSpPr txBox="1">
                <a:spLocks noChangeArrowheads="1"/>
              </p:cNvSpPr>
              <p:nvPr/>
            </p:nvSpPr>
            <p:spPr bwMode="auto">
              <a:xfrm>
                <a:off x="5076056" y="5485546"/>
                <a:ext cx="1007006" cy="5539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defTabSz="457200" eaLnBrk="1" hangingPunct="1"/>
                <a:r>
                  <a:rPr lang="en-IE">
                    <a:solidFill>
                      <a:prstClr val="black"/>
                    </a:solidFill>
                  </a:rPr>
                  <a:t>Ship patch /</a:t>
                </a:r>
              </a:p>
              <a:p>
                <a:pPr defTabSz="457200" eaLnBrk="1" hangingPunct="1"/>
                <a:r>
                  <a:rPr lang="en-IE">
                    <a:solidFill>
                      <a:prstClr val="black"/>
                    </a:solidFill>
                  </a:rPr>
                  <a:t>New build</a:t>
                </a:r>
              </a:p>
              <a:p>
                <a:pPr defTabSz="457200" eaLnBrk="1" hangingPunct="1"/>
                <a:r>
                  <a:rPr lang="en-IE">
                    <a:solidFill>
                      <a:prstClr val="black"/>
                    </a:solidFill>
                  </a:rPr>
                  <a:t>(if necessary)</a:t>
                </a:r>
              </a:p>
            </p:txBody>
          </p:sp>
          <p:sp>
            <p:nvSpPr>
              <p:cNvPr id="8346" name="TextBox 161"/>
              <p:cNvSpPr txBox="1">
                <a:spLocks noChangeArrowheads="1"/>
              </p:cNvSpPr>
              <p:nvPr/>
            </p:nvSpPr>
            <p:spPr bwMode="auto">
              <a:xfrm>
                <a:off x="4861851" y="6093296"/>
                <a:ext cx="146386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defTabSz="457200" eaLnBrk="1" hangingPunct="1"/>
                <a:r>
                  <a:rPr lang="en-IE">
                    <a:solidFill>
                      <a:srgbClr val="FF0000"/>
                    </a:solidFill>
                  </a:rPr>
                  <a:t>Don’t break earlier</a:t>
                </a:r>
              </a:p>
              <a:p>
                <a:pPr defTabSz="457200" eaLnBrk="1" hangingPunct="1"/>
                <a:r>
                  <a:rPr lang="en-IE">
                    <a:solidFill>
                      <a:srgbClr val="FF0000"/>
                    </a:solidFill>
                  </a:rPr>
                  <a:t>functionality / quality</a:t>
                </a:r>
              </a:p>
            </p:txBody>
          </p:sp>
          <p:sp>
            <p:nvSpPr>
              <p:cNvPr id="8347" name="TextBox 162"/>
              <p:cNvSpPr txBox="1">
                <a:spLocks noChangeArrowheads="1"/>
              </p:cNvSpPr>
              <p:nvPr/>
            </p:nvSpPr>
            <p:spPr bwMode="auto">
              <a:xfrm>
                <a:off x="3419872" y="5445224"/>
                <a:ext cx="1338828" cy="5539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defTabSz="457200" eaLnBrk="1" hangingPunct="1"/>
                <a:r>
                  <a:rPr lang="en-IE">
                    <a:solidFill>
                      <a:prstClr val="black"/>
                    </a:solidFill>
                  </a:rPr>
                  <a:t>Update Supporting</a:t>
                </a:r>
              </a:p>
              <a:p>
                <a:pPr defTabSz="457200" eaLnBrk="1" hangingPunct="1"/>
                <a:r>
                  <a:rPr lang="en-IE">
                    <a:solidFill>
                      <a:prstClr val="black"/>
                    </a:solidFill>
                  </a:rPr>
                  <a:t>Artefacts</a:t>
                </a:r>
              </a:p>
              <a:p>
                <a:pPr defTabSz="457200" eaLnBrk="1" hangingPunct="1"/>
                <a:r>
                  <a:rPr lang="en-IE">
                    <a:solidFill>
                      <a:prstClr val="black"/>
                    </a:solidFill>
                  </a:rPr>
                  <a:t>(if necessary)</a:t>
                </a:r>
              </a:p>
            </p:txBody>
          </p:sp>
          <p:cxnSp>
            <p:nvCxnSpPr>
              <p:cNvPr id="8348" name="Straight Arrow Connector 164"/>
              <p:cNvCxnSpPr>
                <a:cxnSpLocks noChangeShapeType="1"/>
              </p:cNvCxnSpPr>
              <p:nvPr/>
            </p:nvCxnSpPr>
            <p:spPr bwMode="auto">
              <a:xfrm rot="5400000">
                <a:off x="7884368" y="4077072"/>
                <a:ext cx="144016" cy="15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8349" name="Straight Arrow Connector 166"/>
              <p:cNvCxnSpPr>
                <a:cxnSpLocks noChangeShapeType="1"/>
              </p:cNvCxnSpPr>
              <p:nvPr/>
            </p:nvCxnSpPr>
            <p:spPr bwMode="auto">
              <a:xfrm rot="5400000">
                <a:off x="7668344" y="4653136"/>
                <a:ext cx="144016" cy="1440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8350" name="Straight Arrow Connector 168"/>
              <p:cNvCxnSpPr>
                <a:cxnSpLocks noChangeShapeType="1"/>
              </p:cNvCxnSpPr>
              <p:nvPr/>
            </p:nvCxnSpPr>
            <p:spPr bwMode="auto">
              <a:xfrm rot="5400000">
                <a:off x="7380312" y="5157192"/>
                <a:ext cx="144016" cy="1440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8351" name="Straight Arrow Connector 171"/>
              <p:cNvCxnSpPr>
                <a:cxnSpLocks noChangeShapeType="1"/>
              </p:cNvCxnSpPr>
              <p:nvPr/>
            </p:nvCxnSpPr>
            <p:spPr bwMode="auto">
              <a:xfrm rot="10800000">
                <a:off x="6156176" y="5661248"/>
                <a:ext cx="144016" cy="15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8352" name="Straight Arrow Connector 173"/>
              <p:cNvCxnSpPr>
                <a:cxnSpLocks noChangeShapeType="1"/>
              </p:cNvCxnSpPr>
              <p:nvPr/>
            </p:nvCxnSpPr>
            <p:spPr bwMode="auto">
              <a:xfrm rot="10800000">
                <a:off x="4788024" y="5733256"/>
                <a:ext cx="216024" cy="15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</p:grpSp>
        <p:cxnSp>
          <p:nvCxnSpPr>
            <p:cNvPr id="8340" name="Straight Arrow Connector 176"/>
            <p:cNvCxnSpPr>
              <a:cxnSpLocks noChangeShapeType="1"/>
            </p:cNvCxnSpPr>
            <p:nvPr/>
          </p:nvCxnSpPr>
          <p:spPr bwMode="auto">
            <a:xfrm rot="16200000" flipH="1">
              <a:off x="6336196" y="1808820"/>
              <a:ext cx="2520280" cy="11521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sp>
        <p:nvSpPr>
          <p:cNvPr id="191" name="TextBox 190"/>
          <p:cNvSpPr txBox="1">
            <a:spLocks noChangeArrowheads="1"/>
          </p:cNvSpPr>
          <p:nvPr/>
        </p:nvSpPr>
        <p:spPr bwMode="auto">
          <a:xfrm>
            <a:off x="8616951" y="1268413"/>
            <a:ext cx="550863" cy="246062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IE">
                <a:solidFill>
                  <a:prstClr val="black"/>
                </a:solidFill>
              </a:rPr>
              <a:t>V1.1.1</a:t>
            </a:r>
          </a:p>
        </p:txBody>
      </p:sp>
      <p:grpSp>
        <p:nvGrpSpPr>
          <p:cNvPr id="4" name="Group 194"/>
          <p:cNvGrpSpPr>
            <a:grpSpLocks/>
          </p:cNvGrpSpPr>
          <p:nvPr/>
        </p:nvGrpSpPr>
        <p:grpSpPr bwMode="auto">
          <a:xfrm>
            <a:off x="2279651" y="1412876"/>
            <a:ext cx="7129463" cy="4176713"/>
            <a:chOff x="755576" y="1412776"/>
            <a:chExt cx="7128792" cy="4176464"/>
          </a:xfrm>
        </p:grpSpPr>
        <p:cxnSp>
          <p:nvCxnSpPr>
            <p:cNvPr id="8332" name="Straight Arrow Connector 179"/>
            <p:cNvCxnSpPr>
              <a:cxnSpLocks noChangeShapeType="1"/>
            </p:cNvCxnSpPr>
            <p:nvPr/>
          </p:nvCxnSpPr>
          <p:spPr bwMode="auto">
            <a:xfrm rot="16200000" flipV="1">
              <a:off x="287524" y="2024844"/>
              <a:ext cx="4032448" cy="30963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8333" name="Straight Arrow Connector 181"/>
            <p:cNvCxnSpPr>
              <a:cxnSpLocks noChangeShapeType="1"/>
            </p:cNvCxnSpPr>
            <p:nvPr/>
          </p:nvCxnSpPr>
          <p:spPr bwMode="auto">
            <a:xfrm rot="16200000" flipV="1">
              <a:off x="791580" y="2312876"/>
              <a:ext cx="4176464" cy="23762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8334" name="Straight Arrow Connector 183"/>
            <p:cNvCxnSpPr>
              <a:cxnSpLocks noChangeShapeType="1"/>
            </p:cNvCxnSpPr>
            <p:nvPr/>
          </p:nvCxnSpPr>
          <p:spPr bwMode="auto">
            <a:xfrm rot="16200000" flipV="1">
              <a:off x="2627784" y="3933056"/>
              <a:ext cx="2232248" cy="10801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8335" name="Straight Arrow Connector 185"/>
            <p:cNvCxnSpPr>
              <a:cxnSpLocks noChangeShapeType="1"/>
            </p:cNvCxnSpPr>
            <p:nvPr/>
          </p:nvCxnSpPr>
          <p:spPr bwMode="auto">
            <a:xfrm rot="16200000" flipV="1">
              <a:off x="2087724" y="3248980"/>
              <a:ext cx="4032448" cy="64807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8336" name="Straight Arrow Connector 187"/>
            <p:cNvCxnSpPr>
              <a:cxnSpLocks noChangeShapeType="1"/>
            </p:cNvCxnSpPr>
            <p:nvPr/>
          </p:nvCxnSpPr>
          <p:spPr bwMode="auto">
            <a:xfrm rot="5400000" flipH="1" flipV="1">
              <a:off x="3671900" y="4473116"/>
              <a:ext cx="2088232" cy="1440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8337" name="Straight Arrow Connector 189"/>
            <p:cNvCxnSpPr>
              <a:cxnSpLocks noChangeShapeType="1"/>
            </p:cNvCxnSpPr>
            <p:nvPr/>
          </p:nvCxnSpPr>
          <p:spPr bwMode="auto">
            <a:xfrm rot="5400000" flipH="1" flipV="1">
              <a:off x="3275856" y="3068960"/>
              <a:ext cx="4104456" cy="9361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8338" name="Straight Arrow Connector 193"/>
            <p:cNvCxnSpPr>
              <a:cxnSpLocks noChangeShapeType="1"/>
            </p:cNvCxnSpPr>
            <p:nvPr/>
          </p:nvCxnSpPr>
          <p:spPr bwMode="auto">
            <a:xfrm rot="5400000" flipH="1" flipV="1">
              <a:off x="4391980" y="2096852"/>
              <a:ext cx="4104456" cy="288032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43263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6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Symptoms of poor configuration management</a:t>
            </a:r>
          </a:p>
        </p:txBody>
      </p:sp>
      <p:sp>
        <p:nvSpPr>
          <p:cNvPr id="893961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000" dirty="0"/>
              <a:t>Can't find latest version of source code or match source to object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/>
              <a:t>Can't replicate previously released version of code for a customer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/>
              <a:t>Bugs that were fixed suddenly reappear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/>
              <a:t>Wrong functionality shipped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/>
              <a:t>Wrong code tested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/>
              <a:t>Undocumented features suddenly appear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/>
              <a:t>Tested features suddenly disappear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/>
              <a:t>Can't trace which customer has which version of code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000" dirty="0"/>
              <a:t>Simultaneous changes made to same source module by multiple developers and some changes lost.</a:t>
            </a:r>
          </a:p>
        </p:txBody>
      </p:sp>
      <p:pic>
        <p:nvPicPr>
          <p:cNvPr id="1026" name="Picture 2" descr="Nightmare Marionette speedpainting!! Speedpaint By Davide Ruvolo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258" y="2470918"/>
            <a:ext cx="3221942" cy="1865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58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0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The answers Configuration Management (CM) provides</a:t>
            </a:r>
          </a:p>
        </p:txBody>
      </p:sp>
      <p:sp>
        <p:nvSpPr>
          <p:cNvPr id="89805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What is our current software configuration?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What is its status?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How do we control changes to our configuration?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What changes have been made to our software?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Does anyone else's changes affect our software?</a:t>
            </a:r>
          </a:p>
        </p:txBody>
      </p:sp>
    </p:spTree>
    <p:extLst>
      <p:ext uri="{BB962C8B-B14F-4D97-AF65-F5344CB8AC3E}">
        <p14:creationId xmlns:p14="http://schemas.microsoft.com/office/powerpoint/2010/main" val="2519048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Risk and Testing</a:t>
            </a:r>
          </a:p>
        </p:txBody>
      </p:sp>
    </p:spTree>
    <p:extLst>
      <p:ext uri="{BB962C8B-B14F-4D97-AF65-F5344CB8AC3E}">
        <p14:creationId xmlns:p14="http://schemas.microsoft.com/office/powerpoint/2010/main" val="329586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5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Stakeholder Objectives and Risks</a:t>
            </a:r>
          </a:p>
        </p:txBody>
      </p:sp>
      <p:sp>
        <p:nvSpPr>
          <p:cNvPr id="90215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Definition: "A Stakeholder Objective is one of the fundamental objectives of the system to be built".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Benefits of undertaking the project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Payoff(s) that underpin and justify the project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Software risks are potential events or things that threaten the Cardinal Objectives of a project.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Definition: "A risk is a threat to one or more of the cardinal objectives of a project that has an uncertain probability".</a:t>
            </a:r>
          </a:p>
        </p:txBody>
      </p:sp>
    </p:spTree>
    <p:extLst>
      <p:ext uri="{BB962C8B-B14F-4D97-AF65-F5344CB8AC3E}">
        <p14:creationId xmlns:p14="http://schemas.microsoft.com/office/powerpoint/2010/main" val="215487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Some general statements about risk</a:t>
            </a:r>
          </a:p>
        </p:txBody>
      </p:sp>
      <p:sp>
        <p:nvSpPr>
          <p:cNvPr id="90419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Let’s explore our definition of risk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Risks only exist where there is uncertainty</a:t>
            </a:r>
          </a:p>
          <a:p>
            <a:pPr lvl="1" eaLnBrk="1" hangingPunct="1">
              <a:defRPr/>
            </a:pPr>
            <a:r>
              <a:rPr lang="en-US"/>
              <a:t>if the probability of a risk is zero or 100%, it is not a risk</a:t>
            </a:r>
          </a:p>
          <a:p>
            <a:pPr lvl="1" eaLnBrk="1" hangingPunct="1">
              <a:defRPr/>
            </a:pPr>
            <a:r>
              <a:rPr lang="en-US"/>
              <a:t>unless there is the potential for loss, there is no risk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There are risks associated with every project - software development is inherently risky.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Risk pervades our language</a:t>
            </a:r>
          </a:p>
        </p:txBody>
      </p:sp>
    </p:spTree>
    <p:extLst>
      <p:ext uri="{BB962C8B-B14F-4D97-AF65-F5344CB8AC3E}">
        <p14:creationId xmlns:p14="http://schemas.microsoft.com/office/powerpoint/2010/main" val="55608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24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Risk examples</a:t>
            </a:r>
          </a:p>
        </p:txBody>
      </p:sp>
      <p:sp>
        <p:nvSpPr>
          <p:cNvPr id="90624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/>
              <a:t>A safety critical risk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/>
              <a:t>aircraft system fails =&gt; incorrect build was delivered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/>
              <a:t>Political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/>
              <a:t>Immigration system fails =&gt; early delivery, poor quality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/>
              <a:t>Economic or financial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/>
              <a:t>banking system failure =&gt; under/overpayments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/>
              <a:t>Technical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/>
              <a:t>COTS component =&gt; too big (memory) or slow to use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/>
              <a:t>Security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/>
              <a:t>security vulnerability =&gt; fraud by a hacker.</a:t>
            </a:r>
          </a:p>
        </p:txBody>
      </p:sp>
    </p:spTree>
    <p:extLst>
      <p:ext uri="{BB962C8B-B14F-4D97-AF65-F5344CB8AC3E}">
        <p14:creationId xmlns:p14="http://schemas.microsoft.com/office/powerpoint/2010/main" val="4048185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Three types of software risk</a:t>
            </a:r>
          </a:p>
        </p:txBody>
      </p:sp>
      <p:pic>
        <p:nvPicPr>
          <p:cNvPr id="22530" name="Picture 3" descr="threerisktyp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1773239"/>
            <a:ext cx="7272337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51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9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Product Risks</a:t>
            </a:r>
          </a:p>
        </p:txBody>
      </p:sp>
      <p:sp>
        <p:nvSpPr>
          <p:cNvPr id="91239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Potential failure areas (adverse future events or hazards) in the software or system are known as product risks, as they are a risk to the quality of the product, such </a:t>
            </a:r>
          </a:p>
          <a:p>
            <a:pPr lvl="1" eaLnBrk="1" hangingPunct="1">
              <a:defRPr/>
            </a:pPr>
            <a:r>
              <a:rPr lang="en-US" dirty="0"/>
              <a:t>Error-prone software delivered.</a:t>
            </a:r>
          </a:p>
          <a:p>
            <a:pPr lvl="1" eaLnBrk="1" hangingPunct="1">
              <a:defRPr/>
            </a:pPr>
            <a:r>
              <a:rPr lang="en-US" dirty="0"/>
              <a:t>The potential that the software/hardware could cause harm to an individual or company.</a:t>
            </a:r>
          </a:p>
          <a:p>
            <a:pPr lvl="1" eaLnBrk="1" hangingPunct="1">
              <a:defRPr/>
            </a:pPr>
            <a:r>
              <a:rPr lang="en-US" dirty="0"/>
              <a:t>Poor software quality characteristics (e.g. functionality, security, reliability, usability and performance).</a:t>
            </a:r>
          </a:p>
          <a:p>
            <a:pPr lvl="1" eaLnBrk="1" hangingPunct="1">
              <a:defRPr/>
            </a:pPr>
            <a:r>
              <a:rPr lang="en-US" dirty="0"/>
              <a:t>Software that does not perform its intended functions.</a:t>
            </a:r>
          </a:p>
        </p:txBody>
      </p:sp>
    </p:spTree>
    <p:extLst>
      <p:ext uri="{BB962C8B-B14F-4D97-AF65-F5344CB8AC3E}">
        <p14:creationId xmlns:p14="http://schemas.microsoft.com/office/powerpoint/2010/main" val="2128340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3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Process risks</a:t>
            </a:r>
          </a:p>
        </p:txBody>
      </p:sp>
      <p:sp>
        <p:nvSpPr>
          <p:cNvPr id="91443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 dirty="0"/>
              <a:t>Poor planning</a:t>
            </a:r>
          </a:p>
          <a:p>
            <a:pPr lvl="1" eaLnBrk="1" hangingPunct="1">
              <a:defRPr/>
            </a:pPr>
            <a:r>
              <a:rPr lang="en-US" sz="2000" dirty="0"/>
              <a:t>under (or over) estimation</a:t>
            </a:r>
          </a:p>
          <a:p>
            <a:pPr lvl="1" eaLnBrk="1" hangingPunct="1">
              <a:defRPr/>
            </a:pPr>
            <a:r>
              <a:rPr lang="en-US" sz="2000" dirty="0"/>
              <a:t>assignment of the wrongly skilled or under-skilled resources</a:t>
            </a:r>
          </a:p>
          <a:p>
            <a:pPr eaLnBrk="1" hangingPunct="1">
              <a:defRPr/>
            </a:pPr>
            <a:r>
              <a:rPr lang="en-US" sz="2400" dirty="0"/>
              <a:t>Poor monitoring</a:t>
            </a:r>
          </a:p>
          <a:p>
            <a:pPr lvl="1" eaLnBrk="1" hangingPunct="1">
              <a:defRPr/>
            </a:pPr>
            <a:r>
              <a:rPr lang="en-US" sz="2000" dirty="0"/>
              <a:t>failure to monitor progress against plans</a:t>
            </a:r>
          </a:p>
          <a:p>
            <a:pPr lvl="1" eaLnBrk="1" hangingPunct="1">
              <a:defRPr/>
            </a:pPr>
            <a:r>
              <a:rPr lang="en-US" sz="2000" dirty="0"/>
              <a:t>failure to monitor the results of testing</a:t>
            </a:r>
          </a:p>
          <a:p>
            <a:pPr eaLnBrk="1" hangingPunct="1">
              <a:defRPr/>
            </a:pPr>
            <a:r>
              <a:rPr lang="en-US" sz="2400" dirty="0"/>
              <a:t>Poor control</a:t>
            </a:r>
          </a:p>
          <a:p>
            <a:pPr lvl="1" eaLnBrk="1" hangingPunct="1">
              <a:defRPr/>
            </a:pPr>
            <a:r>
              <a:rPr lang="en-US" sz="2000" dirty="0"/>
              <a:t>failure to understand the impact of events occurring</a:t>
            </a:r>
          </a:p>
          <a:p>
            <a:pPr lvl="1" eaLnBrk="1" hangingPunct="1">
              <a:defRPr/>
            </a:pPr>
            <a:r>
              <a:rPr lang="en-US" sz="2000" dirty="0"/>
              <a:t>failure to take any action or the wrong actions when confronted by problems.</a:t>
            </a:r>
          </a:p>
        </p:txBody>
      </p:sp>
    </p:spTree>
    <p:extLst>
      <p:ext uri="{BB962C8B-B14F-4D97-AF65-F5344CB8AC3E}">
        <p14:creationId xmlns:p14="http://schemas.microsoft.com/office/powerpoint/2010/main" val="3304003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4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Risk-Based Testing</a:t>
            </a:r>
          </a:p>
        </p:txBody>
      </p:sp>
      <p:sp>
        <p:nvSpPr>
          <p:cNvPr id="91648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Risks are used to decide where to start testing and where to test more; testing is used to reduce the risk of an adverse effect occurring, or to reduce its impact. 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Product risks are a special type of risk to the success of a project.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Testing as a risk-control activity provides feedback about the residual risk by measuring the effectiveness of critical defect removal and of contingency plans.</a:t>
            </a:r>
          </a:p>
        </p:txBody>
      </p:sp>
    </p:spTree>
    <p:extLst>
      <p:ext uri="{BB962C8B-B14F-4D97-AF65-F5344CB8AC3E}">
        <p14:creationId xmlns:p14="http://schemas.microsoft.com/office/powerpoint/2010/main" val="171136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Risk-Based Testing 2</a:t>
            </a:r>
          </a:p>
        </p:txBody>
      </p:sp>
      <p:sp>
        <p:nvSpPr>
          <p:cNvPr id="9185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/>
              <a:t>In a risk-based approach the risks identified may be used to:</a:t>
            </a:r>
          </a:p>
          <a:p>
            <a:pPr lvl="1" eaLnBrk="1" hangingPunct="1">
              <a:defRPr/>
            </a:pPr>
            <a:r>
              <a:rPr lang="en-US" sz="2000"/>
              <a:t>Determine the test techniques to be employed.</a:t>
            </a:r>
          </a:p>
          <a:p>
            <a:pPr lvl="1" eaLnBrk="1" hangingPunct="1">
              <a:defRPr/>
            </a:pPr>
            <a:r>
              <a:rPr lang="en-US" sz="2000"/>
              <a:t>Determine the extent of testing to be carried out.* Prioritize testing in an attempt to find the critical defects as early as possible.</a:t>
            </a:r>
          </a:p>
          <a:p>
            <a:pPr lvl="1" eaLnBrk="1" hangingPunct="1">
              <a:defRPr/>
            </a:pPr>
            <a:r>
              <a:rPr lang="en-US" sz="2000"/>
              <a:t>Determine whether any non-testing activities could be employed to reduce risk (e.g. providing training to inexperienced designers).</a:t>
            </a:r>
          </a:p>
          <a:p>
            <a:pPr eaLnBrk="1" hangingPunct="1">
              <a:defRPr/>
            </a:pPr>
            <a:r>
              <a:rPr lang="en-US" sz="2400"/>
              <a:t>Risk-based testing draws on the collective knowledge and insight of the project stakeholders to determine the risks and the levels of testing required to address </a:t>
            </a:r>
          </a:p>
        </p:txBody>
      </p:sp>
    </p:spTree>
    <p:extLst>
      <p:ext uri="{BB962C8B-B14F-4D97-AF65-F5344CB8AC3E}">
        <p14:creationId xmlns:p14="http://schemas.microsoft.com/office/powerpoint/2010/main" val="220692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58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Risk-Based Testing 3</a:t>
            </a:r>
          </a:p>
        </p:txBody>
      </p:sp>
      <p:sp>
        <p:nvSpPr>
          <p:cNvPr id="92058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/>
              <a:t>To ensure that the chance of a product failure is minimized, risk management activities provide a disciplined approach to: </a:t>
            </a:r>
          </a:p>
          <a:p>
            <a:pPr lvl="1" eaLnBrk="1" hangingPunct="1">
              <a:defRPr/>
            </a:pPr>
            <a:r>
              <a:rPr lang="en-US" sz="2000"/>
              <a:t>Assess (and reassess on a regular basis) what can go wrong (risks).</a:t>
            </a:r>
          </a:p>
          <a:p>
            <a:pPr lvl="1" eaLnBrk="1" hangingPunct="1">
              <a:defRPr/>
            </a:pPr>
            <a:r>
              <a:rPr lang="en-US" sz="2000"/>
              <a:t>Determine what risks are important to deal with.</a:t>
            </a:r>
          </a:p>
          <a:p>
            <a:pPr lvl="1" eaLnBrk="1" hangingPunct="1">
              <a:defRPr/>
            </a:pPr>
            <a:r>
              <a:rPr lang="en-US" sz="2000"/>
              <a:t>Implement actions to deal with those risks.</a:t>
            </a:r>
          </a:p>
          <a:p>
            <a:pPr eaLnBrk="1" hangingPunct="1">
              <a:defRPr/>
            </a:pPr>
            <a:r>
              <a:rPr lang="en-US" sz="2400"/>
              <a:t>In addition, testing may support the identification of new risks, may help to determine what risks should be reduced, and may lower uncertainty about risks.</a:t>
            </a:r>
          </a:p>
        </p:txBody>
      </p:sp>
    </p:spTree>
    <p:extLst>
      <p:ext uri="{BB962C8B-B14F-4D97-AF65-F5344CB8AC3E}">
        <p14:creationId xmlns:p14="http://schemas.microsoft.com/office/powerpoint/2010/main" val="74255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3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Brainstorm: Identifying risks</a:t>
            </a:r>
          </a:p>
        </p:txBody>
      </p:sp>
      <p:sp>
        <p:nvSpPr>
          <p:cNvPr id="92263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/>
              <a:t>For each of the key requirements, let’s make a list of the possible modes of failure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/>
              <a:t>Main requirements of an ATM: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/>
              <a:t>validation of a customers card and PIN - The machine should accept a valid card and validate your PIN number prior to you using the other features of the ATM.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/>
              <a:t>cash withdrawal - The machine accepts a request for a cash withdrawal up to the limit on your card.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/>
              <a:t>on-line balance request - The machine will display an up to date balance of your account.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/>
              <a:t>request a statement to be sent to your address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/>
              <a:t>...amongst others.</a:t>
            </a:r>
          </a:p>
        </p:txBody>
      </p:sp>
    </p:spTree>
    <p:extLst>
      <p:ext uri="{BB962C8B-B14F-4D97-AF65-F5344CB8AC3E}">
        <p14:creationId xmlns:p14="http://schemas.microsoft.com/office/powerpoint/2010/main" val="1320733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2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>
                <a:cs typeface="+mj-cs"/>
              </a:rPr>
              <a:t>Risk for 4 main categories</a:t>
            </a:r>
          </a:p>
        </p:txBody>
      </p:sp>
      <p:sp>
        <p:nvSpPr>
          <p:cNvPr id="103526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Char char="•"/>
              <a:defRPr/>
            </a:pPr>
            <a:r>
              <a:rPr lang="en-GB">
                <a:cs typeface="+mn-cs"/>
              </a:rPr>
              <a:t>Validation of a customer card and PIN</a:t>
            </a:r>
          </a:p>
          <a:p>
            <a:pPr eaLnBrk="1" hangingPunct="1">
              <a:buFontTx/>
              <a:buChar char="•"/>
              <a:defRPr/>
            </a:pPr>
            <a:endParaRPr lang="en-GB">
              <a:cs typeface="+mn-cs"/>
            </a:endParaRPr>
          </a:p>
          <a:p>
            <a:pPr eaLnBrk="1" hangingPunct="1">
              <a:buFontTx/>
              <a:buChar char="•"/>
              <a:defRPr/>
            </a:pPr>
            <a:r>
              <a:rPr lang="en-GB">
                <a:cs typeface="+mn-cs"/>
              </a:rPr>
              <a:t>Cash withdrawal</a:t>
            </a:r>
          </a:p>
          <a:p>
            <a:pPr eaLnBrk="1" hangingPunct="1">
              <a:buFontTx/>
              <a:buChar char="•"/>
              <a:defRPr/>
            </a:pPr>
            <a:endParaRPr lang="en-GB">
              <a:cs typeface="+mn-cs"/>
            </a:endParaRPr>
          </a:p>
          <a:p>
            <a:pPr eaLnBrk="1" hangingPunct="1">
              <a:buFontTx/>
              <a:buChar char="•"/>
              <a:defRPr/>
            </a:pPr>
            <a:r>
              <a:rPr lang="en-GB">
                <a:cs typeface="+mn-cs"/>
              </a:rPr>
              <a:t>On-line Balance Request</a:t>
            </a:r>
          </a:p>
          <a:p>
            <a:pPr eaLnBrk="1" hangingPunct="1">
              <a:buFontTx/>
              <a:buChar char="•"/>
              <a:defRPr/>
            </a:pPr>
            <a:endParaRPr lang="en-GB">
              <a:cs typeface="+mn-cs"/>
            </a:endParaRPr>
          </a:p>
          <a:p>
            <a:pPr eaLnBrk="1" hangingPunct="1">
              <a:buFontTx/>
              <a:buChar char="•"/>
              <a:defRPr/>
            </a:pPr>
            <a:r>
              <a:rPr lang="en-GB">
                <a:cs typeface="+mn-cs"/>
              </a:rPr>
              <a:t>Request a Statement</a:t>
            </a:r>
          </a:p>
        </p:txBody>
      </p:sp>
    </p:spTree>
    <p:extLst>
      <p:ext uri="{BB962C8B-B14F-4D97-AF65-F5344CB8AC3E}">
        <p14:creationId xmlns:p14="http://schemas.microsoft.com/office/powerpoint/2010/main" val="2163808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36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>
                <a:cs typeface="+mj-cs"/>
              </a:rPr>
              <a:t>Risk for 4 main categories</a:t>
            </a:r>
          </a:p>
        </p:txBody>
      </p:sp>
      <p:sp>
        <p:nvSpPr>
          <p:cNvPr id="103936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Char char="•"/>
              <a:defRPr/>
            </a:pPr>
            <a:r>
              <a:rPr lang="en-GB" b="1">
                <a:cs typeface="+mn-cs"/>
              </a:rPr>
              <a:t>Validation of a customer card and PIN</a:t>
            </a:r>
          </a:p>
          <a:p>
            <a:pPr lvl="1" eaLnBrk="1" hangingPunct="1">
              <a:buFontTx/>
              <a:buChar char="–"/>
              <a:defRPr/>
            </a:pPr>
            <a:r>
              <a:rPr lang="en-US"/>
              <a:t>Machine will not allow card to be inserted</a:t>
            </a:r>
          </a:p>
          <a:p>
            <a:pPr lvl="1" eaLnBrk="1" hangingPunct="1">
              <a:buFontTx/>
              <a:buChar char="–"/>
              <a:defRPr/>
            </a:pPr>
            <a:r>
              <a:rPr lang="en-US"/>
              <a:t>Machine accepts an invalid card</a:t>
            </a:r>
          </a:p>
          <a:p>
            <a:pPr lvl="1" eaLnBrk="1" hangingPunct="1">
              <a:buFontTx/>
              <a:buChar char="–"/>
              <a:defRPr/>
            </a:pPr>
            <a:r>
              <a:rPr lang="en-US"/>
              <a:t>Machine accepts card but locks up and wont return it</a:t>
            </a:r>
          </a:p>
          <a:p>
            <a:pPr lvl="1" eaLnBrk="1" hangingPunct="1">
              <a:buFontTx/>
              <a:buChar char="–"/>
              <a:defRPr/>
            </a:pPr>
            <a:r>
              <a:rPr lang="en-US"/>
              <a:t>Machine accepts an invalid PIN and allows user to proceed</a:t>
            </a:r>
          </a:p>
          <a:p>
            <a:pPr lvl="1" eaLnBrk="1" hangingPunct="1">
              <a:buFontTx/>
              <a:buChar char="–"/>
              <a:defRPr/>
            </a:pPr>
            <a:r>
              <a:rPr lang="en-US"/>
              <a:t>Machine rejects a valid PIN and retains card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752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6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Incident Management</a:t>
            </a:r>
          </a:p>
        </p:txBody>
      </p:sp>
    </p:spTree>
    <p:extLst>
      <p:ext uri="{BB962C8B-B14F-4D97-AF65-F5344CB8AC3E}">
        <p14:creationId xmlns:p14="http://schemas.microsoft.com/office/powerpoint/2010/main" val="16363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72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Why track incidents?</a:t>
            </a:r>
          </a:p>
        </p:txBody>
      </p:sp>
      <p:sp>
        <p:nvSpPr>
          <p:cNvPr id="92672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The objectives of incident reporting:</a:t>
            </a:r>
          </a:p>
          <a:p>
            <a:pPr lvl="1" eaLnBrk="1" hangingPunct="1">
              <a:defRPr/>
            </a:pPr>
            <a:r>
              <a:rPr lang="en-US"/>
              <a:t>To provide developers and other parties with feedback about the problem to enable identification, isolation and correction as necessary.</a:t>
            </a:r>
          </a:p>
          <a:p>
            <a:pPr lvl="1" eaLnBrk="1" hangingPunct="1">
              <a:defRPr/>
            </a:pPr>
            <a:r>
              <a:rPr lang="en-US"/>
              <a:t>To provide test leaders a means of tracking the quality of the system under test and the progress of the testing.</a:t>
            </a:r>
          </a:p>
          <a:p>
            <a:pPr lvl="1" eaLnBrk="1" hangingPunct="1">
              <a:defRPr/>
            </a:pPr>
            <a:r>
              <a:rPr lang="en-US"/>
              <a:t>To provide an input to test process improvement initiatives.</a:t>
            </a:r>
          </a:p>
        </p:txBody>
      </p:sp>
    </p:spTree>
    <p:extLst>
      <p:ext uri="{BB962C8B-B14F-4D97-AF65-F5344CB8AC3E}">
        <p14:creationId xmlns:p14="http://schemas.microsoft.com/office/powerpoint/2010/main" val="239531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7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When to log an incident</a:t>
            </a:r>
          </a:p>
        </p:txBody>
      </p:sp>
      <p:sp>
        <p:nvSpPr>
          <p:cNvPr id="92877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/>
              <a:t>We log incidents when a test result appears to be different from the expected result</a:t>
            </a:r>
          </a:p>
          <a:p>
            <a:pPr eaLnBrk="1" hangingPunct="1">
              <a:defRPr/>
            </a:pPr>
            <a:r>
              <a:rPr lang="en-US" sz="2400"/>
              <a:t>This could be because:</a:t>
            </a:r>
          </a:p>
          <a:p>
            <a:pPr lvl="1" eaLnBrk="1" hangingPunct="1">
              <a:defRPr/>
            </a:pPr>
            <a:r>
              <a:rPr lang="en-US" sz="2000"/>
              <a:t>something wrong with the test</a:t>
            </a:r>
          </a:p>
          <a:p>
            <a:pPr lvl="1" eaLnBrk="1" hangingPunct="1">
              <a:defRPr/>
            </a:pPr>
            <a:r>
              <a:rPr lang="en-US" sz="2000"/>
              <a:t>something wrong with the expected result</a:t>
            </a:r>
          </a:p>
          <a:p>
            <a:pPr lvl="1" eaLnBrk="1" hangingPunct="1">
              <a:defRPr/>
            </a:pPr>
            <a:r>
              <a:rPr lang="en-US" sz="2000"/>
              <a:t>something wrong with the tester</a:t>
            </a:r>
          </a:p>
          <a:p>
            <a:pPr lvl="1" eaLnBrk="1" hangingPunct="1">
              <a:defRPr/>
            </a:pPr>
            <a:r>
              <a:rPr lang="en-US" sz="2000"/>
              <a:t>a misinterpretation of the result</a:t>
            </a:r>
          </a:p>
          <a:p>
            <a:pPr lvl="1" eaLnBrk="1" hangingPunct="1">
              <a:defRPr/>
            </a:pPr>
            <a:r>
              <a:rPr lang="en-US" sz="2000"/>
              <a:t>something wrong with the test environment</a:t>
            </a:r>
          </a:p>
          <a:p>
            <a:pPr lvl="1" eaLnBrk="1" hangingPunct="1">
              <a:defRPr/>
            </a:pPr>
            <a:r>
              <a:rPr lang="en-US" sz="2000"/>
              <a:t>something wrong with the baseline</a:t>
            </a:r>
          </a:p>
          <a:p>
            <a:pPr eaLnBrk="1" hangingPunct="1">
              <a:defRPr/>
            </a:pPr>
            <a:r>
              <a:rPr lang="en-US" sz="2400"/>
              <a:t>Or it COULD BE a software fault.</a:t>
            </a:r>
          </a:p>
        </p:txBody>
      </p:sp>
    </p:spTree>
    <p:extLst>
      <p:ext uri="{BB962C8B-B14F-4D97-AF65-F5344CB8AC3E}">
        <p14:creationId xmlns:p14="http://schemas.microsoft.com/office/powerpoint/2010/main" val="2393991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8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Incident reporting</a:t>
            </a:r>
          </a:p>
        </p:txBody>
      </p:sp>
      <p:sp>
        <p:nvSpPr>
          <p:cNvPr id="93082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The tester should stop and complete an incident report</a:t>
            </a:r>
          </a:p>
          <a:p>
            <a:pPr lvl="1" eaLnBrk="1" hangingPunct="1">
              <a:defRPr/>
            </a:pPr>
            <a:r>
              <a:rPr lang="en-US"/>
              <a:t>describe exactly what is "wrong"</a:t>
            </a:r>
          </a:p>
          <a:p>
            <a:pPr lvl="1" eaLnBrk="1" hangingPunct="1">
              <a:defRPr/>
            </a:pPr>
            <a:r>
              <a:rPr lang="en-US"/>
              <a:t>document the test script and script step identifiers</a:t>
            </a:r>
          </a:p>
          <a:p>
            <a:pPr lvl="1" eaLnBrk="1" hangingPunct="1">
              <a:defRPr/>
            </a:pPr>
            <a:r>
              <a:rPr lang="en-US"/>
              <a:t>attach any outputs (screen dumps or printouts) that may be useful</a:t>
            </a:r>
          </a:p>
          <a:p>
            <a:pPr lvl="1" eaLnBrk="1" hangingPunct="1">
              <a:defRPr/>
            </a:pPr>
            <a:r>
              <a:rPr lang="en-US"/>
              <a:t>impact on your current tests</a:t>
            </a:r>
          </a:p>
        </p:txBody>
      </p:sp>
    </p:spTree>
    <p:extLst>
      <p:ext uri="{BB962C8B-B14F-4D97-AF65-F5344CB8AC3E}">
        <p14:creationId xmlns:p14="http://schemas.microsoft.com/office/powerpoint/2010/main" val="2542803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8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The Tooling Jungle – a very brief overview</a:t>
            </a:r>
          </a:p>
        </p:txBody>
      </p:sp>
      <p:sp>
        <p:nvSpPr>
          <p:cNvPr id="9308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78025" y="1676400"/>
            <a:ext cx="1847717" cy="701040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i="1" u="sng" dirty="0"/>
              <a:t>Automated UT</a:t>
            </a: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 bwMode="auto">
          <a:xfrm>
            <a:off x="3988028" y="1676400"/>
            <a:ext cx="1973085" cy="701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000" i="1" u="sng" kern="0" dirty="0"/>
              <a:t>Defect Tracking</a:t>
            </a: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2389094" y="1672885"/>
            <a:ext cx="747989" cy="701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 algn="ctr">
              <a:defRPr/>
            </a:pPr>
            <a:r>
              <a:rPr lang="en-US" sz="2000" i="1" u="sng" kern="0" dirty="0"/>
              <a:t>IDE</a:t>
            </a: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246025" y="2222695"/>
            <a:ext cx="1540573" cy="3685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 algn="ctr">
              <a:defRPr/>
            </a:pPr>
            <a:r>
              <a:rPr lang="en-US" sz="2000" kern="0" dirty="0" err="1"/>
              <a:t>pyunit</a:t>
            </a:r>
            <a:endParaRPr lang="en-US" sz="2000" kern="0" dirty="0"/>
          </a:p>
          <a:p>
            <a:pPr algn="ctr">
              <a:defRPr/>
            </a:pPr>
            <a:r>
              <a:rPr lang="en-US" sz="2000" kern="0" dirty="0" err="1"/>
              <a:t>junit</a:t>
            </a:r>
            <a:endParaRPr lang="en-US" sz="2000" kern="0" dirty="0"/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3917874" y="3433050"/>
            <a:ext cx="2024625" cy="1448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 algn="ctr">
              <a:defRPr/>
            </a:pPr>
            <a:endParaRPr lang="en-US" sz="1800" kern="0" dirty="0"/>
          </a:p>
          <a:p>
            <a:pPr algn="ctr">
              <a:defRPr/>
            </a:pPr>
            <a:r>
              <a:rPr lang="en-US" sz="1800" kern="0" dirty="0">
                <a:hlinkClick r:id="rId3"/>
              </a:rPr>
              <a:t>15 Most common defect tracking tools?</a:t>
            </a:r>
            <a:endParaRPr lang="en-US" sz="1800" kern="0" dirty="0"/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auto">
          <a:xfrm>
            <a:off x="1448908" y="2119535"/>
            <a:ext cx="2593307" cy="78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 algn="ctr">
              <a:defRPr/>
            </a:pPr>
            <a:r>
              <a:rPr lang="en-US" sz="1800" kern="0" dirty="0"/>
              <a:t>IDLE</a:t>
            </a:r>
          </a:p>
          <a:p>
            <a:pPr algn="ctr">
              <a:defRPr/>
            </a:pPr>
            <a:r>
              <a:rPr lang="en-US" sz="1800" kern="0" dirty="0"/>
              <a:t>Eclipse</a:t>
            </a:r>
          </a:p>
        </p:txBody>
      </p:sp>
      <p:pic>
        <p:nvPicPr>
          <p:cNvPr id="2" name="Picture 1">
            <a:hlinkClick r:id="rId4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748" y="2056309"/>
            <a:ext cx="1312936" cy="878309"/>
          </a:xfrm>
          <a:prstGeom prst="rect">
            <a:avLst/>
          </a:prstGeom>
        </p:spPr>
      </p:pic>
      <p:pic>
        <p:nvPicPr>
          <p:cNvPr id="3" name="Picture 2">
            <a:hlinkClick r:id="rId6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431" y="2806174"/>
            <a:ext cx="1637804" cy="922629"/>
          </a:xfrm>
          <a:prstGeom prst="rect">
            <a:avLst/>
          </a:prstGeom>
        </p:spPr>
      </p:pic>
      <p:sp>
        <p:nvSpPr>
          <p:cNvPr id="11" name="Rectangle 5"/>
          <p:cNvSpPr txBox="1">
            <a:spLocks noChangeArrowheads="1"/>
          </p:cNvSpPr>
          <p:nvPr/>
        </p:nvSpPr>
        <p:spPr bwMode="auto">
          <a:xfrm>
            <a:off x="8558466" y="1641235"/>
            <a:ext cx="2820734" cy="701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 algn="ctr">
              <a:defRPr/>
            </a:pPr>
            <a:r>
              <a:rPr lang="en-US" sz="2000" i="1" u="sng" kern="0" dirty="0"/>
              <a:t>CI/</a:t>
            </a:r>
            <a:r>
              <a:rPr lang="en-US" sz="2000" i="1" u="sng" kern="0" dirty="0" err="1"/>
              <a:t>Cdep</a:t>
            </a:r>
            <a:r>
              <a:rPr lang="en-US" sz="2000" i="1" u="sng" kern="0" dirty="0"/>
              <a:t>/</a:t>
            </a:r>
            <a:r>
              <a:rPr lang="en-US" sz="2000" i="1" u="sng" kern="0" dirty="0" err="1"/>
              <a:t>Cdel</a:t>
            </a:r>
            <a:endParaRPr lang="en-US" sz="2000" i="1" u="sng" kern="0" dirty="0"/>
          </a:p>
        </p:txBody>
      </p:sp>
      <p:sp>
        <p:nvSpPr>
          <p:cNvPr id="12" name="Rectangle 5"/>
          <p:cNvSpPr txBox="1">
            <a:spLocks noChangeArrowheads="1"/>
          </p:cNvSpPr>
          <p:nvPr/>
        </p:nvSpPr>
        <p:spPr bwMode="auto">
          <a:xfrm>
            <a:off x="6302294" y="1672885"/>
            <a:ext cx="2017028" cy="701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000" i="1" u="sng" kern="0" dirty="0"/>
              <a:t>Automated Web/GUI/ST</a:t>
            </a:r>
          </a:p>
        </p:txBody>
      </p:sp>
      <p:sp>
        <p:nvSpPr>
          <p:cNvPr id="13" name="Rectangle 5"/>
          <p:cNvSpPr txBox="1">
            <a:spLocks noChangeArrowheads="1"/>
          </p:cNvSpPr>
          <p:nvPr/>
        </p:nvSpPr>
        <p:spPr bwMode="auto">
          <a:xfrm>
            <a:off x="1669748" y="2817060"/>
            <a:ext cx="2155760" cy="78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 algn="ctr">
              <a:defRPr/>
            </a:pPr>
            <a:r>
              <a:rPr lang="en-US" sz="1800" kern="0" dirty="0">
                <a:hlinkClick r:id="rId8"/>
              </a:rPr>
              <a:t>Most commonly used IDEs?</a:t>
            </a:r>
            <a:endParaRPr lang="en-US" sz="1800" kern="0" dirty="0"/>
          </a:p>
        </p:txBody>
      </p:sp>
      <p:sp>
        <p:nvSpPr>
          <p:cNvPr id="14" name="Rectangle 5"/>
          <p:cNvSpPr txBox="1">
            <a:spLocks noChangeArrowheads="1"/>
          </p:cNvSpPr>
          <p:nvPr/>
        </p:nvSpPr>
        <p:spPr bwMode="auto">
          <a:xfrm>
            <a:off x="178025" y="5908431"/>
            <a:ext cx="11201175" cy="701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1600" u="sng" kern="0" dirty="0"/>
              <a:t>Note: Some tools do more than just one thing (e.g. defect tracking tools may also be used for project management).</a:t>
            </a:r>
          </a:p>
          <a:p>
            <a:pPr>
              <a:defRPr/>
            </a:pPr>
            <a:r>
              <a:rPr lang="en-US" sz="1600" kern="0" dirty="0"/>
              <a:t>Useful link: http://www.testingtools.com/test-automation/</a:t>
            </a:r>
            <a:r>
              <a:rPr lang="en-US" sz="1600" u="sng" kern="0" dirty="0"/>
              <a:t> </a:t>
            </a:r>
          </a:p>
        </p:txBody>
      </p:sp>
      <p:pic>
        <p:nvPicPr>
          <p:cNvPr id="9" name="Picture 8">
            <a:hlinkClick r:id="rId9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664" y="2416992"/>
            <a:ext cx="1774288" cy="1330716"/>
          </a:xfrm>
          <a:prstGeom prst="rect">
            <a:avLst/>
          </a:prstGeom>
        </p:spPr>
      </p:pic>
      <p:sp>
        <p:nvSpPr>
          <p:cNvPr id="16" name="Rectangle 5"/>
          <p:cNvSpPr txBox="1">
            <a:spLocks noChangeArrowheads="1"/>
          </p:cNvSpPr>
          <p:nvPr/>
        </p:nvSpPr>
        <p:spPr bwMode="auto">
          <a:xfrm>
            <a:off x="8956520" y="1821675"/>
            <a:ext cx="2024625" cy="1448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 algn="ctr">
              <a:defRPr/>
            </a:pPr>
            <a:endParaRPr lang="en-US" sz="1800" kern="0" dirty="0"/>
          </a:p>
          <a:p>
            <a:pPr algn="ctr">
              <a:defRPr/>
            </a:pPr>
            <a:r>
              <a:rPr lang="en-US" sz="1800" kern="0" dirty="0">
                <a:hlinkClick r:id="rId11"/>
              </a:rPr>
              <a:t>General info</a:t>
            </a:r>
            <a:endParaRPr lang="en-US" sz="1800" kern="0" dirty="0"/>
          </a:p>
        </p:txBody>
      </p:sp>
      <p:sp>
        <p:nvSpPr>
          <p:cNvPr id="17" name="Rectangle 5"/>
          <p:cNvSpPr txBox="1">
            <a:spLocks noChangeArrowheads="1"/>
          </p:cNvSpPr>
          <p:nvPr/>
        </p:nvSpPr>
        <p:spPr bwMode="auto">
          <a:xfrm>
            <a:off x="9000932" y="2743361"/>
            <a:ext cx="2155760" cy="78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 algn="ctr">
              <a:defRPr/>
            </a:pPr>
            <a:r>
              <a:rPr lang="en-US" sz="1800" kern="0" dirty="0">
                <a:hlinkClick r:id="rId12"/>
              </a:rPr>
              <a:t>Most commonly used tools?</a:t>
            </a:r>
            <a:endParaRPr lang="en-US" sz="1800" kern="0" dirty="0"/>
          </a:p>
        </p:txBody>
      </p:sp>
      <p:sp>
        <p:nvSpPr>
          <p:cNvPr id="18" name="Rectangle 5"/>
          <p:cNvSpPr txBox="1">
            <a:spLocks noChangeArrowheads="1"/>
          </p:cNvSpPr>
          <p:nvPr/>
        </p:nvSpPr>
        <p:spPr bwMode="auto">
          <a:xfrm>
            <a:off x="9045344" y="3406162"/>
            <a:ext cx="2155760" cy="78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 sz="2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400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 sz="20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Monotype Sorts" charset="0"/>
              <a:defRPr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defRPr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 algn="ctr">
              <a:defRPr/>
            </a:pPr>
            <a:r>
              <a:rPr lang="en-US" sz="1800" kern="0" dirty="0">
                <a:hlinkClick r:id="rId13"/>
              </a:rPr>
              <a:t>Top 8 tools?</a:t>
            </a:r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2072407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91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Links to interesting &amp; relevant tooling support</a:t>
            </a:r>
          </a:p>
        </p:txBody>
      </p:sp>
      <p:sp>
        <p:nvSpPr>
          <p:cNvPr id="89191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2000" dirty="0"/>
              <a:t>One view on what the most commonly used IDEs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2000" u="sng" dirty="0">
                <a:hlinkClick r:id="rId3"/>
              </a:rPr>
              <a:t>https://www.g2crowd.com/categories/integrated-development-environment-ide</a:t>
            </a:r>
            <a:endParaRPr lang="en-IE" sz="2000" dirty="0"/>
          </a:p>
          <a:p>
            <a:r>
              <a:rPr lang="en-IE" sz="2000" dirty="0"/>
              <a:t>One view on what the 15 most common defect tracking tools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2000" u="sng" dirty="0">
                <a:hlinkClick r:id="rId4"/>
              </a:rPr>
              <a:t>http://www.softwaretestinghelp.com/popular-bug-tracking-software/</a:t>
            </a:r>
            <a:endParaRPr lang="en-IE" sz="2000" dirty="0"/>
          </a:p>
          <a:p>
            <a:r>
              <a:rPr lang="en-IE" sz="2000" dirty="0"/>
              <a:t>Selenium automated web testing: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2000" u="sng" dirty="0">
                <a:hlinkClick r:id="rId5"/>
              </a:rPr>
              <a:t>http://docs.seleniumhq.org/</a:t>
            </a:r>
            <a:endParaRPr lang="en-IE" sz="2000" dirty="0"/>
          </a:p>
          <a:p>
            <a:r>
              <a:rPr lang="en-IE" sz="2000" dirty="0"/>
              <a:t>General info on continuous integration, continuous deployment, and continuous delivery: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2000" u="sng" dirty="0">
                <a:hlinkClick r:id="rId6"/>
              </a:rPr>
              <a:t>https://codeship.com/continuous-integration-essentials</a:t>
            </a:r>
            <a:endParaRPr lang="en-IE" sz="2000" dirty="0"/>
          </a:p>
          <a:p>
            <a:r>
              <a:rPr lang="en-IE" sz="2000" dirty="0"/>
              <a:t>One view on the most commonly used CI tools: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2000" u="sng" dirty="0">
                <a:hlinkClick r:id="rId7"/>
              </a:rPr>
              <a:t>https://www.g2crowd.com/categories/continuous-integration</a:t>
            </a:r>
            <a:endParaRPr lang="en-IE" sz="2000" dirty="0"/>
          </a:p>
          <a:p>
            <a:r>
              <a:rPr lang="en-IE" sz="2000" dirty="0"/>
              <a:t>Another view on the top 8 SI tools: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2000" u="sng" dirty="0">
                <a:hlinkClick r:id="rId8"/>
              </a:rPr>
              <a:t>https://dzone.com/articles/top-8-continuous-integration-tools</a:t>
            </a:r>
            <a:endParaRPr lang="en-IE" sz="2000" dirty="0"/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276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Typical test execution and incident management process</a:t>
            </a:r>
          </a:p>
        </p:txBody>
      </p:sp>
      <p:pic>
        <p:nvPicPr>
          <p:cNvPr id="51202" name="Picture 3" descr="typtestexeincid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439" y="1484314"/>
            <a:ext cx="7953375" cy="486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8001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8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Incident reporting</a:t>
            </a:r>
          </a:p>
        </p:txBody>
      </p:sp>
      <p:sp>
        <p:nvSpPr>
          <p:cNvPr id="93082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E" dirty="0"/>
              <a:t>Bug tracking software:</a:t>
            </a:r>
          </a:p>
          <a:p>
            <a:pPr eaLnBrk="1" hangingPunct="1">
              <a:defRPr/>
            </a:pPr>
            <a:r>
              <a:rPr lang="en-IE" sz="2400" dirty="0"/>
              <a:t>    </a:t>
            </a:r>
            <a:r>
              <a:rPr lang="en-IE" sz="2400" u="sng" dirty="0"/>
              <a:t>Reporting facility</a:t>
            </a:r>
            <a:r>
              <a:rPr lang="en-IE" sz="2400" dirty="0"/>
              <a:t> – complete with fields that will let you provide information about the bug, environment, module, severity, screenshots etc.</a:t>
            </a:r>
          </a:p>
          <a:p>
            <a:pPr eaLnBrk="1" hangingPunct="1">
              <a:defRPr/>
            </a:pPr>
            <a:r>
              <a:rPr lang="en-IE" sz="2400" dirty="0"/>
              <a:t>    </a:t>
            </a:r>
            <a:r>
              <a:rPr lang="en-IE" sz="2400" u="sng" dirty="0"/>
              <a:t>Assigning</a:t>
            </a:r>
            <a:r>
              <a:rPr lang="en-IE" sz="2400" dirty="0"/>
              <a:t> – What good is a bug when all you can do is find it and keep it to yourself, right?</a:t>
            </a:r>
          </a:p>
          <a:p>
            <a:pPr eaLnBrk="1" hangingPunct="1">
              <a:defRPr/>
            </a:pPr>
            <a:r>
              <a:rPr lang="en-IE" sz="2400" dirty="0"/>
              <a:t>    Progressing through the life cycle stages – </a:t>
            </a:r>
            <a:r>
              <a:rPr lang="en-IE" sz="2400" u="sng" dirty="0"/>
              <a:t>Workflow</a:t>
            </a:r>
          </a:p>
          <a:p>
            <a:pPr eaLnBrk="1" hangingPunct="1">
              <a:defRPr/>
            </a:pPr>
            <a:r>
              <a:rPr lang="en-IE" sz="2400" dirty="0"/>
              <a:t>    </a:t>
            </a:r>
            <a:r>
              <a:rPr lang="en-IE" sz="2400" u="sng" dirty="0"/>
              <a:t>History/work log/comments</a:t>
            </a:r>
          </a:p>
          <a:p>
            <a:pPr eaLnBrk="1" hangingPunct="1">
              <a:defRPr/>
            </a:pPr>
            <a:r>
              <a:rPr lang="en-IE" sz="2400" dirty="0"/>
              <a:t>    </a:t>
            </a:r>
            <a:r>
              <a:rPr lang="en-IE" sz="2400" u="sng" dirty="0"/>
              <a:t>Reports</a:t>
            </a:r>
            <a:r>
              <a:rPr lang="en-IE" sz="2400" dirty="0"/>
              <a:t> – graphs or charts</a:t>
            </a:r>
          </a:p>
          <a:p>
            <a:pPr eaLnBrk="1" hangingPunct="1">
              <a:defRPr/>
            </a:pPr>
            <a:r>
              <a:rPr lang="en-IE" sz="2400" dirty="0"/>
              <a:t>    </a:t>
            </a:r>
            <a:r>
              <a:rPr lang="en-IE" sz="2400" u="sng" dirty="0"/>
              <a:t>Storage and retrieval</a:t>
            </a:r>
            <a:r>
              <a:rPr lang="en-IE" sz="2400" dirty="0"/>
              <a:t> – Every entity in a testing process needs to be uniquely identifiable, the same rule applies to bugs too. So, a bug tracking tool must provide a way to have an ID, which can be used to store, retrieve (search) and organize bug information.</a:t>
            </a:r>
          </a:p>
        </p:txBody>
      </p:sp>
    </p:spTree>
    <p:extLst>
      <p:ext uri="{BB962C8B-B14F-4D97-AF65-F5344CB8AC3E}">
        <p14:creationId xmlns:p14="http://schemas.microsoft.com/office/powerpoint/2010/main" val="348026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EvolutifStandard">
  <a:themeElements>
    <a:clrScheme name="">
      <a:dk1>
        <a:srgbClr val="00279F"/>
      </a:dk1>
      <a:lt1>
        <a:srgbClr val="FFFFFF"/>
      </a:lt1>
      <a:dk2>
        <a:srgbClr val="0000FF"/>
      </a:dk2>
      <a:lt2>
        <a:srgbClr val="FFFF00"/>
      </a:lt2>
      <a:accent1>
        <a:srgbClr val="F57B49"/>
      </a:accent1>
      <a:accent2>
        <a:srgbClr val="FF00FF"/>
      </a:accent2>
      <a:accent3>
        <a:srgbClr val="AAAAFF"/>
      </a:accent3>
      <a:accent4>
        <a:srgbClr val="DADADA"/>
      </a:accent4>
      <a:accent5>
        <a:srgbClr val="F9BFB1"/>
      </a:accent5>
      <a:accent6>
        <a:srgbClr val="E700E7"/>
      </a:accent6>
      <a:hlink>
        <a:srgbClr val="FF0000"/>
      </a:hlink>
      <a:folHlink>
        <a:srgbClr val="919191"/>
      </a:folHlink>
    </a:clrScheme>
    <a:fontScheme name="EvolutifStandard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EvolutifStandar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volutifStandar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52975</TotalTime>
  <Words>1700</Words>
  <Application>Microsoft Office PowerPoint</Application>
  <PresentationFormat>Widescreen</PresentationFormat>
  <Paragraphs>367</Paragraphs>
  <Slides>27</Slides>
  <Notes>27</Notes>
  <HiddenSlides>10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ＭＳ Ｐゴシック</vt:lpstr>
      <vt:lpstr>Arial</vt:lpstr>
      <vt:lpstr>Calibri</vt:lpstr>
      <vt:lpstr>Monotype Sorts</vt:lpstr>
      <vt:lpstr>Tahoma</vt:lpstr>
      <vt:lpstr>Times New Roman</vt:lpstr>
      <vt:lpstr>1_EvolutifStandard</vt:lpstr>
      <vt:lpstr>Office Theme</vt:lpstr>
      <vt:lpstr>Configuration Management</vt:lpstr>
      <vt:lpstr>Background</vt:lpstr>
      <vt:lpstr>PowerPoint Presentation</vt:lpstr>
      <vt:lpstr>PowerPoint Presentation</vt:lpstr>
      <vt:lpstr>Symptoms of poor configuration management</vt:lpstr>
      <vt:lpstr>The answers Configuration Management (CM) provides</vt:lpstr>
      <vt:lpstr>Risk and Testing</vt:lpstr>
      <vt:lpstr>Stakeholder Objectives and Risks</vt:lpstr>
      <vt:lpstr>Some general statements about risk</vt:lpstr>
      <vt:lpstr>Risk examples</vt:lpstr>
      <vt:lpstr>Three types of software risk</vt:lpstr>
      <vt:lpstr>Product Risks</vt:lpstr>
      <vt:lpstr>Process risks</vt:lpstr>
      <vt:lpstr>Risk-Based Testing</vt:lpstr>
      <vt:lpstr>Risk-Based Testing 2</vt:lpstr>
      <vt:lpstr>Risk-Based Testing 3</vt:lpstr>
      <vt:lpstr>Brainstorm: Identifying risks</vt:lpstr>
      <vt:lpstr>Risk for 4 main categories</vt:lpstr>
      <vt:lpstr>Risk for 4 main categories</vt:lpstr>
      <vt:lpstr>Incident Management</vt:lpstr>
      <vt:lpstr>Why track incidents?</vt:lpstr>
      <vt:lpstr>When to log an incident</vt:lpstr>
      <vt:lpstr>Incident reporting</vt:lpstr>
      <vt:lpstr>The Tooling Jungle – a very brief overview</vt:lpstr>
      <vt:lpstr>Links to interesting &amp; relevant tooling support</vt:lpstr>
      <vt:lpstr>Typical test execution and incident management process</vt:lpstr>
      <vt:lpstr>Incident reporting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we start</dc:title>
  <dc:creator>Windows User</dc:creator>
  <cp:lastModifiedBy>Silvana MacMahon</cp:lastModifiedBy>
  <cp:revision>170</cp:revision>
  <cp:lastPrinted>2018-11-16T12:07:02Z</cp:lastPrinted>
  <dcterms:created xsi:type="dcterms:W3CDTF">2016-09-21T15:13:11Z</dcterms:created>
  <dcterms:modified xsi:type="dcterms:W3CDTF">2020-03-24T13:38:22Z</dcterms:modified>
</cp:coreProperties>
</file>