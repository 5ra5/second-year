
<file path=[Content_Types].xml><?xml version="1.0" encoding="utf-8"?>
<Types xmlns="http://schemas.openxmlformats.org/package/2006/content-types">
  <Default Extension="png" ContentType="image/pn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9" r:id="rId1"/>
  </p:sldMasterIdLst>
  <p:notesMasterIdLst>
    <p:notesMasterId r:id="rId27"/>
  </p:notesMasterIdLst>
  <p:handoutMasterIdLst>
    <p:handoutMasterId r:id="rId28"/>
  </p:handoutMasterIdLst>
  <p:sldIdLst>
    <p:sldId id="549" r:id="rId2"/>
    <p:sldId id="417" r:id="rId3"/>
    <p:sldId id="425" r:id="rId4"/>
    <p:sldId id="418" r:id="rId5"/>
    <p:sldId id="419" r:id="rId6"/>
    <p:sldId id="426" r:id="rId7"/>
    <p:sldId id="427" r:id="rId8"/>
    <p:sldId id="428" r:id="rId9"/>
    <p:sldId id="429" r:id="rId10"/>
    <p:sldId id="434" r:id="rId11"/>
    <p:sldId id="441" r:id="rId12"/>
    <p:sldId id="442" r:id="rId13"/>
    <p:sldId id="443" r:id="rId14"/>
    <p:sldId id="444" r:id="rId15"/>
    <p:sldId id="445" r:id="rId16"/>
    <p:sldId id="446" r:id="rId17"/>
    <p:sldId id="453" r:id="rId18"/>
    <p:sldId id="461" r:id="rId19"/>
    <p:sldId id="462" r:id="rId20"/>
    <p:sldId id="463" r:id="rId21"/>
    <p:sldId id="464" r:id="rId22"/>
    <p:sldId id="465" r:id="rId23"/>
    <p:sldId id="466" r:id="rId24"/>
    <p:sldId id="467" r:id="rId25"/>
    <p:sldId id="410" r:id="rId26"/>
  </p:sldIdLst>
  <p:sldSz cx="9144000" cy="6858000" type="screen4x3"/>
  <p:notesSz cx="7315200" cy="9601200"/>
  <p:defaultTextStyle>
    <a:defPPr>
      <a:defRPr lang="en-US"/>
    </a:defPPr>
    <a:lvl1pPr algn="r" rtl="0" fontAlgn="base">
      <a:spcBef>
        <a:spcPct val="0"/>
      </a:spcBef>
      <a:spcAft>
        <a:spcPct val="0"/>
      </a:spcAft>
      <a:defRPr sz="1600" kern="1200">
        <a:solidFill>
          <a:schemeClr val="tx1"/>
        </a:solidFill>
        <a:latin typeface="Arial" charset="0"/>
        <a:ea typeface="ＭＳ Ｐゴシック" charset="0"/>
        <a:cs typeface="+mn-cs"/>
      </a:defRPr>
    </a:lvl1pPr>
    <a:lvl2pPr marL="457200" algn="r" rtl="0" fontAlgn="base">
      <a:spcBef>
        <a:spcPct val="0"/>
      </a:spcBef>
      <a:spcAft>
        <a:spcPct val="0"/>
      </a:spcAft>
      <a:defRPr sz="1600" kern="1200">
        <a:solidFill>
          <a:schemeClr val="tx1"/>
        </a:solidFill>
        <a:latin typeface="Arial" charset="0"/>
        <a:ea typeface="ＭＳ Ｐゴシック" charset="0"/>
        <a:cs typeface="+mn-cs"/>
      </a:defRPr>
    </a:lvl2pPr>
    <a:lvl3pPr marL="914400" algn="r" rtl="0" fontAlgn="base">
      <a:spcBef>
        <a:spcPct val="0"/>
      </a:spcBef>
      <a:spcAft>
        <a:spcPct val="0"/>
      </a:spcAft>
      <a:defRPr sz="1600" kern="1200">
        <a:solidFill>
          <a:schemeClr val="tx1"/>
        </a:solidFill>
        <a:latin typeface="Arial" charset="0"/>
        <a:ea typeface="ＭＳ Ｐゴシック" charset="0"/>
        <a:cs typeface="+mn-cs"/>
      </a:defRPr>
    </a:lvl3pPr>
    <a:lvl4pPr marL="1371600" algn="r" rtl="0" fontAlgn="base">
      <a:spcBef>
        <a:spcPct val="0"/>
      </a:spcBef>
      <a:spcAft>
        <a:spcPct val="0"/>
      </a:spcAft>
      <a:defRPr sz="1600" kern="1200">
        <a:solidFill>
          <a:schemeClr val="tx1"/>
        </a:solidFill>
        <a:latin typeface="Arial" charset="0"/>
        <a:ea typeface="ＭＳ Ｐゴシック" charset="0"/>
        <a:cs typeface="+mn-cs"/>
      </a:defRPr>
    </a:lvl4pPr>
    <a:lvl5pPr marL="1828800" algn="r" rtl="0" fontAlgn="base">
      <a:spcBef>
        <a:spcPct val="0"/>
      </a:spcBef>
      <a:spcAft>
        <a:spcPct val="0"/>
      </a:spcAft>
      <a:defRPr sz="1600" kern="1200">
        <a:solidFill>
          <a:schemeClr val="tx1"/>
        </a:solidFill>
        <a:latin typeface="Arial" charset="0"/>
        <a:ea typeface="ＭＳ Ｐゴシック" charset="0"/>
        <a:cs typeface="+mn-cs"/>
      </a:defRPr>
    </a:lvl5pPr>
    <a:lvl6pPr marL="2286000" algn="l" defTabSz="457200" rtl="0" eaLnBrk="1" latinLnBrk="0" hangingPunct="1">
      <a:defRPr sz="1600" kern="1200">
        <a:solidFill>
          <a:schemeClr val="tx1"/>
        </a:solidFill>
        <a:latin typeface="Arial" charset="0"/>
        <a:ea typeface="ＭＳ Ｐゴシック" charset="0"/>
        <a:cs typeface="+mn-cs"/>
      </a:defRPr>
    </a:lvl6pPr>
    <a:lvl7pPr marL="2743200" algn="l" defTabSz="457200" rtl="0" eaLnBrk="1" latinLnBrk="0" hangingPunct="1">
      <a:defRPr sz="1600" kern="1200">
        <a:solidFill>
          <a:schemeClr val="tx1"/>
        </a:solidFill>
        <a:latin typeface="Arial" charset="0"/>
        <a:ea typeface="ＭＳ Ｐゴシック" charset="0"/>
        <a:cs typeface="+mn-cs"/>
      </a:defRPr>
    </a:lvl7pPr>
    <a:lvl8pPr marL="3200400" algn="l" defTabSz="457200" rtl="0" eaLnBrk="1" latinLnBrk="0" hangingPunct="1">
      <a:defRPr sz="1600" kern="1200">
        <a:solidFill>
          <a:schemeClr val="tx1"/>
        </a:solidFill>
        <a:latin typeface="Arial" charset="0"/>
        <a:ea typeface="ＭＳ Ｐゴシック" charset="0"/>
        <a:cs typeface="+mn-cs"/>
      </a:defRPr>
    </a:lvl8pPr>
    <a:lvl9pPr marL="3657600" algn="l" defTabSz="457200" rtl="0" eaLnBrk="1" latinLnBrk="0" hangingPunct="1">
      <a:defRPr sz="1600"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620" autoAdjust="0"/>
    <p:restoredTop sz="94660" autoAdjust="0"/>
  </p:normalViewPr>
  <p:slideViewPr>
    <p:cSldViewPr>
      <p:cViewPr varScale="1">
        <p:scale>
          <a:sx n="111" d="100"/>
          <a:sy n="111" d="100"/>
        </p:scale>
        <p:origin x="1608" y="11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60" d="100"/>
        <a:sy n="160" d="100"/>
      </p:scale>
      <p:origin x="0" y="-960"/>
    </p:cViewPr>
  </p:sorterViewPr>
  <p:notesViewPr>
    <p:cSldViewPr>
      <p:cViewPr varScale="1">
        <p:scale>
          <a:sx n="53" d="100"/>
          <a:sy n="53" d="100"/>
        </p:scale>
        <p:origin x="2838" y="6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2099" name="Rectangle 3"/>
          <p:cNvSpPr>
            <a:spLocks noGrp="1" noChangeArrowheads="1"/>
          </p:cNvSpPr>
          <p:nvPr>
            <p:ph type="dt" sz="quarter" idx="1"/>
          </p:nvPr>
        </p:nvSpPr>
        <p:spPr bwMode="auto">
          <a:xfrm>
            <a:off x="4144484" y="1"/>
            <a:ext cx="3169009" cy="4800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Gill Sans" charset="0"/>
              </a:defRPr>
            </a:lvl1pPr>
          </a:lstStyle>
          <a:p>
            <a:endParaRPr lang="en-GB"/>
          </a:p>
        </p:txBody>
      </p:sp>
      <p:sp>
        <p:nvSpPr>
          <p:cNvPr id="1412101" name="Rectangle 5"/>
          <p:cNvSpPr>
            <a:spLocks noGrp="1" noChangeArrowheads="1"/>
          </p:cNvSpPr>
          <p:nvPr>
            <p:ph type="sldNum" sz="quarter" idx="3"/>
          </p:nvPr>
        </p:nvSpPr>
        <p:spPr bwMode="auto">
          <a:xfrm>
            <a:off x="4144484" y="9119597"/>
            <a:ext cx="3169009" cy="4800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Gill Sans" charset="0"/>
              </a:defRPr>
            </a:lvl1pPr>
          </a:lstStyle>
          <a:p>
            <a:r>
              <a:rPr lang="en-GB"/>
              <a:t>Page </a:t>
            </a:r>
            <a:fld id="{F3172957-1645-F44A-B912-EB3AFD0EAA2B}" type="slidenum">
              <a:rPr lang="en-GB"/>
              <a:pPr/>
              <a:t>‹#›</a:t>
            </a:fld>
            <a:endParaRPr lang="en-GB"/>
          </a:p>
        </p:txBody>
      </p:sp>
    </p:spTree>
    <p:extLst>
      <p:ext uri="{BB962C8B-B14F-4D97-AF65-F5344CB8AC3E}">
        <p14:creationId xmlns:p14="http://schemas.microsoft.com/office/powerpoint/2010/main" val="118242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23" name="Rectangle 3"/>
          <p:cNvSpPr>
            <a:spLocks noGrp="1" noChangeArrowheads="1"/>
          </p:cNvSpPr>
          <p:nvPr>
            <p:ph type="dt" idx="1"/>
          </p:nvPr>
        </p:nvSpPr>
        <p:spPr bwMode="auto">
          <a:xfrm>
            <a:off x="4144484" y="1"/>
            <a:ext cx="3169009" cy="4800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1413124" name="Rectangle 4"/>
          <p:cNvSpPr>
            <a:spLocks noGrp="1" noRot="1" noChangeAspect="1" noChangeArrowheads="1" noTextEdit="1"/>
          </p:cNvSpPr>
          <p:nvPr>
            <p:ph type="sldImg" idx="2"/>
          </p:nvPr>
        </p:nvSpPr>
        <p:spPr bwMode="auto">
          <a:xfrm>
            <a:off x="1257300" y="720725"/>
            <a:ext cx="4802188" cy="360045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1413125" name="Rectangle 5"/>
          <p:cNvSpPr>
            <a:spLocks noGrp="1" noChangeArrowheads="1"/>
          </p:cNvSpPr>
          <p:nvPr>
            <p:ph type="body" sz="quarter" idx="3"/>
          </p:nvPr>
        </p:nvSpPr>
        <p:spPr bwMode="auto">
          <a:xfrm>
            <a:off x="731179" y="4559799"/>
            <a:ext cx="5852843" cy="43205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13127" name="Rectangle 7"/>
          <p:cNvSpPr>
            <a:spLocks noGrp="1" noChangeArrowheads="1"/>
          </p:cNvSpPr>
          <p:nvPr>
            <p:ph type="sldNum" sz="quarter" idx="5"/>
          </p:nvPr>
        </p:nvSpPr>
        <p:spPr bwMode="auto">
          <a:xfrm>
            <a:off x="4144484" y="9119597"/>
            <a:ext cx="3169009" cy="4800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vl1pPr>
          </a:lstStyle>
          <a:p>
            <a:fld id="{7853C3CD-E398-6040-8254-417BEBA359AB}" type="slidenum">
              <a:rPr lang="en-GB"/>
              <a:pPr/>
              <a:t>‹#›</a:t>
            </a:fld>
            <a:endParaRPr lang="en-GB"/>
          </a:p>
        </p:txBody>
      </p:sp>
    </p:spTree>
    <p:extLst>
      <p:ext uri="{BB962C8B-B14F-4D97-AF65-F5344CB8AC3E}">
        <p14:creationId xmlns:p14="http://schemas.microsoft.com/office/powerpoint/2010/main" val="1754635382"/>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charset="0"/>
        <a:ea typeface="ＭＳ Ｐゴシック" charset="0"/>
        <a:cs typeface="+mn-cs"/>
      </a:defRPr>
    </a:lvl1pPr>
    <a:lvl2pPr marL="457200" algn="l" rtl="0" fontAlgn="base">
      <a:spcBef>
        <a:spcPct val="30000"/>
      </a:spcBef>
      <a:spcAft>
        <a:spcPct val="0"/>
      </a:spcAft>
      <a:defRPr sz="1200" kern="1200">
        <a:solidFill>
          <a:schemeClr val="tx1"/>
        </a:solidFill>
        <a:latin typeface="Arial" charset="0"/>
        <a:ea typeface="ＭＳ Ｐゴシック" charset="0"/>
        <a:cs typeface="+mn-cs"/>
      </a:defRPr>
    </a:lvl2pPr>
    <a:lvl3pPr marL="914400" algn="l" rtl="0" fontAlgn="base">
      <a:spcBef>
        <a:spcPct val="30000"/>
      </a:spcBef>
      <a:spcAft>
        <a:spcPct val="0"/>
      </a:spcAft>
      <a:defRPr sz="1200" kern="1200">
        <a:solidFill>
          <a:schemeClr val="tx1"/>
        </a:solidFill>
        <a:latin typeface="Arial" charset="0"/>
        <a:ea typeface="ＭＳ Ｐゴシック" charset="0"/>
        <a:cs typeface="+mn-cs"/>
      </a:defRPr>
    </a:lvl3pPr>
    <a:lvl4pPr marL="1371600" algn="l" rtl="0" fontAlgn="base">
      <a:spcBef>
        <a:spcPct val="30000"/>
      </a:spcBef>
      <a:spcAft>
        <a:spcPct val="0"/>
      </a:spcAft>
      <a:defRPr sz="1200" kern="1200">
        <a:solidFill>
          <a:schemeClr val="tx1"/>
        </a:solidFill>
        <a:latin typeface="Arial" charset="0"/>
        <a:ea typeface="ＭＳ Ｐゴシック" charset="0"/>
        <a:cs typeface="+mn-cs"/>
      </a:defRPr>
    </a:lvl4pPr>
    <a:lvl5pPr marL="1828800" algn="l" rtl="0" fontAlgn="base">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endParaRPr lang="en-GB"/>
          </a:p>
        </p:txBody>
      </p:sp>
      <p:sp>
        <p:nvSpPr>
          <p:cNvPr id="7" name="Rectangle 7"/>
          <p:cNvSpPr>
            <a:spLocks noGrp="1" noChangeArrowheads="1"/>
          </p:cNvSpPr>
          <p:nvPr>
            <p:ph type="sldNum" sz="quarter" idx="5"/>
          </p:nvPr>
        </p:nvSpPr>
        <p:spPr>
          <a:ln/>
        </p:spPr>
        <p:txBody>
          <a:bodyPr/>
          <a:lstStyle/>
          <a:p>
            <a:fld id="{D84339CA-7480-7D43-8F2E-E21EAD53B26D}" type="slidenum">
              <a:rPr lang="en-GB"/>
              <a:pPr/>
              <a:t>1</a:t>
            </a:fld>
            <a:endParaRPr lang="en-GB"/>
          </a:p>
        </p:txBody>
      </p:sp>
      <p:sp>
        <p:nvSpPr>
          <p:cNvPr id="3389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8944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3375696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89" name="Rectangle 7"/>
          <p:cNvSpPr>
            <a:spLocks noGrp="1" noChangeArrowheads="1"/>
          </p:cNvSpPr>
          <p:nvPr>
            <p:ph type="sldNum" sz="quarter" idx="5"/>
          </p:nvPr>
        </p:nvSpPr>
        <p:spPr>
          <a:noFill/>
        </p:spPr>
        <p:txBody>
          <a:bodyPr/>
          <a:lstStyle/>
          <a:p>
            <a:fld id="{9EF68B0C-61C0-42F7-A173-566509AFF116}" type="slidenum">
              <a:rPr lang="en-GB" altLang="en-GB" smtClean="0"/>
              <a:pPr/>
              <a:t>2</a:t>
            </a:fld>
            <a:endParaRPr lang="en-GB" altLang="en-GB"/>
          </a:p>
        </p:txBody>
      </p:sp>
      <p:sp>
        <p:nvSpPr>
          <p:cNvPr id="908290" name="Rectangle 2"/>
          <p:cNvSpPr>
            <a:spLocks noGrp="1" noRot="1" noChangeAspect="1" noChangeArrowheads="1" noTextEdit="1"/>
          </p:cNvSpPr>
          <p:nvPr>
            <p:ph type="sldImg"/>
          </p:nvPr>
        </p:nvSpPr>
        <p:spPr>
          <a:xfrm>
            <a:off x="917575" y="744538"/>
            <a:ext cx="4962525" cy="3722687"/>
          </a:xfrm>
          <a:ln/>
        </p:spPr>
      </p:sp>
      <p:sp>
        <p:nvSpPr>
          <p:cNvPr id="908291" name="Rectangle 3"/>
          <p:cNvSpPr>
            <a:spLocks noGrp="1" noChangeArrowheads="1"/>
          </p:cNvSpPr>
          <p:nvPr>
            <p:ph type="body" idx="1"/>
          </p:nvPr>
        </p:nvSpPr>
        <p:spPr bwMode="auto">
          <a:xfrm>
            <a:off x="905547" y="4716925"/>
            <a:ext cx="4986582" cy="4464368"/>
          </a:xfrm>
          <a:prstGeom prst="rect">
            <a:avLst/>
          </a:prstGeom>
          <a:solidFill>
            <a:srgbClr val="FFFFFF"/>
          </a:solidFill>
          <a:ln>
            <a:solidFill>
              <a:srgbClr val="000000"/>
            </a:solidFill>
            <a:miter lim="800000"/>
            <a:headEnd/>
            <a:tailEnd/>
          </a:ln>
        </p:spPr>
        <p:txBody>
          <a:bodyPr lIns="91565" tIns="45783" rIns="91565" bIns="45783"/>
          <a:lstStyle/>
          <a:p>
            <a:pPr eaLnBrk="1" hangingPunct="1"/>
            <a:r>
              <a:rPr lang="en-US" altLang="ja-JP"/>
              <a:t>There are different types of software testing techniques. Static techniques, discussed in the previous section, and dynamic testing which we are about to discuss. Test design techniques help identify test conditions and test cases. There are three categories of dynamic test design techniques; specification-based (black box), structure based (white box) and experience based.</a:t>
            </a:r>
            <a:endParaRPr lang="en-GB"/>
          </a:p>
        </p:txBody>
      </p:sp>
    </p:spTree>
    <p:extLst>
      <p:ext uri="{BB962C8B-B14F-4D97-AF65-F5344CB8AC3E}">
        <p14:creationId xmlns:p14="http://schemas.microsoft.com/office/powerpoint/2010/main" val="187938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3B898B-9829-7640-BD83-916007B9F893}" type="slidenum">
              <a:rPr lang="en-GB"/>
              <a:pPr/>
              <a:t>3</a:t>
            </a:fld>
            <a:endParaRPr lang="en-GB"/>
          </a:p>
        </p:txBody>
      </p:sp>
      <p:sp>
        <p:nvSpPr>
          <p:cNvPr id="311298"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112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4877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7" name="Rectangle 7"/>
          <p:cNvSpPr>
            <a:spLocks noGrp="1" noChangeArrowheads="1"/>
          </p:cNvSpPr>
          <p:nvPr>
            <p:ph type="sldNum" sz="quarter" idx="5"/>
          </p:nvPr>
        </p:nvSpPr>
        <p:spPr>
          <a:noFill/>
        </p:spPr>
        <p:txBody>
          <a:bodyPr/>
          <a:lstStyle/>
          <a:p>
            <a:fld id="{EE33C9E4-161D-42B9-8BC3-A372EAB15EE1}" type="slidenum">
              <a:rPr lang="en-GB" altLang="en-GB" smtClean="0"/>
              <a:pPr/>
              <a:t>4</a:t>
            </a:fld>
            <a:endParaRPr lang="en-GB" altLang="en-GB"/>
          </a:p>
        </p:txBody>
      </p:sp>
      <p:sp>
        <p:nvSpPr>
          <p:cNvPr id="910338" name="Rectangle 2"/>
          <p:cNvSpPr>
            <a:spLocks noGrp="1" noRot="1" noChangeAspect="1" noChangeArrowheads="1" noTextEdit="1"/>
          </p:cNvSpPr>
          <p:nvPr>
            <p:ph type="sldImg"/>
          </p:nvPr>
        </p:nvSpPr>
        <p:spPr>
          <a:xfrm>
            <a:off x="917575" y="744538"/>
            <a:ext cx="4962525" cy="3722687"/>
          </a:xfrm>
          <a:ln/>
        </p:spPr>
      </p:sp>
      <p:sp>
        <p:nvSpPr>
          <p:cNvPr id="910339" name="Rectangle 3"/>
          <p:cNvSpPr>
            <a:spLocks noGrp="1" noChangeArrowheads="1"/>
          </p:cNvSpPr>
          <p:nvPr>
            <p:ph type="body" idx="1"/>
          </p:nvPr>
        </p:nvSpPr>
        <p:spPr bwMode="auto">
          <a:xfrm>
            <a:off x="905547" y="4716925"/>
            <a:ext cx="4986582" cy="4464368"/>
          </a:xfrm>
          <a:prstGeom prst="rect">
            <a:avLst/>
          </a:prstGeom>
          <a:solidFill>
            <a:srgbClr val="FFFFFF"/>
          </a:solidFill>
          <a:ln>
            <a:solidFill>
              <a:srgbClr val="000000"/>
            </a:solidFill>
            <a:miter lim="800000"/>
            <a:headEnd/>
            <a:tailEnd/>
          </a:ln>
        </p:spPr>
        <p:txBody>
          <a:bodyPr lIns="91565" tIns="45783" rIns="91565" bIns="45783"/>
          <a:lstStyle/>
          <a:p>
            <a:pPr marL="220553" indent="-220553"/>
            <a:r>
              <a:rPr lang="en-US" altLang="ja-JP"/>
              <a:t>Specification based – These methods view the software as a black-box with inputs and outputs but do not examine how the system/component is structured. We concentrate on what the software does not how it does it. It concerns both functional and non-functional testing; functional testing is concerned with what the system does while non-functional testing looks at how well the system does something.</a:t>
            </a:r>
          </a:p>
          <a:p>
            <a:pPr marL="220553" indent="-220553"/>
            <a:r>
              <a:rPr lang="en-US" altLang="ja-JP"/>
              <a:t>Structure based – This requires knowledge of how the software works. It uses the internal structure of the software to derive test cases, e.g. looking at loops in the structure. </a:t>
            </a:r>
          </a:p>
          <a:p>
            <a:pPr marL="220553" indent="-220553"/>
            <a:r>
              <a:rPr lang="en-US" altLang="ja-JP"/>
              <a:t>Experience based – These use people’s knowledge, skill and background to determine test conditions and test cases. They use both technical and business people as they have different perspectives to the test analysis and design process. Due to previous experience, they may be able to provide insights into high risk areas.</a:t>
            </a:r>
          </a:p>
          <a:p>
            <a:pPr marL="220553" indent="-220553"/>
            <a:r>
              <a:rPr lang="en-US" altLang="ja-JP"/>
              <a:t>Ask delegates if there are any questions about this section.</a:t>
            </a:r>
            <a:endParaRPr lang="en-GB"/>
          </a:p>
        </p:txBody>
      </p:sp>
    </p:spTree>
    <p:extLst>
      <p:ext uri="{BB962C8B-B14F-4D97-AF65-F5344CB8AC3E}">
        <p14:creationId xmlns:p14="http://schemas.microsoft.com/office/powerpoint/2010/main" val="3045297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5" name="Rectangle 7"/>
          <p:cNvSpPr>
            <a:spLocks noGrp="1" noChangeArrowheads="1"/>
          </p:cNvSpPr>
          <p:nvPr>
            <p:ph type="sldNum" sz="quarter" idx="5"/>
          </p:nvPr>
        </p:nvSpPr>
        <p:spPr>
          <a:noFill/>
        </p:spPr>
        <p:txBody>
          <a:bodyPr/>
          <a:lstStyle/>
          <a:p>
            <a:fld id="{F5B5D9FE-4CC4-4896-83E3-B89C76293456}" type="slidenum">
              <a:rPr lang="en-GB" altLang="en-GB" smtClean="0"/>
              <a:pPr/>
              <a:t>5</a:t>
            </a:fld>
            <a:endParaRPr lang="en-GB" altLang="en-GB"/>
          </a:p>
        </p:txBody>
      </p:sp>
      <p:sp>
        <p:nvSpPr>
          <p:cNvPr id="912386" name="Rectangle 2"/>
          <p:cNvSpPr>
            <a:spLocks noGrp="1" noRot="1" noChangeAspect="1" noChangeArrowheads="1" noTextEdit="1"/>
          </p:cNvSpPr>
          <p:nvPr>
            <p:ph type="sldImg"/>
          </p:nvPr>
        </p:nvSpPr>
        <p:spPr>
          <a:xfrm>
            <a:off x="917575" y="744538"/>
            <a:ext cx="4962525" cy="3722687"/>
          </a:xfrm>
          <a:ln/>
        </p:spPr>
      </p:sp>
      <p:sp>
        <p:nvSpPr>
          <p:cNvPr id="912387" name="Rectangle 3"/>
          <p:cNvSpPr>
            <a:spLocks noGrp="1" noChangeArrowheads="1"/>
          </p:cNvSpPr>
          <p:nvPr>
            <p:ph type="body" idx="1"/>
          </p:nvPr>
        </p:nvSpPr>
        <p:spPr bwMode="auto">
          <a:xfrm>
            <a:off x="905547" y="4716925"/>
            <a:ext cx="4986582" cy="4464368"/>
          </a:xfrm>
          <a:prstGeom prst="rect">
            <a:avLst/>
          </a:prstGeom>
          <a:solidFill>
            <a:srgbClr val="FFFFFF"/>
          </a:solidFill>
          <a:ln>
            <a:solidFill>
              <a:srgbClr val="000000"/>
            </a:solidFill>
            <a:miter lim="800000"/>
            <a:headEnd/>
            <a:tailEnd/>
          </a:ln>
        </p:spPr>
        <p:txBody>
          <a:bodyPr lIns="91565" tIns="45783" rIns="91565" bIns="45783"/>
          <a:lstStyle/>
          <a:p>
            <a:pPr eaLnBrk="1" hangingPunct="1"/>
            <a:r>
              <a:rPr lang="en-US" altLang="ja-JP"/>
              <a:t>For the Certified Tester: Foundation Level, delegates are required to have knowledge of 4 black box techniques (equivalence partitioning, boundary value analysis, decision table testing, and state transition). Candidates will also be required to have basic knowledge of use cases.</a:t>
            </a:r>
            <a:endParaRPr lang="en-GB"/>
          </a:p>
        </p:txBody>
      </p:sp>
    </p:spTree>
    <p:extLst>
      <p:ext uri="{BB962C8B-B14F-4D97-AF65-F5344CB8AC3E}">
        <p14:creationId xmlns:p14="http://schemas.microsoft.com/office/powerpoint/2010/main" val="3123559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5D2B24-7199-204E-A7C1-B1411466FD13}" type="slidenum">
              <a:rPr lang="en-GB"/>
              <a:pPr/>
              <a:t>6</a:t>
            </a:fld>
            <a:endParaRPr lang="en-GB"/>
          </a:p>
        </p:txBody>
      </p:sp>
      <p:sp>
        <p:nvSpPr>
          <p:cNvPr id="325634"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25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6980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CDD494-1649-2B40-845A-60B3A18C0557}" type="slidenum">
              <a:rPr lang="en-GB"/>
              <a:pPr/>
              <a:t>8</a:t>
            </a:fld>
            <a:endParaRPr lang="en-GB"/>
          </a:p>
        </p:txBody>
      </p:sp>
      <p:sp>
        <p:nvSpPr>
          <p:cNvPr id="518146" name="Rectangle 2"/>
          <p:cNvSpPr>
            <a:spLocks noGrp="1" noChangeArrowheads="1"/>
          </p:cNvSpPr>
          <p:nvPr>
            <p:ph type="body" idx="1"/>
          </p:nvPr>
        </p:nvSpPr>
        <p:spPr>
          <a:xfrm>
            <a:off x="906463" y="4716463"/>
            <a:ext cx="4984750" cy="4183062"/>
          </a:xfrm>
          <a:ln/>
          <a:extLst>
            <a:ext uri="{91240B29-F687-4f45-9708-019B960494DF}">
              <a14:hiddenLine xmlns:a14="http://schemas.microsoft.com/office/drawing/2010/main" xmlns="" w="12700">
                <a:solidFill>
                  <a:schemeClr val="tx1"/>
                </a:solidFill>
                <a:miter lim="800000"/>
                <a:headEnd/>
                <a:tailEnd/>
              </a14:hiddenLine>
            </a:ext>
          </a:extLst>
        </p:spPr>
        <p:txBody>
          <a:bodyPr lIns="87083" tIns="42776" rIns="87083" bIns="42776"/>
          <a:lstStyle/>
          <a:p>
            <a:endParaRPr lang="en-US"/>
          </a:p>
        </p:txBody>
      </p:sp>
      <p:sp>
        <p:nvSpPr>
          <p:cNvPr id="518147" name="Rectangle 3"/>
          <p:cNvSpPr>
            <a:spLocks noGrp="1" noRot="1" noChangeAspect="1" noChangeArrowheads="1" noTextEdit="1"/>
          </p:cNvSpPr>
          <p:nvPr>
            <p:ph type="sldImg"/>
          </p:nvPr>
        </p:nvSpPr>
        <p:spPr>
          <a:xfrm>
            <a:off x="1084263" y="868363"/>
            <a:ext cx="4630737" cy="3473450"/>
          </a:xfrm>
          <a:ln w="12700" cap="flat">
            <a:solidFill>
              <a:schemeClr val="tx1"/>
            </a:solidFill>
          </a:ln>
          <a:extLst>
            <a:ext uri="{909E8E84-426E-40dd-AFC4-6F175D3DCCD1}">
              <a14:hiddenFill xmlns:a14="http://schemas.microsoft.com/office/drawing/2010/main" xmlns="">
                <a:noFill/>
              </a14:hiddenFill>
            </a:ext>
            <a:ext uri="{FAA26D3D-D897-4be2-8F04-BA451C77F1D7}">
              <ma14:placeholderFlag xmlns:ma14="http://schemas.microsoft.com/office/mac/drawingml/2011/main" xmlns="" val="1"/>
            </a:ext>
          </a:extLst>
        </p:spPr>
      </p:sp>
    </p:spTree>
    <p:extLst>
      <p:ext uri="{BB962C8B-B14F-4D97-AF65-F5344CB8AC3E}">
        <p14:creationId xmlns:p14="http://schemas.microsoft.com/office/powerpoint/2010/main" val="1655612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E042CD-39E1-CD4A-A504-AF9045F7D584}" type="slidenum">
              <a:rPr lang="en-GB"/>
              <a:pPr/>
              <a:t>10</a:t>
            </a:fld>
            <a:endParaRPr lang="en-GB"/>
          </a:p>
        </p:txBody>
      </p:sp>
      <p:sp>
        <p:nvSpPr>
          <p:cNvPr id="329730"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29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3997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CB626B-9CF4-CF48-BAE2-E8B8F574BCDA}" type="slidenum">
              <a:rPr lang="en-GB"/>
              <a:pPr/>
              <a:t>11</a:t>
            </a:fld>
            <a:endParaRPr lang="en-GB"/>
          </a:p>
        </p:txBody>
      </p:sp>
      <p:sp>
        <p:nvSpPr>
          <p:cNvPr id="331778"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317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94881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A91E40-F0C9-2A49-9989-9979A529DEB9}" type="slidenum">
              <a:rPr lang="en-GB"/>
              <a:pPr/>
              <a:t>12</a:t>
            </a:fld>
            <a:endParaRPr lang="en-GB"/>
          </a:p>
        </p:txBody>
      </p:sp>
      <p:sp>
        <p:nvSpPr>
          <p:cNvPr id="337922"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37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43133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746FF8-2BBC-5E4C-9FBA-0B6E92896825}" type="slidenum">
              <a:rPr lang="en-GB"/>
              <a:pPr/>
              <a:t>13</a:t>
            </a:fld>
            <a:endParaRPr lang="en-GB"/>
          </a:p>
        </p:txBody>
      </p:sp>
      <p:sp>
        <p:nvSpPr>
          <p:cNvPr id="339970"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399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38948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54EDC5-054C-974E-B03B-23B60F259642}" type="slidenum">
              <a:rPr lang="en-GB"/>
              <a:pPr/>
              <a:t>14</a:t>
            </a:fld>
            <a:endParaRPr lang="en-GB"/>
          </a:p>
        </p:txBody>
      </p:sp>
      <p:sp>
        <p:nvSpPr>
          <p:cNvPr id="571394" name="Rectangle 2"/>
          <p:cNvSpPr>
            <a:spLocks noGrp="1" noRot="1" noChangeAspect="1" noChangeArrowheads="1" noTextEdit="1"/>
          </p:cNvSpPr>
          <p:nvPr>
            <p:ph type="sldImg"/>
          </p:nvPr>
        </p:nvSpPr>
        <p:spPr>
          <a:xfrm>
            <a:off x="917575" y="744538"/>
            <a:ext cx="4962525" cy="3722687"/>
          </a:xfrm>
          <a:ln/>
          <a:extLst>
            <a:ext uri="{FAA26D3D-D897-4be2-8F04-BA451C77F1D7}">
              <ma14:placeholderFlag xmlns:ma14="http://schemas.microsoft.com/office/mac/drawingml/2011/main" xmlns="" val="1"/>
            </a:ext>
          </a:extLst>
        </p:spPr>
      </p:sp>
      <p:sp>
        <p:nvSpPr>
          <p:cNvPr id="5713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95870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14B214-ECBB-D14C-84C5-A2152C8FD368}" type="slidenum">
              <a:rPr lang="en-GB"/>
              <a:pPr/>
              <a:t>15</a:t>
            </a:fld>
            <a:endParaRPr lang="en-GB"/>
          </a:p>
        </p:txBody>
      </p:sp>
      <p:sp>
        <p:nvSpPr>
          <p:cNvPr id="564226" name="Rectangle 2"/>
          <p:cNvSpPr>
            <a:spLocks noGrp="1" noRot="1" noChangeAspect="1" noChangeArrowheads="1" noTextEdit="1"/>
          </p:cNvSpPr>
          <p:nvPr>
            <p:ph type="sldImg"/>
          </p:nvPr>
        </p:nvSpPr>
        <p:spPr>
          <a:xfrm>
            <a:off x="917575" y="744538"/>
            <a:ext cx="4962525" cy="3722687"/>
          </a:xfrm>
          <a:ln/>
          <a:extLst>
            <a:ext uri="{FAA26D3D-D897-4be2-8F04-BA451C77F1D7}">
              <ma14:placeholderFlag xmlns:ma14="http://schemas.microsoft.com/office/mac/drawingml/2011/main" xmlns="" val="1"/>
            </a:ext>
          </a:extLst>
        </p:spPr>
      </p:sp>
      <p:sp>
        <p:nvSpPr>
          <p:cNvPr id="564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62115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FBDAC6-85A9-EB47-B56F-6034EF3C4C9D}" type="slidenum">
              <a:rPr lang="en-GB"/>
              <a:pPr/>
              <a:t>16</a:t>
            </a:fld>
            <a:endParaRPr lang="en-GB"/>
          </a:p>
        </p:txBody>
      </p:sp>
      <p:sp>
        <p:nvSpPr>
          <p:cNvPr id="566274" name="Text Box 2"/>
          <p:cNvSpPr txBox="1">
            <a:spLocks noGrp="1" noRot="1" noChangeAspect="1" noChangeArrowheads="1" noTextEdit="1"/>
          </p:cNvSpPr>
          <p:nvPr>
            <p:ph type="sldImg"/>
          </p:nvPr>
        </p:nvSpPr>
        <p:spPr>
          <a:xfrm>
            <a:off x="1130300" y="992188"/>
            <a:ext cx="4538663" cy="3403600"/>
          </a:xfrm>
          <a:ln/>
          <a:extLst>
            <a:ext uri="{FAA26D3D-D897-4be2-8F04-BA451C77F1D7}">
              <ma14:placeholderFlag xmlns:ma14="http://schemas.microsoft.com/office/mac/drawingml/2011/main" xmlns="" val="1"/>
            </a:ext>
          </a:extLst>
        </p:spPr>
      </p:sp>
      <p:sp>
        <p:nvSpPr>
          <p:cNvPr id="566275" name="Text Box 3"/>
          <p:cNvSpPr txBox="1">
            <a:spLocks noGrp="1" noChangeArrowheads="1"/>
          </p:cNvSpPr>
          <p:nvPr>
            <p:ph type="body" idx="1"/>
          </p:nvPr>
        </p:nvSpPr>
        <p:spPr>
          <a:xfrm>
            <a:off x="1036638" y="4725988"/>
            <a:ext cx="4729162" cy="3776662"/>
          </a:xfrm>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50579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6A9B1D-6FDB-CE48-8025-6616EDBB2D7F}" type="slidenum">
              <a:rPr lang="en-GB"/>
              <a:pPr/>
              <a:t>17</a:t>
            </a:fld>
            <a:endParaRPr lang="en-GB"/>
          </a:p>
        </p:txBody>
      </p:sp>
      <p:sp>
        <p:nvSpPr>
          <p:cNvPr id="573442" name="Text Box 2"/>
          <p:cNvSpPr txBox="1">
            <a:spLocks noGrp="1" noRot="1" noChangeAspect="1" noChangeArrowheads="1" noTextEdit="1"/>
          </p:cNvSpPr>
          <p:nvPr>
            <p:ph type="sldImg"/>
          </p:nvPr>
        </p:nvSpPr>
        <p:spPr>
          <a:xfrm>
            <a:off x="1130300" y="992188"/>
            <a:ext cx="4538663" cy="3403600"/>
          </a:xfrm>
          <a:ln/>
          <a:extLst>
            <a:ext uri="{FAA26D3D-D897-4be2-8F04-BA451C77F1D7}">
              <ma14:placeholderFlag xmlns:ma14="http://schemas.microsoft.com/office/mac/drawingml/2011/main" xmlns="" val="1"/>
            </a:ext>
          </a:extLst>
        </p:spPr>
      </p:sp>
      <p:sp>
        <p:nvSpPr>
          <p:cNvPr id="573443" name="Text Box 3"/>
          <p:cNvSpPr txBox="1">
            <a:spLocks noGrp="1" noChangeArrowheads="1"/>
          </p:cNvSpPr>
          <p:nvPr>
            <p:ph type="body" idx="1"/>
          </p:nvPr>
        </p:nvSpPr>
        <p:spPr>
          <a:xfrm>
            <a:off x="1036638" y="4725988"/>
            <a:ext cx="4730750" cy="3776662"/>
          </a:xfrm>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439769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1AD384-5CAC-174A-88B6-8170F821632F}" type="slidenum">
              <a:rPr lang="en-GB"/>
              <a:pPr/>
              <a:t>18</a:t>
            </a:fld>
            <a:endParaRPr lang="en-GB"/>
          </a:p>
        </p:txBody>
      </p:sp>
      <p:sp>
        <p:nvSpPr>
          <p:cNvPr id="342018"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420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26061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DC9819-B323-5046-AFC0-D3ADF5621ECC}" type="slidenum">
              <a:rPr lang="en-GB"/>
              <a:pPr/>
              <a:t>19</a:t>
            </a:fld>
            <a:endParaRPr lang="en-GB"/>
          </a:p>
        </p:txBody>
      </p:sp>
      <p:sp>
        <p:nvSpPr>
          <p:cNvPr id="344066"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440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17624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47B464-7F2C-3A4B-918C-CE28FDEE8326}" type="slidenum">
              <a:rPr lang="en-GB"/>
              <a:pPr/>
              <a:t>20</a:t>
            </a:fld>
            <a:endParaRPr lang="en-GB"/>
          </a:p>
        </p:txBody>
      </p:sp>
      <p:sp>
        <p:nvSpPr>
          <p:cNvPr id="346114"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46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22976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08B814-0C90-034F-ABE0-E9865909A9B1}" type="slidenum">
              <a:rPr lang="en-GB"/>
              <a:pPr/>
              <a:t>21</a:t>
            </a:fld>
            <a:endParaRPr lang="en-GB"/>
          </a:p>
        </p:txBody>
      </p:sp>
      <p:sp>
        <p:nvSpPr>
          <p:cNvPr id="348162"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481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76711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28004F-9AD5-7E40-8CB1-C07235390D01}" type="slidenum">
              <a:rPr lang="en-GB"/>
              <a:pPr/>
              <a:t>22</a:t>
            </a:fld>
            <a:endParaRPr lang="en-GB"/>
          </a:p>
        </p:txBody>
      </p:sp>
      <p:sp>
        <p:nvSpPr>
          <p:cNvPr id="350210"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50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26568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842AC2-BC88-F245-9BE4-5A2B1BD52444}" type="slidenum">
              <a:rPr lang="en-GB"/>
              <a:pPr/>
              <a:t>23</a:t>
            </a:fld>
            <a:endParaRPr lang="en-GB"/>
          </a:p>
        </p:txBody>
      </p:sp>
      <p:sp>
        <p:nvSpPr>
          <p:cNvPr id="352258"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52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58044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D07608-CBB1-5B42-BA99-E72929485FDA}" type="slidenum">
              <a:rPr lang="en-GB"/>
              <a:pPr/>
              <a:t>24</a:t>
            </a:fld>
            <a:endParaRPr lang="en-GB"/>
          </a:p>
        </p:txBody>
      </p:sp>
      <p:sp>
        <p:nvSpPr>
          <p:cNvPr id="354306" name="Rectangle 2"/>
          <p:cNvSpPr>
            <a:spLocks noGrp="1" noRot="1" noChangeAspect="1" noChangeArrowheads="1" noTextEdit="1"/>
          </p:cNvSpPr>
          <p:nvPr>
            <p:ph type="sldImg"/>
          </p:nvPr>
        </p:nvSpPr>
        <p:spPr>
          <a:xfrm>
            <a:off x="917575" y="744538"/>
            <a:ext cx="4964113" cy="3722687"/>
          </a:xfrm>
          <a:ln/>
          <a:extLst>
            <a:ext uri="{FAA26D3D-D897-4be2-8F04-BA451C77F1D7}">
              <ma14:placeholderFlag xmlns:ma14="http://schemas.microsoft.com/office/mac/drawingml/2011/main" xmlns="" val="1"/>
            </a:ext>
          </a:extLst>
        </p:spPr>
      </p:sp>
      <p:sp>
        <p:nvSpPr>
          <p:cNvPr id="354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88754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336547-1E27-564C-A882-C4255ECCA7E7}" type="slidenum">
              <a:rPr lang="en-GB"/>
              <a:pPr/>
              <a:t>25</a:t>
            </a:fld>
            <a:endParaRPr lang="en-GB"/>
          </a:p>
        </p:txBody>
      </p:sp>
      <p:sp>
        <p:nvSpPr>
          <p:cNvPr id="69634" name="Rectangle 2"/>
          <p:cNvSpPr>
            <a:spLocks noGrp="1" noRot="1" noChangeAspect="1" noChangeArrowheads="1" noTextEdit="1"/>
          </p:cNvSpPr>
          <p:nvPr>
            <p:ph type="sldImg"/>
          </p:nvPr>
        </p:nvSpPr>
        <p:spPr>
          <a:xfrm>
            <a:off x="1244600" y="723900"/>
            <a:ext cx="4826000" cy="3619500"/>
          </a:xfrm>
          <a:ln/>
          <a:extLst>
            <a:ext uri="{FAA26D3D-D897-4be2-8F04-BA451C77F1D7}">
              <ma14:placeholderFlag xmlns="" xmlns:ma14="http://schemas.microsoft.com/office/mac/drawingml/2011/main" val="1"/>
            </a:ext>
          </a:extLst>
        </p:spPr>
      </p:sp>
      <p:sp>
        <p:nvSpPr>
          <p:cNvPr id="69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09958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3541431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30654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142248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703263" y="1676400"/>
            <a:ext cx="3897312"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817107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69039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232726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29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081956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47244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97777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266700"/>
            <a:ext cx="2065337"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388938" y="266700"/>
            <a:ext cx="6045200"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985021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457200" y="1600200"/>
            <a:ext cx="4038600" cy="4852988"/>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648200" y="1600200"/>
            <a:ext cx="4038600" cy="4852988"/>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Slide Number Placeholder 4"/>
          <p:cNvSpPr>
            <a:spLocks noGrp="1"/>
          </p:cNvSpPr>
          <p:nvPr>
            <p:ph type="sldNum" sz="quarter" idx="10"/>
          </p:nvPr>
        </p:nvSpPr>
        <p:spPr>
          <a:xfrm>
            <a:off x="6553200" y="6524625"/>
            <a:ext cx="2133600" cy="196850"/>
          </a:xfrm>
          <a:prstGeom prst="rect">
            <a:avLst/>
          </a:prstGeom>
        </p:spPr>
        <p:txBody>
          <a:bodyPr/>
          <a:lstStyle>
            <a:lvl1pPr>
              <a:defRPr/>
            </a:lvl1pPr>
          </a:lstStyle>
          <a:p>
            <a:fld id="{73663C00-9574-4C4B-A4ED-A06C86C98229}" type="slidenum">
              <a:rPr lang="en-GB"/>
              <a:pPr/>
              <a:t>‹#›</a:t>
            </a:fld>
            <a:endParaRPr lang="en-GB"/>
          </a:p>
        </p:txBody>
      </p:sp>
    </p:spTree>
    <p:extLst>
      <p:ext uri="{BB962C8B-B14F-4D97-AF65-F5344CB8AC3E}">
        <p14:creationId xmlns:p14="http://schemas.microsoft.com/office/powerpoint/2010/main" val="2930894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ga-IE"/>
              <a:t>Click to edit Master title style</a:t>
            </a:r>
            <a:endParaRPr lang="en-US"/>
          </a:p>
        </p:txBody>
      </p:sp>
      <p:sp>
        <p:nvSpPr>
          <p:cNvPr id="3" name="Table Placeholder 2"/>
          <p:cNvSpPr>
            <a:spLocks noGrp="1"/>
          </p:cNvSpPr>
          <p:nvPr>
            <p:ph type="tbl" idx="1"/>
          </p:nvPr>
        </p:nvSpPr>
        <p:spPr>
          <a:xfrm>
            <a:off x="457200" y="1600200"/>
            <a:ext cx="8229600" cy="4852988"/>
          </a:xfrm>
        </p:spPr>
        <p:txBody>
          <a:bodyPr/>
          <a:lstStyle/>
          <a:p>
            <a:endParaRPr lang="en-US"/>
          </a:p>
        </p:txBody>
      </p:sp>
      <p:sp>
        <p:nvSpPr>
          <p:cNvPr id="4" name="Slide Number Placeholder 3"/>
          <p:cNvSpPr>
            <a:spLocks noGrp="1"/>
          </p:cNvSpPr>
          <p:nvPr>
            <p:ph type="sldNum" sz="quarter" idx="10"/>
          </p:nvPr>
        </p:nvSpPr>
        <p:spPr>
          <a:xfrm>
            <a:off x="6553200" y="6524625"/>
            <a:ext cx="2133600" cy="196850"/>
          </a:xfrm>
          <a:prstGeom prst="rect">
            <a:avLst/>
          </a:prstGeom>
        </p:spPr>
        <p:txBody>
          <a:bodyPr/>
          <a:lstStyle>
            <a:lvl1pPr>
              <a:defRPr/>
            </a:lvl1pPr>
          </a:lstStyle>
          <a:p>
            <a:fld id="{CACD4FFF-91F2-3543-A7DB-97A252BD42B9}" type="slidenum">
              <a:rPr lang="en-GB"/>
              <a:pPr/>
              <a:t>‹#›</a:t>
            </a:fld>
            <a:endParaRPr lang="en-GB"/>
          </a:p>
        </p:txBody>
      </p:sp>
    </p:spTree>
    <p:extLst>
      <p:ext uri="{BB962C8B-B14F-4D97-AF65-F5344CB8AC3E}">
        <p14:creationId xmlns:p14="http://schemas.microsoft.com/office/powerpoint/2010/main" val="58104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1588" y="1484313"/>
            <a:ext cx="9066212" cy="0"/>
          </a:xfrm>
          <a:prstGeom prst="line">
            <a:avLst/>
          </a:prstGeom>
          <a:noFill/>
          <a:ln w="5080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979" name="Rectangle 3"/>
          <p:cNvSpPr>
            <a:spLocks noGrp="1" noChangeArrowheads="1"/>
          </p:cNvSpPr>
          <p:nvPr>
            <p:ph type="title"/>
          </p:nvPr>
        </p:nvSpPr>
        <p:spPr bwMode="auto">
          <a:xfrm>
            <a:off x="388938" y="266700"/>
            <a:ext cx="8145462" cy="1104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703263" y="1676400"/>
            <a:ext cx="7948612" cy="4705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8172450" y="6400800"/>
            <a:ext cx="450850"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eaLnBrk="0" hangingPunct="0"/>
            <a:fld id="{3739EF48-B9D0-924E-B728-EC9AFAE91669}" type="slidenum">
              <a:rPr lang="en-US" sz="1000">
                <a:solidFill>
                  <a:schemeClr val="bg2"/>
                </a:solidFill>
              </a:rPr>
              <a:pPr eaLnBrk="0" hangingPunct="0"/>
              <a:t>‹#›</a:t>
            </a:fld>
            <a:endParaRPr lang="en-US" sz="1000">
              <a:solidFill>
                <a:schemeClr val="bg2"/>
              </a:solidFill>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a:xfrm>
            <a:off x="1011560" y="2708920"/>
            <a:ext cx="7088832" cy="3096344"/>
          </a:xfrm>
        </p:spPr>
        <p:txBody>
          <a:bodyPr/>
          <a:lstStyle/>
          <a:p>
            <a:r>
              <a:rPr lang="en-US" b="1" dirty="0"/>
              <a:t>Introduction to Test Design Techniques</a:t>
            </a:r>
          </a:p>
          <a:p>
            <a:r>
              <a:rPr lang="en-US" dirty="0"/>
              <a:t>Equivalence Class Partitioning</a:t>
            </a:r>
          </a:p>
          <a:p>
            <a:r>
              <a:rPr lang="en-US" dirty="0"/>
              <a:t>Boundary Value Analysis</a:t>
            </a:r>
          </a:p>
        </p:txBody>
      </p:sp>
    </p:spTree>
    <p:extLst>
      <p:ext uri="{BB962C8B-B14F-4D97-AF65-F5344CB8AC3E}">
        <p14:creationId xmlns:p14="http://schemas.microsoft.com/office/powerpoint/2010/main" val="1743381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7" name="Rectangle 2"/>
          <p:cNvSpPr>
            <a:spLocks noGrp="1" noChangeArrowheads="1"/>
          </p:cNvSpPr>
          <p:nvPr>
            <p:ph type="title"/>
          </p:nvPr>
        </p:nvSpPr>
        <p:spPr/>
        <p:txBody>
          <a:bodyPr/>
          <a:lstStyle/>
          <a:p>
            <a:r>
              <a:rPr lang="en-GB"/>
              <a:t>Test design techniques</a:t>
            </a:r>
          </a:p>
        </p:txBody>
      </p:sp>
      <p:sp>
        <p:nvSpPr>
          <p:cNvPr id="909316" name="Rectangle 3"/>
          <p:cNvSpPr>
            <a:spLocks noGrp="1" noChangeArrowheads="1"/>
          </p:cNvSpPr>
          <p:nvPr>
            <p:ph idx="1"/>
          </p:nvPr>
        </p:nvSpPr>
        <p:spPr/>
        <p:txBody>
          <a:bodyPr/>
          <a:lstStyle/>
          <a:p>
            <a:r>
              <a:rPr lang="en-GB" sz="2400" dirty="0"/>
              <a:t>Purpose of test design techniques is to identify test conditions and test cases.</a:t>
            </a:r>
          </a:p>
          <a:p>
            <a:r>
              <a:rPr lang="en-GB" sz="2400" dirty="0"/>
              <a:t>Software testing is complicated, we need to have robust design techniques to enable effective, yet economic/practical testing. </a:t>
            </a:r>
          </a:p>
        </p:txBody>
      </p:sp>
      <p:sp>
        <p:nvSpPr>
          <p:cNvPr id="907265" name="Slide Number Placeholder 1"/>
          <p:cNvSpPr>
            <a:spLocks noGrp="1"/>
          </p:cNvSpPr>
          <p:nvPr>
            <p:ph type="sldNum" sz="quarter" idx="4294967295"/>
          </p:nvPr>
        </p:nvSpPr>
        <p:spPr>
          <a:xfrm>
            <a:off x="6553200" y="6524625"/>
            <a:ext cx="2133600" cy="196850"/>
          </a:xfrm>
          <a:prstGeom prst="rect">
            <a:avLst/>
          </a:prstGeom>
        </p:spPr>
        <p:txBody>
          <a:bodyPr/>
          <a:lstStyle/>
          <a:p>
            <a:fld id="{1877BB96-185D-4B49-AD0E-D90AF7C1F613}" type="slidenum">
              <a:rPr lang="en-GB" smtClean="0"/>
              <a:pPr/>
              <a:t>2</a:t>
            </a:fld>
            <a:endParaRPr lang="en-GB"/>
          </a:p>
        </p:txBody>
      </p:sp>
    </p:spTree>
    <p:extLst>
      <p:ext uri="{BB962C8B-B14F-4D97-AF65-F5344CB8AC3E}">
        <p14:creationId xmlns:p14="http://schemas.microsoft.com/office/powerpoint/2010/main" val="227727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09316">
                                            <p:txEl>
                                              <p:pRg st="0" end="0"/>
                                            </p:txEl>
                                          </p:spTgt>
                                        </p:tgtEl>
                                        <p:attrNameLst>
                                          <p:attrName>style.visibility</p:attrName>
                                        </p:attrNameLst>
                                      </p:cBhvr>
                                      <p:to>
                                        <p:strVal val="visible"/>
                                      </p:to>
                                    </p:set>
                                    <p:animEffect transition="in" filter="fade">
                                      <p:cBhvr>
                                        <p:cTn id="7" dur="1000"/>
                                        <p:tgtEl>
                                          <p:spTgt spid="9093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09316">
                                            <p:txEl>
                                              <p:pRg st="1" end="1"/>
                                            </p:txEl>
                                          </p:spTgt>
                                        </p:tgtEl>
                                        <p:attrNameLst>
                                          <p:attrName>style.visibility</p:attrName>
                                        </p:attrNameLst>
                                      </p:cBhvr>
                                      <p:to>
                                        <p:strVal val="visible"/>
                                      </p:to>
                                    </p:set>
                                    <p:animEffect transition="in" filter="fade">
                                      <p:cBhvr>
                                        <p:cTn id="12" dur="1000"/>
                                        <p:tgtEl>
                                          <p:spTgt spid="9093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6" name="Rectangle 4"/>
          <p:cNvSpPr>
            <a:spLocks noGrp="1" noChangeArrowheads="1"/>
          </p:cNvSpPr>
          <p:nvPr>
            <p:ph type="title"/>
          </p:nvPr>
        </p:nvSpPr>
        <p:spPr/>
        <p:txBody>
          <a:bodyPr/>
          <a:lstStyle/>
          <a:p>
            <a:r>
              <a:rPr lang="en-US"/>
              <a:t>Why use techniques?</a:t>
            </a:r>
          </a:p>
        </p:txBody>
      </p:sp>
      <p:sp>
        <p:nvSpPr>
          <p:cNvPr id="310277" name="Rectangle 5"/>
          <p:cNvSpPr>
            <a:spLocks noGrp="1" noChangeArrowheads="1"/>
          </p:cNvSpPr>
          <p:nvPr>
            <p:ph type="body" idx="1"/>
          </p:nvPr>
        </p:nvSpPr>
        <p:spPr/>
        <p:txBody>
          <a:bodyPr/>
          <a:lstStyle/>
          <a:p>
            <a:r>
              <a:rPr lang="en-US" dirty="0"/>
              <a:t>Exhaustive testing of all program paths is impractical</a:t>
            </a:r>
          </a:p>
          <a:p>
            <a:r>
              <a:rPr lang="en-US" dirty="0"/>
              <a:t>Exhaustive testing of all inputs is also impractical</a:t>
            </a:r>
          </a:p>
          <a:p>
            <a:r>
              <a:rPr lang="en-US" dirty="0"/>
              <a:t>Even if we could, most tests would represent duplicates (that may bring no additional value)</a:t>
            </a:r>
          </a:p>
          <a:p>
            <a:r>
              <a:rPr lang="en-US" dirty="0"/>
              <a:t>So, we need to select tests which are</a:t>
            </a:r>
          </a:p>
          <a:p>
            <a:pPr marL="800100" lvl="1" indent="-342900">
              <a:buFont typeface="Arial" panose="020B0604020202020204" pitchFamily="34" charset="0"/>
              <a:buChar char="•"/>
            </a:pPr>
            <a:r>
              <a:rPr lang="en-US" dirty="0"/>
              <a:t>effective at finding faults</a:t>
            </a:r>
          </a:p>
          <a:p>
            <a:pPr marL="800100" lvl="1" indent="-342900">
              <a:buFont typeface="Arial" panose="020B0604020202020204" pitchFamily="34" charset="0"/>
              <a:buChar char="•"/>
            </a:pPr>
            <a:r>
              <a:rPr lang="en-US" dirty="0"/>
              <a:t>efficient.</a:t>
            </a:r>
          </a:p>
        </p:txBody>
      </p:sp>
    </p:spTree>
    <p:extLst>
      <p:ext uri="{BB962C8B-B14F-4D97-AF65-F5344CB8AC3E}">
        <p14:creationId xmlns:p14="http://schemas.microsoft.com/office/powerpoint/2010/main" val="5564627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3" name="Slide Number Placeholder 1"/>
          <p:cNvSpPr>
            <a:spLocks noGrp="1"/>
          </p:cNvSpPr>
          <p:nvPr>
            <p:ph type="sldNum" sz="quarter" idx="4294967295"/>
          </p:nvPr>
        </p:nvSpPr>
        <p:spPr bwMode="auto">
          <a:xfrm>
            <a:off x="6553200" y="6524625"/>
            <a:ext cx="2133600" cy="196850"/>
          </a:xfrm>
          <a:prstGeom prst="rect">
            <a:avLst/>
          </a:prstGeom>
          <a:noFill/>
          <a:ln>
            <a:miter lim="800000"/>
            <a:headEnd/>
            <a:tailEnd/>
          </a:ln>
        </p:spPr>
        <p:txBody>
          <a:bodyPr/>
          <a:lstStyle/>
          <a:p>
            <a:fld id="{635BE511-3761-41F6-991E-15DB7BBAF721}" type="slidenum">
              <a:rPr lang="en-GB" smtClean="0"/>
              <a:pPr/>
              <a:t>4</a:t>
            </a:fld>
            <a:endParaRPr lang="en-GB"/>
          </a:p>
        </p:txBody>
      </p:sp>
      <p:sp>
        <p:nvSpPr>
          <p:cNvPr id="909315" name="Rectangle 2"/>
          <p:cNvSpPr>
            <a:spLocks noGrp="1" noChangeArrowheads="1"/>
          </p:cNvSpPr>
          <p:nvPr>
            <p:ph type="title" idx="4294967295"/>
          </p:nvPr>
        </p:nvSpPr>
        <p:spPr>
          <a:xfrm>
            <a:off x="407988" y="91215"/>
            <a:ext cx="8423275" cy="646973"/>
          </a:xfrm>
        </p:spPr>
        <p:txBody>
          <a:bodyPr>
            <a:spAutoFit/>
          </a:bodyPr>
          <a:lstStyle/>
          <a:p>
            <a:pPr eaLnBrk="1" hangingPunct="1"/>
            <a:r>
              <a:rPr lang="en-GB" dirty="0"/>
              <a:t>Category of Test Design Technique</a:t>
            </a:r>
          </a:p>
        </p:txBody>
      </p:sp>
      <p:graphicFrame>
        <p:nvGraphicFramePr>
          <p:cNvPr id="911386" name="Group 26"/>
          <p:cNvGraphicFramePr>
            <a:graphicFrameLocks noGrp="1"/>
          </p:cNvGraphicFramePr>
          <p:nvPr>
            <p:ph idx="4294967295"/>
            <p:extLst>
              <p:ext uri="{D42A27DB-BD31-4B8C-83A1-F6EECF244321}">
                <p14:modId xmlns:p14="http://schemas.microsoft.com/office/powerpoint/2010/main" val="2992714331"/>
              </p:ext>
            </p:extLst>
          </p:nvPr>
        </p:nvGraphicFramePr>
        <p:xfrm>
          <a:off x="404813" y="1190625"/>
          <a:ext cx="8423275" cy="5578247"/>
        </p:xfrm>
        <a:graphic>
          <a:graphicData uri="http://schemas.openxmlformats.org/drawingml/2006/table">
            <a:tbl>
              <a:tblPr/>
              <a:tblGrid>
                <a:gridCol w="2917825">
                  <a:extLst>
                    <a:ext uri="{9D8B030D-6E8A-4147-A177-3AD203B41FA5}">
                      <a16:colId xmlns:a16="http://schemas.microsoft.com/office/drawing/2014/main" val="20000"/>
                    </a:ext>
                  </a:extLst>
                </a:gridCol>
                <a:gridCol w="5505450">
                  <a:extLst>
                    <a:ext uri="{9D8B030D-6E8A-4147-A177-3AD203B41FA5}">
                      <a16:colId xmlns:a16="http://schemas.microsoft.com/office/drawing/2014/main" val="20001"/>
                    </a:ext>
                  </a:extLst>
                </a:gridCol>
              </a:tblGrid>
              <a:tr h="366167">
                <a:tc>
                  <a:txBody>
                    <a:bodyPr/>
                    <a:lstStyle/>
                    <a:p>
                      <a:pPr marL="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Test Technique Category</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A1DE"/>
                    </a:solidFill>
                  </a:tcPr>
                </a:tc>
                <a:tc>
                  <a:txBody>
                    <a:bodyPr/>
                    <a:lstStyle/>
                    <a:p>
                      <a:pPr marL="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Common features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A1DE"/>
                    </a:solidFill>
                  </a:tcPr>
                </a:tc>
                <a:extLst>
                  <a:ext uri="{0D108BD9-81ED-4DB2-BD59-A6C34878D82A}">
                    <a16:rowId xmlns:a16="http://schemas.microsoft.com/office/drawing/2014/main" val="10000"/>
                  </a:ext>
                </a:extLst>
              </a:tr>
              <a:tr h="1268735">
                <a:tc>
                  <a:txBody>
                    <a:bodyPr/>
                    <a:lstStyle/>
                    <a:p>
                      <a:pPr marL="9525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Specification based</a:t>
                      </a:r>
                    </a:p>
                    <a:p>
                      <a:pPr marL="9525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Black-Box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lvl="0" indent="0" algn="l" defTabSz="914400" rtl="0" eaLnBrk="1" fontAlgn="base" latinLnBrk="0" hangingPunct="1">
                        <a:lnSpc>
                          <a:spcPct val="100000"/>
                        </a:lnSpc>
                        <a:spcBef>
                          <a:spcPct val="0"/>
                        </a:spcBef>
                        <a:spcAft>
                          <a:spcPts val="275"/>
                        </a:spcAft>
                        <a:buClrTx/>
                        <a:buSzTx/>
                        <a:buFont typeface="Times New Roman" pitchFamily="18" charset="0"/>
                        <a:buNone/>
                        <a:tabLst/>
                      </a:pPr>
                      <a:r>
                        <a:rPr kumimoji="0" lang="en-US" sz="1800" b="1" i="0" u="none" strike="noStrike" cap="none" normalizeH="0" baseline="0" dirty="0">
                          <a:ln>
                            <a:noFill/>
                          </a:ln>
                          <a:solidFill>
                            <a:schemeClr val="tx1"/>
                          </a:solidFill>
                          <a:effectLst/>
                          <a:latin typeface="Arial" charset="0"/>
                        </a:rPr>
                        <a:t>Deriving test cases directly from a specification or model of a system/proposed system. </a:t>
                      </a:r>
                      <a:r>
                        <a:rPr kumimoji="0" lang="en-GB" sz="1800" b="0" i="0" u="none" strike="noStrike" cap="none" normalizeH="0" baseline="0" dirty="0">
                          <a:ln>
                            <a:noFill/>
                          </a:ln>
                          <a:solidFill>
                            <a:schemeClr val="tx1"/>
                          </a:solidFill>
                          <a:effectLst/>
                          <a:latin typeface="Arial" charset="0"/>
                        </a:rPr>
                        <a:t>Models, either formal or informal, are used for the specification of the problem to be solved, the software or its components. Test cases can then be derived systematically.</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716088">
                <a:tc>
                  <a:txBody>
                    <a:bodyPr/>
                    <a:lstStyle/>
                    <a:p>
                      <a:pPr marL="9525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Structure based</a:t>
                      </a:r>
                    </a:p>
                    <a:p>
                      <a:pPr marL="9525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White-box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lvl="0" indent="0" algn="l" defTabSz="914400" rtl="0" eaLnBrk="1" fontAlgn="base" latinLnBrk="0" hangingPunct="1">
                        <a:lnSpc>
                          <a:spcPct val="100000"/>
                        </a:lnSpc>
                        <a:spcBef>
                          <a:spcPct val="0"/>
                        </a:spcBef>
                        <a:spcAft>
                          <a:spcPts val="275"/>
                        </a:spcAft>
                        <a:buClrTx/>
                        <a:buSzTx/>
                        <a:buFont typeface="Times New Roman" pitchFamily="18" charset="0"/>
                        <a:buNone/>
                        <a:tabLst/>
                      </a:pPr>
                      <a:r>
                        <a:rPr kumimoji="0" lang="en-US" sz="1800" b="1" i="0" u="none" strike="noStrike" cap="none" normalizeH="0" baseline="0" dirty="0">
                          <a:ln>
                            <a:noFill/>
                          </a:ln>
                          <a:solidFill>
                            <a:schemeClr val="tx1"/>
                          </a:solidFill>
                          <a:effectLst/>
                          <a:latin typeface="Arial" charset="0"/>
                        </a:rPr>
                        <a:t>Deriving test cases directly from the code written (or design) to implement a system</a:t>
                      </a:r>
                      <a:r>
                        <a:rPr kumimoji="0" lang="en-US" sz="1800" b="0" i="0" u="none" strike="noStrike" cap="none" normalizeH="0" baseline="0" dirty="0">
                          <a:ln>
                            <a:noFill/>
                          </a:ln>
                          <a:solidFill>
                            <a:schemeClr val="tx1"/>
                          </a:solidFill>
                          <a:effectLst/>
                          <a:latin typeface="Arial" charset="0"/>
                        </a:rPr>
                        <a:t>. </a:t>
                      </a:r>
                      <a:r>
                        <a:rPr kumimoji="0" lang="en-GB" sz="1800" b="0" i="0" u="none" strike="noStrike" cap="none" normalizeH="0" baseline="0" dirty="0">
                          <a:ln>
                            <a:noFill/>
                          </a:ln>
                          <a:solidFill>
                            <a:schemeClr val="tx1"/>
                          </a:solidFill>
                          <a:effectLst/>
                          <a:latin typeface="Arial" charset="0"/>
                        </a:rPr>
                        <a:t>Information about how the software is constructed is used to derive test cases. The extent of coverage of the software can be measured for existing test cases, and further test cases can be derived systematically to increase coverage.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428750">
                <a:tc>
                  <a:txBody>
                    <a:bodyPr/>
                    <a:lstStyle/>
                    <a:p>
                      <a:pPr marL="0" marR="0" lvl="0" indent="0" algn="ctr" defTabSz="914400" rtl="0" eaLnBrk="1" fontAlgn="base" latinLnBrk="0" hangingPunct="1">
                        <a:lnSpc>
                          <a:spcPct val="100000"/>
                        </a:lnSpc>
                        <a:spcBef>
                          <a:spcPct val="0"/>
                        </a:spcBef>
                        <a:spcAft>
                          <a:spcPts val="275"/>
                        </a:spcAft>
                        <a:buClrTx/>
                        <a:buSzTx/>
                        <a:buFont typeface="Times New Roman" pitchFamily="18" charset="0"/>
                        <a:buNone/>
                        <a:tabLst/>
                      </a:pPr>
                      <a:r>
                        <a:rPr kumimoji="0" lang="en-GB" sz="1800" b="1" i="0" u="none" strike="noStrike" cap="none" normalizeH="0" baseline="0" dirty="0">
                          <a:ln>
                            <a:noFill/>
                          </a:ln>
                          <a:solidFill>
                            <a:schemeClr val="tx1"/>
                          </a:solidFill>
                          <a:effectLst/>
                          <a:latin typeface="Arial" charset="0"/>
                        </a:rPr>
                        <a:t>Experience based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lvl="0" indent="0" algn="l" defTabSz="914400" rtl="0" eaLnBrk="1" fontAlgn="base" latinLnBrk="0" hangingPunct="1">
                        <a:lnSpc>
                          <a:spcPct val="100000"/>
                        </a:lnSpc>
                        <a:spcBef>
                          <a:spcPct val="0"/>
                        </a:spcBef>
                        <a:spcAft>
                          <a:spcPts val="275"/>
                        </a:spcAft>
                        <a:buClrTx/>
                        <a:buSzTx/>
                        <a:buFont typeface="Times New Roman" pitchFamily="18" charset="0"/>
                        <a:buNone/>
                        <a:tabLst/>
                      </a:pPr>
                      <a:r>
                        <a:rPr kumimoji="0" lang="en-US" sz="1800" b="1" i="0" u="none" strike="noStrike" cap="none" normalizeH="0" baseline="0" dirty="0">
                          <a:ln>
                            <a:noFill/>
                          </a:ln>
                          <a:solidFill>
                            <a:schemeClr val="tx1"/>
                          </a:solidFill>
                          <a:effectLst/>
                          <a:latin typeface="Arial" charset="0"/>
                        </a:rPr>
                        <a:t>Deriving test cases from the tester’s experience of similar systems and general experiences of testing. </a:t>
                      </a:r>
                      <a:r>
                        <a:rPr kumimoji="0" lang="en-GB" sz="1800" b="0" i="0" u="none" strike="noStrike" cap="none" normalizeH="0" baseline="0" dirty="0">
                          <a:ln>
                            <a:noFill/>
                          </a:ln>
                          <a:solidFill>
                            <a:schemeClr val="tx1"/>
                          </a:solidFill>
                          <a:effectLst/>
                          <a:latin typeface="Arial" charset="0"/>
                        </a:rPr>
                        <a:t>Knowledge of testers, developers, users and other stakeholders about the software, its usage and its environment. They will have knowledge about likely defects and their distribution.</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10089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4" name="Rectangle 2"/>
          <p:cNvSpPr>
            <a:spLocks noGrp="1" noChangeArrowheads="1"/>
          </p:cNvSpPr>
          <p:nvPr>
            <p:ph type="title"/>
          </p:nvPr>
        </p:nvSpPr>
        <p:spPr/>
        <p:txBody>
          <a:bodyPr/>
          <a:lstStyle/>
          <a:p>
            <a:r>
              <a:rPr lang="en-GB"/>
              <a:t>Specification based or black box techniques</a:t>
            </a:r>
            <a:endParaRPr lang="en-GB" dirty="0"/>
          </a:p>
        </p:txBody>
      </p:sp>
      <p:sp>
        <p:nvSpPr>
          <p:cNvPr id="913413" name="Rectangle 3"/>
          <p:cNvSpPr>
            <a:spLocks noGrp="1" noChangeArrowheads="1"/>
          </p:cNvSpPr>
          <p:nvPr>
            <p:ph idx="1"/>
          </p:nvPr>
        </p:nvSpPr>
        <p:spPr/>
        <p:txBody>
          <a:bodyPr/>
          <a:lstStyle/>
          <a:p>
            <a:pPr marL="800100" lvl="1" indent="-342900">
              <a:buFont typeface="Arial" panose="020B0604020202020204" pitchFamily="34" charset="0"/>
              <a:buChar char="•"/>
            </a:pPr>
            <a:r>
              <a:rPr lang="en-GB" dirty="0"/>
              <a:t>Equivalence partitioning.</a:t>
            </a:r>
          </a:p>
          <a:p>
            <a:pPr marL="800100" lvl="1" indent="-342900">
              <a:buFont typeface="Arial" panose="020B0604020202020204" pitchFamily="34" charset="0"/>
              <a:buChar char="•"/>
            </a:pPr>
            <a:r>
              <a:rPr lang="en-GB" dirty="0"/>
              <a:t>Boundary value analysis.</a:t>
            </a:r>
          </a:p>
          <a:p>
            <a:pPr marL="800100" lvl="1" indent="-342900">
              <a:buFont typeface="Arial" panose="020B0604020202020204" pitchFamily="34" charset="0"/>
              <a:buChar char="•"/>
            </a:pPr>
            <a:r>
              <a:rPr lang="en-GB" dirty="0"/>
              <a:t>Decision table testing.</a:t>
            </a:r>
          </a:p>
          <a:p>
            <a:pPr marL="800100" lvl="1" indent="-342900">
              <a:buFont typeface="Arial" panose="020B0604020202020204" pitchFamily="34" charset="0"/>
              <a:buChar char="•"/>
            </a:pPr>
            <a:r>
              <a:rPr lang="en-GB" dirty="0"/>
              <a:t>State transition testing.</a:t>
            </a:r>
          </a:p>
          <a:p>
            <a:pPr marL="800100" lvl="1" indent="-342900">
              <a:buFont typeface="Arial" panose="020B0604020202020204" pitchFamily="34" charset="0"/>
              <a:buChar char="•"/>
            </a:pPr>
            <a:r>
              <a:rPr lang="en-GB" dirty="0"/>
              <a:t>Use case testing</a:t>
            </a:r>
            <a:r>
              <a:rPr lang="en-GB" dirty="0" smtClean="0"/>
              <a:t>.</a:t>
            </a:r>
          </a:p>
          <a:p>
            <a:pPr marL="800100" lvl="1" indent="-342900">
              <a:buFont typeface="Arial" panose="020B0604020202020204" pitchFamily="34" charset="0"/>
              <a:buChar char="•"/>
            </a:pPr>
            <a:endParaRPr lang="en-GB" dirty="0"/>
          </a:p>
          <a:p>
            <a:pPr marL="800100" lvl="1" indent="-342900">
              <a:buFont typeface="Arial" panose="020B0604020202020204" pitchFamily="34" charset="0"/>
              <a:buChar char="•"/>
            </a:pPr>
            <a:r>
              <a:rPr lang="en-GB" dirty="0" smtClean="0"/>
              <a:t>ISO/IEC/IEEE 29119-4:2015 </a:t>
            </a:r>
            <a:r>
              <a:rPr lang="en-IE" dirty="0" smtClean="0"/>
              <a:t>Software </a:t>
            </a:r>
            <a:r>
              <a:rPr lang="en-IE" dirty="0"/>
              <a:t>and systems engineering — Software testing — Part 4: Test techniques</a:t>
            </a:r>
            <a:endParaRPr lang="en-GB" dirty="0"/>
          </a:p>
        </p:txBody>
      </p:sp>
      <p:sp>
        <p:nvSpPr>
          <p:cNvPr id="911361" name="Slide Number Placeholder 1"/>
          <p:cNvSpPr>
            <a:spLocks noGrp="1"/>
          </p:cNvSpPr>
          <p:nvPr>
            <p:ph type="sldNum" sz="quarter" idx="4294967295"/>
          </p:nvPr>
        </p:nvSpPr>
        <p:spPr>
          <a:xfrm>
            <a:off x="6553200" y="6524625"/>
            <a:ext cx="2133600" cy="196850"/>
          </a:xfrm>
          <a:prstGeom prst="rect">
            <a:avLst/>
          </a:prstGeom>
        </p:spPr>
        <p:txBody>
          <a:bodyPr/>
          <a:lstStyle/>
          <a:p>
            <a:fld id="{C98D57A0-4F55-41F4-8459-F42CB0456EB6}" type="slidenum">
              <a:rPr lang="en-GB" smtClean="0"/>
              <a:pPr/>
              <a:t>5</a:t>
            </a:fld>
            <a:endParaRPr lang="en-GB"/>
          </a:p>
        </p:txBody>
      </p:sp>
    </p:spTree>
    <p:extLst>
      <p:ext uri="{BB962C8B-B14F-4D97-AF65-F5344CB8AC3E}">
        <p14:creationId xmlns:p14="http://schemas.microsoft.com/office/powerpoint/2010/main" val="78197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913413">
                                            <p:txEl>
                                              <p:pRg st="0" end="0"/>
                                            </p:txEl>
                                          </p:spTgt>
                                        </p:tgtEl>
                                        <p:attrNameLst>
                                          <p:attrName>style.visibility</p:attrName>
                                        </p:attrNameLst>
                                      </p:cBhvr>
                                      <p:to>
                                        <p:strVal val="visible"/>
                                      </p:to>
                                    </p:set>
                                    <p:anim calcmode="lin" valueType="num">
                                      <p:cBhvr>
                                        <p:cTn id="7" dur="500" fill="hold"/>
                                        <p:tgtEl>
                                          <p:spTgt spid="913413">
                                            <p:txEl>
                                              <p:pRg st="0" end="0"/>
                                            </p:txEl>
                                          </p:spTgt>
                                        </p:tgtEl>
                                        <p:attrNameLst>
                                          <p:attrName>ppt_w</p:attrName>
                                        </p:attrNameLst>
                                      </p:cBhvr>
                                      <p:tavLst>
                                        <p:tav tm="0">
                                          <p:val>
                                            <p:strVal val="#ppt_w*0.70"/>
                                          </p:val>
                                        </p:tav>
                                        <p:tav tm="100000">
                                          <p:val>
                                            <p:strVal val="#ppt_w"/>
                                          </p:val>
                                        </p:tav>
                                      </p:tavLst>
                                    </p:anim>
                                    <p:anim calcmode="lin" valueType="num">
                                      <p:cBhvr>
                                        <p:cTn id="8" dur="500" fill="hold"/>
                                        <p:tgtEl>
                                          <p:spTgt spid="913413">
                                            <p:txEl>
                                              <p:pRg st="0" end="0"/>
                                            </p:txEl>
                                          </p:spTgt>
                                        </p:tgtEl>
                                        <p:attrNameLst>
                                          <p:attrName>ppt_h</p:attrName>
                                        </p:attrNameLst>
                                      </p:cBhvr>
                                      <p:tavLst>
                                        <p:tav tm="0">
                                          <p:val>
                                            <p:strVal val="#ppt_h"/>
                                          </p:val>
                                        </p:tav>
                                        <p:tav tm="100000">
                                          <p:val>
                                            <p:strVal val="#ppt_h"/>
                                          </p:val>
                                        </p:tav>
                                      </p:tavLst>
                                    </p:anim>
                                    <p:animEffect transition="in" filter="fade">
                                      <p:cBhvr>
                                        <p:cTn id="9" dur="500"/>
                                        <p:tgtEl>
                                          <p:spTgt spid="913413">
                                            <p:txEl>
                                              <p:pRg st="0" end="0"/>
                                            </p:txEl>
                                          </p:spTgt>
                                        </p:tgtEl>
                                      </p:cBhvr>
                                    </p:animEffect>
                                  </p:childTnLst>
                                </p:cTn>
                              </p:par>
                            </p:childTnLst>
                          </p:cTn>
                        </p:par>
                        <p:par>
                          <p:cTn id="10" fill="hold">
                            <p:stCondLst>
                              <p:cond delay="500"/>
                            </p:stCondLst>
                            <p:childTnLst>
                              <p:par>
                                <p:cTn id="11" presetID="55" presetClass="entr" presetSubtype="0" fill="hold" grpId="0" nodeType="afterEffect">
                                  <p:stCondLst>
                                    <p:cond delay="0"/>
                                  </p:stCondLst>
                                  <p:childTnLst>
                                    <p:set>
                                      <p:cBhvr>
                                        <p:cTn id="12" dur="1" fill="hold">
                                          <p:stCondLst>
                                            <p:cond delay="0"/>
                                          </p:stCondLst>
                                        </p:cTn>
                                        <p:tgtEl>
                                          <p:spTgt spid="913413">
                                            <p:txEl>
                                              <p:pRg st="1" end="1"/>
                                            </p:txEl>
                                          </p:spTgt>
                                        </p:tgtEl>
                                        <p:attrNameLst>
                                          <p:attrName>style.visibility</p:attrName>
                                        </p:attrNameLst>
                                      </p:cBhvr>
                                      <p:to>
                                        <p:strVal val="visible"/>
                                      </p:to>
                                    </p:set>
                                    <p:anim calcmode="lin" valueType="num">
                                      <p:cBhvr>
                                        <p:cTn id="13" dur="500" fill="hold"/>
                                        <p:tgtEl>
                                          <p:spTgt spid="913413">
                                            <p:txEl>
                                              <p:pRg st="1" end="1"/>
                                            </p:txEl>
                                          </p:spTgt>
                                        </p:tgtEl>
                                        <p:attrNameLst>
                                          <p:attrName>ppt_w</p:attrName>
                                        </p:attrNameLst>
                                      </p:cBhvr>
                                      <p:tavLst>
                                        <p:tav tm="0">
                                          <p:val>
                                            <p:strVal val="#ppt_w*0.70"/>
                                          </p:val>
                                        </p:tav>
                                        <p:tav tm="100000">
                                          <p:val>
                                            <p:strVal val="#ppt_w"/>
                                          </p:val>
                                        </p:tav>
                                      </p:tavLst>
                                    </p:anim>
                                    <p:anim calcmode="lin" valueType="num">
                                      <p:cBhvr>
                                        <p:cTn id="14" dur="500" fill="hold"/>
                                        <p:tgtEl>
                                          <p:spTgt spid="913413">
                                            <p:txEl>
                                              <p:pRg st="1" end="1"/>
                                            </p:txEl>
                                          </p:spTgt>
                                        </p:tgtEl>
                                        <p:attrNameLst>
                                          <p:attrName>ppt_h</p:attrName>
                                        </p:attrNameLst>
                                      </p:cBhvr>
                                      <p:tavLst>
                                        <p:tav tm="0">
                                          <p:val>
                                            <p:strVal val="#ppt_h"/>
                                          </p:val>
                                        </p:tav>
                                        <p:tav tm="100000">
                                          <p:val>
                                            <p:strVal val="#ppt_h"/>
                                          </p:val>
                                        </p:tav>
                                      </p:tavLst>
                                    </p:anim>
                                    <p:animEffect transition="in" filter="fade">
                                      <p:cBhvr>
                                        <p:cTn id="15" dur="500"/>
                                        <p:tgtEl>
                                          <p:spTgt spid="913413">
                                            <p:txEl>
                                              <p:pRg st="1" end="1"/>
                                            </p:txEl>
                                          </p:spTgt>
                                        </p:tgtEl>
                                      </p:cBhvr>
                                    </p:animEffect>
                                  </p:childTnLst>
                                </p:cTn>
                              </p:par>
                            </p:childTnLst>
                          </p:cTn>
                        </p:par>
                        <p:par>
                          <p:cTn id="16" fill="hold">
                            <p:stCondLst>
                              <p:cond delay="1000"/>
                            </p:stCondLst>
                            <p:childTnLst>
                              <p:par>
                                <p:cTn id="17" presetID="55" presetClass="entr" presetSubtype="0" fill="hold" grpId="0" nodeType="afterEffect">
                                  <p:stCondLst>
                                    <p:cond delay="0"/>
                                  </p:stCondLst>
                                  <p:childTnLst>
                                    <p:set>
                                      <p:cBhvr>
                                        <p:cTn id="18" dur="1" fill="hold">
                                          <p:stCondLst>
                                            <p:cond delay="0"/>
                                          </p:stCondLst>
                                        </p:cTn>
                                        <p:tgtEl>
                                          <p:spTgt spid="913413">
                                            <p:txEl>
                                              <p:pRg st="2" end="2"/>
                                            </p:txEl>
                                          </p:spTgt>
                                        </p:tgtEl>
                                        <p:attrNameLst>
                                          <p:attrName>style.visibility</p:attrName>
                                        </p:attrNameLst>
                                      </p:cBhvr>
                                      <p:to>
                                        <p:strVal val="visible"/>
                                      </p:to>
                                    </p:set>
                                    <p:anim calcmode="lin" valueType="num">
                                      <p:cBhvr>
                                        <p:cTn id="19" dur="500" fill="hold"/>
                                        <p:tgtEl>
                                          <p:spTgt spid="913413">
                                            <p:txEl>
                                              <p:pRg st="2" end="2"/>
                                            </p:txEl>
                                          </p:spTgt>
                                        </p:tgtEl>
                                        <p:attrNameLst>
                                          <p:attrName>ppt_w</p:attrName>
                                        </p:attrNameLst>
                                      </p:cBhvr>
                                      <p:tavLst>
                                        <p:tav tm="0">
                                          <p:val>
                                            <p:strVal val="#ppt_w*0.70"/>
                                          </p:val>
                                        </p:tav>
                                        <p:tav tm="100000">
                                          <p:val>
                                            <p:strVal val="#ppt_w"/>
                                          </p:val>
                                        </p:tav>
                                      </p:tavLst>
                                    </p:anim>
                                    <p:anim calcmode="lin" valueType="num">
                                      <p:cBhvr>
                                        <p:cTn id="20" dur="500" fill="hold"/>
                                        <p:tgtEl>
                                          <p:spTgt spid="913413">
                                            <p:txEl>
                                              <p:pRg st="2" end="2"/>
                                            </p:txEl>
                                          </p:spTgt>
                                        </p:tgtEl>
                                        <p:attrNameLst>
                                          <p:attrName>ppt_h</p:attrName>
                                        </p:attrNameLst>
                                      </p:cBhvr>
                                      <p:tavLst>
                                        <p:tav tm="0">
                                          <p:val>
                                            <p:strVal val="#ppt_h"/>
                                          </p:val>
                                        </p:tav>
                                        <p:tav tm="100000">
                                          <p:val>
                                            <p:strVal val="#ppt_h"/>
                                          </p:val>
                                        </p:tav>
                                      </p:tavLst>
                                    </p:anim>
                                    <p:animEffect transition="in" filter="fade">
                                      <p:cBhvr>
                                        <p:cTn id="21" dur="500"/>
                                        <p:tgtEl>
                                          <p:spTgt spid="913413">
                                            <p:txEl>
                                              <p:pRg st="2" end="2"/>
                                            </p:txEl>
                                          </p:spTgt>
                                        </p:tgtEl>
                                      </p:cBhvr>
                                    </p:animEffect>
                                  </p:childTnLst>
                                </p:cTn>
                              </p:par>
                            </p:childTnLst>
                          </p:cTn>
                        </p:par>
                        <p:par>
                          <p:cTn id="22" fill="hold">
                            <p:stCondLst>
                              <p:cond delay="1500"/>
                            </p:stCondLst>
                            <p:childTnLst>
                              <p:par>
                                <p:cTn id="23" presetID="55" presetClass="entr" presetSubtype="0" fill="hold" grpId="0" nodeType="afterEffect">
                                  <p:stCondLst>
                                    <p:cond delay="0"/>
                                  </p:stCondLst>
                                  <p:childTnLst>
                                    <p:set>
                                      <p:cBhvr>
                                        <p:cTn id="24" dur="1" fill="hold">
                                          <p:stCondLst>
                                            <p:cond delay="0"/>
                                          </p:stCondLst>
                                        </p:cTn>
                                        <p:tgtEl>
                                          <p:spTgt spid="913413">
                                            <p:txEl>
                                              <p:pRg st="3" end="3"/>
                                            </p:txEl>
                                          </p:spTgt>
                                        </p:tgtEl>
                                        <p:attrNameLst>
                                          <p:attrName>style.visibility</p:attrName>
                                        </p:attrNameLst>
                                      </p:cBhvr>
                                      <p:to>
                                        <p:strVal val="visible"/>
                                      </p:to>
                                    </p:set>
                                    <p:anim calcmode="lin" valueType="num">
                                      <p:cBhvr>
                                        <p:cTn id="25" dur="500" fill="hold"/>
                                        <p:tgtEl>
                                          <p:spTgt spid="913413">
                                            <p:txEl>
                                              <p:pRg st="3" end="3"/>
                                            </p:txEl>
                                          </p:spTgt>
                                        </p:tgtEl>
                                        <p:attrNameLst>
                                          <p:attrName>ppt_w</p:attrName>
                                        </p:attrNameLst>
                                      </p:cBhvr>
                                      <p:tavLst>
                                        <p:tav tm="0">
                                          <p:val>
                                            <p:strVal val="#ppt_w*0.70"/>
                                          </p:val>
                                        </p:tav>
                                        <p:tav tm="100000">
                                          <p:val>
                                            <p:strVal val="#ppt_w"/>
                                          </p:val>
                                        </p:tav>
                                      </p:tavLst>
                                    </p:anim>
                                    <p:anim calcmode="lin" valueType="num">
                                      <p:cBhvr>
                                        <p:cTn id="26" dur="500" fill="hold"/>
                                        <p:tgtEl>
                                          <p:spTgt spid="913413">
                                            <p:txEl>
                                              <p:pRg st="3" end="3"/>
                                            </p:txEl>
                                          </p:spTgt>
                                        </p:tgtEl>
                                        <p:attrNameLst>
                                          <p:attrName>ppt_h</p:attrName>
                                        </p:attrNameLst>
                                      </p:cBhvr>
                                      <p:tavLst>
                                        <p:tav tm="0">
                                          <p:val>
                                            <p:strVal val="#ppt_h"/>
                                          </p:val>
                                        </p:tav>
                                        <p:tav tm="100000">
                                          <p:val>
                                            <p:strVal val="#ppt_h"/>
                                          </p:val>
                                        </p:tav>
                                      </p:tavLst>
                                    </p:anim>
                                    <p:animEffect transition="in" filter="fade">
                                      <p:cBhvr>
                                        <p:cTn id="27" dur="500"/>
                                        <p:tgtEl>
                                          <p:spTgt spid="913413">
                                            <p:txEl>
                                              <p:pRg st="3" end="3"/>
                                            </p:txEl>
                                          </p:spTgt>
                                        </p:tgtEl>
                                      </p:cBhvr>
                                    </p:animEffect>
                                  </p:childTnLst>
                                </p:cTn>
                              </p:par>
                            </p:childTnLst>
                          </p:cTn>
                        </p:par>
                        <p:par>
                          <p:cTn id="28" fill="hold">
                            <p:stCondLst>
                              <p:cond delay="2000"/>
                            </p:stCondLst>
                            <p:childTnLst>
                              <p:par>
                                <p:cTn id="29" presetID="55" presetClass="entr" presetSubtype="0" fill="hold" grpId="0" nodeType="afterEffect">
                                  <p:stCondLst>
                                    <p:cond delay="0"/>
                                  </p:stCondLst>
                                  <p:childTnLst>
                                    <p:set>
                                      <p:cBhvr>
                                        <p:cTn id="30" dur="1" fill="hold">
                                          <p:stCondLst>
                                            <p:cond delay="0"/>
                                          </p:stCondLst>
                                        </p:cTn>
                                        <p:tgtEl>
                                          <p:spTgt spid="913413">
                                            <p:txEl>
                                              <p:pRg st="4" end="4"/>
                                            </p:txEl>
                                          </p:spTgt>
                                        </p:tgtEl>
                                        <p:attrNameLst>
                                          <p:attrName>style.visibility</p:attrName>
                                        </p:attrNameLst>
                                      </p:cBhvr>
                                      <p:to>
                                        <p:strVal val="visible"/>
                                      </p:to>
                                    </p:set>
                                    <p:anim calcmode="lin" valueType="num">
                                      <p:cBhvr>
                                        <p:cTn id="31" dur="500" fill="hold"/>
                                        <p:tgtEl>
                                          <p:spTgt spid="913413">
                                            <p:txEl>
                                              <p:pRg st="4" end="4"/>
                                            </p:txEl>
                                          </p:spTgt>
                                        </p:tgtEl>
                                        <p:attrNameLst>
                                          <p:attrName>ppt_w</p:attrName>
                                        </p:attrNameLst>
                                      </p:cBhvr>
                                      <p:tavLst>
                                        <p:tav tm="0">
                                          <p:val>
                                            <p:strVal val="#ppt_w*0.70"/>
                                          </p:val>
                                        </p:tav>
                                        <p:tav tm="100000">
                                          <p:val>
                                            <p:strVal val="#ppt_w"/>
                                          </p:val>
                                        </p:tav>
                                      </p:tavLst>
                                    </p:anim>
                                    <p:anim calcmode="lin" valueType="num">
                                      <p:cBhvr>
                                        <p:cTn id="32" dur="500" fill="hold"/>
                                        <p:tgtEl>
                                          <p:spTgt spid="913413">
                                            <p:txEl>
                                              <p:pRg st="4" end="4"/>
                                            </p:txEl>
                                          </p:spTgt>
                                        </p:tgtEl>
                                        <p:attrNameLst>
                                          <p:attrName>ppt_h</p:attrName>
                                        </p:attrNameLst>
                                      </p:cBhvr>
                                      <p:tavLst>
                                        <p:tav tm="0">
                                          <p:val>
                                            <p:strVal val="#ppt_h"/>
                                          </p:val>
                                        </p:tav>
                                        <p:tav tm="100000">
                                          <p:val>
                                            <p:strVal val="#ppt_h"/>
                                          </p:val>
                                        </p:tav>
                                      </p:tavLst>
                                    </p:anim>
                                    <p:animEffect transition="in" filter="fade">
                                      <p:cBhvr>
                                        <p:cTn id="33" dur="500"/>
                                        <p:tgtEl>
                                          <p:spTgt spid="9134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ctrTitle"/>
          </p:nvPr>
        </p:nvSpPr>
        <p:spPr/>
        <p:txBody>
          <a:bodyPr/>
          <a:lstStyle/>
          <a:p>
            <a:r>
              <a:rPr lang="en-US"/>
              <a:t>Equivalence Partitioning</a:t>
            </a:r>
          </a:p>
        </p:txBody>
      </p:sp>
    </p:spTree>
    <p:extLst>
      <p:ext uri="{BB962C8B-B14F-4D97-AF65-F5344CB8AC3E}">
        <p14:creationId xmlns:p14="http://schemas.microsoft.com/office/powerpoint/2010/main" val="33141266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Equivalence partitioning </a:t>
            </a:r>
          </a:p>
        </p:txBody>
      </p:sp>
      <p:sp>
        <p:nvSpPr>
          <p:cNvPr id="3" name="Content Placeholder 2"/>
          <p:cNvSpPr>
            <a:spLocks noGrp="1"/>
          </p:cNvSpPr>
          <p:nvPr>
            <p:ph idx="1"/>
          </p:nvPr>
        </p:nvSpPr>
        <p:spPr/>
        <p:txBody>
          <a:bodyPr/>
          <a:lstStyle/>
          <a:p>
            <a:r>
              <a:rPr lang="en-US" sz="2000" dirty="0"/>
              <a:t>Can be applied at all test levels.</a:t>
            </a:r>
          </a:p>
          <a:p>
            <a:r>
              <a:rPr lang="en-US" sz="2000" dirty="0"/>
              <a:t>Is usually recommended as one of the first test techniques to use.</a:t>
            </a:r>
          </a:p>
          <a:p>
            <a:r>
              <a:rPr lang="en-US" sz="2000" dirty="0"/>
              <a:t>Is based on </a:t>
            </a:r>
            <a:r>
              <a:rPr lang="en-US" sz="2000" b="1" dirty="0"/>
              <a:t>dividing a set of test conditions into groups </a:t>
            </a:r>
            <a:r>
              <a:rPr lang="en-US" sz="2000" dirty="0"/>
              <a:t>that can be considered the same, that is, the </a:t>
            </a:r>
            <a:r>
              <a:rPr lang="en-US" sz="2000" b="1" dirty="0"/>
              <a:t>system will treat them equivalently</a:t>
            </a:r>
            <a:r>
              <a:rPr lang="en-US" sz="2000" dirty="0"/>
              <a:t>. </a:t>
            </a:r>
          </a:p>
          <a:p>
            <a:r>
              <a:rPr lang="en-US" sz="2000" dirty="0"/>
              <a:t>When we have our partitions, we can choose one condition from the partition to test as </a:t>
            </a:r>
            <a:r>
              <a:rPr lang="en-US" sz="2000" b="1" dirty="0"/>
              <a:t>we assume that all the conditions in the partition will work the same</a:t>
            </a:r>
            <a:r>
              <a:rPr lang="en-US" sz="2000" dirty="0"/>
              <a:t>.</a:t>
            </a:r>
          </a:p>
          <a:p>
            <a:r>
              <a:rPr lang="en-US" sz="2000" dirty="0"/>
              <a:t>The result of testing a single value from an equivalence partition is </a:t>
            </a:r>
            <a:r>
              <a:rPr lang="en-US" sz="2000" b="1" dirty="0"/>
              <a:t>considered </a:t>
            </a:r>
            <a:r>
              <a:rPr lang="en-US" sz="2000" b="1" u="sng" dirty="0"/>
              <a:t>representative</a:t>
            </a:r>
            <a:r>
              <a:rPr lang="en-US" sz="2000" b="1" dirty="0"/>
              <a:t> of the complete partition</a:t>
            </a:r>
            <a:r>
              <a:rPr lang="en-US" sz="2000" dirty="0"/>
              <a:t>.</a:t>
            </a:r>
          </a:p>
          <a:p>
            <a:r>
              <a:rPr lang="en-US" sz="2000" dirty="0"/>
              <a:t>This is a very simplified assumption and it is usually advisable to test more than one condition from a particular partition. </a:t>
            </a:r>
          </a:p>
        </p:txBody>
      </p:sp>
    </p:spTree>
    <p:extLst>
      <p:ext uri="{BB962C8B-B14F-4D97-AF65-F5344CB8AC3E}">
        <p14:creationId xmlns:p14="http://schemas.microsoft.com/office/powerpoint/2010/main" val="32283554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a:noFill/>
          <a:ln/>
          <a:extLst>
            <a:ext uri="{91240B29-F687-4f45-9708-019B960494DF}">
              <a14:hiddenLine xmlns:a14="http://schemas.microsoft.com/office/drawing/2010/main" xmlns="" w="12700">
                <a:solidFill>
                  <a:schemeClr val="tx1"/>
                </a:solidFill>
                <a:miter lim="800000"/>
                <a:headEnd/>
                <a:tailEnd/>
              </a14:hiddenLine>
            </a:ext>
          </a:extLst>
        </p:spPr>
        <p:txBody>
          <a:bodyPr lIns="90841" tIns="44623" rIns="90841" bIns="44623" anchor="b"/>
          <a:lstStyle/>
          <a:p>
            <a:r>
              <a:rPr lang="en-US"/>
              <a:t>Equivalence Partitioning</a:t>
            </a:r>
          </a:p>
        </p:txBody>
      </p:sp>
      <p:sp>
        <p:nvSpPr>
          <p:cNvPr id="517124" name="Rectangle 4"/>
          <p:cNvSpPr>
            <a:spLocks noGrp="1" noChangeArrowheads="1"/>
          </p:cNvSpPr>
          <p:nvPr>
            <p:ph type="body" sz="half" idx="1"/>
          </p:nvPr>
        </p:nvSpPr>
        <p:spPr>
          <a:noFill/>
          <a:ln/>
        </p:spPr>
        <p:txBody>
          <a:bodyPr/>
          <a:lstStyle/>
          <a:p>
            <a:pPr marL="0" indent="0">
              <a:lnSpc>
                <a:spcPct val="90000"/>
              </a:lnSpc>
            </a:pPr>
            <a:r>
              <a:rPr lang="en-US" sz="2400" dirty="0"/>
              <a:t>Equivalence partitioning is the process of methodically reducing the large (or perhaps infinite) set of possible test cases into a </a:t>
            </a:r>
            <a:r>
              <a:rPr lang="en-US" sz="2400" dirty="0">
                <a:solidFill>
                  <a:srgbClr val="FF0000"/>
                </a:solidFill>
              </a:rPr>
              <a:t>small, but equally effective, set of test cases</a:t>
            </a:r>
            <a:r>
              <a:rPr lang="en-US" sz="2400" dirty="0"/>
              <a:t>.</a:t>
            </a:r>
          </a:p>
        </p:txBody>
      </p:sp>
      <p:pic>
        <p:nvPicPr>
          <p:cNvPr id="517123"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628775"/>
            <a:ext cx="4105275" cy="4968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379608722"/>
      </p:ext>
    </p:ext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Valid and Invalid</a:t>
            </a:r>
          </a:p>
        </p:txBody>
      </p:sp>
      <p:sp>
        <p:nvSpPr>
          <p:cNvPr id="6" name="Content Placeholder 5"/>
          <p:cNvSpPr>
            <a:spLocks noGrp="1"/>
          </p:cNvSpPr>
          <p:nvPr>
            <p:ph idx="1"/>
          </p:nvPr>
        </p:nvSpPr>
        <p:spPr/>
        <p:txBody>
          <a:bodyPr/>
          <a:lstStyle/>
          <a:p>
            <a:r>
              <a:rPr lang="en-US" sz="2400" dirty="0"/>
              <a:t>Equivalence partitions may also be treated in terms of </a:t>
            </a:r>
            <a:r>
              <a:rPr lang="en-US" sz="2400" b="1" dirty="0"/>
              <a:t>valid</a:t>
            </a:r>
            <a:r>
              <a:rPr lang="en-US" sz="2400" dirty="0"/>
              <a:t> partitions and </a:t>
            </a:r>
            <a:r>
              <a:rPr lang="en-US" sz="2400" b="1" dirty="0"/>
              <a:t>non-valid </a:t>
            </a:r>
            <a:r>
              <a:rPr lang="en-US" sz="2400" dirty="0"/>
              <a:t>partitions.</a:t>
            </a:r>
          </a:p>
          <a:p>
            <a:r>
              <a:rPr lang="en-US" sz="2400" dirty="0"/>
              <a:t>The particular specification may only mention information that can derive the valid partitions but it is important, as a tester, to be able to identify non-valid partitions as well.</a:t>
            </a:r>
          </a:p>
          <a:p>
            <a:r>
              <a:rPr lang="en-US" sz="2400" dirty="0"/>
              <a:t>Invalid partition values may still be entered by the user but they are not expected input by the system.</a:t>
            </a:r>
          </a:p>
          <a:p>
            <a:r>
              <a:rPr lang="en-US" sz="2400" dirty="0"/>
              <a:t>In this case the software should be able to correctly handle values from the invalid partition by displaying the appropriate error message. </a:t>
            </a:r>
          </a:p>
          <a:p>
            <a:endParaRPr lang="en-US" sz="2400" dirty="0"/>
          </a:p>
        </p:txBody>
      </p:sp>
    </p:spTree>
    <p:extLst>
      <p:ext uri="{BB962C8B-B14F-4D97-AF65-F5344CB8AC3E}">
        <p14:creationId xmlns:p14="http://schemas.microsoft.com/office/powerpoint/2010/main" val="1315093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r>
              <a:rPr lang="en-US"/>
              <a:t>Equivalence partitioning example</a:t>
            </a:r>
          </a:p>
        </p:txBody>
      </p:sp>
      <p:pic>
        <p:nvPicPr>
          <p:cNvPr id="328707" name="Picture 3" descr="ep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844675"/>
            <a:ext cx="8675688" cy="40147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687876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5" name="Rectangle 3"/>
          <p:cNvSpPr>
            <a:spLocks noGrp="1" noChangeArrowheads="1"/>
          </p:cNvSpPr>
          <p:nvPr>
            <p:ph type="title"/>
          </p:nvPr>
        </p:nvSpPr>
        <p:spPr/>
        <p:txBody>
          <a:bodyPr/>
          <a:lstStyle/>
          <a:p>
            <a:r>
              <a:rPr lang="en-US"/>
              <a:t>Identifying equivalence partitions</a:t>
            </a:r>
          </a:p>
        </p:txBody>
      </p:sp>
      <p:pic>
        <p:nvPicPr>
          <p:cNvPr id="3" name="Picture 2"/>
          <p:cNvPicPr>
            <a:picLocks noChangeAspect="1"/>
          </p:cNvPicPr>
          <p:nvPr/>
        </p:nvPicPr>
        <p:blipFill>
          <a:blip r:embed="rId3"/>
          <a:stretch>
            <a:fillRect/>
          </a:stretch>
        </p:blipFill>
        <p:spPr>
          <a:xfrm>
            <a:off x="469036" y="1628800"/>
            <a:ext cx="8205927" cy="4755292"/>
          </a:xfrm>
          <a:prstGeom prst="rect">
            <a:avLst/>
          </a:prstGeom>
        </p:spPr>
      </p:pic>
    </p:spTree>
    <p:extLst>
      <p:ext uri="{BB962C8B-B14F-4D97-AF65-F5344CB8AC3E}">
        <p14:creationId xmlns:p14="http://schemas.microsoft.com/office/powerpoint/2010/main" val="18715816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900" name="Rectangle 4"/>
          <p:cNvSpPr>
            <a:spLocks noGrp="1" noChangeArrowheads="1"/>
          </p:cNvSpPr>
          <p:nvPr>
            <p:ph type="title"/>
          </p:nvPr>
        </p:nvSpPr>
        <p:spPr/>
        <p:txBody>
          <a:bodyPr/>
          <a:lstStyle/>
          <a:p>
            <a:r>
              <a:rPr lang="en-US"/>
              <a:t>Identifying the partitions for ranges</a:t>
            </a:r>
          </a:p>
        </p:txBody>
      </p:sp>
      <p:sp>
        <p:nvSpPr>
          <p:cNvPr id="336901" name="Rectangle 5"/>
          <p:cNvSpPr>
            <a:spLocks noGrp="1" noChangeArrowheads="1"/>
          </p:cNvSpPr>
          <p:nvPr>
            <p:ph type="body" idx="1"/>
          </p:nvPr>
        </p:nvSpPr>
        <p:spPr/>
        <p:txBody>
          <a:bodyPr/>
          <a:lstStyle/>
          <a:p>
            <a:pPr>
              <a:lnSpc>
                <a:spcPct val="90000"/>
              </a:lnSpc>
            </a:pPr>
            <a:r>
              <a:rPr lang="en-US" sz="2400" dirty="0"/>
              <a:t>Requirement:</a:t>
            </a:r>
          </a:p>
          <a:p>
            <a:pPr lvl="1">
              <a:lnSpc>
                <a:spcPct val="90000"/>
              </a:lnSpc>
            </a:pPr>
            <a:r>
              <a:rPr lang="en-US" sz="2000" dirty="0"/>
              <a:t>“…must be between 23 and 30”</a:t>
            </a:r>
          </a:p>
          <a:p>
            <a:pPr lvl="1">
              <a:lnSpc>
                <a:spcPct val="90000"/>
              </a:lnSpc>
            </a:pPr>
            <a:r>
              <a:rPr lang="en-US" sz="2000" dirty="0"/>
              <a:t>Does between “include” the values 23 and 30?</a:t>
            </a:r>
          </a:p>
          <a:p>
            <a:pPr>
              <a:lnSpc>
                <a:spcPct val="90000"/>
              </a:lnSpc>
            </a:pPr>
            <a:r>
              <a:rPr lang="en-US" sz="2400" dirty="0"/>
              <a:t>Implies:</a:t>
            </a:r>
          </a:p>
          <a:p>
            <a:pPr lvl="1">
              <a:lnSpc>
                <a:spcPct val="90000"/>
              </a:lnSpc>
            </a:pPr>
            <a:r>
              <a:rPr lang="en-US" sz="2000" dirty="0"/>
              <a:t>The range 23 to 30 is valid</a:t>
            </a:r>
          </a:p>
          <a:p>
            <a:pPr lvl="1">
              <a:lnSpc>
                <a:spcPct val="90000"/>
              </a:lnSpc>
            </a:pPr>
            <a:r>
              <a:rPr lang="en-US" sz="2000" dirty="0"/>
              <a:t>Less than 23 and greater than 30 are invalid</a:t>
            </a:r>
          </a:p>
          <a:p>
            <a:pPr lvl="1">
              <a:lnSpc>
                <a:spcPct val="90000"/>
              </a:lnSpc>
            </a:pPr>
            <a:r>
              <a:rPr lang="en-US" sz="2000" dirty="0"/>
              <a:t>But does this mean &lt;=22?</a:t>
            </a:r>
          </a:p>
          <a:p>
            <a:pPr lvl="1">
              <a:lnSpc>
                <a:spcPct val="90000"/>
              </a:lnSpc>
            </a:pPr>
            <a:r>
              <a:rPr lang="en-US" sz="2000" dirty="0"/>
              <a:t>Or does it mean &lt;=22.9999999?</a:t>
            </a:r>
          </a:p>
          <a:p>
            <a:pPr>
              <a:lnSpc>
                <a:spcPct val="90000"/>
              </a:lnSpc>
            </a:pPr>
            <a:r>
              <a:rPr lang="en-US" sz="2400" dirty="0"/>
              <a:t>Need to consider the precision of the domain under consideration</a:t>
            </a:r>
          </a:p>
          <a:p>
            <a:pPr>
              <a:lnSpc>
                <a:spcPct val="90000"/>
              </a:lnSpc>
            </a:pPr>
            <a:r>
              <a:rPr lang="en-US" sz="2400" dirty="0"/>
              <a:t>e.g. In finance, precision could be very important.  </a:t>
            </a:r>
          </a:p>
        </p:txBody>
      </p:sp>
    </p:spTree>
    <p:extLst>
      <p:ext uri="{BB962C8B-B14F-4D97-AF65-F5344CB8AC3E}">
        <p14:creationId xmlns:p14="http://schemas.microsoft.com/office/powerpoint/2010/main" val="26882700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8" name="Rectangle 4"/>
          <p:cNvSpPr>
            <a:spLocks noGrp="1" noChangeArrowheads="1"/>
          </p:cNvSpPr>
          <p:nvPr>
            <p:ph type="title"/>
          </p:nvPr>
        </p:nvSpPr>
        <p:spPr/>
        <p:txBody>
          <a:bodyPr/>
          <a:lstStyle/>
          <a:p>
            <a:r>
              <a:rPr lang="en-US"/>
              <a:t>Selecting tests from partitions</a:t>
            </a:r>
          </a:p>
        </p:txBody>
      </p:sp>
      <p:sp>
        <p:nvSpPr>
          <p:cNvPr id="338949" name="Rectangle 5"/>
          <p:cNvSpPr>
            <a:spLocks noGrp="1" noChangeArrowheads="1"/>
          </p:cNvSpPr>
          <p:nvPr>
            <p:ph type="body" idx="1"/>
          </p:nvPr>
        </p:nvSpPr>
        <p:spPr/>
        <p:txBody>
          <a:bodyPr/>
          <a:lstStyle/>
          <a:p>
            <a:r>
              <a:rPr lang="en-US" sz="2400" dirty="0"/>
              <a:t>When you have identified the partitions, which values should you take?</a:t>
            </a:r>
          </a:p>
          <a:p>
            <a:r>
              <a:rPr lang="en-US" sz="2400" dirty="0"/>
              <a:t>E.g. in a partition of 1-1000, which value would you choose for a test?</a:t>
            </a:r>
          </a:p>
          <a:p>
            <a:r>
              <a:rPr lang="en-US" sz="2400" dirty="0"/>
              <a:t>It doesn’t matter!</a:t>
            </a:r>
          </a:p>
          <a:p>
            <a:r>
              <a:rPr lang="en-US" sz="2400" dirty="0">
                <a:solidFill>
                  <a:srgbClr val="FF0000"/>
                </a:solidFill>
              </a:rPr>
              <a:t>To achieve EP coverage, all that is required is to select ANY value in the range</a:t>
            </a:r>
          </a:p>
          <a:p>
            <a:r>
              <a:rPr lang="en-US" sz="2400" dirty="0"/>
              <a:t>If we believe the software treats every value in a partition in the same way, the test values in that partition are equivalent, according to our definition.</a:t>
            </a:r>
          </a:p>
        </p:txBody>
      </p:sp>
    </p:spTree>
    <p:extLst>
      <p:ext uri="{BB962C8B-B14F-4D97-AF65-F5344CB8AC3E}">
        <p14:creationId xmlns:p14="http://schemas.microsoft.com/office/powerpoint/2010/main" val="32654077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6" name="Rectangle 8"/>
          <p:cNvSpPr>
            <a:spLocks noGrp="1" noChangeArrowheads="1"/>
          </p:cNvSpPr>
          <p:nvPr>
            <p:ph type="title"/>
          </p:nvPr>
        </p:nvSpPr>
        <p:spPr/>
        <p:txBody>
          <a:bodyPr/>
          <a:lstStyle/>
          <a:p>
            <a:r>
              <a:rPr lang="en-CA"/>
              <a:t>Test Case Strategy</a:t>
            </a:r>
          </a:p>
        </p:txBody>
      </p:sp>
      <p:sp>
        <p:nvSpPr>
          <p:cNvPr id="570377" name="Rectangle 9"/>
          <p:cNvSpPr>
            <a:spLocks noGrp="1" noChangeArrowheads="1"/>
          </p:cNvSpPr>
          <p:nvPr>
            <p:ph type="body" idx="1"/>
          </p:nvPr>
        </p:nvSpPr>
        <p:spPr/>
        <p:txBody>
          <a:bodyPr/>
          <a:lstStyle/>
          <a:p>
            <a:r>
              <a:rPr lang="en-CA" sz="2400"/>
              <a:t>Once the set of equivalence classes has been identified, here is how to derive test cases:</a:t>
            </a:r>
          </a:p>
          <a:p>
            <a:pPr lvl="1"/>
            <a:r>
              <a:rPr lang="en-CA" sz="2000"/>
              <a:t>Assign a unique identifier to each equivalence class.</a:t>
            </a:r>
          </a:p>
          <a:p>
            <a:pPr lvl="1"/>
            <a:r>
              <a:rPr lang="en-CA" sz="2000"/>
              <a:t>Until all </a:t>
            </a:r>
            <a:r>
              <a:rPr lang="en-CA" sz="2000" b="1"/>
              <a:t>valid</a:t>
            </a:r>
            <a:r>
              <a:rPr lang="en-CA" sz="2000"/>
              <a:t> equivalence classes have been covered by at least one test case, write a new test case covering as many of the valid equivalence classes as possible.</a:t>
            </a:r>
          </a:p>
          <a:p>
            <a:pPr lvl="1"/>
            <a:r>
              <a:rPr lang="en-CA" sz="2000"/>
              <a:t>Until all </a:t>
            </a:r>
            <a:r>
              <a:rPr lang="en-CA" sz="2000" b="1"/>
              <a:t>invalid</a:t>
            </a:r>
            <a:r>
              <a:rPr lang="en-CA" sz="2000"/>
              <a:t> equivalence classes have been covered, write a test case that covers one, and only one, of the uncovered invalid equivalence classes.</a:t>
            </a:r>
          </a:p>
          <a:p>
            <a:pPr lvl="1"/>
            <a:r>
              <a:rPr lang="en-CA" sz="2000"/>
              <a:t>For each test case, annotate it with the equivalence class identifiers that it covers.</a:t>
            </a:r>
          </a:p>
        </p:txBody>
      </p:sp>
    </p:spTree>
    <p:extLst>
      <p:ext uri="{BB962C8B-B14F-4D97-AF65-F5344CB8AC3E}">
        <p14:creationId xmlns:p14="http://schemas.microsoft.com/office/powerpoint/2010/main" val="33923996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4" name="Rectangle 4"/>
          <p:cNvSpPr>
            <a:spLocks noGrp="1" noChangeArrowheads="1"/>
          </p:cNvSpPr>
          <p:nvPr>
            <p:ph type="title"/>
          </p:nvPr>
        </p:nvSpPr>
        <p:spPr/>
        <p:txBody>
          <a:bodyPr/>
          <a:lstStyle/>
          <a:p>
            <a:r>
              <a:rPr lang="en-CA" sz="3200"/>
              <a:t>Valid and Invalid Classes:</a:t>
            </a:r>
            <a:br>
              <a:rPr lang="en-CA" sz="3200"/>
            </a:br>
            <a:r>
              <a:rPr lang="en-CA" sz="3200"/>
              <a:t>When in doubt...</a:t>
            </a:r>
          </a:p>
        </p:txBody>
      </p:sp>
      <p:sp>
        <p:nvSpPr>
          <p:cNvPr id="563205" name="Rectangle 5"/>
          <p:cNvSpPr>
            <a:spLocks noGrp="1" noChangeArrowheads="1"/>
          </p:cNvSpPr>
          <p:nvPr>
            <p:ph type="body" idx="1"/>
          </p:nvPr>
        </p:nvSpPr>
        <p:spPr/>
        <p:txBody>
          <a:bodyPr/>
          <a:lstStyle/>
          <a:p>
            <a:r>
              <a:rPr lang="en-CA" dirty="0"/>
              <a:t>If there is any reason to believe that elements in an equivalence class are not handled in an identical manner by the implementation software, split the equivalence class into further classes.</a:t>
            </a:r>
          </a:p>
        </p:txBody>
      </p:sp>
    </p:spTree>
    <p:extLst>
      <p:ext uri="{BB962C8B-B14F-4D97-AF65-F5344CB8AC3E}">
        <p14:creationId xmlns:p14="http://schemas.microsoft.com/office/powerpoint/2010/main" val="1523527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4" name="Rectangle 6"/>
          <p:cNvSpPr>
            <a:spLocks noGrp="1" noChangeArrowheads="1"/>
          </p:cNvSpPr>
          <p:nvPr>
            <p:ph type="title"/>
          </p:nvPr>
        </p:nvSpPr>
        <p:spPr/>
        <p:txBody>
          <a:bodyPr/>
          <a:lstStyle/>
          <a:p>
            <a:r>
              <a:rPr lang="en-GB"/>
              <a:t>Equivalence Class Partitioning</a:t>
            </a:r>
          </a:p>
        </p:txBody>
      </p:sp>
      <p:sp>
        <p:nvSpPr>
          <p:cNvPr id="565255" name="Rectangle 7"/>
          <p:cNvSpPr>
            <a:spLocks noGrp="1" noChangeArrowheads="1"/>
          </p:cNvSpPr>
          <p:nvPr>
            <p:ph type="body" idx="1"/>
          </p:nvPr>
        </p:nvSpPr>
        <p:spPr/>
        <p:txBody>
          <a:bodyPr/>
          <a:lstStyle/>
          <a:p>
            <a:pPr>
              <a:lnSpc>
                <a:spcPct val="90000"/>
              </a:lnSpc>
            </a:pPr>
            <a:r>
              <a:rPr lang="en-GB" sz="2400" dirty="0"/>
              <a:t>Consider creating an equivalence partition that handles the </a:t>
            </a:r>
            <a:r>
              <a:rPr lang="en-GB" sz="2400" i="1" dirty="0"/>
              <a:t>default</a:t>
            </a:r>
            <a:r>
              <a:rPr lang="en-GB" sz="2400" dirty="0"/>
              <a:t>, </a:t>
            </a:r>
            <a:r>
              <a:rPr lang="en-GB" sz="2400" i="1" dirty="0"/>
              <a:t>empty</a:t>
            </a:r>
            <a:r>
              <a:rPr lang="en-GB" sz="2400" dirty="0"/>
              <a:t>, </a:t>
            </a:r>
            <a:r>
              <a:rPr lang="en-GB" sz="2400" i="1" dirty="0"/>
              <a:t>blank</a:t>
            </a:r>
            <a:r>
              <a:rPr lang="en-GB" sz="2400" dirty="0"/>
              <a:t>, </a:t>
            </a:r>
            <a:r>
              <a:rPr lang="en-GB" sz="2400" i="1" dirty="0"/>
              <a:t>null</a:t>
            </a:r>
            <a:r>
              <a:rPr lang="en-GB" sz="2400" dirty="0"/>
              <a:t>, </a:t>
            </a:r>
            <a:r>
              <a:rPr lang="en-GB" sz="2400" i="1" dirty="0"/>
              <a:t>zero</a:t>
            </a:r>
            <a:r>
              <a:rPr lang="en-GB" sz="2400" dirty="0"/>
              <a:t>, or </a:t>
            </a:r>
            <a:r>
              <a:rPr lang="en-GB" sz="2400" i="1" dirty="0"/>
              <a:t>none</a:t>
            </a:r>
            <a:r>
              <a:rPr lang="en-GB" sz="2400" dirty="0"/>
              <a:t> conditions.</a:t>
            </a:r>
          </a:p>
          <a:p>
            <a:pPr lvl="1">
              <a:lnSpc>
                <a:spcPct val="90000"/>
              </a:lnSpc>
            </a:pPr>
            <a:r>
              <a:rPr lang="en-GB" sz="2000" b="1" dirty="0"/>
              <a:t>Default</a:t>
            </a:r>
            <a:r>
              <a:rPr lang="en-GB" sz="2000" dirty="0"/>
              <a:t>:  no value supplied, and some value is assumed to be used instead.</a:t>
            </a:r>
          </a:p>
          <a:p>
            <a:pPr lvl="1">
              <a:lnSpc>
                <a:spcPct val="90000"/>
              </a:lnSpc>
            </a:pPr>
            <a:r>
              <a:rPr lang="en-GB" sz="2000" b="1" dirty="0"/>
              <a:t>Empty</a:t>
            </a:r>
            <a:r>
              <a:rPr lang="en-GB" sz="2000" dirty="0"/>
              <a:t>: value exists, but has no contents.</a:t>
            </a:r>
          </a:p>
          <a:p>
            <a:pPr lvl="2">
              <a:lnSpc>
                <a:spcPct val="90000"/>
              </a:lnSpc>
            </a:pPr>
            <a:r>
              <a:rPr lang="en-GB" sz="1800" dirty="0"/>
              <a:t>e.g. Empty string ″″</a:t>
            </a:r>
          </a:p>
          <a:p>
            <a:pPr lvl="1">
              <a:lnSpc>
                <a:spcPct val="90000"/>
              </a:lnSpc>
            </a:pPr>
            <a:r>
              <a:rPr lang="en-GB" sz="2000" b="1" dirty="0"/>
              <a:t>Blank</a:t>
            </a:r>
            <a:r>
              <a:rPr lang="en-GB" sz="2000" dirty="0"/>
              <a:t>: value exists, and has content.</a:t>
            </a:r>
          </a:p>
          <a:p>
            <a:pPr lvl="2">
              <a:lnSpc>
                <a:spcPct val="90000"/>
              </a:lnSpc>
            </a:pPr>
            <a:r>
              <a:rPr lang="en-GB" sz="1800" dirty="0"/>
              <a:t>e.g. String containing a space character ″ ″</a:t>
            </a:r>
          </a:p>
          <a:p>
            <a:pPr lvl="1">
              <a:lnSpc>
                <a:spcPct val="90000"/>
              </a:lnSpc>
            </a:pPr>
            <a:r>
              <a:rPr lang="en-GB" sz="2000" b="1" dirty="0"/>
              <a:t>Null</a:t>
            </a:r>
            <a:r>
              <a:rPr lang="en-GB" sz="2000" dirty="0"/>
              <a:t>:  value does not exist or is not allocated.</a:t>
            </a:r>
          </a:p>
          <a:p>
            <a:pPr lvl="2">
              <a:lnSpc>
                <a:spcPct val="90000"/>
              </a:lnSpc>
            </a:pPr>
            <a:r>
              <a:rPr lang="en-GB" sz="1800" dirty="0"/>
              <a:t>E.g. object that has not been created.</a:t>
            </a:r>
          </a:p>
          <a:p>
            <a:pPr lvl="1">
              <a:lnSpc>
                <a:spcPct val="90000"/>
              </a:lnSpc>
            </a:pPr>
            <a:r>
              <a:rPr lang="en-GB" sz="2000" b="1" dirty="0"/>
              <a:t>Zero</a:t>
            </a:r>
            <a:r>
              <a:rPr lang="en-GB" sz="2000" dirty="0"/>
              <a:t>:  numeric value</a:t>
            </a:r>
          </a:p>
          <a:p>
            <a:pPr lvl="1">
              <a:lnSpc>
                <a:spcPct val="90000"/>
              </a:lnSpc>
            </a:pPr>
            <a:r>
              <a:rPr lang="en-GB" sz="2000" b="1" dirty="0"/>
              <a:t>None</a:t>
            </a:r>
            <a:r>
              <a:rPr lang="en-GB" sz="2000" dirty="0"/>
              <a:t>:  when selecting from a list, make no selection.</a:t>
            </a:r>
          </a:p>
        </p:txBody>
      </p:sp>
    </p:spTree>
    <p:extLst>
      <p:ext uri="{BB962C8B-B14F-4D97-AF65-F5344CB8AC3E}">
        <p14:creationId xmlns:p14="http://schemas.microsoft.com/office/powerpoint/2010/main" val="19694548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r>
              <a:rPr lang="en-GB"/>
              <a:t>Equivalence Classes Partitioning - Problems</a:t>
            </a:r>
          </a:p>
        </p:txBody>
      </p:sp>
      <p:sp>
        <p:nvSpPr>
          <p:cNvPr id="572419" name="Rectangle 3"/>
          <p:cNvSpPr>
            <a:spLocks noGrp="1" noChangeArrowheads="1"/>
          </p:cNvSpPr>
          <p:nvPr>
            <p:ph type="body" idx="1"/>
          </p:nvPr>
        </p:nvSpPr>
        <p:spPr/>
        <p:txBody>
          <a:bodyPr/>
          <a:lstStyle/>
          <a:p>
            <a:r>
              <a:rPr lang="en-GB" dirty="0"/>
              <a:t>Specification doesn't always define expected output for invalid test-cases.</a:t>
            </a:r>
          </a:p>
          <a:p>
            <a:r>
              <a:rPr lang="en-GB" dirty="0"/>
              <a:t>Strongly typed languages eliminate the need for the consideration of some invalid inputs.</a:t>
            </a:r>
          </a:p>
          <a:p>
            <a:r>
              <a:rPr lang="en-GB" dirty="0"/>
              <a:t>Brute-force of defining a test case for every combination of the inputs’ ECs. </a:t>
            </a:r>
          </a:p>
          <a:p>
            <a:pPr lvl="1"/>
            <a:r>
              <a:rPr lang="en-GB" dirty="0"/>
              <a:t>Provides good coverage, but...</a:t>
            </a:r>
          </a:p>
          <a:p>
            <a:pPr lvl="1"/>
            <a:r>
              <a:rPr lang="en-GB" dirty="0"/>
              <a:t>…impractical when number of inputs and associated classes is large</a:t>
            </a:r>
          </a:p>
        </p:txBody>
      </p:sp>
    </p:spTree>
    <p:extLst>
      <p:ext uri="{BB962C8B-B14F-4D97-AF65-F5344CB8AC3E}">
        <p14:creationId xmlns:p14="http://schemas.microsoft.com/office/powerpoint/2010/main" val="2067449153"/>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ctrTitle"/>
          </p:nvPr>
        </p:nvSpPr>
        <p:spPr/>
        <p:txBody>
          <a:bodyPr/>
          <a:lstStyle/>
          <a:p>
            <a:r>
              <a:rPr lang="en-US"/>
              <a:t>Boundary Value Analysis</a:t>
            </a:r>
          </a:p>
        </p:txBody>
      </p:sp>
    </p:spTree>
    <p:extLst>
      <p:ext uri="{BB962C8B-B14F-4D97-AF65-F5344CB8AC3E}">
        <p14:creationId xmlns:p14="http://schemas.microsoft.com/office/powerpoint/2010/main" val="9618614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en-US"/>
              <a:t>Boundary value analysis</a:t>
            </a:r>
          </a:p>
        </p:txBody>
      </p:sp>
      <p:sp>
        <p:nvSpPr>
          <p:cNvPr id="343043" name="Rectangle 3"/>
          <p:cNvSpPr>
            <a:spLocks noGrp="1" noChangeArrowheads="1"/>
          </p:cNvSpPr>
          <p:nvPr>
            <p:ph type="body" idx="1"/>
          </p:nvPr>
        </p:nvSpPr>
        <p:spPr/>
        <p:txBody>
          <a:bodyPr/>
          <a:lstStyle/>
          <a:p>
            <a:r>
              <a:rPr lang="en-US" dirty="0"/>
              <a:t>Experience shows </a:t>
            </a:r>
            <a:r>
              <a:rPr lang="en-US" dirty="0">
                <a:solidFill>
                  <a:srgbClr val="FF0000"/>
                </a:solidFill>
              </a:rPr>
              <a:t>more faults at boundaries of equivalence partitions where partitions are continuous</a:t>
            </a:r>
          </a:p>
          <a:p>
            <a:r>
              <a:rPr lang="en-US" dirty="0"/>
              <a:t>So test cases </a:t>
            </a:r>
            <a:r>
              <a:rPr lang="en-US" dirty="0">
                <a:solidFill>
                  <a:srgbClr val="FF0000"/>
                </a:solidFill>
              </a:rPr>
              <a:t>just above, just below and on the boundary</a:t>
            </a:r>
            <a:r>
              <a:rPr lang="en-US" dirty="0"/>
              <a:t> tend to find faults</a:t>
            </a:r>
          </a:p>
          <a:p>
            <a:r>
              <a:rPr lang="en-US" b="1" dirty="0"/>
              <a:t>Don't forget test cases for output partitions</a:t>
            </a:r>
            <a:r>
              <a:rPr lang="en-US" dirty="0"/>
              <a:t>: just above, on, just below boundaries.</a:t>
            </a:r>
          </a:p>
        </p:txBody>
      </p:sp>
    </p:spTree>
    <p:extLst>
      <p:ext uri="{BB962C8B-B14F-4D97-AF65-F5344CB8AC3E}">
        <p14:creationId xmlns:p14="http://schemas.microsoft.com/office/powerpoint/2010/main" val="25934063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1" name="Rectangle 3"/>
          <p:cNvSpPr>
            <a:spLocks noGrp="1" noChangeArrowheads="1"/>
          </p:cNvSpPr>
          <p:nvPr>
            <p:ph type="title"/>
          </p:nvPr>
        </p:nvSpPr>
        <p:spPr/>
        <p:txBody>
          <a:bodyPr/>
          <a:lstStyle/>
          <a:p>
            <a:r>
              <a:rPr lang="en-US" dirty="0" smtClean="0"/>
              <a:t>BS5925-2 </a:t>
            </a:r>
            <a:r>
              <a:rPr lang="en-US" dirty="0"/>
              <a:t>boundary value analysis</a:t>
            </a:r>
          </a:p>
        </p:txBody>
      </p:sp>
      <p:pic>
        <p:nvPicPr>
          <p:cNvPr id="2" name="Picture 1"/>
          <p:cNvPicPr>
            <a:picLocks noChangeAspect="1"/>
          </p:cNvPicPr>
          <p:nvPr/>
        </p:nvPicPr>
        <p:blipFill>
          <a:blip r:embed="rId3"/>
          <a:stretch>
            <a:fillRect/>
          </a:stretch>
        </p:blipFill>
        <p:spPr>
          <a:xfrm>
            <a:off x="316623" y="2046351"/>
            <a:ext cx="8510754" cy="3974937"/>
          </a:xfrm>
          <a:prstGeom prst="rect">
            <a:avLst/>
          </a:prstGeom>
        </p:spPr>
      </p:pic>
    </p:spTree>
    <p:extLst>
      <p:ext uri="{BB962C8B-B14F-4D97-AF65-F5344CB8AC3E}">
        <p14:creationId xmlns:p14="http://schemas.microsoft.com/office/powerpoint/2010/main" val="28354014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t>Choosing the boundary can be subjective</a:t>
            </a:r>
          </a:p>
        </p:txBody>
      </p:sp>
      <p:sp>
        <p:nvSpPr>
          <p:cNvPr id="347139" name="Rectangle 3"/>
          <p:cNvSpPr>
            <a:spLocks noGrp="1" noChangeArrowheads="1"/>
          </p:cNvSpPr>
          <p:nvPr>
            <p:ph type="body" idx="1"/>
          </p:nvPr>
        </p:nvSpPr>
        <p:spPr/>
        <p:txBody>
          <a:bodyPr/>
          <a:lstStyle/>
          <a:p>
            <a:pPr>
              <a:lnSpc>
                <a:spcPct val="90000"/>
              </a:lnSpc>
            </a:pPr>
            <a:r>
              <a:rPr lang="en-US" sz="2400" dirty="0"/>
              <a:t>Can be subjective e.g.</a:t>
            </a:r>
          </a:p>
          <a:p>
            <a:pPr lvl="1">
              <a:lnSpc>
                <a:spcPct val="90000"/>
              </a:lnSpc>
            </a:pPr>
            <a:r>
              <a:rPr lang="en-US" sz="2000" dirty="0"/>
              <a:t>X &lt; 100 (choose boundary = 100?)</a:t>
            </a:r>
          </a:p>
          <a:p>
            <a:pPr lvl="1">
              <a:lnSpc>
                <a:spcPct val="90000"/>
              </a:lnSpc>
            </a:pPr>
            <a:r>
              <a:rPr lang="en-US" sz="2000" dirty="0"/>
              <a:t>X &lt;= 99 (chose boundary = 99?)</a:t>
            </a:r>
          </a:p>
          <a:p>
            <a:pPr>
              <a:lnSpc>
                <a:spcPct val="90000"/>
              </a:lnSpc>
            </a:pPr>
            <a:r>
              <a:rPr lang="en-US" sz="2400" dirty="0"/>
              <a:t>The same requirement, but you could have different test values depending on the boundary:</a:t>
            </a:r>
          </a:p>
          <a:p>
            <a:pPr lvl="1">
              <a:lnSpc>
                <a:spcPct val="90000"/>
              </a:lnSpc>
            </a:pPr>
            <a:r>
              <a:rPr lang="en-US" sz="2000" dirty="0"/>
              <a:t>99, 100, 101 or 98, 99, 100</a:t>
            </a:r>
          </a:p>
          <a:p>
            <a:pPr>
              <a:lnSpc>
                <a:spcPct val="90000"/>
              </a:lnSpc>
            </a:pPr>
            <a:r>
              <a:rPr lang="en-US" sz="2400" dirty="0"/>
              <a:t>Which is best?</a:t>
            </a:r>
          </a:p>
          <a:p>
            <a:pPr lvl="1">
              <a:lnSpc>
                <a:spcPct val="90000"/>
              </a:lnSpc>
            </a:pPr>
            <a:r>
              <a:rPr lang="en-US" sz="2000" dirty="0"/>
              <a:t>Because testers can be “one out”, the standard suggests three boundary values (and not two) to guarantee you get the BEST two test cases.</a:t>
            </a:r>
          </a:p>
        </p:txBody>
      </p:sp>
    </p:spTree>
    <p:extLst>
      <p:ext uri="{BB962C8B-B14F-4D97-AF65-F5344CB8AC3E}">
        <p14:creationId xmlns:p14="http://schemas.microsoft.com/office/powerpoint/2010/main" val="22804357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en-US"/>
              <a:t>Choosing the boundary can be subjective 2</a:t>
            </a:r>
          </a:p>
        </p:txBody>
      </p:sp>
      <p:pic>
        <p:nvPicPr>
          <p:cNvPr id="2" name="Picture 1"/>
          <p:cNvPicPr>
            <a:picLocks noChangeAspect="1"/>
          </p:cNvPicPr>
          <p:nvPr/>
        </p:nvPicPr>
        <p:blipFill>
          <a:blip r:embed="rId3"/>
          <a:stretch>
            <a:fillRect/>
          </a:stretch>
        </p:blipFill>
        <p:spPr>
          <a:xfrm>
            <a:off x="539146" y="1731978"/>
            <a:ext cx="8065707" cy="4505334"/>
          </a:xfrm>
          <a:prstGeom prst="rect">
            <a:avLst/>
          </a:prstGeom>
        </p:spPr>
      </p:pic>
    </p:spTree>
    <p:extLst>
      <p:ext uri="{BB962C8B-B14F-4D97-AF65-F5344CB8AC3E}">
        <p14:creationId xmlns:p14="http://schemas.microsoft.com/office/powerpoint/2010/main" val="28119547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en-US"/>
              <a:t>Boundary value analysis example</a:t>
            </a:r>
          </a:p>
        </p:txBody>
      </p:sp>
      <p:pic>
        <p:nvPicPr>
          <p:cNvPr id="351235" name="Picture 3" descr="bv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557338"/>
            <a:ext cx="7416800" cy="481171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539135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t>Boundary values subsumes equivalence partitions for ranges</a:t>
            </a:r>
          </a:p>
        </p:txBody>
      </p:sp>
      <p:sp>
        <p:nvSpPr>
          <p:cNvPr id="353283" name="Rectangle 3"/>
          <p:cNvSpPr>
            <a:spLocks noGrp="1" noChangeArrowheads="1"/>
          </p:cNvSpPr>
          <p:nvPr>
            <p:ph type="body" idx="1"/>
          </p:nvPr>
        </p:nvSpPr>
        <p:spPr/>
        <p:txBody>
          <a:bodyPr/>
          <a:lstStyle/>
          <a:p>
            <a:r>
              <a:rPr lang="en-US" dirty="0"/>
              <a:t>BV subsumes EP where the partitions are ranges of values</a:t>
            </a:r>
          </a:p>
          <a:p>
            <a:r>
              <a:rPr lang="en-US" dirty="0"/>
              <a:t>If you have covered all boundary values you automatically get EP coverage</a:t>
            </a:r>
          </a:p>
          <a:p>
            <a:r>
              <a:rPr lang="en-US" dirty="0"/>
              <a:t>You might have chosen different EP values, but since all values in a partition ARE equivalent any test value – even extreme ones - will do it.</a:t>
            </a:r>
          </a:p>
        </p:txBody>
      </p:sp>
    </p:spTree>
    <p:extLst>
      <p:ext uri="{BB962C8B-B14F-4D97-AF65-F5344CB8AC3E}">
        <p14:creationId xmlns:p14="http://schemas.microsoft.com/office/powerpoint/2010/main" val="21449576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GB"/>
              <a:t>Questions</a:t>
            </a:r>
          </a:p>
        </p:txBody>
      </p:sp>
      <p:pic>
        <p:nvPicPr>
          <p:cNvPr id="68611" name="Picture 3" descr="j040426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52613" y="1922463"/>
            <a:ext cx="4697412" cy="431641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8"/>
                    </a:srgbClr>
                  </a:outerShdw>
                </a:effectLst>
              </a14:hiddenEffects>
            </a:ext>
          </a:extLst>
        </p:spPr>
      </p:pic>
    </p:spTree>
    <p:extLst>
      <p:ext uri="{BB962C8B-B14F-4D97-AF65-F5344CB8AC3E}">
        <p14:creationId xmlns:p14="http://schemas.microsoft.com/office/powerpoint/2010/main" val="13883352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EvolutifStandard</Template>
  <TotalTime>0</TotalTime>
  <Words>1569</Words>
  <Application>Microsoft Office PowerPoint</Application>
  <PresentationFormat>On-screen Show (4:3)</PresentationFormat>
  <Paragraphs>144</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ＭＳ Ｐゴシック</vt:lpstr>
      <vt:lpstr>Arial</vt:lpstr>
      <vt:lpstr>Gill Sans</vt:lpstr>
      <vt:lpstr>Monotype Sorts</vt:lpstr>
      <vt:lpstr>Times New Roman</vt:lpstr>
      <vt:lpstr>EvolutifStandard</vt:lpstr>
      <vt:lpstr>PowerPoint Presentation</vt:lpstr>
      <vt:lpstr>Test design techniques</vt:lpstr>
      <vt:lpstr>Why use techniques?</vt:lpstr>
      <vt:lpstr>Category of Test Design Technique</vt:lpstr>
      <vt:lpstr>Specification based or black box techniques</vt:lpstr>
      <vt:lpstr>Equivalence Partitioning</vt:lpstr>
      <vt:lpstr>Equivalence partitioning </vt:lpstr>
      <vt:lpstr>Equivalence Partitioning</vt:lpstr>
      <vt:lpstr>Valid and Invalid</vt:lpstr>
      <vt:lpstr>Equivalence partitioning example</vt:lpstr>
      <vt:lpstr>Identifying equivalence partitions</vt:lpstr>
      <vt:lpstr>Identifying the partitions for ranges</vt:lpstr>
      <vt:lpstr>Selecting tests from partitions</vt:lpstr>
      <vt:lpstr>Test Case Strategy</vt:lpstr>
      <vt:lpstr>Valid and Invalid Classes: When in doubt...</vt:lpstr>
      <vt:lpstr>Equivalence Class Partitioning</vt:lpstr>
      <vt:lpstr>Equivalence Classes Partitioning - Problems</vt:lpstr>
      <vt:lpstr>Boundary Value Analysis</vt:lpstr>
      <vt:lpstr>Boundary value analysis</vt:lpstr>
      <vt:lpstr>BS5925-2 boundary value analysis</vt:lpstr>
      <vt:lpstr>Choosing the boundary can be subjective</vt:lpstr>
      <vt:lpstr>Choosing the boundary can be subjective 2</vt:lpstr>
      <vt:lpstr>Boundary value analysis example</vt:lpstr>
      <vt:lpstr>Boundary values subsumes equivalence partitions for ranges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2017-10-16T14:25:39Z</dcterms:created>
  <dcterms:modified xsi:type="dcterms:W3CDTF">2020-03-10T09:59:50Z</dcterms:modified>
</cp:coreProperties>
</file>