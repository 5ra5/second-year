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77" r:id="rId2"/>
    <p:sldId id="317" r:id="rId3"/>
    <p:sldId id="341" r:id="rId4"/>
    <p:sldId id="278" r:id="rId5"/>
    <p:sldId id="342" r:id="rId6"/>
    <p:sldId id="287" r:id="rId7"/>
    <p:sldId id="288" r:id="rId8"/>
    <p:sldId id="289" r:id="rId9"/>
    <p:sldId id="340" r:id="rId10"/>
    <p:sldId id="343" r:id="rId11"/>
    <p:sldId id="290" r:id="rId12"/>
    <p:sldId id="291" r:id="rId13"/>
    <p:sldId id="292" r:id="rId14"/>
    <p:sldId id="293" r:id="rId15"/>
    <p:sldId id="294" r:id="rId16"/>
    <p:sldId id="295" r:id="rId17"/>
    <p:sldId id="296" r:id="rId18"/>
    <p:sldId id="297" r:id="rId19"/>
    <p:sldId id="298" r:id="rId20"/>
    <p:sldId id="299" r:id="rId21"/>
    <p:sldId id="300" r:id="rId22"/>
    <p:sldId id="301" r:id="rId23"/>
    <p:sldId id="303" r:id="rId24"/>
    <p:sldId id="307" r:id="rId25"/>
    <p:sldId id="308" r:id="rId26"/>
    <p:sldId id="30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1" autoAdjust="0"/>
    <p:restoredTop sz="94660"/>
  </p:normalViewPr>
  <p:slideViewPr>
    <p:cSldViewPr snapToGrid="0">
      <p:cViewPr varScale="1">
        <p:scale>
          <a:sx n="78" d="100"/>
          <a:sy n="78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0" d="100"/>
        <a:sy n="160" d="100"/>
      </p:scale>
      <p:origin x="0" y="-604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52AE8-C951-4D8B-89F8-49C95B857C9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00785825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19D62-09B2-4A5B-B346-9F6AA3D1583C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8098756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31816F-4129-2E4E-8DE3-417475391DD6}" type="slidenum">
              <a:rPr lang="en-GB">
                <a:solidFill>
                  <a:srgbClr val="000000"/>
                </a:solidFill>
              </a:rPr>
              <a:pPr/>
              <a:t>1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876563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"/>
          </p:nvPr>
        </p:nvSpPr>
        <p:spPr>
          <a:ln/>
        </p:spPr>
        <p:txBody>
          <a:bodyPr/>
          <a:lstStyle/>
          <a:p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endParaRPr lang="en-GB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73C2B5-1FB8-5F41-8446-DC2BE0AFF239}" type="slidenum">
              <a:rPr lang="en-GB"/>
              <a:pPr/>
              <a:t>2</a:t>
            </a:fld>
            <a:endParaRPr lang="en-GB"/>
          </a:p>
        </p:txBody>
      </p:sp>
      <p:sp>
        <p:nvSpPr>
          <p:cNvPr id="271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271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64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49152AA-34E9-7C49-BDAF-E3A189973066}" type="slidenum">
              <a:rPr lang="en-GB">
                <a:solidFill>
                  <a:srgbClr val="000000"/>
                </a:solidFill>
              </a:rPr>
              <a:pPr/>
              <a:t>3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03033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5CBA944-A926-9144-9D75-B261A07698FC}" type="slidenum">
              <a:rPr lang="en-GB">
                <a:solidFill>
                  <a:srgbClr val="000000"/>
                </a:solidFill>
              </a:rPr>
              <a:pPr/>
              <a:t>4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642642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ED9EF3-53DA-9045-9866-83028123DD24}" type="slidenum">
              <a:rPr lang="en-GB">
                <a:solidFill>
                  <a:srgbClr val="000000"/>
                </a:solidFill>
              </a:rPr>
              <a:pPr/>
              <a:t>5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259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25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41280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CEFFE-F538-F742-AA7D-037578EA7EC9}" type="slidenum">
              <a:rPr lang="en-GB">
                <a:solidFill>
                  <a:srgbClr val="000000"/>
                </a:solidFill>
              </a:rPr>
              <a:pPr/>
              <a:t>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24412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DFB90A-14F3-1643-9A95-B9B39EBD8A1F}" type="slidenum">
              <a:rPr lang="en-GB">
                <a:solidFill>
                  <a:srgbClr val="000000"/>
                </a:solidFill>
              </a:rPr>
              <a:pPr/>
              <a:t>7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877349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35FF78D-DA0F-CF4F-96FB-C2575DF34B14}" type="slidenum">
              <a:rPr lang="en-GB">
                <a:solidFill>
                  <a:srgbClr val="000000"/>
                </a:solidFill>
              </a:rPr>
              <a:pPr/>
              <a:t>8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319451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CEFFE-F538-F742-AA7D-037578EA7EC9}" type="slidenum">
              <a:rPr lang="en-GB">
                <a:solidFill>
                  <a:srgbClr val="000000"/>
                </a:solidFill>
              </a:rPr>
              <a:pPr/>
              <a:t>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243354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BCEFFE-F538-F742-AA7D-037578EA7EC9}" type="slidenum">
              <a:rPr lang="en-GB">
                <a:solidFill>
                  <a:srgbClr val="000000"/>
                </a:solidFill>
              </a:rPr>
              <a:pPr/>
              <a:t>10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280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28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2092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678100-2AA6-A045-9046-2CF69BAF3EC6}" type="slidenum">
              <a:rPr lang="en-GB">
                <a:solidFill>
                  <a:srgbClr val="000000"/>
                </a:solidFill>
              </a:rPr>
              <a:pPr/>
              <a:t>11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8098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B32B8E-8DD7-1D4E-A63B-517DE82D74D7}" type="slidenum">
              <a:rPr lang="en-GB">
                <a:solidFill>
                  <a:srgbClr val="000000"/>
                </a:solidFill>
              </a:rPr>
              <a:pPr/>
              <a:t>12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969613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E93D06-1A1B-E549-9C49-57C7E93749A6}" type="slidenum">
              <a:rPr lang="en-GB">
                <a:solidFill>
                  <a:srgbClr val="000000"/>
                </a:solidFill>
              </a:rPr>
              <a:pPr/>
              <a:t>13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701365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6F1D2E0-F614-7443-BD1A-5C670828B447}" type="slidenum">
              <a:rPr lang="en-GB">
                <a:solidFill>
                  <a:srgbClr val="000000"/>
                </a:solidFill>
              </a:rPr>
              <a:pPr/>
              <a:t>14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42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22235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4BCDA8-50DD-7B49-BDA2-CEBBA007C62B}" type="slidenum">
              <a:rPr lang="en-GB">
                <a:solidFill>
                  <a:srgbClr val="000000"/>
                </a:solidFill>
              </a:rPr>
              <a:pPr/>
              <a:t>15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911409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00599A-BEF8-BF41-9531-0DD607B1FCAC}" type="slidenum">
              <a:rPr lang="en-GB">
                <a:solidFill>
                  <a:srgbClr val="000000"/>
                </a:solidFill>
              </a:rPr>
              <a:pPr/>
              <a:t>16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01469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4F03B6-3FD4-684D-B41C-EFC0E3642357}" type="slidenum">
              <a:rPr lang="en-GB">
                <a:solidFill>
                  <a:srgbClr val="000000"/>
                </a:solidFill>
              </a:rPr>
              <a:pPr/>
              <a:t>17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93214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9E82A0B-BE4C-D045-A69C-1D50C0A5B1E8}" type="slidenum">
              <a:rPr lang="en-GB">
                <a:solidFill>
                  <a:srgbClr val="000000"/>
                </a:solidFill>
              </a:rPr>
              <a:pPr/>
              <a:t>18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56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56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471962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58A763-D5A6-5843-83FD-98F4EF4E0551}" type="slidenum">
              <a:rPr lang="en-GB">
                <a:solidFill>
                  <a:srgbClr val="000000"/>
                </a:solidFill>
              </a:rPr>
              <a:pPr/>
              <a:t>19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38779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1214E49-752A-304C-91EA-BE1F3F4EC521}" type="slidenum">
              <a:rPr lang="en-GB">
                <a:solidFill>
                  <a:srgbClr val="000000"/>
                </a:solidFill>
              </a:rPr>
              <a:pPr/>
              <a:t>20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62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62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36252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8488B0-148A-214C-8A8D-8ED5216F207C}" type="slidenum">
              <a:rPr lang="en-GB">
                <a:solidFill>
                  <a:srgbClr val="000000"/>
                </a:solidFill>
              </a:rPr>
              <a:pPr/>
              <a:t>21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64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64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4100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6AD129-8971-F247-9179-E74BD49AE4FB}" type="slidenum">
              <a:rPr lang="en-GB">
                <a:solidFill>
                  <a:srgbClr val="000000"/>
                </a:solidFill>
              </a:rPr>
              <a:pPr/>
              <a:t>22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710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710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841128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35867A-0220-684F-93DD-22C87E6BFF75}" type="slidenum">
              <a:rPr lang="en-GB">
                <a:solidFill>
                  <a:srgbClr val="000000"/>
                </a:solidFill>
              </a:rPr>
              <a:pPr/>
              <a:t>23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75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75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966454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6FBF99-3E2D-8045-BD06-B009A0552027}" type="slidenum">
              <a:rPr lang="en-GB">
                <a:solidFill>
                  <a:srgbClr val="000000"/>
                </a:solidFill>
              </a:rPr>
              <a:pPr/>
              <a:t>24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85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85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195034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565596-3DD6-2C43-BC80-30CF8AB521B9}" type="slidenum">
              <a:rPr lang="en-GB">
                <a:solidFill>
                  <a:srgbClr val="000000"/>
                </a:solidFill>
              </a:rPr>
              <a:pPr/>
              <a:t>25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471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471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4725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Foundation Course in Software Testing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>
                <a:solidFill>
                  <a:srgbClr val="000000"/>
                </a:solidFill>
              </a:rPr>
              <a:t>Copyright Systeme Evolutif 2006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D9E87E-D5C9-2D47-A5FC-30F264542DD7}" type="slidenum">
              <a:rPr lang="en-GB">
                <a:solidFill>
                  <a:srgbClr val="000000"/>
                </a:solidFill>
              </a:rPr>
              <a:pPr/>
              <a:t>26</a:t>
            </a:fld>
            <a:endParaRPr lang="en-GB">
              <a:solidFill>
                <a:srgbClr val="000000"/>
              </a:solidFill>
            </a:endParaRPr>
          </a:p>
        </p:txBody>
      </p:sp>
      <p:sp>
        <p:nvSpPr>
          <p:cNvPr id="3387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3387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851043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ga-IE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809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19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637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7684" y="1676400"/>
            <a:ext cx="5196416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7300" y="1676400"/>
            <a:ext cx="5198533" cy="4705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96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74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465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796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64788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ga-I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81585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849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82051" y="266700"/>
            <a:ext cx="2753783" cy="6115050"/>
          </a:xfrm>
        </p:spPr>
        <p:txBody>
          <a:bodyPr vert="eaVert"/>
          <a:lstStyle/>
          <a:p>
            <a:r>
              <a:rPr lang="ga-IE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8584" y="266700"/>
            <a:ext cx="8060267" cy="6115050"/>
          </a:xfrm>
        </p:spPr>
        <p:txBody>
          <a:bodyPr vert="eaVert"/>
          <a:lstStyle/>
          <a:p>
            <a:pPr lvl="0"/>
            <a:r>
              <a:rPr lang="ga-IE"/>
              <a:t>Click to edit Master text styles</a:t>
            </a:r>
          </a:p>
          <a:p>
            <a:pPr lvl="1"/>
            <a:r>
              <a:rPr lang="ga-IE"/>
              <a:t>Second level</a:t>
            </a:r>
          </a:p>
          <a:p>
            <a:pPr lvl="2"/>
            <a:r>
              <a:rPr lang="ga-IE"/>
              <a:t>Third level</a:t>
            </a:r>
          </a:p>
          <a:p>
            <a:pPr lvl="3"/>
            <a:r>
              <a:rPr lang="ga-IE"/>
              <a:t>Fourth level</a:t>
            </a:r>
          </a:p>
          <a:p>
            <a:pPr lvl="4"/>
            <a:r>
              <a:rPr lang="ga-IE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285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6978" name="Line 2"/>
          <p:cNvSpPr>
            <a:spLocks noChangeShapeType="1"/>
          </p:cNvSpPr>
          <p:nvPr/>
        </p:nvSpPr>
        <p:spPr bwMode="auto">
          <a:xfrm>
            <a:off x="2117" y="1484313"/>
            <a:ext cx="12088283" cy="0"/>
          </a:xfrm>
          <a:prstGeom prst="line">
            <a:avLst/>
          </a:prstGeom>
          <a:noFill/>
          <a:ln w="50800">
            <a:solidFill>
              <a:schemeClr val="bg2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1406979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518584" y="266700"/>
            <a:ext cx="10860616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406980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937684" y="1676400"/>
            <a:ext cx="10598149" cy="470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06982" name="Rectangle 6"/>
          <p:cNvSpPr>
            <a:spLocks noChangeArrowheads="1"/>
          </p:cNvSpPr>
          <p:nvPr/>
        </p:nvSpPr>
        <p:spPr bwMode="auto">
          <a:xfrm>
            <a:off x="10896600" y="6400801"/>
            <a:ext cx="601133" cy="24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fld id="{3739EF48-B9D0-924E-B728-EC9AFAE91669}" type="slidenum">
              <a:rPr lang="en-US" sz="1000">
                <a:solidFill>
                  <a:srgbClr val="00279F"/>
                </a:solidFill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sz="1000">
              <a:solidFill>
                <a:srgbClr val="00279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6078578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2pPr>
      <a:lvl3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3pPr>
      <a:lvl4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4pPr>
      <a:lvl5pPr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 sz="2800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bg1"/>
        </a:buClr>
        <a:defRPr sz="2400">
          <a:solidFill>
            <a:schemeClr val="bg2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 sz="2000">
          <a:solidFill>
            <a:schemeClr val="bg2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Font typeface="Monotype Sorts" charset="0"/>
        <a:defRPr>
          <a:solidFill>
            <a:schemeClr val="bg2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defRPr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4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Test Levels</a:t>
            </a:r>
          </a:p>
        </p:txBody>
      </p:sp>
    </p:spTree>
    <p:extLst>
      <p:ext uri="{BB962C8B-B14F-4D97-AF65-F5344CB8AC3E}">
        <p14:creationId xmlns:p14="http://schemas.microsoft.com/office/powerpoint/2010/main" val="3942343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6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Software System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8560" y="4466307"/>
            <a:ext cx="7873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Unit 1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68570" y="3338003"/>
            <a:ext cx="156966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Component 1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44227" y="2660895"/>
            <a:ext cx="9541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System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88604" y="3393287"/>
            <a:ext cx="2018501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Integration testing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630529" y="4175418"/>
            <a:ext cx="2095445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Regression testing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109398" y="4454748"/>
            <a:ext cx="128753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Unit 2, etc.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77341" y="3338003"/>
            <a:ext cx="155683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Comp. n, etc.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90747" y="4477866"/>
            <a:ext cx="787395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Unit 3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35500" y="4454748"/>
            <a:ext cx="128753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Unit 4, etc.</a:t>
            </a:r>
            <a:endParaRPr lang="en-IE" dirty="0">
              <a:solidFill>
                <a:srgbClr val="000000"/>
              </a:solidFill>
            </a:endParaRPr>
          </a:p>
        </p:txBody>
      </p:sp>
      <p:cxnSp>
        <p:nvCxnSpPr>
          <p:cNvPr id="5" name="Straight Connector 4"/>
          <p:cNvCxnSpPr>
            <a:stCxn id="3" idx="0"/>
            <a:endCxn id="6" idx="2"/>
          </p:cNvCxnSpPr>
          <p:nvPr/>
        </p:nvCxnSpPr>
        <p:spPr bwMode="auto">
          <a:xfrm flipV="1">
            <a:off x="4642258" y="3707335"/>
            <a:ext cx="1011143" cy="75897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>
            <a:stCxn id="21" idx="0"/>
            <a:endCxn id="6" idx="2"/>
          </p:cNvCxnSpPr>
          <p:nvPr/>
        </p:nvCxnSpPr>
        <p:spPr bwMode="auto">
          <a:xfrm flipH="1" flipV="1">
            <a:off x="5653400" y="3707336"/>
            <a:ext cx="99764" cy="747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0" name="Straight Connector 29"/>
          <p:cNvCxnSpPr>
            <a:stCxn id="24" idx="0"/>
            <a:endCxn id="22" idx="2"/>
          </p:cNvCxnSpPr>
          <p:nvPr/>
        </p:nvCxnSpPr>
        <p:spPr bwMode="auto">
          <a:xfrm flipH="1" flipV="1">
            <a:off x="7555760" y="3707336"/>
            <a:ext cx="523507" cy="74741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3" name="Straight Connector 32"/>
          <p:cNvCxnSpPr>
            <a:stCxn id="23" idx="0"/>
            <a:endCxn id="22" idx="2"/>
          </p:cNvCxnSpPr>
          <p:nvPr/>
        </p:nvCxnSpPr>
        <p:spPr bwMode="auto">
          <a:xfrm flipV="1">
            <a:off x="6784445" y="3707336"/>
            <a:ext cx="771315" cy="77053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6" name="Straight Connector 35"/>
          <p:cNvCxnSpPr>
            <a:stCxn id="6" idx="0"/>
            <a:endCxn id="7" idx="2"/>
          </p:cNvCxnSpPr>
          <p:nvPr/>
        </p:nvCxnSpPr>
        <p:spPr bwMode="auto">
          <a:xfrm flipV="1">
            <a:off x="5653400" y="3030227"/>
            <a:ext cx="967880" cy="307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39" name="Straight Connector 38"/>
          <p:cNvCxnSpPr>
            <a:stCxn id="22" idx="0"/>
            <a:endCxn id="7" idx="2"/>
          </p:cNvCxnSpPr>
          <p:nvPr/>
        </p:nvCxnSpPr>
        <p:spPr bwMode="auto">
          <a:xfrm flipH="1" flipV="1">
            <a:off x="6621281" y="3030227"/>
            <a:ext cx="934479" cy="3077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40" name="TextBox 39"/>
          <p:cNvSpPr txBox="1"/>
          <p:nvPr/>
        </p:nvSpPr>
        <p:spPr>
          <a:xfrm>
            <a:off x="2351585" y="5152257"/>
            <a:ext cx="1116909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Unit Testing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19736" y="5485978"/>
            <a:ext cx="12618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Function 1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047290" y="5485979"/>
            <a:ext cx="125712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Funct</a:t>
            </a:r>
            <a:r>
              <a:rPr lang="en-US" dirty="0">
                <a:solidFill>
                  <a:srgbClr val="000000"/>
                </a:solidFill>
              </a:rPr>
              <a:t> 2, etc.</a:t>
            </a:r>
            <a:endParaRPr lang="en-IE" dirty="0">
              <a:solidFill>
                <a:srgbClr val="000000"/>
              </a:solidFill>
            </a:endParaRPr>
          </a:p>
        </p:txBody>
      </p:sp>
      <p:cxnSp>
        <p:nvCxnSpPr>
          <p:cNvPr id="45" name="Straight Connector 44"/>
          <p:cNvCxnSpPr>
            <a:stCxn id="43" idx="0"/>
            <a:endCxn id="3" idx="2"/>
          </p:cNvCxnSpPr>
          <p:nvPr/>
        </p:nvCxnSpPr>
        <p:spPr bwMode="auto">
          <a:xfrm flipV="1">
            <a:off x="4350678" y="4835639"/>
            <a:ext cx="291580" cy="65033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48" name="Straight Connector 47"/>
          <p:cNvCxnSpPr>
            <a:stCxn id="44" idx="0"/>
            <a:endCxn id="3" idx="2"/>
          </p:cNvCxnSpPr>
          <p:nvPr/>
        </p:nvCxnSpPr>
        <p:spPr bwMode="auto">
          <a:xfrm flipH="1" flipV="1">
            <a:off x="4642258" y="4835639"/>
            <a:ext cx="1033595" cy="6503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51" name="TextBox 50"/>
          <p:cNvSpPr txBox="1"/>
          <p:nvPr/>
        </p:nvSpPr>
        <p:spPr>
          <a:xfrm>
            <a:off x="4631290" y="1844824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>
                <a:solidFill>
                  <a:srgbClr val="000000"/>
                </a:solidFill>
              </a:rPr>
              <a:t>Software System Decomposition</a:t>
            </a:r>
            <a:endParaRPr lang="en-IE" u="sng" dirty="0">
              <a:solidFill>
                <a:srgbClr val="00000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441900" y="5494266"/>
            <a:ext cx="126188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Function 3</a:t>
            </a:r>
            <a:endParaRPr lang="en-IE" dirty="0">
              <a:solidFill>
                <a:srgbClr val="00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780743" y="5494267"/>
            <a:ext cx="1257125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</a:rPr>
              <a:t>Funct</a:t>
            </a:r>
            <a:r>
              <a:rPr lang="en-US" dirty="0">
                <a:solidFill>
                  <a:srgbClr val="000000"/>
                </a:solidFill>
              </a:rPr>
              <a:t> 4, etc.</a:t>
            </a:r>
            <a:endParaRPr lang="en-IE" dirty="0">
              <a:solidFill>
                <a:srgbClr val="000000"/>
              </a:solidFill>
            </a:endParaRPr>
          </a:p>
        </p:txBody>
      </p:sp>
      <p:cxnSp>
        <p:nvCxnSpPr>
          <p:cNvPr id="54" name="Straight Connector 53"/>
          <p:cNvCxnSpPr>
            <a:stCxn id="52" idx="0"/>
            <a:endCxn id="21" idx="2"/>
          </p:cNvCxnSpPr>
          <p:nvPr/>
        </p:nvCxnSpPr>
        <p:spPr bwMode="auto">
          <a:xfrm flipH="1" flipV="1">
            <a:off x="5753164" y="4824080"/>
            <a:ext cx="1319678" cy="6701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cxnSp>
        <p:nvCxnSpPr>
          <p:cNvPr id="55" name="Straight Connector 54"/>
          <p:cNvCxnSpPr>
            <a:stCxn id="53" idx="0"/>
            <a:endCxn id="21" idx="2"/>
          </p:cNvCxnSpPr>
          <p:nvPr/>
        </p:nvCxnSpPr>
        <p:spPr bwMode="auto">
          <a:xfrm flipH="1" flipV="1">
            <a:off x="5753164" y="4824080"/>
            <a:ext cx="2656142" cy="67018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</p:cxnSp>
      <p:sp>
        <p:nvSpPr>
          <p:cNvPr id="63" name="TextBox 62"/>
          <p:cNvSpPr txBox="1"/>
          <p:nvPr/>
        </p:nvSpPr>
        <p:spPr>
          <a:xfrm>
            <a:off x="7336411" y="2616297"/>
            <a:ext cx="3762633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System testing, Acceptance testing</a:t>
            </a:r>
            <a:endParaRPr lang="en-IE" dirty="0">
              <a:solidFill>
                <a:srgbClr val="FF0000"/>
              </a:solidFill>
            </a:endParaRPr>
          </a:p>
        </p:txBody>
      </p:sp>
      <p:sp>
        <p:nvSpPr>
          <p:cNvPr id="60" name="Left Brace 59"/>
          <p:cNvSpPr/>
          <p:nvPr/>
        </p:nvSpPr>
        <p:spPr bwMode="auto">
          <a:xfrm>
            <a:off x="3420202" y="4539603"/>
            <a:ext cx="299535" cy="1496494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IE" sz="1600">
              <a:latin typeface="Arial" charset="0"/>
              <a:ea typeface="ＭＳ Ｐゴシック" charset="0"/>
            </a:endParaRPr>
          </a:p>
        </p:txBody>
      </p:sp>
      <p:sp>
        <p:nvSpPr>
          <p:cNvPr id="65" name="Left Brace 64"/>
          <p:cNvSpPr/>
          <p:nvPr/>
        </p:nvSpPr>
        <p:spPr bwMode="auto">
          <a:xfrm>
            <a:off x="3913838" y="2762026"/>
            <a:ext cx="299535" cy="1617888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IE" sz="1600">
              <a:latin typeface="Arial" charset="0"/>
              <a:ea typeface="ＭＳ Ｐゴシック" charset="0"/>
            </a:endParaRPr>
          </a:p>
        </p:txBody>
      </p:sp>
      <p:sp>
        <p:nvSpPr>
          <p:cNvPr id="61" name="Right Brace 60"/>
          <p:cNvSpPr/>
          <p:nvPr/>
        </p:nvSpPr>
        <p:spPr bwMode="auto">
          <a:xfrm>
            <a:off x="7248129" y="2533546"/>
            <a:ext cx="145645" cy="504056"/>
          </a:xfrm>
          <a:prstGeom prst="righ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IE" sz="1600">
              <a:latin typeface="Arial" charset="0"/>
              <a:ea typeface="ＭＳ Ｐゴシック" charset="0"/>
            </a:endParaRPr>
          </a:p>
        </p:txBody>
      </p:sp>
      <p:sp>
        <p:nvSpPr>
          <p:cNvPr id="68" name="Left Brace 67"/>
          <p:cNvSpPr/>
          <p:nvPr/>
        </p:nvSpPr>
        <p:spPr bwMode="auto">
          <a:xfrm>
            <a:off x="1844251" y="2774979"/>
            <a:ext cx="178364" cy="3174301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IE" sz="1600">
              <a:latin typeface="Arial" charset="0"/>
              <a:ea typeface="ＭＳ Ｐゴシック" charset="0"/>
            </a:endParaRPr>
          </a:p>
        </p:txBody>
      </p:sp>
      <p:sp>
        <p:nvSpPr>
          <p:cNvPr id="34" name="Left Brace 33"/>
          <p:cNvSpPr/>
          <p:nvPr/>
        </p:nvSpPr>
        <p:spPr bwMode="auto">
          <a:xfrm flipH="1">
            <a:off x="10199360" y="3338002"/>
            <a:ext cx="428666" cy="3032817"/>
          </a:xfrm>
          <a:prstGeom prst="leftBrac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IE" sz="1600">
              <a:latin typeface="Arial" charset="0"/>
              <a:ea typeface="ＭＳ Ｐゴシック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672609" y="4565711"/>
            <a:ext cx="683200" cy="307777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Pyunit</a:t>
            </a:r>
            <a:endParaRPr lang="en-I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8172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8" grpId="0"/>
      <p:bldP spid="10" grpId="0"/>
      <p:bldP spid="21" grpId="0" animBg="1"/>
      <p:bldP spid="22" grpId="0" animBg="1"/>
      <p:bldP spid="23" grpId="0" animBg="1"/>
      <p:bldP spid="24" grpId="0" animBg="1"/>
      <p:bldP spid="40" grpId="0"/>
      <p:bldP spid="43" grpId="0" animBg="1"/>
      <p:bldP spid="44" grpId="0" animBg="1"/>
      <p:bldP spid="51" grpId="0"/>
      <p:bldP spid="52" grpId="0" animBg="1"/>
      <p:bldP spid="53" grpId="0" animBg="1"/>
      <p:bldP spid="63" grpId="0"/>
      <p:bldP spid="60" grpId="0" animBg="1"/>
      <p:bldP spid="65" grpId="0" animBg="1"/>
      <p:bldP spid="61" grpId="0" animBg="1"/>
      <p:bldP spid="68" grpId="0" animBg="1"/>
      <p:bldP spid="34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85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Driven Development (TDD)</a:t>
            </a:r>
          </a:p>
        </p:txBody>
      </p:sp>
      <p:sp>
        <p:nvSpPr>
          <p:cNvPr id="33085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38150" y="1676400"/>
            <a:ext cx="11326283" cy="4705350"/>
          </a:xfrm>
        </p:spPr>
        <p:txBody>
          <a:bodyPr/>
          <a:lstStyle/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A philosophy whereby we start by asking the question “How can I test this?” or “Can this be tested?” or “How will I test this?”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Not uniquely tied to any particular testing phase – but it a way of thinking about any type of testing / development.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Why bother with TDD?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It places an emphasis on thinking about the operation of the software once completed.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If it cannot be tested, it should not be implemented? 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Or: no point implementing something if we cannot test it? 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Effective thinking for the early identification of possible defects.</a:t>
            </a:r>
          </a:p>
          <a:p>
            <a:pPr marL="457200" indent="-4572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Forces us to clarify and improvement the completeness of our thinking earlier – which is typically a desirable economic proposition.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8072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6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testing</a:t>
            </a:r>
          </a:p>
        </p:txBody>
      </p:sp>
      <p:sp>
        <p:nvSpPr>
          <p:cNvPr id="33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component can be a single unit or a collection of units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chemeClr val="bg1"/>
                </a:solidFill>
              </a:rPr>
              <a:t>first dynamic test stage </a:t>
            </a:r>
            <a:r>
              <a:rPr lang="en-US" dirty="0"/>
              <a:t>is sometimes considered to be component testing – though in a contemporary sense, this is probably framework driven unit testing.</a:t>
            </a:r>
          </a:p>
          <a:p>
            <a:r>
              <a:rPr lang="en-US" dirty="0"/>
              <a:t>Performed on components in </a:t>
            </a:r>
            <a:r>
              <a:rPr lang="en-US" b="1" dirty="0"/>
              <a:t>isolation.</a:t>
            </a:r>
          </a:p>
          <a:p>
            <a:r>
              <a:rPr lang="en-US" b="1" dirty="0"/>
              <a:t>Stubs</a:t>
            </a:r>
            <a:r>
              <a:rPr lang="en-US" dirty="0"/>
              <a:t>, </a:t>
            </a:r>
            <a:r>
              <a:rPr lang="en-US" b="1" dirty="0"/>
              <a:t>drivers</a:t>
            </a:r>
            <a:r>
              <a:rPr lang="en-US" dirty="0"/>
              <a:t> and </a:t>
            </a:r>
            <a:r>
              <a:rPr lang="en-US" b="1" dirty="0"/>
              <a:t>simulators</a:t>
            </a:r>
            <a:r>
              <a:rPr lang="en-US" dirty="0"/>
              <a:t> may be used.</a:t>
            </a:r>
          </a:p>
          <a:p>
            <a:r>
              <a:rPr lang="en-US" dirty="0"/>
              <a:t>May include testing of </a:t>
            </a:r>
            <a:r>
              <a:rPr lang="en-US" b="1" dirty="0"/>
              <a:t>some non-functional </a:t>
            </a:r>
            <a:r>
              <a:rPr lang="en-US" dirty="0"/>
              <a:t>characteristics.</a:t>
            </a:r>
          </a:p>
          <a:p>
            <a:r>
              <a:rPr lang="en-US" dirty="0"/>
              <a:t>Typically, a technical activity, performed by </a:t>
            </a:r>
            <a:r>
              <a:rPr lang="en-US" b="1" dirty="0"/>
              <a:t>programmers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1491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4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Integration testing</a:t>
            </a:r>
          </a:p>
        </p:txBody>
      </p:sp>
      <p:sp>
        <p:nvSpPr>
          <p:cNvPr id="3324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Many components may be </a:t>
            </a:r>
            <a:r>
              <a:rPr lang="en-US" i="1" dirty="0"/>
              <a:t>integrated </a:t>
            </a:r>
            <a:r>
              <a:rPr lang="en-US" dirty="0"/>
              <a:t>into a large system.</a:t>
            </a:r>
          </a:p>
          <a:p>
            <a:r>
              <a:rPr lang="en-US" dirty="0"/>
              <a:t>When components are integrated into a system, we may need to perform dedicated integration testing. </a:t>
            </a:r>
          </a:p>
          <a:p>
            <a:r>
              <a:rPr lang="en-US" dirty="0"/>
              <a:t>Integration testing is based on the build and integration sequence</a:t>
            </a:r>
          </a:p>
          <a:p>
            <a:r>
              <a:rPr lang="en-US" dirty="0"/>
              <a:t>An incremental approach may be used – testing for high level features first. </a:t>
            </a:r>
          </a:p>
          <a:p>
            <a:r>
              <a:rPr lang="en-US" dirty="0"/>
              <a:t>A technical activity, performed by the developers, like component testing. Sometimes performed by testers? </a:t>
            </a:r>
          </a:p>
        </p:txBody>
      </p:sp>
    </p:spTree>
    <p:extLst>
      <p:ext uri="{BB962C8B-B14F-4D97-AF65-F5344CB8AC3E}">
        <p14:creationId xmlns:p14="http://schemas.microsoft.com/office/powerpoint/2010/main" val="1705609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Software integration and Component Integration testing</a:t>
            </a:r>
          </a:p>
        </p:txBody>
      </p:sp>
      <p:sp>
        <p:nvSpPr>
          <p:cNvPr id="33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Integration and integration testing is not well understood</a:t>
            </a:r>
          </a:p>
          <a:p>
            <a:pPr>
              <a:lnSpc>
                <a:spcPct val="90000"/>
              </a:lnSpc>
            </a:pPr>
            <a:r>
              <a:rPr lang="en-US" sz="2400" dirty="0"/>
              <a:t>In the coding stage, you are performing "integration in the very small"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rgbClr val="FF0000"/>
                </a:solidFill>
              </a:rPr>
              <a:t>Strategies for coding and integration</a:t>
            </a:r>
            <a:r>
              <a:rPr lang="en-US" sz="2400" dirty="0"/>
              <a:t>: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bottom up, top down, "big bang"</a:t>
            </a:r>
          </a:p>
          <a:p>
            <a:pPr lvl="1">
              <a:lnSpc>
                <a:spcPct val="90000"/>
              </a:lnSpc>
            </a:pPr>
            <a:r>
              <a:rPr lang="en-US" sz="2000" dirty="0"/>
              <a:t>appropriate in different situations</a:t>
            </a:r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9773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Stubs and top down testing</a:t>
            </a:r>
          </a:p>
        </p:txBody>
      </p:sp>
      <p:pic>
        <p:nvPicPr>
          <p:cNvPr id="3329027" name="Picture 3" descr="stubstopdow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484314"/>
            <a:ext cx="7416800" cy="494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1524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1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Drivers and bottom up testing</a:t>
            </a:r>
          </a:p>
        </p:txBody>
      </p:sp>
      <p:pic>
        <p:nvPicPr>
          <p:cNvPr id="3331075" name="Picture 3" descr="driverbottomup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1484314"/>
            <a:ext cx="7416800" cy="4949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154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does a stub or driver look like?</a:t>
            </a:r>
          </a:p>
        </p:txBody>
      </p:sp>
      <p:sp>
        <p:nvSpPr>
          <p:cNvPr id="33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Stubs and drivers can take many forms.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/>
              <a:t>They can be implemented in a script that interacts with the software under test.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/>
              <a:t>They can be implemented as a separate program, perhaps written in the same programming language (perhaps not).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r>
              <a:rPr lang="en-US" sz="2400" dirty="0"/>
              <a:t>May use a 3</a:t>
            </a:r>
            <a:r>
              <a:rPr lang="en-US" sz="2400" baseline="30000" dirty="0"/>
              <a:t>rd</a:t>
            </a:r>
            <a:r>
              <a:rPr lang="en-US" sz="2400" dirty="0"/>
              <a:t> party product to build a stub or driver.</a:t>
            </a:r>
          </a:p>
          <a:p>
            <a:pPr marL="457200" indent="-457200">
              <a:lnSpc>
                <a:spcPct val="90000"/>
              </a:lnSpc>
              <a:buAutoNum type="arabicPeriod"/>
            </a:pPr>
            <a:endParaRPr lang="en-US" sz="2400" dirty="0"/>
          </a:p>
          <a:p>
            <a:pPr marL="0" indent="0">
              <a:lnSpc>
                <a:spcPct val="90000"/>
              </a:lnSpc>
            </a:pPr>
            <a:r>
              <a:rPr lang="en-US" sz="2400" dirty="0"/>
              <a:t>Stubs/Drivers: May include logging and recording for tests, and automated checking of logs </a:t>
            </a:r>
            <a:r>
              <a:rPr lang="en-US" sz="2400"/>
              <a:t>for errors. </a:t>
            </a:r>
            <a:endParaRPr lang="en-US" sz="2400" dirty="0"/>
          </a:p>
          <a:p>
            <a:pPr marL="457200" indent="-457200">
              <a:lnSpc>
                <a:spcPct val="90000"/>
              </a:lnSpc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89414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Note of caution on terminology</a:t>
            </a:r>
          </a:p>
        </p:txBody>
      </p:sp>
      <p:sp>
        <p:nvSpPr>
          <p:cNvPr id="33269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distinction that we have drawn between Stubs and Drivers may not be generally held in practice. </a:t>
            </a:r>
          </a:p>
        </p:txBody>
      </p:sp>
    </p:spTree>
    <p:extLst>
      <p:ext uri="{BB962C8B-B14F-4D97-AF65-F5344CB8AC3E}">
        <p14:creationId xmlns:p14="http://schemas.microsoft.com/office/powerpoint/2010/main" val="2965645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Mixed integration strategy</a:t>
            </a:r>
          </a:p>
        </p:txBody>
      </p:sp>
      <p:pic>
        <p:nvPicPr>
          <p:cNvPr id="3333123" name="Picture 3" descr="mixedintstr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455738"/>
            <a:ext cx="7488238" cy="499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951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5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Component Integration testing</a:t>
            </a:r>
          </a:p>
        </p:txBody>
      </p:sp>
      <p:sp>
        <p:nvSpPr>
          <p:cNvPr id="33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Tests </a:t>
            </a:r>
            <a:r>
              <a:rPr lang="en-US" sz="2400" b="1" dirty="0">
                <a:solidFill>
                  <a:srgbClr val="FF0000"/>
                </a:solidFill>
              </a:rPr>
              <a:t>designed to explore direct and indirect interfaces </a:t>
            </a:r>
            <a:r>
              <a:rPr lang="en-US" sz="2400" dirty="0"/>
              <a:t>and consistency between components.</a:t>
            </a:r>
          </a:p>
          <a:p>
            <a:r>
              <a:rPr lang="en-US" sz="2400" dirty="0"/>
              <a:t>First stage where products of several programmers are combined</a:t>
            </a:r>
          </a:p>
          <a:p>
            <a:r>
              <a:rPr lang="en-US" sz="2400" dirty="0"/>
              <a:t>Can </a:t>
            </a:r>
            <a:r>
              <a:rPr lang="en-US" sz="2400" b="1" dirty="0"/>
              <a:t>reveal</a:t>
            </a:r>
            <a:r>
              <a:rPr lang="en-US" sz="2400" dirty="0"/>
              <a:t> consequences of </a:t>
            </a:r>
            <a:r>
              <a:rPr lang="en-US" sz="2400" b="1" dirty="0"/>
              <a:t>inconsistent assumptions or bad communication</a:t>
            </a:r>
          </a:p>
          <a:p>
            <a:r>
              <a:rPr lang="en-US" sz="2400" dirty="0"/>
              <a:t>Usually performed by an individual within a development group – but can be the responsibility of a small dedicated team.</a:t>
            </a:r>
          </a:p>
        </p:txBody>
      </p:sp>
    </p:spTree>
    <p:extLst>
      <p:ext uri="{BB962C8B-B14F-4D97-AF65-F5344CB8AC3E}">
        <p14:creationId xmlns:p14="http://schemas.microsoft.com/office/powerpoint/2010/main" val="37578160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 of interfaces</a:t>
            </a:r>
          </a:p>
        </p:txBody>
      </p:sp>
      <p:sp>
        <p:nvSpPr>
          <p:cNvPr id="3339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Statements which transfer control between programs</a:t>
            </a:r>
          </a:p>
          <a:p>
            <a:r>
              <a:rPr lang="en-US" dirty="0"/>
              <a:t>Parameters passed from program to program.</a:t>
            </a:r>
          </a:p>
          <a:p>
            <a:r>
              <a:rPr lang="en-US" dirty="0"/>
              <a:t>Variables defined at the time of transfer</a:t>
            </a:r>
          </a:p>
        </p:txBody>
      </p:sp>
    </p:spTree>
    <p:extLst>
      <p:ext uri="{BB962C8B-B14F-4D97-AF65-F5344CB8AC3E}">
        <p14:creationId xmlns:p14="http://schemas.microsoft.com/office/powerpoint/2010/main" val="1731504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31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 testing / defects</a:t>
            </a:r>
          </a:p>
        </p:txBody>
      </p:sp>
      <p:sp>
        <p:nvSpPr>
          <p:cNvPr id="3341319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White-box oriented</a:t>
            </a:r>
          </a:p>
          <a:p>
            <a:pPr>
              <a:lnSpc>
                <a:spcPct val="90000"/>
              </a:lnSpc>
            </a:pPr>
            <a:r>
              <a:rPr lang="en-US" dirty="0"/>
              <a:t>Integration faults reveal project communication failures</a:t>
            </a:r>
          </a:p>
          <a:p>
            <a:pPr>
              <a:lnSpc>
                <a:spcPct val="90000"/>
              </a:lnSpc>
            </a:pPr>
            <a:r>
              <a:rPr lang="en-US" dirty="0"/>
              <a:t>Transfer of control to the wrong routine</a:t>
            </a:r>
          </a:p>
          <a:p>
            <a:pPr>
              <a:lnSpc>
                <a:spcPct val="90000"/>
              </a:lnSpc>
            </a:pPr>
            <a:r>
              <a:rPr lang="en-US" dirty="0"/>
              <a:t>Wrong type (hierarchical or lateral) of transfer of control</a:t>
            </a:r>
          </a:p>
          <a:p>
            <a:pPr>
              <a:lnSpc>
                <a:spcPct val="90000"/>
              </a:lnSpc>
            </a:pPr>
            <a:r>
              <a:rPr lang="en-US" dirty="0"/>
              <a:t>Incorrect type, number or order of parameters.</a:t>
            </a:r>
          </a:p>
          <a:p>
            <a:pPr>
              <a:lnSpc>
                <a:spcPct val="90000"/>
              </a:lnSpc>
            </a:pPr>
            <a:r>
              <a:rPr lang="en-US" dirty="0"/>
              <a:t>Programs validate common data inconsistently</a:t>
            </a:r>
          </a:p>
          <a:p>
            <a:pPr>
              <a:lnSpc>
                <a:spcPct val="90000"/>
              </a:lnSpc>
            </a:pPr>
            <a:r>
              <a:rPr lang="en-US" dirty="0"/>
              <a:t>Read-only parameters or global data that is written to.</a:t>
            </a:r>
          </a:p>
        </p:txBody>
      </p:sp>
    </p:spTree>
    <p:extLst>
      <p:ext uri="{BB962C8B-B14F-4D97-AF65-F5344CB8AC3E}">
        <p14:creationId xmlns:p14="http://schemas.microsoft.com/office/powerpoint/2010/main" val="4174238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Global data</a:t>
            </a:r>
          </a:p>
        </p:txBody>
      </p:sp>
      <p:sp>
        <p:nvSpPr>
          <p:cNvPr id="3349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Global data may reduce the memory required by a system</a:t>
            </a:r>
          </a:p>
          <a:p>
            <a:r>
              <a:rPr lang="en-US" dirty="0"/>
              <a:t>May simplify call mechanisms between routines</a:t>
            </a:r>
          </a:p>
          <a:p>
            <a:r>
              <a:rPr lang="en-US" dirty="0"/>
              <a:t>Lazy programmers over-use global data</a:t>
            </a:r>
          </a:p>
          <a:p>
            <a:r>
              <a:rPr lang="en-US" dirty="0"/>
              <a:t>Is error-prone, and can be difficult to debug.</a:t>
            </a:r>
          </a:p>
        </p:txBody>
      </p:sp>
    </p:spTree>
    <p:extLst>
      <p:ext uri="{BB962C8B-B14F-4D97-AF65-F5344CB8AC3E}">
        <p14:creationId xmlns:p14="http://schemas.microsoft.com/office/powerpoint/2010/main" val="15545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49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49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49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49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950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Assumptions about parameters and global data</a:t>
            </a:r>
          </a:p>
        </p:txBody>
      </p:sp>
      <p:sp>
        <p:nvSpPr>
          <p:cNvPr id="33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Assumed </a:t>
            </a:r>
            <a:r>
              <a:rPr lang="en-US" b="1" dirty="0" err="1"/>
              <a:t>initialised</a:t>
            </a:r>
            <a:r>
              <a:rPr lang="en-US" b="1" dirty="0"/>
              <a:t> </a:t>
            </a:r>
            <a:r>
              <a:rPr lang="en-US" dirty="0"/>
              <a:t>e.g.:</a:t>
            </a:r>
          </a:p>
          <a:p>
            <a:pPr lvl="1"/>
            <a:r>
              <a:rPr lang="en-US" dirty="0"/>
              <a:t>assumed set by caller</a:t>
            </a:r>
          </a:p>
          <a:p>
            <a:pPr lvl="1"/>
            <a:r>
              <a:rPr lang="en-US" dirty="0"/>
              <a:t>variable assumed incremented before rather than after a call (or vice versa)</a:t>
            </a:r>
          </a:p>
          <a:p>
            <a:r>
              <a:rPr lang="en-US" dirty="0"/>
              <a:t>Other assumptions:</a:t>
            </a:r>
          </a:p>
          <a:p>
            <a:pPr lvl="1"/>
            <a:r>
              <a:rPr lang="en-US" dirty="0"/>
              <a:t>"ownership" of global data</a:t>
            </a:r>
          </a:p>
          <a:p>
            <a:pPr lvl="1"/>
            <a:r>
              <a:rPr lang="en-US" dirty="0"/>
              <a:t>variables are always correct.</a:t>
            </a:r>
          </a:p>
          <a:p>
            <a:pPr marL="57150" indent="0"/>
            <a:r>
              <a:rPr lang="en-US" dirty="0"/>
              <a:t>Assumptions / expectations need to be teased out through testing and not overlooked. </a:t>
            </a:r>
          </a:p>
        </p:txBody>
      </p:sp>
    </p:spTree>
    <p:extLst>
      <p:ext uri="{BB962C8B-B14F-4D97-AF65-F5344CB8AC3E}">
        <p14:creationId xmlns:p14="http://schemas.microsoft.com/office/powerpoint/2010/main" val="3819755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51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351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51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51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51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351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1555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Inter-module parameter checking</a:t>
            </a:r>
          </a:p>
        </p:txBody>
      </p:sp>
      <p:sp>
        <p:nvSpPr>
          <p:cNvPr id="3353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Does the called routine explicitly check input parameters?</a:t>
            </a:r>
          </a:p>
          <a:p>
            <a:r>
              <a:rPr lang="en-US"/>
              <a:t>Does the calling routine check</a:t>
            </a:r>
          </a:p>
          <a:p>
            <a:pPr lvl="1"/>
            <a:r>
              <a:rPr lang="en-US"/>
              <a:t>called routine return status?</a:t>
            </a:r>
          </a:p>
          <a:p>
            <a:pPr lvl="1"/>
            <a:r>
              <a:rPr lang="en-US"/>
              <a:t>returned values?</a:t>
            </a:r>
          </a:p>
          <a:p>
            <a:r>
              <a:rPr lang="en-US"/>
              <a:t>Programming or interface standards should define whether callers, called or both routines perform checking and under what circumstances.</a:t>
            </a:r>
          </a:p>
        </p:txBody>
      </p:sp>
    </p:spTree>
    <p:extLst>
      <p:ext uri="{BB962C8B-B14F-4D97-AF65-F5344CB8AC3E}">
        <p14:creationId xmlns:p14="http://schemas.microsoft.com/office/powerpoint/2010/main" val="4162645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3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53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53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53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53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360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and Acceptance Testing</a:t>
            </a:r>
          </a:p>
        </p:txBody>
      </p:sp>
      <p:sp>
        <p:nvSpPr>
          <p:cNvPr id="3355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and acceptance testing </a:t>
            </a:r>
            <a:r>
              <a:rPr lang="en-US" b="1" dirty="0">
                <a:solidFill>
                  <a:srgbClr val="FF0000"/>
                </a:solidFill>
              </a:rPr>
              <a:t>focus on the testing of complete systems</a:t>
            </a:r>
          </a:p>
          <a:p>
            <a:r>
              <a:rPr lang="en-US" dirty="0"/>
              <a:t>System testing has multiple "drivers".</a:t>
            </a:r>
          </a:p>
        </p:txBody>
      </p:sp>
    </p:spTree>
    <p:extLst>
      <p:ext uri="{BB962C8B-B14F-4D97-AF65-F5344CB8AC3E}">
        <p14:creationId xmlns:p14="http://schemas.microsoft.com/office/powerpoint/2010/main" val="1492973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5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55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565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9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testing</a:t>
            </a:r>
          </a:p>
        </p:txBody>
      </p:sp>
      <p:sp>
        <p:nvSpPr>
          <p:cNvPr id="3359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3916" y="1591336"/>
            <a:ext cx="11301917" cy="4705350"/>
          </a:xfrm>
        </p:spPr>
        <p:txBody>
          <a:bodyPr/>
          <a:lstStyle/>
          <a:p>
            <a:r>
              <a:rPr lang="en-US" sz="2400" dirty="0"/>
              <a:t>A </a:t>
            </a:r>
            <a:r>
              <a:rPr lang="en-US" sz="2400" b="1" dirty="0">
                <a:solidFill>
                  <a:srgbClr val="FF0000"/>
                </a:solidFill>
              </a:rPr>
              <a:t>systematic demonstration that all features are available and work as specified</a:t>
            </a:r>
          </a:p>
          <a:p>
            <a:r>
              <a:rPr lang="en-US" sz="2400" b="1" dirty="0"/>
              <a:t>Coverage of all documented features (not code)</a:t>
            </a:r>
            <a:r>
              <a:rPr lang="en-US" sz="2400" dirty="0"/>
              <a:t>, conditions, system states is the imperative</a:t>
            </a:r>
          </a:p>
          <a:p>
            <a:r>
              <a:rPr lang="en-US" sz="2400" b="1" dirty="0"/>
              <a:t>Tests designed around baseline document(s) [i.e. not based on the implementation details]</a:t>
            </a:r>
          </a:p>
          <a:p>
            <a:r>
              <a:rPr lang="en-US" sz="2400" b="1" dirty="0"/>
              <a:t>Functional and non-functional requirements </a:t>
            </a:r>
            <a:r>
              <a:rPr lang="en-US" sz="2400" dirty="0"/>
              <a:t>are covered.</a:t>
            </a:r>
          </a:p>
          <a:p>
            <a:r>
              <a:rPr lang="en-US" sz="2400" dirty="0"/>
              <a:t>Often, non-functional requirements can be poorly defined and are last to be performed – but can be difficult to resolve issues in this area (e.g. functionality is delivered but performance is poor).</a:t>
            </a:r>
          </a:p>
          <a:p>
            <a:r>
              <a:rPr lang="en-US" sz="2400" dirty="0"/>
              <a:t>Non-functional requirements are therefore just as important as functional requirements but may be last to be evaluated (and indeed, sometimes unclear until the operational environment is made available).</a:t>
            </a:r>
          </a:p>
        </p:txBody>
      </p:sp>
    </p:spTree>
    <p:extLst>
      <p:ext uri="{BB962C8B-B14F-4D97-AF65-F5344CB8AC3E}">
        <p14:creationId xmlns:p14="http://schemas.microsoft.com/office/powerpoint/2010/main" val="74213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5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59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5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59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59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5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597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Functional and non-functional system testing</a:t>
            </a:r>
          </a:p>
        </p:txBody>
      </p:sp>
      <p:sp>
        <p:nvSpPr>
          <p:cNvPr id="3361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System functional and non-functional testing</a:t>
            </a:r>
          </a:p>
          <a:p>
            <a:r>
              <a:rPr lang="en-US"/>
              <a:t>Functional system testing</a:t>
            </a:r>
          </a:p>
          <a:p>
            <a:pPr lvl="1"/>
            <a:r>
              <a:rPr lang="en-US"/>
              <a:t>concerned with </a:t>
            </a:r>
            <a:r>
              <a:rPr lang="en-US" b="1"/>
              <a:t>functional requirements</a:t>
            </a:r>
          </a:p>
          <a:p>
            <a:pPr lvl="1"/>
            <a:r>
              <a:rPr lang="en-US"/>
              <a:t>fault-detection a major objective</a:t>
            </a:r>
          </a:p>
          <a:p>
            <a:pPr lvl="1"/>
            <a:r>
              <a:rPr lang="en-US"/>
              <a:t>"</a:t>
            </a:r>
            <a:r>
              <a:rPr lang="en-US" b="1"/>
              <a:t>what</a:t>
            </a:r>
            <a:r>
              <a:rPr lang="en-US"/>
              <a:t> the system must do"</a:t>
            </a:r>
          </a:p>
          <a:p>
            <a:r>
              <a:rPr lang="en-US"/>
              <a:t>Non-functional system testing</a:t>
            </a:r>
          </a:p>
          <a:p>
            <a:pPr lvl="1"/>
            <a:r>
              <a:rPr lang="en-US"/>
              <a:t>concerned with </a:t>
            </a:r>
            <a:r>
              <a:rPr lang="en-US" b="1"/>
              <a:t>non-functional</a:t>
            </a:r>
            <a:r>
              <a:rPr lang="en-US"/>
              <a:t> or technical requirements</a:t>
            </a:r>
          </a:p>
          <a:p>
            <a:pPr lvl="1"/>
            <a:r>
              <a:rPr lang="en-US"/>
              <a:t>"</a:t>
            </a:r>
            <a:r>
              <a:rPr lang="en-US" b="1"/>
              <a:t>how</a:t>
            </a:r>
            <a:r>
              <a:rPr lang="en-US"/>
              <a:t> the system does what it does".</a:t>
            </a:r>
          </a:p>
        </p:txBody>
      </p:sp>
    </p:spTree>
    <p:extLst>
      <p:ext uri="{BB962C8B-B14F-4D97-AF65-F5344CB8AC3E}">
        <p14:creationId xmlns:p14="http://schemas.microsoft.com/office/powerpoint/2010/main" val="33979040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38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Acceptance testing (UAT)</a:t>
            </a:r>
          </a:p>
        </p:txBody>
      </p:sp>
      <p:sp>
        <p:nvSpPr>
          <p:cNvPr id="336384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2000" dirty="0"/>
              <a:t>Done from an end user's viewpoint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Fit with business process is the imperative: </a:t>
            </a:r>
            <a:r>
              <a:rPr lang="en-US" sz="1800" dirty="0"/>
              <a:t>does it help the users do their job?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May place an emphasis on essential features: </a:t>
            </a:r>
            <a:r>
              <a:rPr lang="en-US" sz="1800" dirty="0"/>
              <a:t>some delivered features may not be completely tested.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Testing based around how users use the system.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Usual to assume that all major faults have been removed and the system works (be careful with assumptions…!).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Acceptance tests: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usually a smaller-scale test than system test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can be a selected sub-set of system tests (perhaps in a different environment)</a:t>
            </a:r>
          </a:p>
          <a:p>
            <a:pPr>
              <a:lnSpc>
                <a:spcPct val="9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Acceptance may not require its own test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Sometimes based on satisfactory conduct of system tests, often witnessed.</a:t>
            </a:r>
          </a:p>
          <a:p>
            <a:pPr lvl="1">
              <a:lnSpc>
                <a:spcPct val="90000"/>
              </a:lnSpc>
            </a:pPr>
            <a:r>
              <a:rPr lang="en-US" sz="1800" dirty="0"/>
              <a:t>Depends on the contractual position</a:t>
            </a:r>
          </a:p>
          <a:p>
            <a:pPr lvl="1">
              <a:lnSpc>
                <a:spcPct val="90000"/>
              </a:lnSpc>
            </a:pPr>
            <a:endParaRPr lang="en-US" sz="1800" dirty="0"/>
          </a:p>
          <a:p>
            <a:pPr>
              <a:lnSpc>
                <a:spcPct val="90000"/>
              </a:lnSpc>
            </a:pPr>
            <a:r>
              <a:rPr lang="en-US" sz="2200" dirty="0"/>
              <a:t>Q. Do google run acceptance tests? </a:t>
            </a:r>
          </a:p>
        </p:txBody>
      </p:sp>
    </p:spTree>
    <p:extLst>
      <p:ext uri="{BB962C8B-B14F-4D97-AF65-F5344CB8AC3E}">
        <p14:creationId xmlns:p14="http://schemas.microsoft.com/office/powerpoint/2010/main" val="1725514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638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638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638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638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638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638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638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3638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3638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638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3638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38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638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3845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Requirements-based testing</a:t>
            </a:r>
          </a:p>
        </p:txBody>
      </p:sp>
      <p:sp>
        <p:nvSpPr>
          <p:cNvPr id="3369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/>
              <a:t>Acceptance tests and some system tests are usually requirements-based</a:t>
            </a:r>
          </a:p>
          <a:p>
            <a:r>
              <a:rPr lang="en-US" sz="2400"/>
              <a:t>We can scan requirements documents:</a:t>
            </a:r>
          </a:p>
          <a:p>
            <a:pPr lvl="1"/>
            <a:r>
              <a:rPr lang="en-US" sz="2000"/>
              <a:t>which features should be provided</a:t>
            </a:r>
          </a:p>
          <a:p>
            <a:pPr lvl="1"/>
            <a:r>
              <a:rPr lang="en-US" sz="2000"/>
              <a:t>what conditions should be covered</a:t>
            </a:r>
          </a:p>
          <a:p>
            <a:r>
              <a:rPr lang="en-US" sz="2400"/>
              <a:t>Requirements based tests:</a:t>
            </a:r>
          </a:p>
          <a:p>
            <a:pPr lvl="1"/>
            <a:r>
              <a:rPr lang="en-US" sz="2000"/>
              <a:t>can help to demonstrate that the supplier has met every requirement</a:t>
            </a:r>
          </a:p>
          <a:p>
            <a:pPr lvl="1"/>
            <a:r>
              <a:rPr lang="en-US" sz="2000"/>
              <a:t>less influenced by the solution provided by the supplier.</a:t>
            </a:r>
          </a:p>
        </p:txBody>
      </p:sp>
    </p:spTree>
    <p:extLst>
      <p:ext uri="{BB962C8B-B14F-4D97-AF65-F5344CB8AC3E}">
        <p14:creationId xmlns:p14="http://schemas.microsoft.com/office/powerpoint/2010/main" val="7829146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Problems with requirements</a:t>
            </a:r>
          </a:p>
        </p:txBody>
      </p:sp>
      <p:sp>
        <p:nvSpPr>
          <p:cNvPr id="3374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Requirements don't usually give us enough information to test</a:t>
            </a:r>
          </a:p>
          <a:p>
            <a:pPr lvl="1"/>
            <a:r>
              <a:rPr lang="en-US"/>
              <a:t>intents, not detailed implementation</a:t>
            </a:r>
          </a:p>
          <a:p>
            <a:pPr lvl="1"/>
            <a:r>
              <a:rPr lang="en-US"/>
              <a:t>need to identify features to test</a:t>
            </a:r>
          </a:p>
          <a:p>
            <a:pPr lvl="1"/>
            <a:r>
              <a:rPr lang="en-US"/>
              <a:t>many details might be assumed to exist, but can't be identified from requirements</a:t>
            </a:r>
          </a:p>
          <a:p>
            <a:pPr lvl="1"/>
            <a:r>
              <a:rPr lang="en-US"/>
              <a:t>e.g. field validation, navigation paths, data integrity rules all added by developers.</a:t>
            </a:r>
          </a:p>
        </p:txBody>
      </p:sp>
    </p:spTree>
    <p:extLst>
      <p:ext uri="{BB962C8B-B14F-4D97-AF65-F5344CB8AC3E}">
        <p14:creationId xmlns:p14="http://schemas.microsoft.com/office/powerpoint/2010/main" val="2745594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4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 and beta testing</a:t>
            </a:r>
          </a:p>
        </p:txBody>
      </p:sp>
      <p:sp>
        <p:nvSpPr>
          <p:cNvPr id="3384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Often used by suppliers of packages (particularly shrink-wrapped)</a:t>
            </a:r>
          </a:p>
          <a:p>
            <a:r>
              <a:rPr lang="en-US"/>
              <a:t>Where supplier wishes to receive feedback from actual or potential customers</a:t>
            </a:r>
          </a:p>
          <a:p>
            <a:r>
              <a:rPr lang="en-US"/>
              <a:t>Alpha testing normally takes place on the supplier site</a:t>
            </a:r>
          </a:p>
          <a:p>
            <a:r>
              <a:rPr lang="en-US"/>
              <a:t>Beta testing usually conducted by users on their site.</a:t>
            </a:r>
          </a:p>
        </p:txBody>
      </p:sp>
    </p:spTree>
    <p:extLst>
      <p:ext uri="{BB962C8B-B14F-4D97-AF65-F5344CB8AC3E}">
        <p14:creationId xmlns:p14="http://schemas.microsoft.com/office/powerpoint/2010/main" val="41890871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0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 &amp; Beta test</a:t>
            </a:r>
          </a:p>
        </p:txBody>
      </p:sp>
      <p:sp>
        <p:nvSpPr>
          <p:cNvPr id="3470339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065338" y="1603375"/>
            <a:ext cx="8602662" cy="4529138"/>
          </a:xfrm>
        </p:spPr>
        <p:txBody>
          <a:bodyPr/>
          <a:lstStyle/>
          <a:p>
            <a:r>
              <a:rPr lang="en-US">
                <a:solidFill>
                  <a:srgbClr val="000000"/>
                </a:solidFill>
              </a:rPr>
              <a:t> </a:t>
            </a:r>
          </a:p>
        </p:txBody>
      </p:sp>
      <p:grpSp>
        <p:nvGrpSpPr>
          <p:cNvPr id="3470340" name="Group 4"/>
          <p:cNvGrpSpPr>
            <a:grpSpLocks/>
          </p:cNvGrpSpPr>
          <p:nvPr/>
        </p:nvGrpSpPr>
        <p:grpSpPr bwMode="auto">
          <a:xfrm>
            <a:off x="2300289" y="1628776"/>
            <a:ext cx="6645275" cy="2168525"/>
            <a:chOff x="278" y="938"/>
            <a:chExt cx="4186" cy="1366"/>
          </a:xfrm>
        </p:grpSpPr>
        <p:sp>
          <p:nvSpPr>
            <p:cNvPr id="3470341" name="Rectangle 5"/>
            <p:cNvSpPr>
              <a:spLocks noChangeArrowheads="1"/>
            </p:cNvSpPr>
            <p:nvPr/>
          </p:nvSpPr>
          <p:spPr bwMode="auto">
            <a:xfrm>
              <a:off x="864" y="1392"/>
              <a:ext cx="1152" cy="624"/>
            </a:xfrm>
            <a:prstGeom prst="rect">
              <a:avLst/>
            </a:prstGeom>
            <a:solidFill>
              <a:srgbClr val="FF3300"/>
            </a:solidFill>
            <a:ln w="28575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>
                  <a:solidFill>
                    <a:srgbClr val="000000"/>
                  </a:solidFill>
                  <a:latin typeface="Times New Roman" charset="0"/>
                </a:rPr>
                <a:t>software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3470342" name="Rectangle 6"/>
            <p:cNvSpPr>
              <a:spLocks noChangeArrowheads="1"/>
            </p:cNvSpPr>
            <p:nvPr/>
          </p:nvSpPr>
          <p:spPr bwMode="auto">
            <a:xfrm>
              <a:off x="672" y="2064"/>
              <a:ext cx="1536" cy="240"/>
            </a:xfrm>
            <a:prstGeom prst="rect">
              <a:avLst/>
            </a:prstGeom>
            <a:solidFill>
              <a:srgbClr val="F8E68C"/>
            </a:solidFill>
            <a:ln w="28575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>
                  <a:solidFill>
                    <a:srgbClr val="000000"/>
                  </a:solidFill>
                  <a:latin typeface="Times New Roman" charset="0"/>
                </a:rPr>
                <a:t>developer site</a:t>
              </a:r>
            </a:p>
          </p:txBody>
        </p:sp>
        <p:sp>
          <p:nvSpPr>
            <p:cNvPr id="3470343" name="Rectangle 7"/>
            <p:cNvSpPr>
              <a:spLocks noChangeArrowheads="1"/>
            </p:cNvSpPr>
            <p:nvPr/>
          </p:nvSpPr>
          <p:spPr bwMode="auto">
            <a:xfrm>
              <a:off x="2928" y="2064"/>
              <a:ext cx="1536" cy="240"/>
            </a:xfrm>
            <a:prstGeom prst="rect">
              <a:avLst/>
            </a:prstGeom>
            <a:solidFill>
              <a:srgbClr val="F8E68C"/>
            </a:solidFill>
            <a:ln w="28575">
              <a:solidFill>
                <a:srgbClr val="FF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defTabSz="76200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3200">
                  <a:solidFill>
                    <a:srgbClr val="000000"/>
                  </a:solidFill>
                  <a:latin typeface="Times New Roman" charset="0"/>
                </a:rPr>
                <a:t>customer site</a:t>
              </a:r>
            </a:p>
          </p:txBody>
        </p:sp>
        <p:sp>
          <p:nvSpPr>
            <p:cNvPr id="3470344" name="Text Box 8"/>
            <p:cNvSpPr txBox="1">
              <a:spLocks noChangeArrowheads="1"/>
            </p:cNvSpPr>
            <p:nvPr/>
          </p:nvSpPr>
          <p:spPr bwMode="auto">
            <a:xfrm>
              <a:off x="2976" y="1536"/>
              <a:ext cx="1389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5715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7145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2860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>
                  <a:solidFill>
                    <a:srgbClr val="000000"/>
                  </a:solidFill>
                  <a:latin typeface="Times New Roman" charset="0"/>
                </a:rPr>
                <a:t>customer tests</a:t>
              </a:r>
              <a:endParaRPr lang="en-US" sz="1400">
                <a:solidFill>
                  <a:srgbClr val="000000"/>
                </a:solidFill>
                <a:latin typeface="Times New Roman" charset="0"/>
              </a:endParaRPr>
            </a:p>
          </p:txBody>
        </p:sp>
        <p:sp>
          <p:nvSpPr>
            <p:cNvPr id="3470345" name="Line 9"/>
            <p:cNvSpPr>
              <a:spLocks noChangeShapeType="1"/>
            </p:cNvSpPr>
            <p:nvPr/>
          </p:nvSpPr>
          <p:spPr bwMode="auto">
            <a:xfrm>
              <a:off x="2112" y="1728"/>
              <a:ext cx="81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r" fontAlgn="base">
                <a:spcBef>
                  <a:spcPct val="0"/>
                </a:spcBef>
                <a:spcAft>
                  <a:spcPct val="0"/>
                </a:spcAft>
              </a:pPr>
              <a:endParaRPr lang="en-US" sz="1600">
                <a:solidFill>
                  <a:srgbClr val="FFFFFF"/>
                </a:solidFill>
              </a:endParaRPr>
            </a:p>
          </p:txBody>
        </p:sp>
        <p:sp>
          <p:nvSpPr>
            <p:cNvPr id="3470346" name="Text Box 10"/>
            <p:cNvSpPr txBox="1">
              <a:spLocks noChangeArrowheads="1"/>
            </p:cNvSpPr>
            <p:nvPr/>
          </p:nvSpPr>
          <p:spPr bwMode="auto">
            <a:xfrm>
              <a:off x="278" y="938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5715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7145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286000" algn="l" defTabSz="7620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i="1">
                  <a:solidFill>
                    <a:srgbClr val="000000"/>
                  </a:solidFill>
                  <a:latin typeface="Times New Roman" charset="0"/>
                </a:rPr>
                <a:t>Alpha test</a:t>
              </a:r>
              <a:endParaRPr lang="en-US" sz="2400">
                <a:solidFill>
                  <a:srgbClr val="000000"/>
                </a:solidFill>
                <a:latin typeface="Times New Roman" charset="0"/>
              </a:endParaRPr>
            </a:p>
          </p:txBody>
        </p:sp>
      </p:grpSp>
      <p:sp>
        <p:nvSpPr>
          <p:cNvPr id="3470347" name="Rectangle 11"/>
          <p:cNvSpPr>
            <a:spLocks noChangeArrowheads="1"/>
          </p:cNvSpPr>
          <p:nvPr/>
        </p:nvSpPr>
        <p:spPr bwMode="auto">
          <a:xfrm>
            <a:off x="8015288" y="4645025"/>
            <a:ext cx="1828800" cy="990600"/>
          </a:xfrm>
          <a:prstGeom prst="rect">
            <a:avLst/>
          </a:prstGeom>
          <a:solidFill>
            <a:srgbClr val="FF3300"/>
          </a:solidFill>
          <a:ln w="28575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Times New Roman" charset="0"/>
              </a:rPr>
              <a:t>software</a:t>
            </a:r>
            <a:endParaRPr lang="en-US" sz="1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470348" name="Rectangle 12"/>
          <p:cNvSpPr>
            <a:spLocks noChangeArrowheads="1"/>
          </p:cNvSpPr>
          <p:nvPr/>
        </p:nvSpPr>
        <p:spPr bwMode="auto">
          <a:xfrm>
            <a:off x="2909888" y="5711825"/>
            <a:ext cx="2438400" cy="381000"/>
          </a:xfrm>
          <a:prstGeom prst="rect">
            <a:avLst/>
          </a:prstGeom>
          <a:solidFill>
            <a:srgbClr val="F8E68C"/>
          </a:solidFill>
          <a:ln w="28575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Times New Roman" charset="0"/>
              </a:rPr>
              <a:t>developer site</a:t>
            </a:r>
          </a:p>
        </p:txBody>
      </p:sp>
      <p:sp>
        <p:nvSpPr>
          <p:cNvPr id="3470349" name="Rectangle 13"/>
          <p:cNvSpPr>
            <a:spLocks noChangeArrowheads="1"/>
          </p:cNvSpPr>
          <p:nvPr/>
        </p:nvSpPr>
        <p:spPr bwMode="auto">
          <a:xfrm>
            <a:off x="7710488" y="5711825"/>
            <a:ext cx="2438400" cy="381000"/>
          </a:xfrm>
          <a:prstGeom prst="rect">
            <a:avLst/>
          </a:prstGeom>
          <a:solidFill>
            <a:srgbClr val="F8E68C"/>
          </a:solidFill>
          <a:ln w="28575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defTabSz="7620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200">
                <a:solidFill>
                  <a:srgbClr val="000000"/>
                </a:solidFill>
                <a:latin typeface="Times New Roman" charset="0"/>
              </a:rPr>
              <a:t>customer site</a:t>
            </a:r>
          </a:p>
        </p:txBody>
      </p:sp>
      <p:sp>
        <p:nvSpPr>
          <p:cNvPr id="3470350" name="Text Box 14"/>
          <p:cNvSpPr txBox="1">
            <a:spLocks noChangeArrowheads="1"/>
          </p:cNvSpPr>
          <p:nvPr/>
        </p:nvSpPr>
        <p:spPr bwMode="auto">
          <a:xfrm>
            <a:off x="6338888" y="4721225"/>
            <a:ext cx="14859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000000"/>
                </a:solidFill>
                <a:latin typeface="Times New Roman" charset="0"/>
              </a:rPr>
              <a:t>customer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000000"/>
                </a:solidFill>
                <a:latin typeface="Times New Roman" charset="0"/>
              </a:rPr>
              <a:t>tests</a:t>
            </a:r>
            <a:endParaRPr lang="en-US" sz="1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470351" name="Line 15"/>
          <p:cNvSpPr>
            <a:spLocks noChangeShapeType="1"/>
          </p:cNvSpPr>
          <p:nvPr/>
        </p:nvSpPr>
        <p:spPr bwMode="auto">
          <a:xfrm flipV="1">
            <a:off x="5195888" y="5178425"/>
            <a:ext cx="10668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 type="triangle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</a:endParaRPr>
          </a:p>
        </p:txBody>
      </p:sp>
      <p:sp>
        <p:nvSpPr>
          <p:cNvPr id="3470352" name="Text Box 16"/>
          <p:cNvSpPr txBox="1">
            <a:spLocks noChangeArrowheads="1"/>
          </p:cNvSpPr>
          <p:nvPr/>
        </p:nvSpPr>
        <p:spPr bwMode="auto">
          <a:xfrm>
            <a:off x="2376489" y="4267200"/>
            <a:ext cx="1239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i="1">
                <a:solidFill>
                  <a:srgbClr val="000000"/>
                </a:solidFill>
                <a:latin typeface="Times New Roman" charset="0"/>
              </a:rPr>
              <a:t>Beta test</a:t>
            </a:r>
            <a:endParaRPr lang="en-US" sz="2400">
              <a:solidFill>
                <a:srgbClr val="000000"/>
              </a:solidFill>
              <a:latin typeface="Times New Roman" charset="0"/>
            </a:endParaRPr>
          </a:p>
        </p:txBody>
      </p:sp>
      <p:sp>
        <p:nvSpPr>
          <p:cNvPr id="3470353" name="Text Box 17"/>
          <p:cNvSpPr txBox="1">
            <a:spLocks noChangeArrowheads="1"/>
          </p:cNvSpPr>
          <p:nvPr/>
        </p:nvSpPr>
        <p:spPr bwMode="auto">
          <a:xfrm>
            <a:off x="3367089" y="4721225"/>
            <a:ext cx="15843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1pPr>
            <a:lvl2pPr marL="5715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7145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286000" algn="l" defTabSz="762000"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000000"/>
                </a:solidFill>
                <a:latin typeface="Times New Roman" charset="0"/>
              </a:rPr>
              <a:t>developer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>
                <a:solidFill>
                  <a:srgbClr val="000000"/>
                </a:solidFill>
                <a:latin typeface="Times New Roman" charset="0"/>
              </a:rPr>
              <a:t>reviews</a:t>
            </a:r>
          </a:p>
        </p:txBody>
      </p:sp>
    </p:spTree>
    <p:extLst>
      <p:ext uri="{BB962C8B-B14F-4D97-AF65-F5344CB8AC3E}">
        <p14:creationId xmlns:p14="http://schemas.microsoft.com/office/powerpoint/2010/main" val="20321580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Alpha and beta testing - intent</a:t>
            </a:r>
          </a:p>
        </p:txBody>
      </p:sp>
      <p:sp>
        <p:nvSpPr>
          <p:cNvPr id="3386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Assess reaction of marketplace to the product</a:t>
            </a:r>
          </a:p>
          <a:p>
            <a:r>
              <a:rPr lang="en-US" dirty="0"/>
              <a:t>Are major features missing?</a:t>
            </a:r>
          </a:p>
          <a:p>
            <a:r>
              <a:rPr lang="en-US" dirty="0"/>
              <a:t>Do new features 'miss the point'?</a:t>
            </a:r>
          </a:p>
          <a:p>
            <a:r>
              <a:rPr lang="en-US" dirty="0"/>
              <a:t>Is product ready for release?</a:t>
            </a:r>
          </a:p>
          <a:p>
            <a:r>
              <a:rPr lang="en-US" dirty="0"/>
              <a:t>Some suppliers leave faults in the software to get bug reports returned to gauge?</a:t>
            </a:r>
          </a:p>
          <a:p>
            <a:pPr lvl="1"/>
            <a:r>
              <a:rPr lang="en-US" dirty="0"/>
              <a:t>where software is being used most</a:t>
            </a:r>
          </a:p>
          <a:p>
            <a:pPr lvl="1"/>
            <a:r>
              <a:rPr lang="en-US" dirty="0"/>
              <a:t>where users are most sensitive to faults.</a:t>
            </a:r>
          </a:p>
        </p:txBody>
      </p:sp>
    </p:spTree>
    <p:extLst>
      <p:ext uri="{BB962C8B-B14F-4D97-AF65-F5344CB8AC3E}">
        <p14:creationId xmlns:p14="http://schemas.microsoft.com/office/powerpoint/2010/main" val="2825748328"/>
      </p:ext>
    </p:extLst>
  </p:cSld>
  <p:clrMapOvr>
    <a:masterClrMapping/>
  </p:clrMapOvr>
</p:sld>
</file>

<file path=ppt/theme/theme1.xml><?xml version="1.0" encoding="utf-8"?>
<a:theme xmlns:a="http://schemas.openxmlformats.org/drawingml/2006/main" name="EvolutifStandard">
  <a:themeElements>
    <a:clrScheme name="">
      <a:dk1>
        <a:srgbClr val="00279F"/>
      </a:dk1>
      <a:lt1>
        <a:srgbClr val="FFFFFF"/>
      </a:lt1>
      <a:dk2>
        <a:srgbClr val="0000FF"/>
      </a:dk2>
      <a:lt2>
        <a:srgbClr val="FFFF00"/>
      </a:lt2>
      <a:accent1>
        <a:srgbClr val="F57B49"/>
      </a:accent1>
      <a:accent2>
        <a:srgbClr val="FF00FF"/>
      </a:accent2>
      <a:accent3>
        <a:srgbClr val="AAAAFF"/>
      </a:accent3>
      <a:accent4>
        <a:srgbClr val="DADADA"/>
      </a:accent4>
      <a:accent5>
        <a:srgbClr val="F9BFB1"/>
      </a:accent5>
      <a:accent6>
        <a:srgbClr val="E700E7"/>
      </a:accent6>
      <a:hlink>
        <a:srgbClr val="FF0000"/>
      </a:hlink>
      <a:folHlink>
        <a:srgbClr val="919191"/>
      </a:folHlink>
    </a:clrScheme>
    <a:fontScheme name="EvolutifStandard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EvolutifStandard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volutifStandard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volutifStandard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3543</TotalTime>
  <Words>1589</Words>
  <Application>Microsoft Office PowerPoint</Application>
  <PresentationFormat>Widescreen</PresentationFormat>
  <Paragraphs>246</Paragraphs>
  <Slides>26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ＭＳ Ｐゴシック</vt:lpstr>
      <vt:lpstr>Arial</vt:lpstr>
      <vt:lpstr>Calibri</vt:lpstr>
      <vt:lpstr>Monotype Sorts</vt:lpstr>
      <vt:lpstr>Times New Roman</vt:lpstr>
      <vt:lpstr>EvolutifStandard</vt:lpstr>
      <vt:lpstr>Test Levels</vt:lpstr>
      <vt:lpstr>Recall: Software System Decomposition</vt:lpstr>
      <vt:lpstr>Test Driven Development (TDD)</vt:lpstr>
      <vt:lpstr>Component testing</vt:lpstr>
      <vt:lpstr>Integration testing</vt:lpstr>
      <vt:lpstr>Software integration and Component Integration testing</vt:lpstr>
      <vt:lpstr>Stubs and top down testing</vt:lpstr>
      <vt:lpstr>Drivers and bottom up testing</vt:lpstr>
      <vt:lpstr>What does a stub or driver look like?</vt:lpstr>
      <vt:lpstr>Note of caution on terminology</vt:lpstr>
      <vt:lpstr>Mixed integration strategy</vt:lpstr>
      <vt:lpstr>Component Integration testing</vt:lpstr>
      <vt:lpstr>Definition of interfaces</vt:lpstr>
      <vt:lpstr>Interface testing / defects</vt:lpstr>
      <vt:lpstr>Global data</vt:lpstr>
      <vt:lpstr>Assumptions about parameters and global data</vt:lpstr>
      <vt:lpstr>Inter-module parameter checking</vt:lpstr>
      <vt:lpstr>System and Acceptance Testing</vt:lpstr>
      <vt:lpstr>System testing</vt:lpstr>
      <vt:lpstr>Functional and non-functional system testing</vt:lpstr>
      <vt:lpstr>Acceptance testing (UAT)</vt:lpstr>
      <vt:lpstr>Requirements-based testing</vt:lpstr>
      <vt:lpstr>Problems with requirements</vt:lpstr>
      <vt:lpstr>Alpha and beta testing</vt:lpstr>
      <vt:lpstr>Alpha &amp; Beta test</vt:lpstr>
      <vt:lpstr>Alpha and beta testing - intent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we start</dc:title>
  <dc:creator>Windows User</dc:creator>
  <cp:lastModifiedBy>Paul</cp:lastModifiedBy>
  <cp:revision>63</cp:revision>
  <cp:lastPrinted>2018-02-11T20:16:08Z</cp:lastPrinted>
  <dcterms:created xsi:type="dcterms:W3CDTF">2016-09-21T15:13:11Z</dcterms:created>
  <dcterms:modified xsi:type="dcterms:W3CDTF">2019-04-02T10:44:59Z</dcterms:modified>
</cp:coreProperties>
</file>