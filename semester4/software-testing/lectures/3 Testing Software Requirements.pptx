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9" r:id="rId1"/>
  </p:sldMasterIdLst>
  <p:notesMasterIdLst>
    <p:notesMasterId r:id="rId65"/>
  </p:notesMasterIdLst>
  <p:handoutMasterIdLst>
    <p:handoutMasterId r:id="rId66"/>
  </p:handoutMasterIdLst>
  <p:sldIdLst>
    <p:sldId id="312" r:id="rId2"/>
    <p:sldId id="473" r:id="rId3"/>
    <p:sldId id="413" r:id="rId4"/>
    <p:sldId id="412" r:id="rId5"/>
    <p:sldId id="464" r:id="rId6"/>
    <p:sldId id="466" r:id="rId7"/>
    <p:sldId id="467" r:id="rId8"/>
    <p:sldId id="474" r:id="rId9"/>
    <p:sldId id="463" r:id="rId10"/>
    <p:sldId id="415" r:id="rId11"/>
    <p:sldId id="416" r:id="rId12"/>
    <p:sldId id="460" r:id="rId13"/>
    <p:sldId id="417" r:id="rId14"/>
    <p:sldId id="414" r:id="rId15"/>
    <p:sldId id="475" r:id="rId16"/>
    <p:sldId id="418" r:id="rId17"/>
    <p:sldId id="419" r:id="rId18"/>
    <p:sldId id="420" r:id="rId19"/>
    <p:sldId id="421" r:id="rId20"/>
    <p:sldId id="423" r:id="rId21"/>
    <p:sldId id="476" r:id="rId22"/>
    <p:sldId id="424" r:id="rId23"/>
    <p:sldId id="425" r:id="rId24"/>
    <p:sldId id="426" r:id="rId25"/>
    <p:sldId id="427" r:id="rId26"/>
    <p:sldId id="428" r:id="rId27"/>
    <p:sldId id="431" r:id="rId28"/>
    <p:sldId id="432" r:id="rId29"/>
    <p:sldId id="429" r:id="rId30"/>
    <p:sldId id="430" r:id="rId31"/>
    <p:sldId id="434" r:id="rId32"/>
    <p:sldId id="477" r:id="rId33"/>
    <p:sldId id="433" r:id="rId34"/>
    <p:sldId id="435" r:id="rId35"/>
    <p:sldId id="469" r:id="rId36"/>
    <p:sldId id="468" r:id="rId37"/>
    <p:sldId id="436" r:id="rId38"/>
    <p:sldId id="437" r:id="rId39"/>
    <p:sldId id="439" r:id="rId40"/>
    <p:sldId id="440" r:id="rId41"/>
    <p:sldId id="441" r:id="rId42"/>
    <p:sldId id="442" r:id="rId43"/>
    <p:sldId id="443" r:id="rId44"/>
    <p:sldId id="438" r:id="rId45"/>
    <p:sldId id="472" r:id="rId46"/>
    <p:sldId id="470" r:id="rId47"/>
    <p:sldId id="446" r:id="rId48"/>
    <p:sldId id="478" r:id="rId49"/>
    <p:sldId id="445" r:id="rId50"/>
    <p:sldId id="447" r:id="rId51"/>
    <p:sldId id="448" r:id="rId52"/>
    <p:sldId id="449" r:id="rId53"/>
    <p:sldId id="450" r:id="rId54"/>
    <p:sldId id="479" r:id="rId55"/>
    <p:sldId id="451" r:id="rId56"/>
    <p:sldId id="452" r:id="rId57"/>
    <p:sldId id="453" r:id="rId58"/>
    <p:sldId id="454" r:id="rId59"/>
    <p:sldId id="455" r:id="rId60"/>
    <p:sldId id="456" r:id="rId61"/>
    <p:sldId id="457" r:id="rId62"/>
    <p:sldId id="459" r:id="rId63"/>
    <p:sldId id="462" r:id="rId64"/>
  </p:sldIdLst>
  <p:sldSz cx="9144000" cy="6858000" type="screen4x3"/>
  <p:notesSz cx="7315200" cy="9601200"/>
  <p:defaultTextStyle>
    <a:defPPr>
      <a:defRPr lang="en-US"/>
    </a:defPPr>
    <a:lvl1pPr algn="r" rtl="0" fontAlgn="base">
      <a:spcBef>
        <a:spcPct val="0"/>
      </a:spcBef>
      <a:spcAft>
        <a:spcPct val="0"/>
      </a:spcAft>
      <a:defRPr sz="1600" kern="1200">
        <a:solidFill>
          <a:schemeClr val="tx1"/>
        </a:solidFill>
        <a:latin typeface="Arial" charset="0"/>
        <a:ea typeface="ＭＳ Ｐゴシック" charset="0"/>
        <a:cs typeface="+mn-cs"/>
      </a:defRPr>
    </a:lvl1pPr>
    <a:lvl2pPr marL="457200" algn="r" rtl="0" fontAlgn="base">
      <a:spcBef>
        <a:spcPct val="0"/>
      </a:spcBef>
      <a:spcAft>
        <a:spcPct val="0"/>
      </a:spcAft>
      <a:defRPr sz="1600" kern="1200">
        <a:solidFill>
          <a:schemeClr val="tx1"/>
        </a:solidFill>
        <a:latin typeface="Arial" charset="0"/>
        <a:ea typeface="ＭＳ Ｐゴシック" charset="0"/>
        <a:cs typeface="+mn-cs"/>
      </a:defRPr>
    </a:lvl2pPr>
    <a:lvl3pPr marL="914400" algn="r" rtl="0" fontAlgn="base">
      <a:spcBef>
        <a:spcPct val="0"/>
      </a:spcBef>
      <a:spcAft>
        <a:spcPct val="0"/>
      </a:spcAft>
      <a:defRPr sz="1600" kern="1200">
        <a:solidFill>
          <a:schemeClr val="tx1"/>
        </a:solidFill>
        <a:latin typeface="Arial" charset="0"/>
        <a:ea typeface="ＭＳ Ｐゴシック" charset="0"/>
        <a:cs typeface="+mn-cs"/>
      </a:defRPr>
    </a:lvl3pPr>
    <a:lvl4pPr marL="1371600" algn="r" rtl="0" fontAlgn="base">
      <a:spcBef>
        <a:spcPct val="0"/>
      </a:spcBef>
      <a:spcAft>
        <a:spcPct val="0"/>
      </a:spcAft>
      <a:defRPr sz="1600" kern="1200">
        <a:solidFill>
          <a:schemeClr val="tx1"/>
        </a:solidFill>
        <a:latin typeface="Arial" charset="0"/>
        <a:ea typeface="ＭＳ Ｐゴシック" charset="0"/>
        <a:cs typeface="+mn-cs"/>
      </a:defRPr>
    </a:lvl4pPr>
    <a:lvl5pPr marL="1828800" algn="r" rtl="0" fontAlgn="base">
      <a:spcBef>
        <a:spcPct val="0"/>
      </a:spcBef>
      <a:spcAft>
        <a:spcPct val="0"/>
      </a:spcAft>
      <a:defRPr sz="1600" kern="1200">
        <a:solidFill>
          <a:schemeClr val="tx1"/>
        </a:solidFill>
        <a:latin typeface="Arial" charset="0"/>
        <a:ea typeface="ＭＳ Ｐゴシック" charset="0"/>
        <a:cs typeface="+mn-cs"/>
      </a:defRPr>
    </a:lvl5pPr>
    <a:lvl6pPr marL="2286000" algn="l" defTabSz="457200" rtl="0" eaLnBrk="1" latinLnBrk="0" hangingPunct="1">
      <a:defRPr sz="1600" kern="1200">
        <a:solidFill>
          <a:schemeClr val="tx1"/>
        </a:solidFill>
        <a:latin typeface="Arial" charset="0"/>
        <a:ea typeface="ＭＳ Ｐゴシック" charset="0"/>
        <a:cs typeface="+mn-cs"/>
      </a:defRPr>
    </a:lvl6pPr>
    <a:lvl7pPr marL="2743200" algn="l" defTabSz="457200" rtl="0" eaLnBrk="1" latinLnBrk="0" hangingPunct="1">
      <a:defRPr sz="1600" kern="1200">
        <a:solidFill>
          <a:schemeClr val="tx1"/>
        </a:solidFill>
        <a:latin typeface="Arial" charset="0"/>
        <a:ea typeface="ＭＳ Ｐゴシック" charset="0"/>
        <a:cs typeface="+mn-cs"/>
      </a:defRPr>
    </a:lvl7pPr>
    <a:lvl8pPr marL="3200400" algn="l" defTabSz="457200" rtl="0" eaLnBrk="1" latinLnBrk="0" hangingPunct="1">
      <a:defRPr sz="1600" kern="1200">
        <a:solidFill>
          <a:schemeClr val="tx1"/>
        </a:solidFill>
        <a:latin typeface="Arial" charset="0"/>
        <a:ea typeface="ＭＳ Ｐゴシック" charset="0"/>
        <a:cs typeface="+mn-cs"/>
      </a:defRPr>
    </a:lvl8pPr>
    <a:lvl9pPr marL="3657600" algn="l" defTabSz="457200" rtl="0" eaLnBrk="1" latinLnBrk="0" hangingPunct="1">
      <a:defRPr sz="1600"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4" autoAdjust="0"/>
    <p:restoredTop sz="94660"/>
  </p:normalViewPr>
  <p:slideViewPr>
    <p:cSldViewPr>
      <p:cViewPr varScale="1">
        <p:scale>
          <a:sx n="73" d="100"/>
          <a:sy n="73" d="100"/>
        </p:scale>
        <p:origin x="1236" y="78"/>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notesViewPr>
    <p:cSldViewPr>
      <p:cViewPr varScale="1">
        <p:scale>
          <a:sx n="90" d="100"/>
          <a:sy n="90" d="100"/>
        </p:scale>
        <p:origin x="-1902" y="-9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2098" name="Rectangle 2"/>
          <p:cNvSpPr>
            <a:spLocks noGrp="1" noChangeArrowheads="1"/>
          </p:cNvSpPr>
          <p:nvPr>
            <p:ph type="hdr" sz="quarter"/>
          </p:nvPr>
        </p:nvSpPr>
        <p:spPr bwMode="auto">
          <a:xfrm>
            <a:off x="1" y="1"/>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l">
              <a:defRPr sz="1200">
                <a:latin typeface="Gill Sans" charset="0"/>
              </a:defRPr>
            </a:lvl1pPr>
          </a:lstStyle>
          <a:p>
            <a:endParaRPr lang="en-GB"/>
          </a:p>
        </p:txBody>
      </p:sp>
      <p:sp>
        <p:nvSpPr>
          <p:cNvPr id="1412099" name="Rectangle 3"/>
          <p:cNvSpPr>
            <a:spLocks noGrp="1" noChangeArrowheads="1"/>
          </p:cNvSpPr>
          <p:nvPr>
            <p:ph type="dt" sz="quarter" idx="1"/>
          </p:nvPr>
        </p:nvSpPr>
        <p:spPr bwMode="auto">
          <a:xfrm>
            <a:off x="4144484" y="1"/>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a:latin typeface="Gill Sans" charset="0"/>
              </a:defRPr>
            </a:lvl1pPr>
          </a:lstStyle>
          <a:p>
            <a:endParaRPr lang="en-GB"/>
          </a:p>
        </p:txBody>
      </p:sp>
      <p:sp>
        <p:nvSpPr>
          <p:cNvPr id="1412100" name="Rectangle 4"/>
          <p:cNvSpPr>
            <a:spLocks noGrp="1" noChangeArrowheads="1"/>
          </p:cNvSpPr>
          <p:nvPr>
            <p:ph type="ftr" sz="quarter" idx="2"/>
          </p:nvPr>
        </p:nvSpPr>
        <p:spPr bwMode="auto">
          <a:xfrm>
            <a:off x="1" y="9119597"/>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l">
              <a:defRPr sz="1200">
                <a:latin typeface="Gill Sans" charset="0"/>
              </a:defRPr>
            </a:lvl1pPr>
          </a:lstStyle>
          <a:p>
            <a:endParaRPr lang="en-GB"/>
          </a:p>
        </p:txBody>
      </p:sp>
      <p:sp>
        <p:nvSpPr>
          <p:cNvPr id="1412101" name="Rectangle 5"/>
          <p:cNvSpPr>
            <a:spLocks noGrp="1" noChangeArrowheads="1"/>
          </p:cNvSpPr>
          <p:nvPr>
            <p:ph type="sldNum" sz="quarter" idx="3"/>
          </p:nvPr>
        </p:nvSpPr>
        <p:spPr bwMode="auto">
          <a:xfrm>
            <a:off x="4144484" y="9119597"/>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a:latin typeface="Gill Sans" charset="0"/>
              </a:defRPr>
            </a:lvl1pPr>
          </a:lstStyle>
          <a:p>
            <a:r>
              <a:rPr lang="en-GB"/>
              <a:t>Page </a:t>
            </a:r>
            <a:fld id="{F3172957-1645-F44A-B912-EB3AFD0EAA2B}" type="slidenum">
              <a:rPr lang="en-GB"/>
              <a:pPr/>
              <a:t>‹#›</a:t>
            </a:fld>
            <a:endParaRPr lang="en-GB"/>
          </a:p>
        </p:txBody>
      </p:sp>
    </p:spTree>
    <p:extLst>
      <p:ext uri="{BB962C8B-B14F-4D97-AF65-F5344CB8AC3E}">
        <p14:creationId xmlns:p14="http://schemas.microsoft.com/office/powerpoint/2010/main" val="118242214"/>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22" name="Rectangle 2"/>
          <p:cNvSpPr>
            <a:spLocks noGrp="1" noChangeArrowheads="1"/>
          </p:cNvSpPr>
          <p:nvPr>
            <p:ph type="hdr" sz="quarter"/>
          </p:nvPr>
        </p:nvSpPr>
        <p:spPr bwMode="auto">
          <a:xfrm>
            <a:off x="1" y="1"/>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l">
              <a:defRPr sz="1200"/>
            </a:lvl1pPr>
          </a:lstStyle>
          <a:p>
            <a:endParaRPr lang="en-GB"/>
          </a:p>
        </p:txBody>
      </p:sp>
      <p:sp>
        <p:nvSpPr>
          <p:cNvPr id="1413123" name="Rectangle 3"/>
          <p:cNvSpPr>
            <a:spLocks noGrp="1" noChangeArrowheads="1"/>
          </p:cNvSpPr>
          <p:nvPr>
            <p:ph type="dt" idx="1"/>
          </p:nvPr>
        </p:nvSpPr>
        <p:spPr bwMode="auto">
          <a:xfrm>
            <a:off x="4144484" y="1"/>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1413124" name="Rectangle 4"/>
          <p:cNvSpPr>
            <a:spLocks noGrp="1" noRot="1" noChangeAspect="1" noChangeArrowheads="1" noTextEdit="1"/>
          </p:cNvSpPr>
          <p:nvPr>
            <p:ph type="sldImg" idx="2"/>
          </p:nvPr>
        </p:nvSpPr>
        <p:spPr bwMode="auto">
          <a:xfrm>
            <a:off x="1257300" y="720725"/>
            <a:ext cx="4802188"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1413125" name="Rectangle 5"/>
          <p:cNvSpPr>
            <a:spLocks noGrp="1" noChangeArrowheads="1"/>
          </p:cNvSpPr>
          <p:nvPr>
            <p:ph type="body" sz="quarter" idx="3"/>
          </p:nvPr>
        </p:nvSpPr>
        <p:spPr bwMode="auto">
          <a:xfrm>
            <a:off x="731179" y="4559799"/>
            <a:ext cx="5852843" cy="43205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413126" name="Rectangle 6"/>
          <p:cNvSpPr>
            <a:spLocks noGrp="1" noChangeArrowheads="1"/>
          </p:cNvSpPr>
          <p:nvPr>
            <p:ph type="ftr" sz="quarter" idx="4"/>
          </p:nvPr>
        </p:nvSpPr>
        <p:spPr bwMode="auto">
          <a:xfrm>
            <a:off x="1" y="9119597"/>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l">
              <a:defRPr sz="1200"/>
            </a:lvl1pPr>
          </a:lstStyle>
          <a:p>
            <a:endParaRPr lang="en-GB"/>
          </a:p>
        </p:txBody>
      </p:sp>
      <p:sp>
        <p:nvSpPr>
          <p:cNvPr id="1413127" name="Rectangle 7"/>
          <p:cNvSpPr>
            <a:spLocks noGrp="1" noChangeArrowheads="1"/>
          </p:cNvSpPr>
          <p:nvPr>
            <p:ph type="sldNum" sz="quarter" idx="5"/>
          </p:nvPr>
        </p:nvSpPr>
        <p:spPr bwMode="auto">
          <a:xfrm>
            <a:off x="4144484" y="9119597"/>
            <a:ext cx="3169009" cy="4800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a:lvl1pPr>
          </a:lstStyle>
          <a:p>
            <a:fld id="{7853C3CD-E398-6040-8254-417BEBA359AB}" type="slidenum">
              <a:rPr lang="en-GB"/>
              <a:pPr/>
              <a:t>‹#›</a:t>
            </a:fld>
            <a:endParaRPr lang="en-GB"/>
          </a:p>
        </p:txBody>
      </p:sp>
    </p:spTree>
    <p:extLst>
      <p:ext uri="{BB962C8B-B14F-4D97-AF65-F5344CB8AC3E}">
        <p14:creationId xmlns:p14="http://schemas.microsoft.com/office/powerpoint/2010/main" val="1754635382"/>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charset="0"/>
        <a:ea typeface="ＭＳ Ｐゴシック" charset="0"/>
        <a:cs typeface="+mn-cs"/>
      </a:defRPr>
    </a:lvl1pPr>
    <a:lvl2pPr marL="457200" algn="l" rtl="0" fontAlgn="base">
      <a:spcBef>
        <a:spcPct val="30000"/>
      </a:spcBef>
      <a:spcAft>
        <a:spcPct val="0"/>
      </a:spcAft>
      <a:defRPr sz="1200" kern="1200">
        <a:solidFill>
          <a:schemeClr val="tx1"/>
        </a:solidFill>
        <a:latin typeface="Arial" charset="0"/>
        <a:ea typeface="ＭＳ Ｐゴシック" charset="0"/>
        <a:cs typeface="+mn-cs"/>
      </a:defRPr>
    </a:lvl2pPr>
    <a:lvl3pPr marL="914400" algn="l" rtl="0" fontAlgn="base">
      <a:spcBef>
        <a:spcPct val="30000"/>
      </a:spcBef>
      <a:spcAft>
        <a:spcPct val="0"/>
      </a:spcAft>
      <a:defRPr sz="1200" kern="1200">
        <a:solidFill>
          <a:schemeClr val="tx1"/>
        </a:solidFill>
        <a:latin typeface="Arial" charset="0"/>
        <a:ea typeface="ＭＳ Ｐゴシック" charset="0"/>
        <a:cs typeface="+mn-cs"/>
      </a:defRPr>
    </a:lvl3pPr>
    <a:lvl4pPr marL="1371600" algn="l" rtl="0" fontAlgn="base">
      <a:spcBef>
        <a:spcPct val="30000"/>
      </a:spcBef>
      <a:spcAft>
        <a:spcPct val="0"/>
      </a:spcAft>
      <a:defRPr sz="1200" kern="1200">
        <a:solidFill>
          <a:schemeClr val="tx1"/>
        </a:solidFill>
        <a:latin typeface="Arial" charset="0"/>
        <a:ea typeface="ＭＳ Ｐゴシック" charset="0"/>
        <a:cs typeface="+mn-cs"/>
      </a:defRPr>
    </a:lvl4pPr>
    <a:lvl5pPr marL="1828800" algn="l" rtl="0" fontAlgn="base">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endParaRPr lang="en-GB"/>
          </a:p>
        </p:txBody>
      </p:sp>
      <p:sp>
        <p:nvSpPr>
          <p:cNvPr id="7" name="Rectangle 7"/>
          <p:cNvSpPr>
            <a:spLocks noGrp="1" noChangeArrowheads="1"/>
          </p:cNvSpPr>
          <p:nvPr>
            <p:ph type="sldNum" sz="quarter" idx="5"/>
          </p:nvPr>
        </p:nvSpPr>
        <p:spPr>
          <a:ln/>
        </p:spPr>
        <p:txBody>
          <a:bodyPr/>
          <a:lstStyle/>
          <a:p>
            <a:fld id="{D84339CA-7480-7D43-8F2E-E21EAD53B26D}" type="slidenum">
              <a:rPr lang="en-GB"/>
              <a:pPr/>
              <a:t>1</a:t>
            </a:fld>
            <a:endParaRPr lang="en-GB"/>
          </a:p>
        </p:txBody>
      </p:sp>
      <p:sp>
        <p:nvSpPr>
          <p:cNvPr id="3389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89443" name="Rectangle 3"/>
          <p:cNvSpPr>
            <a:spLocks noGrp="1" noChangeArrowheads="1"/>
          </p:cNvSpPr>
          <p:nvPr>
            <p:ph type="body" idx="1"/>
          </p:nvPr>
        </p:nvSpPr>
        <p:spPr/>
        <p:txBody>
          <a:bodyPr/>
          <a:lstStyle/>
          <a:p>
            <a:endParaRPr lang="en-GB"/>
          </a:p>
        </p:txBody>
      </p:sp>
      <p:sp>
        <p:nvSpPr>
          <p:cNvPr id="2" name="Footer Placeholder 1">
            <a:extLst>
              <a:ext uri="{FF2B5EF4-FFF2-40B4-BE49-F238E27FC236}">
                <a16:creationId xmlns:a16="http://schemas.microsoft.com/office/drawing/2014/main" id="{D8ECCF93-09FA-45CC-932E-985C2E320A00}"/>
              </a:ext>
            </a:extLst>
          </p:cNvPr>
          <p:cNvSpPr>
            <a:spLocks noGrp="1"/>
          </p:cNvSpPr>
          <p:nvPr>
            <p:ph type="ftr" sz="quarter" idx="4"/>
          </p:nvPr>
        </p:nvSpPr>
        <p:spPr/>
        <p:txBody>
          <a:bodyPr/>
          <a:lstStyle/>
          <a:p>
            <a:endParaRPr lang="en-GB"/>
          </a:p>
        </p:txBody>
      </p:sp>
      <p:sp>
        <p:nvSpPr>
          <p:cNvPr id="3" name="Header Placeholder 2">
            <a:extLst>
              <a:ext uri="{FF2B5EF4-FFF2-40B4-BE49-F238E27FC236}">
                <a16:creationId xmlns:a16="http://schemas.microsoft.com/office/drawing/2014/main" id="{36EFF983-12A9-4471-AB89-9BABFD563DAF}"/>
              </a:ext>
            </a:extLst>
          </p:cNvPr>
          <p:cNvSpPr>
            <a:spLocks noGrp="1"/>
          </p:cNvSpPr>
          <p:nvPr>
            <p:ph type="hdr" sz="quarter"/>
          </p:nvPr>
        </p:nvSpPr>
        <p:spPr/>
        <p:txBody>
          <a:bodyPr/>
          <a:lstStyle/>
          <a:p>
            <a:endParaRPr lang="en-GB"/>
          </a:p>
        </p:txBody>
      </p:sp>
    </p:spTree>
    <p:extLst>
      <p:ext uri="{BB962C8B-B14F-4D97-AF65-F5344CB8AC3E}">
        <p14:creationId xmlns:p14="http://schemas.microsoft.com/office/powerpoint/2010/main" val="2152657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endParaRPr lang="en-GB"/>
          </a:p>
        </p:txBody>
      </p:sp>
      <p:sp>
        <p:nvSpPr>
          <p:cNvPr id="7" name="Rectangle 7"/>
          <p:cNvSpPr>
            <a:spLocks noGrp="1" noChangeArrowheads="1"/>
          </p:cNvSpPr>
          <p:nvPr>
            <p:ph type="sldNum" sz="quarter" idx="5"/>
          </p:nvPr>
        </p:nvSpPr>
        <p:spPr>
          <a:ln/>
        </p:spPr>
        <p:txBody>
          <a:bodyPr/>
          <a:lstStyle/>
          <a:p>
            <a:fld id="{D84339CA-7480-7D43-8F2E-E21EAD53B26D}" type="slidenum">
              <a:rPr lang="en-GB"/>
              <a:pPr/>
              <a:t>2</a:t>
            </a:fld>
            <a:endParaRPr lang="en-GB"/>
          </a:p>
        </p:txBody>
      </p:sp>
      <p:sp>
        <p:nvSpPr>
          <p:cNvPr id="3389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89443" name="Rectangle 3"/>
          <p:cNvSpPr>
            <a:spLocks noGrp="1" noChangeArrowheads="1"/>
          </p:cNvSpPr>
          <p:nvPr>
            <p:ph type="body" idx="1"/>
          </p:nvPr>
        </p:nvSpPr>
        <p:spPr/>
        <p:txBody>
          <a:bodyPr/>
          <a:lstStyle/>
          <a:p>
            <a:endParaRPr lang="en-GB"/>
          </a:p>
        </p:txBody>
      </p:sp>
      <p:sp>
        <p:nvSpPr>
          <p:cNvPr id="2" name="Footer Placeholder 1">
            <a:extLst>
              <a:ext uri="{FF2B5EF4-FFF2-40B4-BE49-F238E27FC236}">
                <a16:creationId xmlns:a16="http://schemas.microsoft.com/office/drawing/2014/main" id="{D8ECCF93-09FA-45CC-932E-985C2E320A00}"/>
              </a:ext>
            </a:extLst>
          </p:cNvPr>
          <p:cNvSpPr>
            <a:spLocks noGrp="1"/>
          </p:cNvSpPr>
          <p:nvPr>
            <p:ph type="ftr" sz="quarter" idx="4"/>
          </p:nvPr>
        </p:nvSpPr>
        <p:spPr/>
        <p:txBody>
          <a:bodyPr/>
          <a:lstStyle/>
          <a:p>
            <a:endParaRPr lang="en-GB"/>
          </a:p>
        </p:txBody>
      </p:sp>
      <p:sp>
        <p:nvSpPr>
          <p:cNvPr id="3" name="Header Placeholder 2">
            <a:extLst>
              <a:ext uri="{FF2B5EF4-FFF2-40B4-BE49-F238E27FC236}">
                <a16:creationId xmlns:a16="http://schemas.microsoft.com/office/drawing/2014/main" id="{36EFF983-12A9-4471-AB89-9BABFD563DAF}"/>
              </a:ext>
            </a:extLst>
          </p:cNvPr>
          <p:cNvSpPr>
            <a:spLocks noGrp="1"/>
          </p:cNvSpPr>
          <p:nvPr>
            <p:ph type="hdr" sz="quarter"/>
          </p:nvPr>
        </p:nvSpPr>
        <p:spPr/>
        <p:txBody>
          <a:bodyPr/>
          <a:lstStyle/>
          <a:p>
            <a:endParaRPr lang="en-GB"/>
          </a:p>
        </p:txBody>
      </p:sp>
    </p:spTree>
    <p:extLst>
      <p:ext uri="{BB962C8B-B14F-4D97-AF65-F5344CB8AC3E}">
        <p14:creationId xmlns:p14="http://schemas.microsoft.com/office/powerpoint/2010/main" val="1593245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endParaRPr lang="en-GB"/>
          </a:p>
        </p:txBody>
      </p:sp>
      <p:sp>
        <p:nvSpPr>
          <p:cNvPr id="7" name="Rectangle 7"/>
          <p:cNvSpPr>
            <a:spLocks noGrp="1" noChangeArrowheads="1"/>
          </p:cNvSpPr>
          <p:nvPr>
            <p:ph type="sldNum" sz="quarter" idx="5"/>
          </p:nvPr>
        </p:nvSpPr>
        <p:spPr>
          <a:ln/>
        </p:spPr>
        <p:txBody>
          <a:bodyPr/>
          <a:lstStyle/>
          <a:p>
            <a:fld id="{D84339CA-7480-7D43-8F2E-E21EAD53B26D}" type="slidenum">
              <a:rPr lang="en-GB"/>
              <a:pPr/>
              <a:t>8</a:t>
            </a:fld>
            <a:endParaRPr lang="en-GB"/>
          </a:p>
        </p:txBody>
      </p:sp>
      <p:sp>
        <p:nvSpPr>
          <p:cNvPr id="3389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89443" name="Rectangle 3"/>
          <p:cNvSpPr>
            <a:spLocks noGrp="1" noChangeArrowheads="1"/>
          </p:cNvSpPr>
          <p:nvPr>
            <p:ph type="body" idx="1"/>
          </p:nvPr>
        </p:nvSpPr>
        <p:spPr/>
        <p:txBody>
          <a:bodyPr/>
          <a:lstStyle/>
          <a:p>
            <a:endParaRPr lang="en-GB"/>
          </a:p>
        </p:txBody>
      </p:sp>
      <p:sp>
        <p:nvSpPr>
          <p:cNvPr id="2" name="Footer Placeholder 1">
            <a:extLst>
              <a:ext uri="{FF2B5EF4-FFF2-40B4-BE49-F238E27FC236}">
                <a16:creationId xmlns:a16="http://schemas.microsoft.com/office/drawing/2014/main" id="{D8ECCF93-09FA-45CC-932E-985C2E320A00}"/>
              </a:ext>
            </a:extLst>
          </p:cNvPr>
          <p:cNvSpPr>
            <a:spLocks noGrp="1"/>
          </p:cNvSpPr>
          <p:nvPr>
            <p:ph type="ftr" sz="quarter" idx="4"/>
          </p:nvPr>
        </p:nvSpPr>
        <p:spPr/>
        <p:txBody>
          <a:bodyPr/>
          <a:lstStyle/>
          <a:p>
            <a:endParaRPr lang="en-GB"/>
          </a:p>
        </p:txBody>
      </p:sp>
      <p:sp>
        <p:nvSpPr>
          <p:cNvPr id="3" name="Header Placeholder 2">
            <a:extLst>
              <a:ext uri="{FF2B5EF4-FFF2-40B4-BE49-F238E27FC236}">
                <a16:creationId xmlns:a16="http://schemas.microsoft.com/office/drawing/2014/main" id="{36EFF983-12A9-4471-AB89-9BABFD563DAF}"/>
              </a:ext>
            </a:extLst>
          </p:cNvPr>
          <p:cNvSpPr>
            <a:spLocks noGrp="1"/>
          </p:cNvSpPr>
          <p:nvPr>
            <p:ph type="hdr" sz="quarter"/>
          </p:nvPr>
        </p:nvSpPr>
        <p:spPr/>
        <p:txBody>
          <a:bodyPr/>
          <a:lstStyle/>
          <a:p>
            <a:endParaRPr lang="en-GB"/>
          </a:p>
        </p:txBody>
      </p:sp>
    </p:spTree>
    <p:extLst>
      <p:ext uri="{BB962C8B-B14F-4D97-AF65-F5344CB8AC3E}">
        <p14:creationId xmlns:p14="http://schemas.microsoft.com/office/powerpoint/2010/main" val="432794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endParaRPr lang="en-GB"/>
          </a:p>
        </p:txBody>
      </p:sp>
      <p:sp>
        <p:nvSpPr>
          <p:cNvPr id="7" name="Rectangle 7"/>
          <p:cNvSpPr>
            <a:spLocks noGrp="1" noChangeArrowheads="1"/>
          </p:cNvSpPr>
          <p:nvPr>
            <p:ph type="sldNum" sz="quarter" idx="5"/>
          </p:nvPr>
        </p:nvSpPr>
        <p:spPr>
          <a:ln/>
        </p:spPr>
        <p:txBody>
          <a:bodyPr/>
          <a:lstStyle/>
          <a:p>
            <a:fld id="{D84339CA-7480-7D43-8F2E-E21EAD53B26D}" type="slidenum">
              <a:rPr lang="en-GB"/>
              <a:pPr/>
              <a:t>15</a:t>
            </a:fld>
            <a:endParaRPr lang="en-GB"/>
          </a:p>
        </p:txBody>
      </p:sp>
      <p:sp>
        <p:nvSpPr>
          <p:cNvPr id="3389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89443" name="Rectangle 3"/>
          <p:cNvSpPr>
            <a:spLocks noGrp="1" noChangeArrowheads="1"/>
          </p:cNvSpPr>
          <p:nvPr>
            <p:ph type="body" idx="1"/>
          </p:nvPr>
        </p:nvSpPr>
        <p:spPr/>
        <p:txBody>
          <a:bodyPr/>
          <a:lstStyle/>
          <a:p>
            <a:endParaRPr lang="en-GB"/>
          </a:p>
        </p:txBody>
      </p:sp>
      <p:sp>
        <p:nvSpPr>
          <p:cNvPr id="2" name="Footer Placeholder 1">
            <a:extLst>
              <a:ext uri="{FF2B5EF4-FFF2-40B4-BE49-F238E27FC236}">
                <a16:creationId xmlns:a16="http://schemas.microsoft.com/office/drawing/2014/main" id="{D8ECCF93-09FA-45CC-932E-985C2E320A00}"/>
              </a:ext>
            </a:extLst>
          </p:cNvPr>
          <p:cNvSpPr>
            <a:spLocks noGrp="1"/>
          </p:cNvSpPr>
          <p:nvPr>
            <p:ph type="ftr" sz="quarter" idx="4"/>
          </p:nvPr>
        </p:nvSpPr>
        <p:spPr/>
        <p:txBody>
          <a:bodyPr/>
          <a:lstStyle/>
          <a:p>
            <a:endParaRPr lang="en-GB"/>
          </a:p>
        </p:txBody>
      </p:sp>
      <p:sp>
        <p:nvSpPr>
          <p:cNvPr id="3" name="Header Placeholder 2">
            <a:extLst>
              <a:ext uri="{FF2B5EF4-FFF2-40B4-BE49-F238E27FC236}">
                <a16:creationId xmlns:a16="http://schemas.microsoft.com/office/drawing/2014/main" id="{36EFF983-12A9-4471-AB89-9BABFD563DAF}"/>
              </a:ext>
            </a:extLst>
          </p:cNvPr>
          <p:cNvSpPr>
            <a:spLocks noGrp="1"/>
          </p:cNvSpPr>
          <p:nvPr>
            <p:ph type="hdr" sz="quarter"/>
          </p:nvPr>
        </p:nvSpPr>
        <p:spPr/>
        <p:txBody>
          <a:bodyPr/>
          <a:lstStyle/>
          <a:p>
            <a:endParaRPr lang="en-GB"/>
          </a:p>
        </p:txBody>
      </p:sp>
    </p:spTree>
    <p:extLst>
      <p:ext uri="{BB962C8B-B14F-4D97-AF65-F5344CB8AC3E}">
        <p14:creationId xmlns:p14="http://schemas.microsoft.com/office/powerpoint/2010/main" val="3693464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5" name="Date Placeholder 4"/>
          <p:cNvSpPr>
            <a:spLocks noGrp="1"/>
          </p:cNvSpPr>
          <p:nvPr>
            <p:ph type="dt" idx="11"/>
          </p:nvPr>
        </p:nvSpPr>
        <p:spPr/>
        <p:txBody>
          <a:bodyPr/>
          <a:lstStyle/>
          <a:p>
            <a:endParaRPr lang="en-GB"/>
          </a:p>
        </p:txBody>
      </p:sp>
      <p:sp>
        <p:nvSpPr>
          <p:cNvPr id="7" name="Slide Number Placeholder 6"/>
          <p:cNvSpPr>
            <a:spLocks noGrp="1"/>
          </p:cNvSpPr>
          <p:nvPr>
            <p:ph type="sldNum" sz="quarter" idx="13"/>
          </p:nvPr>
        </p:nvSpPr>
        <p:spPr/>
        <p:txBody>
          <a:bodyPr/>
          <a:lstStyle/>
          <a:p>
            <a:fld id="{7853C3CD-E398-6040-8254-417BEBA359AB}" type="slidenum">
              <a:rPr lang="en-GB" smtClean="0"/>
              <a:pPr/>
              <a:t>20</a:t>
            </a:fld>
            <a:endParaRPr lang="en-GB"/>
          </a:p>
        </p:txBody>
      </p:sp>
      <p:sp>
        <p:nvSpPr>
          <p:cNvPr id="8" name="Footer Placeholder 7">
            <a:extLst>
              <a:ext uri="{FF2B5EF4-FFF2-40B4-BE49-F238E27FC236}">
                <a16:creationId xmlns:a16="http://schemas.microsoft.com/office/drawing/2014/main" id="{7E8911F6-6D2F-419C-AABD-BD8A31649AE6}"/>
              </a:ext>
            </a:extLst>
          </p:cNvPr>
          <p:cNvSpPr>
            <a:spLocks noGrp="1"/>
          </p:cNvSpPr>
          <p:nvPr>
            <p:ph type="ftr" sz="quarter" idx="4"/>
          </p:nvPr>
        </p:nvSpPr>
        <p:spPr/>
        <p:txBody>
          <a:bodyPr/>
          <a:lstStyle/>
          <a:p>
            <a:endParaRPr lang="en-GB"/>
          </a:p>
        </p:txBody>
      </p:sp>
      <p:sp>
        <p:nvSpPr>
          <p:cNvPr id="9" name="Header Placeholder 8">
            <a:extLst>
              <a:ext uri="{FF2B5EF4-FFF2-40B4-BE49-F238E27FC236}">
                <a16:creationId xmlns:a16="http://schemas.microsoft.com/office/drawing/2014/main" id="{5342E1EE-4F07-4ED0-9075-2544EB94B884}"/>
              </a:ext>
            </a:extLst>
          </p:cNvPr>
          <p:cNvSpPr>
            <a:spLocks noGrp="1"/>
          </p:cNvSpPr>
          <p:nvPr>
            <p:ph type="hdr" sz="quarter"/>
          </p:nvPr>
        </p:nvSpPr>
        <p:spPr/>
        <p:txBody>
          <a:bodyPr/>
          <a:lstStyle/>
          <a:p>
            <a:endParaRPr lang="en-GB"/>
          </a:p>
        </p:txBody>
      </p:sp>
    </p:spTree>
    <p:extLst>
      <p:ext uri="{BB962C8B-B14F-4D97-AF65-F5344CB8AC3E}">
        <p14:creationId xmlns:p14="http://schemas.microsoft.com/office/powerpoint/2010/main" val="1527140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84339CA-7480-7D43-8F2E-E21EAD53B26D}" type="slidenum">
              <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3389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89443" name="Rectangle 3"/>
          <p:cNvSpPr>
            <a:spLocks noGrp="1" noChangeArrowheads="1"/>
          </p:cNvSpPr>
          <p:nvPr>
            <p:ph type="body" idx="1"/>
          </p:nvPr>
        </p:nvSpPr>
        <p:spPr/>
        <p:txBody>
          <a:bodyPr/>
          <a:lstStyle/>
          <a:p>
            <a:endParaRPr lang="en-GB"/>
          </a:p>
        </p:txBody>
      </p:sp>
      <p:sp>
        <p:nvSpPr>
          <p:cNvPr id="2" name="Footer Placeholder 1">
            <a:extLst>
              <a:ext uri="{FF2B5EF4-FFF2-40B4-BE49-F238E27FC236}">
                <a16:creationId xmlns:a16="http://schemas.microsoft.com/office/drawing/2014/main" id="{D8ECCF93-09FA-45CC-932E-985C2E320A00}"/>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3" name="Header Placeholder 2">
            <a:extLst>
              <a:ext uri="{FF2B5EF4-FFF2-40B4-BE49-F238E27FC236}">
                <a16:creationId xmlns:a16="http://schemas.microsoft.com/office/drawing/2014/main" id="{36EFF983-12A9-4471-AB89-9BABFD563DAF}"/>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150203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84339CA-7480-7D43-8F2E-E21EAD53B26D}" type="slidenum">
              <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3389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89443" name="Rectangle 3"/>
          <p:cNvSpPr>
            <a:spLocks noGrp="1" noChangeArrowheads="1"/>
          </p:cNvSpPr>
          <p:nvPr>
            <p:ph type="body" idx="1"/>
          </p:nvPr>
        </p:nvSpPr>
        <p:spPr/>
        <p:txBody>
          <a:bodyPr/>
          <a:lstStyle/>
          <a:p>
            <a:endParaRPr lang="en-GB"/>
          </a:p>
        </p:txBody>
      </p:sp>
      <p:sp>
        <p:nvSpPr>
          <p:cNvPr id="2" name="Footer Placeholder 1">
            <a:extLst>
              <a:ext uri="{FF2B5EF4-FFF2-40B4-BE49-F238E27FC236}">
                <a16:creationId xmlns:a16="http://schemas.microsoft.com/office/drawing/2014/main" id="{D8ECCF93-09FA-45CC-932E-985C2E320A00}"/>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3" name="Header Placeholder 2">
            <a:extLst>
              <a:ext uri="{FF2B5EF4-FFF2-40B4-BE49-F238E27FC236}">
                <a16:creationId xmlns:a16="http://schemas.microsoft.com/office/drawing/2014/main" id="{36EFF983-12A9-4471-AB89-9BABFD563DAF}"/>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2097052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84339CA-7480-7D43-8F2E-E21EAD53B26D}" type="slidenum">
              <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3389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3389443" name="Rectangle 3"/>
          <p:cNvSpPr>
            <a:spLocks noGrp="1" noChangeArrowheads="1"/>
          </p:cNvSpPr>
          <p:nvPr>
            <p:ph type="body" idx="1"/>
          </p:nvPr>
        </p:nvSpPr>
        <p:spPr/>
        <p:txBody>
          <a:bodyPr/>
          <a:lstStyle/>
          <a:p>
            <a:endParaRPr lang="en-GB"/>
          </a:p>
        </p:txBody>
      </p:sp>
      <p:sp>
        <p:nvSpPr>
          <p:cNvPr id="2" name="Footer Placeholder 1">
            <a:extLst>
              <a:ext uri="{FF2B5EF4-FFF2-40B4-BE49-F238E27FC236}">
                <a16:creationId xmlns:a16="http://schemas.microsoft.com/office/drawing/2014/main" id="{D8ECCF93-09FA-45CC-932E-985C2E320A00}"/>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
        <p:nvSpPr>
          <p:cNvPr id="3" name="Header Placeholder 2">
            <a:extLst>
              <a:ext uri="{FF2B5EF4-FFF2-40B4-BE49-F238E27FC236}">
                <a16:creationId xmlns:a16="http://schemas.microsoft.com/office/drawing/2014/main" id="{36EFF983-12A9-4471-AB89-9BABFD563DAF}"/>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381810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ga-I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ga-IE"/>
              <a:t>Click to edit Master subtitle style</a:t>
            </a:r>
            <a:endParaRPr lang="en-US"/>
          </a:p>
        </p:txBody>
      </p:sp>
    </p:spTree>
    <p:extLst>
      <p:ext uri="{BB962C8B-B14F-4D97-AF65-F5344CB8AC3E}">
        <p14:creationId xmlns:p14="http://schemas.microsoft.com/office/powerpoint/2010/main" val="3541431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idx="1"/>
          </p:nvPr>
        </p:nvSpPr>
        <p:spPr/>
        <p:txBody>
          <a:body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306549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ga-IE"/>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ga-IE"/>
              <a:t>Click to edit Master text styles</a:t>
            </a:r>
          </a:p>
        </p:txBody>
      </p:sp>
    </p:spTree>
    <p:extLst>
      <p:ext uri="{BB962C8B-B14F-4D97-AF65-F5344CB8AC3E}">
        <p14:creationId xmlns:p14="http://schemas.microsoft.com/office/powerpoint/2010/main" val="142248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Content Placeholder 2"/>
          <p:cNvSpPr>
            <a:spLocks noGrp="1"/>
          </p:cNvSpPr>
          <p:nvPr>
            <p:ph sz="half" idx="1"/>
          </p:nvPr>
        </p:nvSpPr>
        <p:spPr>
          <a:xfrm>
            <a:off x="703263" y="1676400"/>
            <a:ext cx="3897312"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Content Placeholder 3"/>
          <p:cNvSpPr>
            <a:spLocks noGrp="1"/>
          </p:cNvSpPr>
          <p:nvPr>
            <p:ph sz="half" idx="2"/>
          </p:nvPr>
        </p:nvSpPr>
        <p:spPr>
          <a:xfrm>
            <a:off x="4752975" y="1676400"/>
            <a:ext cx="3898900" cy="470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817107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ga-I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ga-I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690394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232726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29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ga-I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1081956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ga-I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ga-IE"/>
              <a:t>Click to edit Master text styles</a:t>
            </a:r>
          </a:p>
        </p:txBody>
      </p:sp>
    </p:spTree>
    <p:extLst>
      <p:ext uri="{BB962C8B-B14F-4D97-AF65-F5344CB8AC3E}">
        <p14:creationId xmlns:p14="http://schemas.microsoft.com/office/powerpoint/2010/main" val="3472442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197777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538" y="266700"/>
            <a:ext cx="2065337" cy="6115050"/>
          </a:xfrm>
        </p:spPr>
        <p:txBody>
          <a:bodyPr vert="eaVert"/>
          <a:lstStyle/>
          <a:p>
            <a:r>
              <a:rPr lang="ga-IE"/>
              <a:t>Click to edit Master title style</a:t>
            </a:r>
            <a:endParaRPr lang="en-US"/>
          </a:p>
        </p:txBody>
      </p:sp>
      <p:sp>
        <p:nvSpPr>
          <p:cNvPr id="3" name="Vertical Text Placeholder 2"/>
          <p:cNvSpPr>
            <a:spLocks noGrp="1"/>
          </p:cNvSpPr>
          <p:nvPr>
            <p:ph type="body" orient="vert" idx="1"/>
          </p:nvPr>
        </p:nvSpPr>
        <p:spPr>
          <a:xfrm>
            <a:off x="388938" y="266700"/>
            <a:ext cx="6045200" cy="6115050"/>
          </a:xfrm>
        </p:spPr>
        <p:txBody>
          <a:bodyPr vert="eaVert"/>
          <a:lstStyle/>
          <a:p>
            <a:pPr lvl="0"/>
            <a:r>
              <a:rPr lang="ga-IE"/>
              <a:t>Click to edit Master text styles</a:t>
            </a:r>
          </a:p>
          <a:p>
            <a:pPr lvl="1"/>
            <a:r>
              <a:rPr lang="ga-IE"/>
              <a:t>Second level</a:t>
            </a:r>
          </a:p>
          <a:p>
            <a:pPr lvl="2"/>
            <a:r>
              <a:rPr lang="ga-IE"/>
              <a:t>Third level</a:t>
            </a:r>
          </a:p>
          <a:p>
            <a:pPr lvl="3"/>
            <a:r>
              <a:rPr lang="ga-IE"/>
              <a:t>Fourth level</a:t>
            </a:r>
          </a:p>
          <a:p>
            <a:pPr lvl="4"/>
            <a:r>
              <a:rPr lang="ga-IE"/>
              <a:t>Fifth level</a:t>
            </a:r>
            <a:endParaRPr lang="en-US"/>
          </a:p>
        </p:txBody>
      </p:sp>
    </p:spTree>
    <p:extLst>
      <p:ext uri="{BB962C8B-B14F-4D97-AF65-F5344CB8AC3E}">
        <p14:creationId xmlns:p14="http://schemas.microsoft.com/office/powerpoint/2010/main" val="3985021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06978" name="Line 2"/>
          <p:cNvSpPr>
            <a:spLocks noChangeShapeType="1"/>
          </p:cNvSpPr>
          <p:nvPr/>
        </p:nvSpPr>
        <p:spPr bwMode="auto">
          <a:xfrm>
            <a:off x="1588" y="1484313"/>
            <a:ext cx="9066212" cy="0"/>
          </a:xfrm>
          <a:prstGeom prst="line">
            <a:avLst/>
          </a:prstGeom>
          <a:noFill/>
          <a:ln w="50800">
            <a:solidFill>
              <a:schemeClr val="bg2"/>
            </a:solidFill>
            <a:round/>
            <a:headEnd type="none" w="sm" len="sm"/>
            <a:tailEnd type="none" w="sm" len="sm"/>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06979" name="Rectangle 3"/>
          <p:cNvSpPr>
            <a:spLocks noGrp="1" noChangeArrowheads="1"/>
          </p:cNvSpPr>
          <p:nvPr>
            <p:ph type="title"/>
          </p:nvPr>
        </p:nvSpPr>
        <p:spPr bwMode="auto">
          <a:xfrm>
            <a:off x="388938" y="266700"/>
            <a:ext cx="8145462" cy="1104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b" anchorCtr="0" compatLnSpc="1">
            <a:prstTxWarp prst="textNoShape">
              <a:avLst/>
            </a:prstTxWarp>
          </a:bodyPr>
          <a:lstStyle/>
          <a:p>
            <a:pPr lvl="0"/>
            <a:r>
              <a:rPr lang="en-US"/>
              <a:t>Click to edit Master title style</a:t>
            </a:r>
          </a:p>
        </p:txBody>
      </p:sp>
      <p:sp>
        <p:nvSpPr>
          <p:cNvPr id="1406980" name="Rectangle 4"/>
          <p:cNvSpPr>
            <a:spLocks noGrp="1" noChangeArrowheads="1"/>
          </p:cNvSpPr>
          <p:nvPr>
            <p:ph type="body" idx="1"/>
          </p:nvPr>
        </p:nvSpPr>
        <p:spPr bwMode="auto">
          <a:xfrm>
            <a:off x="703263" y="1676400"/>
            <a:ext cx="7948612" cy="4705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06982" name="Rectangle 6"/>
          <p:cNvSpPr>
            <a:spLocks noChangeArrowheads="1"/>
          </p:cNvSpPr>
          <p:nvPr/>
        </p:nvSpPr>
        <p:spPr bwMode="auto">
          <a:xfrm>
            <a:off x="8172450" y="6400800"/>
            <a:ext cx="450850" cy="244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2075" tIns="46038" rIns="92075" bIns="46038">
            <a:spAutoFit/>
          </a:bodyPr>
          <a:lstStyle/>
          <a:p>
            <a:pPr eaLnBrk="0" hangingPunct="0"/>
            <a:fld id="{3739EF48-B9D0-924E-B728-EC9AFAE91669}" type="slidenum">
              <a:rPr lang="en-US" sz="1000">
                <a:solidFill>
                  <a:schemeClr val="bg2"/>
                </a:solidFill>
              </a:rPr>
              <a:pPr eaLnBrk="0" hangingPunct="0"/>
              <a:t>‹#›</a:t>
            </a:fld>
            <a:endParaRPr lang="en-US" sz="1000">
              <a:solidFill>
                <a:schemeClr val="bg2"/>
              </a:solidFill>
            </a:endParaRPr>
          </a:p>
        </p:txBody>
      </p:sp>
      <p:sp>
        <p:nvSpPr>
          <p:cNvPr id="2" name="Footer Placeholder 1"/>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dt="0"/>
  <p:txStyles>
    <p:titleStyle>
      <a:lvl1pPr algn="l" rtl="0" fontAlgn="base">
        <a:spcBef>
          <a:spcPct val="0"/>
        </a:spcBef>
        <a:spcAft>
          <a:spcPct val="0"/>
        </a:spcAft>
        <a:defRPr sz="3600" b="1">
          <a:solidFill>
            <a:schemeClr val="bg2"/>
          </a:solidFill>
          <a:latin typeface="+mj-lt"/>
          <a:ea typeface="+mj-ea"/>
          <a:cs typeface="+mj-cs"/>
        </a:defRPr>
      </a:lvl1pPr>
      <a:lvl2pPr algn="l" rtl="0" fontAlgn="base">
        <a:spcBef>
          <a:spcPct val="0"/>
        </a:spcBef>
        <a:spcAft>
          <a:spcPct val="0"/>
        </a:spcAft>
        <a:defRPr sz="3600" b="1">
          <a:solidFill>
            <a:schemeClr val="bg2"/>
          </a:solidFill>
          <a:latin typeface="Arial" charset="0"/>
          <a:ea typeface="ＭＳ Ｐゴシック" charset="0"/>
        </a:defRPr>
      </a:lvl2pPr>
      <a:lvl3pPr algn="l" rtl="0" fontAlgn="base">
        <a:spcBef>
          <a:spcPct val="0"/>
        </a:spcBef>
        <a:spcAft>
          <a:spcPct val="0"/>
        </a:spcAft>
        <a:defRPr sz="3600" b="1">
          <a:solidFill>
            <a:schemeClr val="bg2"/>
          </a:solidFill>
          <a:latin typeface="Arial" charset="0"/>
          <a:ea typeface="ＭＳ Ｐゴシック" charset="0"/>
        </a:defRPr>
      </a:lvl3pPr>
      <a:lvl4pPr algn="l" rtl="0" fontAlgn="base">
        <a:spcBef>
          <a:spcPct val="0"/>
        </a:spcBef>
        <a:spcAft>
          <a:spcPct val="0"/>
        </a:spcAft>
        <a:defRPr sz="3600" b="1">
          <a:solidFill>
            <a:schemeClr val="bg2"/>
          </a:solidFill>
          <a:latin typeface="Arial" charset="0"/>
          <a:ea typeface="ＭＳ Ｐゴシック" charset="0"/>
        </a:defRPr>
      </a:lvl4pPr>
      <a:lvl5pPr algn="l" rtl="0" fontAlgn="base">
        <a:spcBef>
          <a:spcPct val="0"/>
        </a:spcBef>
        <a:spcAft>
          <a:spcPct val="0"/>
        </a:spcAft>
        <a:defRPr sz="3600" b="1">
          <a:solidFill>
            <a:schemeClr val="bg2"/>
          </a:solidFill>
          <a:latin typeface="Arial" charset="0"/>
          <a:ea typeface="ＭＳ Ｐゴシック" charset="0"/>
        </a:defRPr>
      </a:lvl5pPr>
      <a:lvl6pPr marL="457200" algn="l" rtl="0" fontAlgn="base">
        <a:spcBef>
          <a:spcPct val="0"/>
        </a:spcBef>
        <a:spcAft>
          <a:spcPct val="0"/>
        </a:spcAft>
        <a:defRPr sz="3600" b="1">
          <a:solidFill>
            <a:schemeClr val="bg2"/>
          </a:solidFill>
          <a:latin typeface="Arial" charset="0"/>
          <a:ea typeface="ＭＳ Ｐゴシック" charset="0"/>
        </a:defRPr>
      </a:lvl6pPr>
      <a:lvl7pPr marL="914400" algn="l" rtl="0" fontAlgn="base">
        <a:spcBef>
          <a:spcPct val="0"/>
        </a:spcBef>
        <a:spcAft>
          <a:spcPct val="0"/>
        </a:spcAft>
        <a:defRPr sz="3600" b="1">
          <a:solidFill>
            <a:schemeClr val="bg2"/>
          </a:solidFill>
          <a:latin typeface="Arial" charset="0"/>
          <a:ea typeface="ＭＳ Ｐゴシック" charset="0"/>
        </a:defRPr>
      </a:lvl7pPr>
      <a:lvl8pPr marL="1371600" algn="l" rtl="0" fontAlgn="base">
        <a:spcBef>
          <a:spcPct val="0"/>
        </a:spcBef>
        <a:spcAft>
          <a:spcPct val="0"/>
        </a:spcAft>
        <a:defRPr sz="3600" b="1">
          <a:solidFill>
            <a:schemeClr val="bg2"/>
          </a:solidFill>
          <a:latin typeface="Arial" charset="0"/>
          <a:ea typeface="ＭＳ Ｐゴシック" charset="0"/>
        </a:defRPr>
      </a:lvl8pPr>
      <a:lvl9pPr marL="1828800" algn="l" rtl="0" fontAlgn="base">
        <a:spcBef>
          <a:spcPct val="0"/>
        </a:spcBef>
        <a:spcAft>
          <a:spcPct val="0"/>
        </a:spcAft>
        <a:defRPr sz="3600" b="1">
          <a:solidFill>
            <a:schemeClr val="bg2"/>
          </a:solidFill>
          <a:latin typeface="Arial" charset="0"/>
          <a:ea typeface="ＭＳ Ｐゴシック" charset="0"/>
        </a:defRPr>
      </a:lvl9pPr>
    </p:titleStyle>
    <p:body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p:txBody>
          <a:bodyPr/>
          <a:lstStyle/>
          <a:p>
            <a:r>
              <a:rPr lang="en-US" dirty="0"/>
              <a:t>Testing Software Requirements</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p:txBody>
          <a:bodyPr/>
          <a:lstStyle/>
          <a:p>
            <a:r>
              <a:rPr lang="en-US" dirty="0" smtClean="0"/>
              <a:t>Part 1 - Importance</a:t>
            </a:r>
            <a:endParaRPr lang="en-US" dirty="0"/>
          </a:p>
        </p:txBody>
      </p:sp>
    </p:spTree>
    <p:extLst>
      <p:ext uri="{BB962C8B-B14F-4D97-AF65-F5344CB8AC3E}">
        <p14:creationId xmlns:p14="http://schemas.microsoft.com/office/powerpoint/2010/main" val="37437712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Importance of requirements</a:t>
            </a:r>
          </a:p>
        </p:txBody>
      </p:sp>
      <p:sp>
        <p:nvSpPr>
          <p:cNvPr id="3" name="Content Placeholder 2"/>
          <p:cNvSpPr>
            <a:spLocks noGrp="1"/>
          </p:cNvSpPr>
          <p:nvPr>
            <p:ph idx="1"/>
          </p:nvPr>
        </p:nvSpPr>
        <p:spPr/>
        <p:txBody>
          <a:bodyPr/>
          <a:lstStyle/>
          <a:p>
            <a:pPr algn="just"/>
            <a:r>
              <a:rPr lang="en-US" sz="2400" dirty="0"/>
              <a:t>We have seen from earlier material/discussion that inadequate requirements are a commonly reported source of defects among experienced commercial developers.</a:t>
            </a:r>
          </a:p>
          <a:p>
            <a:pPr algn="just"/>
            <a:r>
              <a:rPr lang="en-US" sz="2400" dirty="0"/>
              <a:t>How can this position be improved? </a:t>
            </a:r>
          </a:p>
          <a:p>
            <a:pPr algn="just"/>
            <a:r>
              <a:rPr lang="en-US" sz="2400" dirty="0"/>
              <a:t>Poor quality requirements occur:</a:t>
            </a:r>
          </a:p>
          <a:p>
            <a:pPr marL="800100" lvl="1" indent="-342900" algn="just">
              <a:buFont typeface="Arial" panose="020B0604020202020204" pitchFamily="34" charset="0"/>
              <a:buChar char="•"/>
            </a:pPr>
            <a:r>
              <a:rPr lang="en-US" sz="2000" dirty="0"/>
              <a:t>partly because requirements elicitation and clarification is challenging;</a:t>
            </a:r>
          </a:p>
          <a:p>
            <a:pPr marL="800100" lvl="1" indent="-342900" algn="just">
              <a:buFont typeface="Arial" panose="020B0604020202020204" pitchFamily="34" charset="0"/>
              <a:buChar char="•"/>
            </a:pPr>
            <a:r>
              <a:rPr lang="en-US" sz="2000" dirty="0"/>
              <a:t>but also because some developers (perhaps unwittingly) choose to not invest sufficient time and effort into requirements.</a:t>
            </a:r>
          </a:p>
          <a:p>
            <a:pPr algn="just"/>
            <a:r>
              <a:rPr lang="en-US" sz="2400" dirty="0"/>
              <a:t>How can requirements be improved?</a:t>
            </a:r>
          </a:p>
          <a:p>
            <a:pPr algn="just"/>
            <a:r>
              <a:rPr lang="en-US" sz="2400" dirty="0"/>
              <a:t>Testing user stories? </a:t>
            </a:r>
          </a:p>
        </p:txBody>
      </p:sp>
    </p:spTree>
    <p:extLst>
      <p:ext uri="{BB962C8B-B14F-4D97-AF65-F5344CB8AC3E}">
        <p14:creationId xmlns:p14="http://schemas.microsoft.com/office/powerpoint/2010/main" val="1185071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Defining software requirements	</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sz="2400" dirty="0"/>
              <a:t>Broad spectrum of techniques for defining requirements.</a:t>
            </a:r>
          </a:p>
          <a:p>
            <a:pPr algn="just">
              <a:buFont typeface="Arial" panose="020B0604020202020204" pitchFamily="34" charset="0"/>
              <a:buChar char="•"/>
            </a:pPr>
            <a:r>
              <a:rPr lang="en-US" sz="2400" dirty="0"/>
              <a:t>Range from very formal (i.e. mathematical notation) to very informal (sometimes only verbal)</a:t>
            </a:r>
          </a:p>
          <a:p>
            <a:pPr algn="just">
              <a:buFont typeface="Arial" panose="020B0604020202020204" pitchFamily="34" charset="0"/>
              <a:buChar char="•"/>
            </a:pPr>
            <a:r>
              <a:rPr lang="en-US" sz="2400" dirty="0"/>
              <a:t>In most cases, requirements are necessarily complete.</a:t>
            </a:r>
          </a:p>
          <a:p>
            <a:pPr algn="just">
              <a:buFont typeface="Arial" panose="020B0604020202020204" pitchFamily="34" charset="0"/>
              <a:buChar char="•"/>
            </a:pPr>
            <a:r>
              <a:rPr lang="en-US" sz="2400" dirty="0"/>
              <a:t>We are building something new</a:t>
            </a:r>
          </a:p>
          <a:p>
            <a:pPr lvl="1" algn="just">
              <a:buFont typeface="Arial" panose="020B0604020202020204" pitchFamily="34" charset="0"/>
              <a:buChar char="•"/>
            </a:pPr>
            <a:r>
              <a:rPr lang="en-US" sz="2000" dirty="0"/>
              <a:t>neither the client or the provider are entirely clear what is required</a:t>
            </a:r>
          </a:p>
          <a:p>
            <a:pPr lvl="1" algn="just">
              <a:buFont typeface="Arial" panose="020B0604020202020204" pitchFamily="34" charset="0"/>
              <a:buChar char="•"/>
            </a:pPr>
            <a:r>
              <a:rPr lang="en-US" sz="2000" dirty="0"/>
              <a:t>almost certainly, they will have a different perspective / objective.</a:t>
            </a:r>
          </a:p>
        </p:txBody>
      </p:sp>
    </p:spTree>
    <p:extLst>
      <p:ext uri="{BB962C8B-B14F-4D97-AF65-F5344CB8AC3E}">
        <p14:creationId xmlns:p14="http://schemas.microsoft.com/office/powerpoint/2010/main" val="36017925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388937" y="266700"/>
            <a:ext cx="8359515" cy="1104900"/>
          </a:xfrm>
        </p:spPr>
        <p:txBody>
          <a:bodyPr/>
          <a:lstStyle/>
          <a:p>
            <a:r>
              <a:rPr lang="en-US" dirty="0"/>
              <a:t>Level of detail documented for software requirements: A spectrum</a:t>
            </a:r>
          </a:p>
        </p:txBody>
      </p:sp>
      <p:sp>
        <p:nvSpPr>
          <p:cNvPr id="3" name="Content Placeholder 2"/>
          <p:cNvSpPr>
            <a:spLocks noGrp="1"/>
          </p:cNvSpPr>
          <p:nvPr>
            <p:ph idx="1"/>
          </p:nvPr>
        </p:nvSpPr>
        <p:spPr>
          <a:xfrm>
            <a:off x="376901" y="3393001"/>
            <a:ext cx="1449951" cy="540055"/>
          </a:xfrm>
        </p:spPr>
        <p:txBody>
          <a:bodyPr/>
          <a:lstStyle/>
          <a:p>
            <a:pPr marL="0" indent="0" algn="ctr"/>
            <a:r>
              <a:rPr lang="en-US" sz="1400" dirty="0"/>
              <a:t>Non-</a:t>
            </a:r>
            <a:r>
              <a:rPr lang="en-US" sz="1400" dirty="0" err="1"/>
              <a:t>verbalised</a:t>
            </a:r>
            <a:r>
              <a:rPr lang="en-US" sz="1400" dirty="0"/>
              <a:t> idea</a:t>
            </a:r>
          </a:p>
        </p:txBody>
      </p:sp>
      <p:cxnSp>
        <p:nvCxnSpPr>
          <p:cNvPr id="4" name="Straight Connector 3">
            <a:extLst>
              <a:ext uri="{FF2B5EF4-FFF2-40B4-BE49-F238E27FC236}">
                <a16:creationId xmlns:a16="http://schemas.microsoft.com/office/drawing/2014/main" id="{0A842B74-5D7A-4E48-9719-9724FE72D56A}"/>
              </a:ext>
            </a:extLst>
          </p:cNvPr>
          <p:cNvCxnSpPr>
            <a:cxnSpLocks/>
          </p:cNvCxnSpPr>
          <p:nvPr/>
        </p:nvCxnSpPr>
        <p:spPr bwMode="auto">
          <a:xfrm>
            <a:off x="1295636" y="4077072"/>
            <a:ext cx="6552728" cy="0"/>
          </a:xfrm>
          <a:prstGeom prst="line">
            <a:avLst/>
          </a:prstGeom>
          <a:ln>
            <a:solidFill>
              <a:srgbClr val="000000"/>
            </a:solidFill>
            <a:headEnd type="oval" w="med" len="med"/>
            <a:tailEnd type="oval" w="med" len="me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3">
            <a:schemeClr val="dk1"/>
          </a:lnRef>
          <a:fillRef idx="0">
            <a:schemeClr val="dk1"/>
          </a:fillRef>
          <a:effectRef idx="2">
            <a:schemeClr val="dk1"/>
          </a:effectRef>
          <a:fontRef idx="minor">
            <a:schemeClr val="tx1"/>
          </a:fontRef>
        </p:style>
      </p:cxnSp>
      <p:sp>
        <p:nvSpPr>
          <p:cNvPr id="8" name="Content Placeholder 2">
            <a:extLst>
              <a:ext uri="{FF2B5EF4-FFF2-40B4-BE49-F238E27FC236}">
                <a16:creationId xmlns:a16="http://schemas.microsoft.com/office/drawing/2014/main" id="{CBD7B258-CBDE-4706-A7E3-2E52B397839C}"/>
              </a:ext>
            </a:extLst>
          </p:cNvPr>
          <p:cNvSpPr txBox="1">
            <a:spLocks/>
          </p:cNvSpPr>
          <p:nvPr/>
        </p:nvSpPr>
        <p:spPr bwMode="auto">
          <a:xfrm>
            <a:off x="2267745" y="3356992"/>
            <a:ext cx="1152127"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Whiteboard only</a:t>
            </a:r>
          </a:p>
        </p:txBody>
      </p:sp>
      <p:sp>
        <p:nvSpPr>
          <p:cNvPr id="9" name="Content Placeholder 2">
            <a:extLst>
              <a:ext uri="{FF2B5EF4-FFF2-40B4-BE49-F238E27FC236}">
                <a16:creationId xmlns:a16="http://schemas.microsoft.com/office/drawing/2014/main" id="{BBBF0FB3-A0D5-4ECB-AEE2-7B554072728E}"/>
              </a:ext>
            </a:extLst>
          </p:cNvPr>
          <p:cNvSpPr txBox="1">
            <a:spLocks/>
          </p:cNvSpPr>
          <p:nvPr/>
        </p:nvSpPr>
        <p:spPr bwMode="auto">
          <a:xfrm>
            <a:off x="3118437" y="4437112"/>
            <a:ext cx="1165531"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Brief User Stories – post-it only</a:t>
            </a:r>
          </a:p>
        </p:txBody>
      </p:sp>
      <p:pic>
        <p:nvPicPr>
          <p:cNvPr id="11" name="Picture 10">
            <a:extLst>
              <a:ext uri="{FF2B5EF4-FFF2-40B4-BE49-F238E27FC236}">
                <a16:creationId xmlns:a16="http://schemas.microsoft.com/office/drawing/2014/main" id="{FDFE5911-FCCC-4C71-8B34-DFB90B4E7E35}"/>
              </a:ext>
            </a:extLst>
          </p:cNvPr>
          <p:cNvPicPr>
            <a:picLocks noChangeAspect="1"/>
          </p:cNvPicPr>
          <p:nvPr/>
        </p:nvPicPr>
        <p:blipFill>
          <a:blip r:embed="rId2"/>
          <a:stretch>
            <a:fillRect/>
          </a:stretch>
        </p:blipFill>
        <p:spPr>
          <a:xfrm>
            <a:off x="2987824" y="5198235"/>
            <a:ext cx="1296144" cy="1327109"/>
          </a:xfrm>
          <a:prstGeom prst="rect">
            <a:avLst/>
          </a:prstGeom>
        </p:spPr>
      </p:pic>
      <p:pic>
        <p:nvPicPr>
          <p:cNvPr id="13" name="Picture 12">
            <a:extLst>
              <a:ext uri="{FF2B5EF4-FFF2-40B4-BE49-F238E27FC236}">
                <a16:creationId xmlns:a16="http://schemas.microsoft.com/office/drawing/2014/main" id="{FF8A7577-C3F9-44E0-A866-1775B3DB0EE2}"/>
              </a:ext>
            </a:extLst>
          </p:cNvPr>
          <p:cNvPicPr>
            <a:picLocks noChangeAspect="1"/>
          </p:cNvPicPr>
          <p:nvPr/>
        </p:nvPicPr>
        <p:blipFill>
          <a:blip r:embed="rId3"/>
          <a:stretch>
            <a:fillRect/>
          </a:stretch>
        </p:blipFill>
        <p:spPr>
          <a:xfrm>
            <a:off x="3520405" y="1550564"/>
            <a:ext cx="3427859" cy="1878435"/>
          </a:xfrm>
          <a:prstGeom prst="rect">
            <a:avLst/>
          </a:prstGeom>
          <a:ln>
            <a:solidFill>
              <a:schemeClr val="tx1"/>
            </a:solidFill>
            <a:prstDash val="sysDash"/>
          </a:ln>
        </p:spPr>
      </p:pic>
      <p:sp>
        <p:nvSpPr>
          <p:cNvPr id="14" name="Content Placeholder 2">
            <a:extLst>
              <a:ext uri="{FF2B5EF4-FFF2-40B4-BE49-F238E27FC236}">
                <a16:creationId xmlns:a16="http://schemas.microsoft.com/office/drawing/2014/main" id="{10123838-58C8-4897-A432-3CC71F1C0205}"/>
              </a:ext>
            </a:extLst>
          </p:cNvPr>
          <p:cNvSpPr txBox="1">
            <a:spLocks/>
          </p:cNvSpPr>
          <p:nvPr/>
        </p:nvSpPr>
        <p:spPr bwMode="auto">
          <a:xfrm>
            <a:off x="4414581" y="3356992"/>
            <a:ext cx="1165531" cy="504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Detailed User Stories</a:t>
            </a:r>
          </a:p>
        </p:txBody>
      </p:sp>
      <p:sp>
        <p:nvSpPr>
          <p:cNvPr id="15" name="Content Placeholder 2">
            <a:extLst>
              <a:ext uri="{FF2B5EF4-FFF2-40B4-BE49-F238E27FC236}">
                <a16:creationId xmlns:a16="http://schemas.microsoft.com/office/drawing/2014/main" id="{4F9DEC8F-1386-4131-A187-2C039D030DA6}"/>
              </a:ext>
            </a:extLst>
          </p:cNvPr>
          <p:cNvSpPr txBox="1">
            <a:spLocks/>
          </p:cNvSpPr>
          <p:nvPr/>
        </p:nvSpPr>
        <p:spPr bwMode="auto">
          <a:xfrm>
            <a:off x="1453604" y="4401113"/>
            <a:ext cx="1102172"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err="1"/>
              <a:t>Verbalised</a:t>
            </a:r>
            <a:r>
              <a:rPr lang="en-US" sz="1400" kern="0" dirty="0"/>
              <a:t> idea</a:t>
            </a:r>
          </a:p>
        </p:txBody>
      </p:sp>
      <p:sp>
        <p:nvSpPr>
          <p:cNvPr id="16" name="Content Placeholder 2">
            <a:extLst>
              <a:ext uri="{FF2B5EF4-FFF2-40B4-BE49-F238E27FC236}">
                <a16:creationId xmlns:a16="http://schemas.microsoft.com/office/drawing/2014/main" id="{0A138073-09BE-4455-9C86-13B1C3A09F80}"/>
              </a:ext>
            </a:extLst>
          </p:cNvPr>
          <p:cNvSpPr txBox="1">
            <a:spLocks/>
          </p:cNvSpPr>
          <p:nvPr/>
        </p:nvSpPr>
        <p:spPr bwMode="auto">
          <a:xfrm>
            <a:off x="7524328" y="4257097"/>
            <a:ext cx="1449951"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Formal Definition</a:t>
            </a:r>
          </a:p>
        </p:txBody>
      </p:sp>
      <p:sp>
        <p:nvSpPr>
          <p:cNvPr id="12" name="Content Placeholder 2">
            <a:extLst>
              <a:ext uri="{FF2B5EF4-FFF2-40B4-BE49-F238E27FC236}">
                <a16:creationId xmlns:a16="http://schemas.microsoft.com/office/drawing/2014/main" id="{2918D95C-A6A7-4B12-B284-66052658668E}"/>
              </a:ext>
            </a:extLst>
          </p:cNvPr>
          <p:cNvSpPr txBox="1">
            <a:spLocks/>
          </p:cNvSpPr>
          <p:nvPr/>
        </p:nvSpPr>
        <p:spPr bwMode="auto">
          <a:xfrm>
            <a:off x="5538184" y="4509120"/>
            <a:ext cx="1410080" cy="9771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Detailed Software Requirements Specification</a:t>
            </a:r>
          </a:p>
        </p:txBody>
      </p:sp>
      <p:cxnSp>
        <p:nvCxnSpPr>
          <p:cNvPr id="7" name="Straight Connector 6">
            <a:extLst>
              <a:ext uri="{FF2B5EF4-FFF2-40B4-BE49-F238E27FC236}">
                <a16:creationId xmlns:a16="http://schemas.microsoft.com/office/drawing/2014/main" id="{14D13530-44FB-4D21-97A1-8127F9F570FA}"/>
              </a:ext>
            </a:extLst>
          </p:cNvPr>
          <p:cNvCxnSpPr>
            <a:stCxn id="8" idx="2"/>
          </p:cNvCxnSpPr>
          <p:nvPr/>
        </p:nvCxnSpPr>
        <p:spPr bwMode="auto">
          <a:xfrm flipH="1">
            <a:off x="2843808" y="38970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Straight Connector 16">
            <a:extLst>
              <a:ext uri="{FF2B5EF4-FFF2-40B4-BE49-F238E27FC236}">
                <a16:creationId xmlns:a16="http://schemas.microsoft.com/office/drawing/2014/main" id="{F1133065-913B-49A8-A2D4-A25352637CDB}"/>
              </a:ext>
            </a:extLst>
          </p:cNvPr>
          <p:cNvCxnSpPr/>
          <p:nvPr/>
        </p:nvCxnSpPr>
        <p:spPr bwMode="auto">
          <a:xfrm flipH="1">
            <a:off x="1979712" y="4102885"/>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 name="Straight Connector 17">
            <a:extLst>
              <a:ext uri="{FF2B5EF4-FFF2-40B4-BE49-F238E27FC236}">
                <a16:creationId xmlns:a16="http://schemas.microsoft.com/office/drawing/2014/main" id="{9B458C8E-F638-43CB-8F8C-60243B83D43B}"/>
              </a:ext>
            </a:extLst>
          </p:cNvPr>
          <p:cNvCxnSpPr/>
          <p:nvPr/>
        </p:nvCxnSpPr>
        <p:spPr bwMode="auto">
          <a:xfrm flipH="1">
            <a:off x="3707903" y="4077072"/>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Straight Connector 18">
            <a:extLst>
              <a:ext uri="{FF2B5EF4-FFF2-40B4-BE49-F238E27FC236}">
                <a16:creationId xmlns:a16="http://schemas.microsoft.com/office/drawing/2014/main" id="{B3FC4A1A-C675-44B8-B9A0-8E077A11E7AE}"/>
              </a:ext>
            </a:extLst>
          </p:cNvPr>
          <p:cNvCxnSpPr/>
          <p:nvPr/>
        </p:nvCxnSpPr>
        <p:spPr bwMode="auto">
          <a:xfrm flipH="1">
            <a:off x="5004047" y="3886861"/>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Straight Connector 19">
            <a:extLst>
              <a:ext uri="{FF2B5EF4-FFF2-40B4-BE49-F238E27FC236}">
                <a16:creationId xmlns:a16="http://schemas.microsoft.com/office/drawing/2014/main" id="{3C75794F-A1F1-4CC2-8E0A-00F364F7D45E}"/>
              </a:ext>
            </a:extLst>
          </p:cNvPr>
          <p:cNvCxnSpPr/>
          <p:nvPr/>
        </p:nvCxnSpPr>
        <p:spPr bwMode="auto">
          <a:xfrm flipH="1">
            <a:off x="6228183" y="40494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1" name="Straight Connector 20">
            <a:extLst>
              <a:ext uri="{FF2B5EF4-FFF2-40B4-BE49-F238E27FC236}">
                <a16:creationId xmlns:a16="http://schemas.microsoft.com/office/drawing/2014/main" id="{42BD1DAC-D557-44EF-8898-7094DCE5B7A3}"/>
              </a:ext>
            </a:extLst>
          </p:cNvPr>
          <p:cNvCxnSpPr/>
          <p:nvPr/>
        </p:nvCxnSpPr>
        <p:spPr bwMode="auto">
          <a:xfrm flipH="1">
            <a:off x="1259632" y="3861048"/>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Straight Connector 21">
            <a:extLst>
              <a:ext uri="{FF2B5EF4-FFF2-40B4-BE49-F238E27FC236}">
                <a16:creationId xmlns:a16="http://schemas.microsoft.com/office/drawing/2014/main" id="{83BC9EAA-66A4-42F4-BC5C-B4BA751715A0}"/>
              </a:ext>
            </a:extLst>
          </p:cNvPr>
          <p:cNvCxnSpPr/>
          <p:nvPr/>
        </p:nvCxnSpPr>
        <p:spPr bwMode="auto">
          <a:xfrm flipH="1">
            <a:off x="7884367" y="40494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pic>
        <p:nvPicPr>
          <p:cNvPr id="24" name="Picture 23">
            <a:extLst>
              <a:ext uri="{FF2B5EF4-FFF2-40B4-BE49-F238E27FC236}">
                <a16:creationId xmlns:a16="http://schemas.microsoft.com/office/drawing/2014/main" id="{64595CF8-B106-4C69-A094-1BCB830041A6}"/>
              </a:ext>
            </a:extLst>
          </p:cNvPr>
          <p:cNvPicPr>
            <a:picLocks noChangeAspect="1"/>
          </p:cNvPicPr>
          <p:nvPr/>
        </p:nvPicPr>
        <p:blipFill>
          <a:blip r:embed="rId4"/>
          <a:stretch>
            <a:fillRect/>
          </a:stretch>
        </p:blipFill>
        <p:spPr>
          <a:xfrm>
            <a:off x="6325481" y="5414258"/>
            <a:ext cx="1504660" cy="1327110"/>
          </a:xfrm>
          <a:prstGeom prst="rect">
            <a:avLst/>
          </a:prstGeom>
        </p:spPr>
      </p:pic>
      <p:sp>
        <p:nvSpPr>
          <p:cNvPr id="25" name="Content Placeholder 2">
            <a:extLst>
              <a:ext uri="{FF2B5EF4-FFF2-40B4-BE49-F238E27FC236}">
                <a16:creationId xmlns:a16="http://schemas.microsoft.com/office/drawing/2014/main" id="{28FD40DC-73D2-4D47-870A-EFB036DB3241}"/>
              </a:ext>
            </a:extLst>
          </p:cNvPr>
          <p:cNvSpPr txBox="1">
            <a:spLocks/>
          </p:cNvSpPr>
          <p:nvPr/>
        </p:nvSpPr>
        <p:spPr bwMode="auto">
          <a:xfrm>
            <a:off x="7073324" y="1767646"/>
            <a:ext cx="1675122" cy="1160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i="1" kern="0" dirty="0"/>
              <a:t>User Stories</a:t>
            </a:r>
            <a:r>
              <a:rPr lang="en-US" sz="1400" kern="0" dirty="0"/>
              <a:t> sometimes called </a:t>
            </a:r>
            <a:r>
              <a:rPr lang="en-US" sz="1400" i="1" kern="0" dirty="0"/>
              <a:t>features</a:t>
            </a:r>
            <a:r>
              <a:rPr lang="en-US" sz="1400" kern="0" dirty="0"/>
              <a:t>, sometimes called </a:t>
            </a:r>
            <a:r>
              <a:rPr lang="en-US" sz="1400" i="1" kern="0" dirty="0"/>
              <a:t>requirements! </a:t>
            </a:r>
            <a:endParaRPr lang="en-US" sz="1400" kern="0" dirty="0"/>
          </a:p>
        </p:txBody>
      </p:sp>
    </p:spTree>
    <p:extLst>
      <p:ext uri="{BB962C8B-B14F-4D97-AF65-F5344CB8AC3E}">
        <p14:creationId xmlns:p14="http://schemas.microsoft.com/office/powerpoint/2010/main" val="15140286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Interplay of software requirements with development methodology	</a:t>
            </a:r>
          </a:p>
        </p:txBody>
      </p:sp>
      <p:sp>
        <p:nvSpPr>
          <p:cNvPr id="3" name="Content Placeholder 2"/>
          <p:cNvSpPr>
            <a:spLocks noGrp="1"/>
          </p:cNvSpPr>
          <p:nvPr>
            <p:ph idx="1"/>
          </p:nvPr>
        </p:nvSpPr>
        <p:spPr>
          <a:xfrm>
            <a:off x="376901" y="3393001"/>
            <a:ext cx="1449951" cy="540055"/>
          </a:xfrm>
        </p:spPr>
        <p:txBody>
          <a:bodyPr/>
          <a:lstStyle/>
          <a:p>
            <a:pPr marL="0" indent="0" algn="ctr"/>
            <a:r>
              <a:rPr lang="en-US" sz="1400" dirty="0"/>
              <a:t>Non-</a:t>
            </a:r>
            <a:r>
              <a:rPr lang="en-US" sz="1400" dirty="0" err="1"/>
              <a:t>verbalised</a:t>
            </a:r>
            <a:r>
              <a:rPr lang="en-US" sz="1400" dirty="0"/>
              <a:t> idea</a:t>
            </a:r>
          </a:p>
        </p:txBody>
      </p:sp>
      <p:cxnSp>
        <p:nvCxnSpPr>
          <p:cNvPr id="4" name="Straight Connector 3">
            <a:extLst>
              <a:ext uri="{FF2B5EF4-FFF2-40B4-BE49-F238E27FC236}">
                <a16:creationId xmlns:a16="http://schemas.microsoft.com/office/drawing/2014/main" id="{0A842B74-5D7A-4E48-9719-9724FE72D56A}"/>
              </a:ext>
            </a:extLst>
          </p:cNvPr>
          <p:cNvCxnSpPr>
            <a:cxnSpLocks/>
          </p:cNvCxnSpPr>
          <p:nvPr/>
        </p:nvCxnSpPr>
        <p:spPr bwMode="auto">
          <a:xfrm>
            <a:off x="1295636" y="4077072"/>
            <a:ext cx="6552728" cy="0"/>
          </a:xfrm>
          <a:prstGeom prst="line">
            <a:avLst/>
          </a:prstGeom>
          <a:ln>
            <a:solidFill>
              <a:srgbClr val="000000"/>
            </a:solidFill>
            <a:headEnd type="oval" w="med" len="med"/>
            <a:tailEnd type="oval" w="med" len="me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3">
            <a:schemeClr val="dk1"/>
          </a:lnRef>
          <a:fillRef idx="0">
            <a:schemeClr val="dk1"/>
          </a:fillRef>
          <a:effectRef idx="2">
            <a:schemeClr val="dk1"/>
          </a:effectRef>
          <a:fontRef idx="minor">
            <a:schemeClr val="tx1"/>
          </a:fontRef>
        </p:style>
      </p:cxnSp>
      <p:sp>
        <p:nvSpPr>
          <p:cNvPr id="8" name="Content Placeholder 2">
            <a:extLst>
              <a:ext uri="{FF2B5EF4-FFF2-40B4-BE49-F238E27FC236}">
                <a16:creationId xmlns:a16="http://schemas.microsoft.com/office/drawing/2014/main" id="{CBD7B258-CBDE-4706-A7E3-2E52B397839C}"/>
              </a:ext>
            </a:extLst>
          </p:cNvPr>
          <p:cNvSpPr txBox="1">
            <a:spLocks/>
          </p:cNvSpPr>
          <p:nvPr/>
        </p:nvSpPr>
        <p:spPr bwMode="auto">
          <a:xfrm>
            <a:off x="2267745" y="3356992"/>
            <a:ext cx="1152127"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Whiteboard only</a:t>
            </a:r>
          </a:p>
        </p:txBody>
      </p:sp>
      <p:sp>
        <p:nvSpPr>
          <p:cNvPr id="9" name="Content Placeholder 2">
            <a:extLst>
              <a:ext uri="{FF2B5EF4-FFF2-40B4-BE49-F238E27FC236}">
                <a16:creationId xmlns:a16="http://schemas.microsoft.com/office/drawing/2014/main" id="{BBBF0FB3-A0D5-4ECB-AEE2-7B554072728E}"/>
              </a:ext>
            </a:extLst>
          </p:cNvPr>
          <p:cNvSpPr txBox="1">
            <a:spLocks/>
          </p:cNvSpPr>
          <p:nvPr/>
        </p:nvSpPr>
        <p:spPr bwMode="auto">
          <a:xfrm>
            <a:off x="3118437" y="4437112"/>
            <a:ext cx="1165531"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Brief User Stories – post-it only</a:t>
            </a:r>
          </a:p>
        </p:txBody>
      </p:sp>
      <p:sp>
        <p:nvSpPr>
          <p:cNvPr id="14" name="Content Placeholder 2">
            <a:extLst>
              <a:ext uri="{FF2B5EF4-FFF2-40B4-BE49-F238E27FC236}">
                <a16:creationId xmlns:a16="http://schemas.microsoft.com/office/drawing/2014/main" id="{10123838-58C8-4897-A432-3CC71F1C0205}"/>
              </a:ext>
            </a:extLst>
          </p:cNvPr>
          <p:cNvSpPr txBox="1">
            <a:spLocks/>
          </p:cNvSpPr>
          <p:nvPr/>
        </p:nvSpPr>
        <p:spPr bwMode="auto">
          <a:xfrm>
            <a:off x="4414581" y="3356992"/>
            <a:ext cx="1165531" cy="504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Detailed User Stories</a:t>
            </a:r>
          </a:p>
        </p:txBody>
      </p:sp>
      <p:sp>
        <p:nvSpPr>
          <p:cNvPr id="15" name="Content Placeholder 2">
            <a:extLst>
              <a:ext uri="{FF2B5EF4-FFF2-40B4-BE49-F238E27FC236}">
                <a16:creationId xmlns:a16="http://schemas.microsoft.com/office/drawing/2014/main" id="{4F9DEC8F-1386-4131-A187-2C039D030DA6}"/>
              </a:ext>
            </a:extLst>
          </p:cNvPr>
          <p:cNvSpPr txBox="1">
            <a:spLocks/>
          </p:cNvSpPr>
          <p:nvPr/>
        </p:nvSpPr>
        <p:spPr bwMode="auto">
          <a:xfrm>
            <a:off x="1453604" y="4401113"/>
            <a:ext cx="1102172"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err="1"/>
              <a:t>Verbalised</a:t>
            </a:r>
            <a:r>
              <a:rPr lang="en-US" sz="1400" kern="0" dirty="0"/>
              <a:t> idea</a:t>
            </a:r>
          </a:p>
        </p:txBody>
      </p:sp>
      <p:sp>
        <p:nvSpPr>
          <p:cNvPr id="16" name="Content Placeholder 2">
            <a:extLst>
              <a:ext uri="{FF2B5EF4-FFF2-40B4-BE49-F238E27FC236}">
                <a16:creationId xmlns:a16="http://schemas.microsoft.com/office/drawing/2014/main" id="{0A138073-09BE-4455-9C86-13B1C3A09F80}"/>
              </a:ext>
            </a:extLst>
          </p:cNvPr>
          <p:cNvSpPr txBox="1">
            <a:spLocks/>
          </p:cNvSpPr>
          <p:nvPr/>
        </p:nvSpPr>
        <p:spPr bwMode="auto">
          <a:xfrm>
            <a:off x="7524328" y="4257097"/>
            <a:ext cx="1449951"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Formal Definition</a:t>
            </a:r>
          </a:p>
        </p:txBody>
      </p:sp>
      <p:sp>
        <p:nvSpPr>
          <p:cNvPr id="12" name="Content Placeholder 2">
            <a:extLst>
              <a:ext uri="{FF2B5EF4-FFF2-40B4-BE49-F238E27FC236}">
                <a16:creationId xmlns:a16="http://schemas.microsoft.com/office/drawing/2014/main" id="{2918D95C-A6A7-4B12-B284-66052658668E}"/>
              </a:ext>
            </a:extLst>
          </p:cNvPr>
          <p:cNvSpPr txBox="1">
            <a:spLocks/>
          </p:cNvSpPr>
          <p:nvPr/>
        </p:nvSpPr>
        <p:spPr bwMode="auto">
          <a:xfrm>
            <a:off x="5538184" y="4509120"/>
            <a:ext cx="1410080" cy="9771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Detailed Software Requirements Specification</a:t>
            </a:r>
          </a:p>
        </p:txBody>
      </p:sp>
      <p:cxnSp>
        <p:nvCxnSpPr>
          <p:cNvPr id="7" name="Straight Connector 6">
            <a:extLst>
              <a:ext uri="{FF2B5EF4-FFF2-40B4-BE49-F238E27FC236}">
                <a16:creationId xmlns:a16="http://schemas.microsoft.com/office/drawing/2014/main" id="{14D13530-44FB-4D21-97A1-8127F9F570FA}"/>
              </a:ext>
            </a:extLst>
          </p:cNvPr>
          <p:cNvCxnSpPr>
            <a:stCxn id="8" idx="2"/>
          </p:cNvCxnSpPr>
          <p:nvPr/>
        </p:nvCxnSpPr>
        <p:spPr bwMode="auto">
          <a:xfrm flipH="1">
            <a:off x="2843808" y="38970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Straight Connector 16">
            <a:extLst>
              <a:ext uri="{FF2B5EF4-FFF2-40B4-BE49-F238E27FC236}">
                <a16:creationId xmlns:a16="http://schemas.microsoft.com/office/drawing/2014/main" id="{F1133065-913B-49A8-A2D4-A25352637CDB}"/>
              </a:ext>
            </a:extLst>
          </p:cNvPr>
          <p:cNvCxnSpPr/>
          <p:nvPr/>
        </p:nvCxnSpPr>
        <p:spPr bwMode="auto">
          <a:xfrm flipH="1">
            <a:off x="1979712" y="4102885"/>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 name="Straight Connector 17">
            <a:extLst>
              <a:ext uri="{FF2B5EF4-FFF2-40B4-BE49-F238E27FC236}">
                <a16:creationId xmlns:a16="http://schemas.microsoft.com/office/drawing/2014/main" id="{9B458C8E-F638-43CB-8F8C-60243B83D43B}"/>
              </a:ext>
            </a:extLst>
          </p:cNvPr>
          <p:cNvCxnSpPr/>
          <p:nvPr/>
        </p:nvCxnSpPr>
        <p:spPr bwMode="auto">
          <a:xfrm flipH="1">
            <a:off x="3707903" y="4077072"/>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Straight Connector 18">
            <a:extLst>
              <a:ext uri="{FF2B5EF4-FFF2-40B4-BE49-F238E27FC236}">
                <a16:creationId xmlns:a16="http://schemas.microsoft.com/office/drawing/2014/main" id="{B3FC4A1A-C675-44B8-B9A0-8E077A11E7AE}"/>
              </a:ext>
            </a:extLst>
          </p:cNvPr>
          <p:cNvCxnSpPr/>
          <p:nvPr/>
        </p:nvCxnSpPr>
        <p:spPr bwMode="auto">
          <a:xfrm flipH="1">
            <a:off x="5004047" y="3886861"/>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Straight Connector 19">
            <a:extLst>
              <a:ext uri="{FF2B5EF4-FFF2-40B4-BE49-F238E27FC236}">
                <a16:creationId xmlns:a16="http://schemas.microsoft.com/office/drawing/2014/main" id="{3C75794F-A1F1-4CC2-8E0A-00F364F7D45E}"/>
              </a:ext>
            </a:extLst>
          </p:cNvPr>
          <p:cNvCxnSpPr/>
          <p:nvPr/>
        </p:nvCxnSpPr>
        <p:spPr bwMode="auto">
          <a:xfrm flipH="1">
            <a:off x="6228183" y="40494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1" name="Straight Connector 20">
            <a:extLst>
              <a:ext uri="{FF2B5EF4-FFF2-40B4-BE49-F238E27FC236}">
                <a16:creationId xmlns:a16="http://schemas.microsoft.com/office/drawing/2014/main" id="{42BD1DAC-D557-44EF-8898-7094DCE5B7A3}"/>
              </a:ext>
            </a:extLst>
          </p:cNvPr>
          <p:cNvCxnSpPr/>
          <p:nvPr/>
        </p:nvCxnSpPr>
        <p:spPr bwMode="auto">
          <a:xfrm flipH="1">
            <a:off x="1259632" y="3861048"/>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Straight Connector 21">
            <a:extLst>
              <a:ext uri="{FF2B5EF4-FFF2-40B4-BE49-F238E27FC236}">
                <a16:creationId xmlns:a16="http://schemas.microsoft.com/office/drawing/2014/main" id="{83BC9EAA-66A4-42F4-BC5C-B4BA751715A0}"/>
              </a:ext>
            </a:extLst>
          </p:cNvPr>
          <p:cNvCxnSpPr/>
          <p:nvPr/>
        </p:nvCxnSpPr>
        <p:spPr bwMode="auto">
          <a:xfrm flipH="1">
            <a:off x="7884367" y="40494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5" name="Straight Arrow Connector 4">
            <a:extLst>
              <a:ext uri="{FF2B5EF4-FFF2-40B4-BE49-F238E27FC236}">
                <a16:creationId xmlns:a16="http://schemas.microsoft.com/office/drawing/2014/main" id="{A33F6FDD-FAA4-41CA-8DEB-C8C53E13C75F}"/>
              </a:ext>
            </a:extLst>
          </p:cNvPr>
          <p:cNvCxnSpPr/>
          <p:nvPr/>
        </p:nvCxnSpPr>
        <p:spPr bwMode="auto">
          <a:xfrm>
            <a:off x="1617753" y="2257558"/>
            <a:ext cx="5553460" cy="0"/>
          </a:xfrm>
          <a:prstGeom prst="straightConnector1">
            <a:avLst/>
          </a:prstGeom>
          <a:solidFill>
            <a:schemeClr val="accent1"/>
          </a:solidFill>
          <a:ln w="9525" cap="flat" cmpd="sng" algn="ctr">
            <a:solidFill>
              <a:schemeClr val="accent4">
                <a:lumMod val="10000"/>
              </a:schemeClr>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3" name="Content Placeholder 2">
            <a:extLst>
              <a:ext uri="{FF2B5EF4-FFF2-40B4-BE49-F238E27FC236}">
                <a16:creationId xmlns:a16="http://schemas.microsoft.com/office/drawing/2014/main" id="{D55DBD1C-83D3-4427-A6ED-D8E6783978E7}"/>
              </a:ext>
            </a:extLst>
          </p:cNvPr>
          <p:cNvSpPr txBox="1">
            <a:spLocks/>
          </p:cNvSpPr>
          <p:nvPr/>
        </p:nvSpPr>
        <p:spPr bwMode="auto">
          <a:xfrm>
            <a:off x="2562701" y="1907713"/>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Requirements take longer to define up front</a:t>
            </a:r>
          </a:p>
        </p:txBody>
      </p:sp>
      <p:sp>
        <p:nvSpPr>
          <p:cNvPr id="25" name="Content Placeholder 2">
            <a:extLst>
              <a:ext uri="{FF2B5EF4-FFF2-40B4-BE49-F238E27FC236}">
                <a16:creationId xmlns:a16="http://schemas.microsoft.com/office/drawing/2014/main" id="{0B2B65B0-BAE8-4019-9F08-2706CC1DA215}"/>
              </a:ext>
            </a:extLst>
          </p:cNvPr>
          <p:cNvSpPr txBox="1">
            <a:spLocks/>
          </p:cNvSpPr>
          <p:nvPr/>
        </p:nvSpPr>
        <p:spPr bwMode="auto">
          <a:xfrm>
            <a:off x="2562701" y="2329566"/>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Releases take longer deliver (typically)</a:t>
            </a:r>
          </a:p>
        </p:txBody>
      </p:sp>
      <p:cxnSp>
        <p:nvCxnSpPr>
          <p:cNvPr id="26" name="Straight Arrow Connector 25">
            <a:extLst>
              <a:ext uri="{FF2B5EF4-FFF2-40B4-BE49-F238E27FC236}">
                <a16:creationId xmlns:a16="http://schemas.microsoft.com/office/drawing/2014/main" id="{9EF4FF09-41D5-465F-82DE-EB53C685ED5C}"/>
              </a:ext>
            </a:extLst>
          </p:cNvPr>
          <p:cNvCxnSpPr/>
          <p:nvPr/>
        </p:nvCxnSpPr>
        <p:spPr bwMode="auto">
          <a:xfrm>
            <a:off x="1617753" y="6247507"/>
            <a:ext cx="5553460" cy="0"/>
          </a:xfrm>
          <a:prstGeom prst="straightConnector1">
            <a:avLst/>
          </a:prstGeom>
          <a:solidFill>
            <a:schemeClr val="accent1"/>
          </a:solidFill>
          <a:ln w="9525" cap="flat" cmpd="sng" algn="ctr">
            <a:solidFill>
              <a:schemeClr val="accent4">
                <a:lumMod val="10000"/>
              </a:schemeClr>
            </a:solidFill>
            <a:prstDash val="solid"/>
            <a:round/>
            <a:headEnd type="arrow" w="med" len="med"/>
            <a:tailEnd type="non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7" name="Content Placeholder 2">
            <a:extLst>
              <a:ext uri="{FF2B5EF4-FFF2-40B4-BE49-F238E27FC236}">
                <a16:creationId xmlns:a16="http://schemas.microsoft.com/office/drawing/2014/main" id="{09DCA040-D1BE-4364-91B6-EDB846299EA6}"/>
              </a:ext>
            </a:extLst>
          </p:cNvPr>
          <p:cNvSpPr txBox="1">
            <a:spLocks/>
          </p:cNvSpPr>
          <p:nvPr/>
        </p:nvSpPr>
        <p:spPr bwMode="auto">
          <a:xfrm>
            <a:off x="2562701" y="5897662"/>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Less time invested on requirements upfront</a:t>
            </a:r>
          </a:p>
        </p:txBody>
      </p:sp>
      <p:sp>
        <p:nvSpPr>
          <p:cNvPr id="28" name="Content Placeholder 2">
            <a:extLst>
              <a:ext uri="{FF2B5EF4-FFF2-40B4-BE49-F238E27FC236}">
                <a16:creationId xmlns:a16="http://schemas.microsoft.com/office/drawing/2014/main" id="{38BDEA06-1869-4F3C-819C-6F67E0880849}"/>
              </a:ext>
            </a:extLst>
          </p:cNvPr>
          <p:cNvSpPr txBox="1">
            <a:spLocks/>
          </p:cNvSpPr>
          <p:nvPr/>
        </p:nvSpPr>
        <p:spPr bwMode="auto">
          <a:xfrm>
            <a:off x="2555776" y="6319515"/>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More frequent releases (typically)</a:t>
            </a:r>
          </a:p>
        </p:txBody>
      </p:sp>
      <p:cxnSp>
        <p:nvCxnSpPr>
          <p:cNvPr id="29" name="Straight Connector 28">
            <a:extLst>
              <a:ext uri="{FF2B5EF4-FFF2-40B4-BE49-F238E27FC236}">
                <a16:creationId xmlns:a16="http://schemas.microsoft.com/office/drawing/2014/main" id="{70D223BE-C913-4E2D-A3A0-A9755F60A7C8}"/>
              </a:ext>
            </a:extLst>
          </p:cNvPr>
          <p:cNvCxnSpPr/>
          <p:nvPr/>
        </p:nvCxnSpPr>
        <p:spPr bwMode="auto">
          <a:xfrm>
            <a:off x="2555776" y="3140968"/>
            <a:ext cx="2880320" cy="0"/>
          </a:xfrm>
          <a:prstGeom prst="line">
            <a:avLst/>
          </a:prstGeom>
          <a:solidFill>
            <a:schemeClr val="accent1"/>
          </a:solidFill>
          <a:ln w="9525" cap="flat" cmpd="sng" algn="ctr">
            <a:solidFill>
              <a:schemeClr val="accent5">
                <a:lumMod val="50000"/>
              </a:schemeClr>
            </a:solidFill>
            <a:prstDash val="solid"/>
            <a:round/>
            <a:headEnd type="diamond" w="med" len="med"/>
            <a:tailEnd type="diamond"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0" name="Content Placeholder 2">
            <a:extLst>
              <a:ext uri="{FF2B5EF4-FFF2-40B4-BE49-F238E27FC236}">
                <a16:creationId xmlns:a16="http://schemas.microsoft.com/office/drawing/2014/main" id="{CD57686C-E1B0-442F-806F-BC5035668189}"/>
              </a:ext>
            </a:extLst>
          </p:cNvPr>
          <p:cNvSpPr txBox="1">
            <a:spLocks/>
          </p:cNvSpPr>
          <p:nvPr/>
        </p:nvSpPr>
        <p:spPr bwMode="auto">
          <a:xfrm>
            <a:off x="1907704" y="2750022"/>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i="1" kern="0" dirty="0">
                <a:solidFill>
                  <a:schemeClr val="accent5">
                    <a:lumMod val="50000"/>
                  </a:schemeClr>
                </a:solidFill>
              </a:rPr>
              <a:t>Agile</a:t>
            </a:r>
            <a:r>
              <a:rPr lang="en-US" sz="1400" kern="0" dirty="0">
                <a:solidFill>
                  <a:schemeClr val="accent5">
                    <a:lumMod val="50000"/>
                  </a:schemeClr>
                </a:solidFill>
              </a:rPr>
              <a:t> Software development tends to be here</a:t>
            </a:r>
          </a:p>
        </p:txBody>
      </p:sp>
      <p:cxnSp>
        <p:nvCxnSpPr>
          <p:cNvPr id="31" name="Straight Connector 30">
            <a:extLst>
              <a:ext uri="{FF2B5EF4-FFF2-40B4-BE49-F238E27FC236}">
                <a16:creationId xmlns:a16="http://schemas.microsoft.com/office/drawing/2014/main" id="{BB824676-5888-4BC7-B97A-28A95B94AAC0}"/>
              </a:ext>
            </a:extLst>
          </p:cNvPr>
          <p:cNvCxnSpPr/>
          <p:nvPr/>
        </p:nvCxnSpPr>
        <p:spPr bwMode="auto">
          <a:xfrm>
            <a:off x="5114492" y="5515929"/>
            <a:ext cx="2880320" cy="0"/>
          </a:xfrm>
          <a:prstGeom prst="line">
            <a:avLst/>
          </a:prstGeom>
          <a:solidFill>
            <a:schemeClr val="accent1"/>
          </a:solidFill>
          <a:ln w="9525" cap="flat" cmpd="sng" algn="ctr">
            <a:solidFill>
              <a:schemeClr val="accent5">
                <a:lumMod val="50000"/>
              </a:schemeClr>
            </a:solidFill>
            <a:prstDash val="solid"/>
            <a:round/>
            <a:headEnd type="diamond" w="med" len="med"/>
            <a:tailEnd type="diamond"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Content Placeholder 2">
            <a:extLst>
              <a:ext uri="{FF2B5EF4-FFF2-40B4-BE49-F238E27FC236}">
                <a16:creationId xmlns:a16="http://schemas.microsoft.com/office/drawing/2014/main" id="{A124D8D8-7A05-4FB7-B47A-8342A00BD83C}"/>
              </a:ext>
            </a:extLst>
          </p:cNvPr>
          <p:cNvSpPr txBox="1">
            <a:spLocks/>
          </p:cNvSpPr>
          <p:nvPr/>
        </p:nvSpPr>
        <p:spPr bwMode="auto">
          <a:xfrm>
            <a:off x="4394483" y="5587937"/>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i="1" kern="0" dirty="0">
                <a:solidFill>
                  <a:schemeClr val="accent5">
                    <a:lumMod val="50000"/>
                  </a:schemeClr>
                </a:solidFill>
              </a:rPr>
              <a:t>Traditional</a:t>
            </a:r>
            <a:r>
              <a:rPr lang="en-US" sz="1400" kern="0" dirty="0">
                <a:solidFill>
                  <a:schemeClr val="accent5">
                    <a:lumMod val="50000"/>
                  </a:schemeClr>
                </a:solidFill>
              </a:rPr>
              <a:t> Software development tends to be here</a:t>
            </a:r>
          </a:p>
        </p:txBody>
      </p:sp>
    </p:spTree>
    <p:extLst>
      <p:ext uri="{BB962C8B-B14F-4D97-AF65-F5344CB8AC3E}">
        <p14:creationId xmlns:p14="http://schemas.microsoft.com/office/powerpoint/2010/main" val="30722242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Detail of software requirements: A spectrum	</a:t>
            </a:r>
          </a:p>
        </p:txBody>
      </p:sp>
      <p:sp>
        <p:nvSpPr>
          <p:cNvPr id="3" name="Content Placeholder 2"/>
          <p:cNvSpPr>
            <a:spLocks noGrp="1"/>
          </p:cNvSpPr>
          <p:nvPr>
            <p:ph idx="1"/>
          </p:nvPr>
        </p:nvSpPr>
        <p:spPr>
          <a:xfrm>
            <a:off x="376901" y="3393001"/>
            <a:ext cx="1449951" cy="540055"/>
          </a:xfrm>
        </p:spPr>
        <p:txBody>
          <a:bodyPr/>
          <a:lstStyle/>
          <a:p>
            <a:pPr marL="0" indent="0" algn="ctr"/>
            <a:r>
              <a:rPr lang="en-US" sz="1400" dirty="0"/>
              <a:t>Non-</a:t>
            </a:r>
            <a:r>
              <a:rPr lang="en-US" sz="1400" dirty="0" err="1"/>
              <a:t>verbalised</a:t>
            </a:r>
            <a:r>
              <a:rPr lang="en-US" sz="1400" dirty="0"/>
              <a:t> idea</a:t>
            </a:r>
          </a:p>
        </p:txBody>
      </p:sp>
      <p:cxnSp>
        <p:nvCxnSpPr>
          <p:cNvPr id="4" name="Straight Connector 3">
            <a:extLst>
              <a:ext uri="{FF2B5EF4-FFF2-40B4-BE49-F238E27FC236}">
                <a16:creationId xmlns:a16="http://schemas.microsoft.com/office/drawing/2014/main" id="{0A842B74-5D7A-4E48-9719-9724FE72D56A}"/>
              </a:ext>
            </a:extLst>
          </p:cNvPr>
          <p:cNvCxnSpPr>
            <a:cxnSpLocks/>
          </p:cNvCxnSpPr>
          <p:nvPr/>
        </p:nvCxnSpPr>
        <p:spPr bwMode="auto">
          <a:xfrm>
            <a:off x="1295636" y="4077072"/>
            <a:ext cx="6552728" cy="0"/>
          </a:xfrm>
          <a:prstGeom prst="line">
            <a:avLst/>
          </a:prstGeom>
          <a:ln>
            <a:solidFill>
              <a:srgbClr val="000000"/>
            </a:solidFill>
            <a:headEnd type="oval" w="med" len="med"/>
            <a:tailEnd type="oval" w="med" len="me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style>
          <a:lnRef idx="3">
            <a:schemeClr val="dk1"/>
          </a:lnRef>
          <a:fillRef idx="0">
            <a:schemeClr val="dk1"/>
          </a:fillRef>
          <a:effectRef idx="2">
            <a:schemeClr val="dk1"/>
          </a:effectRef>
          <a:fontRef idx="minor">
            <a:schemeClr val="tx1"/>
          </a:fontRef>
        </p:style>
      </p:cxnSp>
      <p:sp>
        <p:nvSpPr>
          <p:cNvPr id="8" name="Content Placeholder 2">
            <a:extLst>
              <a:ext uri="{FF2B5EF4-FFF2-40B4-BE49-F238E27FC236}">
                <a16:creationId xmlns:a16="http://schemas.microsoft.com/office/drawing/2014/main" id="{CBD7B258-CBDE-4706-A7E3-2E52B397839C}"/>
              </a:ext>
            </a:extLst>
          </p:cNvPr>
          <p:cNvSpPr txBox="1">
            <a:spLocks/>
          </p:cNvSpPr>
          <p:nvPr/>
        </p:nvSpPr>
        <p:spPr bwMode="auto">
          <a:xfrm>
            <a:off x="2267745" y="3356992"/>
            <a:ext cx="1152127"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Whiteboard only</a:t>
            </a:r>
          </a:p>
        </p:txBody>
      </p:sp>
      <p:sp>
        <p:nvSpPr>
          <p:cNvPr id="9" name="Content Placeholder 2">
            <a:extLst>
              <a:ext uri="{FF2B5EF4-FFF2-40B4-BE49-F238E27FC236}">
                <a16:creationId xmlns:a16="http://schemas.microsoft.com/office/drawing/2014/main" id="{BBBF0FB3-A0D5-4ECB-AEE2-7B554072728E}"/>
              </a:ext>
            </a:extLst>
          </p:cNvPr>
          <p:cNvSpPr txBox="1">
            <a:spLocks/>
          </p:cNvSpPr>
          <p:nvPr/>
        </p:nvSpPr>
        <p:spPr bwMode="auto">
          <a:xfrm>
            <a:off x="3118437" y="4437112"/>
            <a:ext cx="1165531" cy="7920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Brief User Stories – post-it only</a:t>
            </a:r>
          </a:p>
        </p:txBody>
      </p:sp>
      <p:sp>
        <p:nvSpPr>
          <p:cNvPr id="14" name="Content Placeholder 2">
            <a:extLst>
              <a:ext uri="{FF2B5EF4-FFF2-40B4-BE49-F238E27FC236}">
                <a16:creationId xmlns:a16="http://schemas.microsoft.com/office/drawing/2014/main" id="{10123838-58C8-4897-A432-3CC71F1C0205}"/>
              </a:ext>
            </a:extLst>
          </p:cNvPr>
          <p:cNvSpPr txBox="1">
            <a:spLocks/>
          </p:cNvSpPr>
          <p:nvPr/>
        </p:nvSpPr>
        <p:spPr bwMode="auto">
          <a:xfrm>
            <a:off x="4414581" y="3356992"/>
            <a:ext cx="1165531" cy="50405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Detailed User Stories</a:t>
            </a:r>
          </a:p>
        </p:txBody>
      </p:sp>
      <p:sp>
        <p:nvSpPr>
          <p:cNvPr id="15" name="Content Placeholder 2">
            <a:extLst>
              <a:ext uri="{FF2B5EF4-FFF2-40B4-BE49-F238E27FC236}">
                <a16:creationId xmlns:a16="http://schemas.microsoft.com/office/drawing/2014/main" id="{4F9DEC8F-1386-4131-A187-2C039D030DA6}"/>
              </a:ext>
            </a:extLst>
          </p:cNvPr>
          <p:cNvSpPr txBox="1">
            <a:spLocks/>
          </p:cNvSpPr>
          <p:nvPr/>
        </p:nvSpPr>
        <p:spPr bwMode="auto">
          <a:xfrm>
            <a:off x="1453604" y="4401113"/>
            <a:ext cx="1102172"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err="1"/>
              <a:t>Verbalised</a:t>
            </a:r>
            <a:r>
              <a:rPr lang="en-US" sz="1400" kern="0" dirty="0"/>
              <a:t> idea</a:t>
            </a:r>
          </a:p>
        </p:txBody>
      </p:sp>
      <p:sp>
        <p:nvSpPr>
          <p:cNvPr id="16" name="Content Placeholder 2">
            <a:extLst>
              <a:ext uri="{FF2B5EF4-FFF2-40B4-BE49-F238E27FC236}">
                <a16:creationId xmlns:a16="http://schemas.microsoft.com/office/drawing/2014/main" id="{0A138073-09BE-4455-9C86-13B1C3A09F80}"/>
              </a:ext>
            </a:extLst>
          </p:cNvPr>
          <p:cNvSpPr txBox="1">
            <a:spLocks/>
          </p:cNvSpPr>
          <p:nvPr/>
        </p:nvSpPr>
        <p:spPr bwMode="auto">
          <a:xfrm>
            <a:off x="7524328" y="4257097"/>
            <a:ext cx="1449951" cy="5400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Formal Definition</a:t>
            </a:r>
          </a:p>
        </p:txBody>
      </p:sp>
      <p:sp>
        <p:nvSpPr>
          <p:cNvPr id="12" name="Content Placeholder 2">
            <a:extLst>
              <a:ext uri="{FF2B5EF4-FFF2-40B4-BE49-F238E27FC236}">
                <a16:creationId xmlns:a16="http://schemas.microsoft.com/office/drawing/2014/main" id="{2918D95C-A6A7-4B12-B284-66052658668E}"/>
              </a:ext>
            </a:extLst>
          </p:cNvPr>
          <p:cNvSpPr txBox="1">
            <a:spLocks/>
          </p:cNvSpPr>
          <p:nvPr/>
        </p:nvSpPr>
        <p:spPr bwMode="auto">
          <a:xfrm>
            <a:off x="5538184" y="4509120"/>
            <a:ext cx="1410080" cy="9771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t>Detailed Software Requirements Specification</a:t>
            </a:r>
          </a:p>
        </p:txBody>
      </p:sp>
      <p:cxnSp>
        <p:nvCxnSpPr>
          <p:cNvPr id="7" name="Straight Connector 6">
            <a:extLst>
              <a:ext uri="{FF2B5EF4-FFF2-40B4-BE49-F238E27FC236}">
                <a16:creationId xmlns:a16="http://schemas.microsoft.com/office/drawing/2014/main" id="{14D13530-44FB-4D21-97A1-8127F9F570FA}"/>
              </a:ext>
            </a:extLst>
          </p:cNvPr>
          <p:cNvCxnSpPr>
            <a:stCxn id="8" idx="2"/>
          </p:cNvCxnSpPr>
          <p:nvPr/>
        </p:nvCxnSpPr>
        <p:spPr bwMode="auto">
          <a:xfrm flipH="1">
            <a:off x="2843808" y="38970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7" name="Straight Connector 16">
            <a:extLst>
              <a:ext uri="{FF2B5EF4-FFF2-40B4-BE49-F238E27FC236}">
                <a16:creationId xmlns:a16="http://schemas.microsoft.com/office/drawing/2014/main" id="{F1133065-913B-49A8-A2D4-A25352637CDB}"/>
              </a:ext>
            </a:extLst>
          </p:cNvPr>
          <p:cNvCxnSpPr/>
          <p:nvPr/>
        </p:nvCxnSpPr>
        <p:spPr bwMode="auto">
          <a:xfrm flipH="1">
            <a:off x="1979712" y="4102885"/>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 name="Straight Connector 17">
            <a:extLst>
              <a:ext uri="{FF2B5EF4-FFF2-40B4-BE49-F238E27FC236}">
                <a16:creationId xmlns:a16="http://schemas.microsoft.com/office/drawing/2014/main" id="{9B458C8E-F638-43CB-8F8C-60243B83D43B}"/>
              </a:ext>
            </a:extLst>
          </p:cNvPr>
          <p:cNvCxnSpPr/>
          <p:nvPr/>
        </p:nvCxnSpPr>
        <p:spPr bwMode="auto">
          <a:xfrm flipH="1">
            <a:off x="3707903" y="4077072"/>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Straight Connector 18">
            <a:extLst>
              <a:ext uri="{FF2B5EF4-FFF2-40B4-BE49-F238E27FC236}">
                <a16:creationId xmlns:a16="http://schemas.microsoft.com/office/drawing/2014/main" id="{B3FC4A1A-C675-44B8-B9A0-8E077A11E7AE}"/>
              </a:ext>
            </a:extLst>
          </p:cNvPr>
          <p:cNvCxnSpPr/>
          <p:nvPr/>
        </p:nvCxnSpPr>
        <p:spPr bwMode="auto">
          <a:xfrm flipH="1">
            <a:off x="5004047" y="3886861"/>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0" name="Straight Connector 19">
            <a:extLst>
              <a:ext uri="{FF2B5EF4-FFF2-40B4-BE49-F238E27FC236}">
                <a16:creationId xmlns:a16="http://schemas.microsoft.com/office/drawing/2014/main" id="{3C75794F-A1F1-4CC2-8E0A-00F364F7D45E}"/>
              </a:ext>
            </a:extLst>
          </p:cNvPr>
          <p:cNvCxnSpPr/>
          <p:nvPr/>
        </p:nvCxnSpPr>
        <p:spPr bwMode="auto">
          <a:xfrm flipH="1">
            <a:off x="6228183" y="40494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1" name="Straight Connector 20">
            <a:extLst>
              <a:ext uri="{FF2B5EF4-FFF2-40B4-BE49-F238E27FC236}">
                <a16:creationId xmlns:a16="http://schemas.microsoft.com/office/drawing/2014/main" id="{42BD1DAC-D557-44EF-8898-7094DCE5B7A3}"/>
              </a:ext>
            </a:extLst>
          </p:cNvPr>
          <p:cNvCxnSpPr/>
          <p:nvPr/>
        </p:nvCxnSpPr>
        <p:spPr bwMode="auto">
          <a:xfrm flipH="1">
            <a:off x="1259632" y="3861048"/>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22" name="Straight Connector 21">
            <a:extLst>
              <a:ext uri="{FF2B5EF4-FFF2-40B4-BE49-F238E27FC236}">
                <a16:creationId xmlns:a16="http://schemas.microsoft.com/office/drawing/2014/main" id="{83BC9EAA-66A4-42F4-BC5C-B4BA751715A0}"/>
              </a:ext>
            </a:extLst>
          </p:cNvPr>
          <p:cNvCxnSpPr/>
          <p:nvPr/>
        </p:nvCxnSpPr>
        <p:spPr bwMode="auto">
          <a:xfrm flipH="1">
            <a:off x="7884367" y="4049447"/>
            <a:ext cx="1" cy="190211"/>
          </a:xfrm>
          <a:prstGeom prst="line">
            <a:avLst/>
          </a:prstGeom>
          <a:solidFill>
            <a:schemeClr val="accent1"/>
          </a:solidFill>
          <a:ln w="9525" cap="flat" cmpd="sng" algn="ctr">
            <a:solidFill>
              <a:srgbClr val="000000"/>
            </a:solidFill>
            <a:prstDash val="sysDot"/>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 name="Oval 1">
            <a:extLst>
              <a:ext uri="{FF2B5EF4-FFF2-40B4-BE49-F238E27FC236}">
                <a16:creationId xmlns:a16="http://schemas.microsoft.com/office/drawing/2014/main" id="{1A5597DB-6374-4978-98A6-03D0A1281545}"/>
              </a:ext>
            </a:extLst>
          </p:cNvPr>
          <p:cNvSpPr/>
          <p:nvPr/>
        </p:nvSpPr>
        <p:spPr bwMode="auto">
          <a:xfrm>
            <a:off x="2879813" y="3356992"/>
            <a:ext cx="3924430" cy="1584157"/>
          </a:xfrm>
          <a:prstGeom prst="ellipse">
            <a:avLst/>
          </a:prstGeom>
          <a:solidFill>
            <a:srgbClr val="FF0000">
              <a:alpha val="48000"/>
            </a:srgb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IE" sz="1600" b="0" i="0" u="none" strike="noStrike" cap="none" normalizeH="0" baseline="0">
              <a:ln>
                <a:noFill/>
              </a:ln>
              <a:solidFill>
                <a:schemeClr val="tx1"/>
              </a:solidFill>
              <a:effectLst/>
              <a:latin typeface="Arial" charset="0"/>
              <a:ea typeface="ＭＳ Ｐゴシック" charset="0"/>
            </a:endParaRPr>
          </a:p>
        </p:txBody>
      </p:sp>
      <p:cxnSp>
        <p:nvCxnSpPr>
          <p:cNvPr id="11" name="Straight Arrow Connector 10">
            <a:extLst>
              <a:ext uri="{FF2B5EF4-FFF2-40B4-BE49-F238E27FC236}">
                <a16:creationId xmlns:a16="http://schemas.microsoft.com/office/drawing/2014/main" id="{BF479FD7-1AB8-4939-B112-01D9B3B15546}"/>
              </a:ext>
            </a:extLst>
          </p:cNvPr>
          <p:cNvCxnSpPr>
            <a:cxnSpLocks/>
          </p:cNvCxnSpPr>
          <p:nvPr/>
        </p:nvCxnSpPr>
        <p:spPr bwMode="auto">
          <a:xfrm flipV="1">
            <a:off x="2123727" y="2595810"/>
            <a:ext cx="0" cy="395309"/>
          </a:xfrm>
          <a:prstGeom prst="straightConnector1">
            <a:avLst/>
          </a:prstGeom>
          <a:solidFill>
            <a:schemeClr val="accent1"/>
          </a:solidFill>
          <a:ln w="9525" cap="flat" cmpd="sng" algn="ctr">
            <a:solidFill>
              <a:srgbClr val="000000"/>
            </a:solidFill>
            <a:prstDash val="solid"/>
            <a:round/>
            <a:headEnd type="triangle" w="med" len="med"/>
            <a:tailEnd type="non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9" name="Content Placeholder 2">
            <a:extLst>
              <a:ext uri="{FF2B5EF4-FFF2-40B4-BE49-F238E27FC236}">
                <a16:creationId xmlns:a16="http://schemas.microsoft.com/office/drawing/2014/main" id="{8EECBF34-DEB4-47F4-A694-FFA2535BF030}"/>
              </a:ext>
            </a:extLst>
          </p:cNvPr>
          <p:cNvSpPr txBox="1">
            <a:spLocks/>
          </p:cNvSpPr>
          <p:nvPr/>
        </p:nvSpPr>
        <p:spPr bwMode="auto">
          <a:xfrm>
            <a:off x="4639135" y="2225972"/>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Probably fair to say that most contemporary commercial software is in this space</a:t>
            </a:r>
          </a:p>
        </p:txBody>
      </p:sp>
      <p:sp>
        <p:nvSpPr>
          <p:cNvPr id="30" name="Content Placeholder 2">
            <a:extLst>
              <a:ext uri="{FF2B5EF4-FFF2-40B4-BE49-F238E27FC236}">
                <a16:creationId xmlns:a16="http://schemas.microsoft.com/office/drawing/2014/main" id="{1C257E46-D652-492C-B167-479FA857C8F8}"/>
              </a:ext>
            </a:extLst>
          </p:cNvPr>
          <p:cNvSpPr txBox="1">
            <a:spLocks/>
          </p:cNvSpPr>
          <p:nvPr/>
        </p:nvSpPr>
        <p:spPr bwMode="auto">
          <a:xfrm>
            <a:off x="107504" y="2215059"/>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Some </a:t>
            </a:r>
            <a:r>
              <a:rPr lang="en-US" sz="1400" i="1" kern="0" dirty="0">
                <a:solidFill>
                  <a:srgbClr val="000000"/>
                </a:solidFill>
              </a:rPr>
              <a:t>prototyping </a:t>
            </a:r>
            <a:r>
              <a:rPr lang="en-US" sz="1400" kern="0" dirty="0">
                <a:solidFill>
                  <a:srgbClr val="000000"/>
                </a:solidFill>
              </a:rPr>
              <a:t>activity here</a:t>
            </a:r>
          </a:p>
        </p:txBody>
      </p:sp>
      <p:sp>
        <p:nvSpPr>
          <p:cNvPr id="31" name="Content Placeholder 2">
            <a:extLst>
              <a:ext uri="{FF2B5EF4-FFF2-40B4-BE49-F238E27FC236}">
                <a16:creationId xmlns:a16="http://schemas.microsoft.com/office/drawing/2014/main" id="{1ECADAFF-E89B-404B-BBF1-2B693FB2E328}"/>
              </a:ext>
            </a:extLst>
          </p:cNvPr>
          <p:cNvSpPr txBox="1">
            <a:spLocks/>
          </p:cNvSpPr>
          <p:nvPr/>
        </p:nvSpPr>
        <p:spPr bwMode="auto">
          <a:xfrm>
            <a:off x="5401700" y="5877941"/>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Some </a:t>
            </a:r>
            <a:r>
              <a:rPr lang="en-US" sz="1400" i="1" kern="0" dirty="0">
                <a:solidFill>
                  <a:srgbClr val="000000"/>
                </a:solidFill>
              </a:rPr>
              <a:t>safety- </a:t>
            </a:r>
            <a:r>
              <a:rPr lang="en-US" sz="1400" kern="0" dirty="0">
                <a:solidFill>
                  <a:srgbClr val="000000"/>
                </a:solidFill>
              </a:rPr>
              <a:t>or </a:t>
            </a:r>
            <a:r>
              <a:rPr lang="en-US" sz="1400" i="1" kern="0" dirty="0">
                <a:solidFill>
                  <a:srgbClr val="000000"/>
                </a:solidFill>
              </a:rPr>
              <a:t>mission-</a:t>
            </a:r>
            <a:r>
              <a:rPr lang="en-US" sz="1400" kern="0" dirty="0">
                <a:solidFill>
                  <a:srgbClr val="000000"/>
                </a:solidFill>
              </a:rPr>
              <a:t> critical here</a:t>
            </a:r>
            <a:r>
              <a:rPr lang="en-US" sz="1400" i="1" kern="0" dirty="0">
                <a:solidFill>
                  <a:srgbClr val="000000"/>
                </a:solidFill>
              </a:rPr>
              <a:t> </a:t>
            </a:r>
            <a:endParaRPr lang="en-US" sz="1400" kern="0" dirty="0">
              <a:solidFill>
                <a:srgbClr val="000000"/>
              </a:solidFill>
            </a:endParaRPr>
          </a:p>
        </p:txBody>
      </p:sp>
      <p:cxnSp>
        <p:nvCxnSpPr>
          <p:cNvPr id="32" name="Straight Arrow Connector 31">
            <a:extLst>
              <a:ext uri="{FF2B5EF4-FFF2-40B4-BE49-F238E27FC236}">
                <a16:creationId xmlns:a16="http://schemas.microsoft.com/office/drawing/2014/main" id="{8C9106E5-7D18-4198-95C3-D7703D3C542D}"/>
              </a:ext>
            </a:extLst>
          </p:cNvPr>
          <p:cNvCxnSpPr>
            <a:cxnSpLocks/>
          </p:cNvCxnSpPr>
          <p:nvPr/>
        </p:nvCxnSpPr>
        <p:spPr bwMode="auto">
          <a:xfrm>
            <a:off x="7420197" y="5468490"/>
            <a:ext cx="0" cy="409451"/>
          </a:xfrm>
          <a:prstGeom prst="straightConnector1">
            <a:avLst/>
          </a:prstGeom>
          <a:solidFill>
            <a:schemeClr val="accent1"/>
          </a:solidFill>
          <a:ln w="9525" cap="flat" cmpd="sng" algn="ctr">
            <a:solidFill>
              <a:srgbClr val="000000"/>
            </a:solidFill>
            <a:prstDash val="solid"/>
            <a:round/>
            <a:headEnd type="triangle" w="med" len="med"/>
            <a:tailEnd type="non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3" name="Straight Arrow Connector 32">
            <a:extLst>
              <a:ext uri="{FF2B5EF4-FFF2-40B4-BE49-F238E27FC236}">
                <a16:creationId xmlns:a16="http://schemas.microsoft.com/office/drawing/2014/main" id="{D0DC1C89-9E0D-4849-9239-6FE4DA299AB8}"/>
              </a:ext>
            </a:extLst>
          </p:cNvPr>
          <p:cNvCxnSpPr>
            <a:cxnSpLocks/>
          </p:cNvCxnSpPr>
          <p:nvPr/>
        </p:nvCxnSpPr>
        <p:spPr bwMode="auto">
          <a:xfrm flipV="1">
            <a:off x="5717914" y="2774988"/>
            <a:ext cx="856907" cy="768104"/>
          </a:xfrm>
          <a:prstGeom prst="straightConnector1">
            <a:avLst/>
          </a:prstGeom>
          <a:solidFill>
            <a:schemeClr val="accent1"/>
          </a:solidFill>
          <a:ln w="9525" cap="flat" cmpd="sng" algn="ctr">
            <a:solidFill>
              <a:srgbClr val="000000"/>
            </a:solidFill>
            <a:prstDash val="solid"/>
            <a:round/>
            <a:headEnd type="triangle" w="med" len="med"/>
            <a:tailEnd type="non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5" name="Oval 34">
            <a:extLst>
              <a:ext uri="{FF2B5EF4-FFF2-40B4-BE49-F238E27FC236}">
                <a16:creationId xmlns:a16="http://schemas.microsoft.com/office/drawing/2014/main" id="{DFBB3A6F-1927-4EBE-8062-3D5CC71FE9A8}"/>
              </a:ext>
            </a:extLst>
          </p:cNvPr>
          <p:cNvSpPr/>
          <p:nvPr/>
        </p:nvSpPr>
        <p:spPr bwMode="auto">
          <a:xfrm>
            <a:off x="3275856" y="3520844"/>
            <a:ext cx="2160230" cy="1273035"/>
          </a:xfrm>
          <a:prstGeom prst="ellipse">
            <a:avLst/>
          </a:prstGeom>
          <a:solidFill>
            <a:srgbClr val="92D050">
              <a:alpha val="36000"/>
            </a:srgb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en-IE" sz="1600" b="0" i="0" u="none" strike="noStrike" cap="none" normalizeH="0" baseline="0">
              <a:ln>
                <a:noFill/>
              </a:ln>
              <a:solidFill>
                <a:schemeClr val="tx1"/>
              </a:solidFill>
              <a:effectLst/>
              <a:latin typeface="Arial" charset="0"/>
              <a:ea typeface="ＭＳ Ｐゴシック" charset="0"/>
            </a:endParaRPr>
          </a:p>
        </p:txBody>
      </p:sp>
      <p:cxnSp>
        <p:nvCxnSpPr>
          <p:cNvPr id="37" name="Straight Arrow Connector 36">
            <a:extLst>
              <a:ext uri="{FF2B5EF4-FFF2-40B4-BE49-F238E27FC236}">
                <a16:creationId xmlns:a16="http://schemas.microsoft.com/office/drawing/2014/main" id="{20CAEB74-956B-47DA-8124-F8161018628F}"/>
              </a:ext>
            </a:extLst>
          </p:cNvPr>
          <p:cNvCxnSpPr>
            <a:cxnSpLocks/>
          </p:cNvCxnSpPr>
          <p:nvPr/>
        </p:nvCxnSpPr>
        <p:spPr bwMode="auto">
          <a:xfrm flipV="1">
            <a:off x="5332400" y="3068942"/>
            <a:ext cx="1543855" cy="895061"/>
          </a:xfrm>
          <a:prstGeom prst="straightConnector1">
            <a:avLst/>
          </a:prstGeom>
          <a:solidFill>
            <a:schemeClr val="accent1"/>
          </a:solidFill>
          <a:ln w="9525" cap="flat" cmpd="sng" algn="ctr">
            <a:solidFill>
              <a:srgbClr val="000000"/>
            </a:solidFill>
            <a:prstDash val="solid"/>
            <a:round/>
            <a:headEnd type="triangle" w="med" len="med"/>
            <a:tailEnd type="non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9" name="Content Placeholder 2">
            <a:extLst>
              <a:ext uri="{FF2B5EF4-FFF2-40B4-BE49-F238E27FC236}">
                <a16:creationId xmlns:a16="http://schemas.microsoft.com/office/drawing/2014/main" id="{E43C1F06-F252-446A-A07F-436DE82B2085}"/>
              </a:ext>
            </a:extLst>
          </p:cNvPr>
          <p:cNvSpPr txBox="1">
            <a:spLocks/>
          </p:cNvSpPr>
          <p:nvPr/>
        </p:nvSpPr>
        <p:spPr bwMode="auto">
          <a:xfrm>
            <a:off x="6446168" y="2814121"/>
            <a:ext cx="2369431"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With the majority being in this location</a:t>
            </a:r>
          </a:p>
        </p:txBody>
      </p:sp>
      <p:sp>
        <p:nvSpPr>
          <p:cNvPr id="40" name="Content Placeholder 2">
            <a:extLst>
              <a:ext uri="{FF2B5EF4-FFF2-40B4-BE49-F238E27FC236}">
                <a16:creationId xmlns:a16="http://schemas.microsoft.com/office/drawing/2014/main" id="{7531EE29-E4D8-49A3-B2D6-E3F58C6A838D}"/>
              </a:ext>
            </a:extLst>
          </p:cNvPr>
          <p:cNvSpPr txBox="1">
            <a:spLocks/>
          </p:cNvSpPr>
          <p:nvPr/>
        </p:nvSpPr>
        <p:spPr bwMode="auto">
          <a:xfrm>
            <a:off x="462671" y="5768331"/>
            <a:ext cx="4176464" cy="3498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pPr marL="0" indent="0" algn="ctr"/>
            <a:r>
              <a:rPr lang="en-US" sz="1400" kern="0" dirty="0">
                <a:solidFill>
                  <a:srgbClr val="000000"/>
                </a:solidFill>
              </a:rPr>
              <a:t>We are therefore going to look at semi-light weight requirements definition and how this might be improved through reviewing/testing</a:t>
            </a:r>
          </a:p>
        </p:txBody>
      </p:sp>
      <p:cxnSp>
        <p:nvCxnSpPr>
          <p:cNvPr id="41" name="Straight Arrow Connector 40">
            <a:extLst>
              <a:ext uri="{FF2B5EF4-FFF2-40B4-BE49-F238E27FC236}">
                <a16:creationId xmlns:a16="http://schemas.microsoft.com/office/drawing/2014/main" id="{8531739C-B4C3-4031-97D7-EDFB659D198B}"/>
              </a:ext>
            </a:extLst>
          </p:cNvPr>
          <p:cNvCxnSpPr>
            <a:cxnSpLocks/>
          </p:cNvCxnSpPr>
          <p:nvPr/>
        </p:nvCxnSpPr>
        <p:spPr bwMode="auto">
          <a:xfrm flipH="1">
            <a:off x="4283968" y="4561357"/>
            <a:ext cx="233921" cy="1134963"/>
          </a:xfrm>
          <a:prstGeom prst="straightConnector1">
            <a:avLst/>
          </a:prstGeom>
          <a:solidFill>
            <a:schemeClr val="accent1"/>
          </a:solidFill>
          <a:ln w="9525" cap="flat" cmpd="sng" algn="ctr">
            <a:solidFill>
              <a:srgbClr val="000000"/>
            </a:solidFill>
            <a:prstDash val="solid"/>
            <a:round/>
            <a:headEnd type="triangle" w="med" len="med"/>
            <a:tailEnd type="non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24427163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p:txBody>
          <a:bodyPr/>
          <a:lstStyle/>
          <a:p>
            <a:r>
              <a:rPr lang="en-US" dirty="0" smtClean="0"/>
              <a:t>Part 2 – Problem </a:t>
            </a:r>
            <a:endParaRPr lang="en-US" dirty="0"/>
          </a:p>
        </p:txBody>
      </p:sp>
    </p:spTree>
    <p:extLst>
      <p:ext uri="{BB962C8B-B14F-4D97-AF65-F5344CB8AC3E}">
        <p14:creationId xmlns:p14="http://schemas.microsoft.com/office/powerpoint/2010/main" val="18370943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At the heart of the problem…	</a:t>
            </a:r>
          </a:p>
        </p:txBody>
      </p:sp>
      <p:sp>
        <p:nvSpPr>
          <p:cNvPr id="3" name="Content Placeholder 2"/>
          <p:cNvSpPr>
            <a:spLocks noGrp="1"/>
          </p:cNvSpPr>
          <p:nvPr>
            <p:ph idx="1"/>
          </p:nvPr>
        </p:nvSpPr>
        <p:spPr/>
        <p:txBody>
          <a:bodyPr/>
          <a:lstStyle/>
          <a:p>
            <a:pPr algn="just"/>
            <a:r>
              <a:rPr lang="en-US" sz="2400" dirty="0"/>
              <a:t>… we have human and other practical constraints.</a:t>
            </a:r>
          </a:p>
          <a:p>
            <a:pPr algn="just"/>
            <a:endParaRPr lang="en-US" sz="2400" dirty="0"/>
          </a:p>
          <a:p>
            <a:pPr algn="just"/>
            <a:r>
              <a:rPr lang="en-US" sz="2400" dirty="0"/>
              <a:t>We use natural language to express most things.</a:t>
            </a:r>
          </a:p>
          <a:p>
            <a:pPr algn="just"/>
            <a:r>
              <a:rPr lang="en-US" sz="2400" dirty="0"/>
              <a:t>We assume that:</a:t>
            </a:r>
          </a:p>
          <a:p>
            <a:pPr lvl="1" algn="just">
              <a:buFont typeface="Arial" panose="020B0604020202020204" pitchFamily="34" charset="0"/>
              <a:buChar char="•"/>
            </a:pPr>
            <a:r>
              <a:rPr lang="en-US" sz="2000" dirty="0"/>
              <a:t>We have a sufficiently complete understanding of some topic</a:t>
            </a:r>
          </a:p>
          <a:p>
            <a:pPr lvl="1" algn="just">
              <a:buFont typeface="Arial" panose="020B0604020202020204" pitchFamily="34" charset="0"/>
              <a:buChar char="•"/>
            </a:pPr>
            <a:r>
              <a:rPr lang="en-US" sz="2000" dirty="0"/>
              <a:t>We have communicated our understanding completely to other concerned parties</a:t>
            </a:r>
          </a:p>
          <a:p>
            <a:pPr lvl="1" algn="just">
              <a:buFont typeface="Arial" panose="020B0604020202020204" pitchFamily="34" charset="0"/>
              <a:buChar char="•"/>
            </a:pPr>
            <a:r>
              <a:rPr lang="en-US" sz="2000" dirty="0"/>
              <a:t>Others have completely understood our communication</a:t>
            </a:r>
          </a:p>
          <a:p>
            <a:pPr algn="just"/>
            <a:endParaRPr lang="en-US" sz="2400" dirty="0"/>
          </a:p>
          <a:p>
            <a:pPr algn="just"/>
            <a:r>
              <a:rPr lang="en-US" sz="2400" dirty="0"/>
              <a:t>There are </a:t>
            </a:r>
            <a:r>
              <a:rPr lang="en-US" sz="2400" b="1" dirty="0"/>
              <a:t>many gaps in the natural language / human understanding / communication sphere</a:t>
            </a:r>
            <a:r>
              <a:rPr lang="en-US" sz="2400" dirty="0"/>
              <a:t>.</a:t>
            </a:r>
          </a:p>
          <a:p>
            <a:pPr algn="just"/>
            <a:r>
              <a:rPr lang="en-US" sz="2400" dirty="0"/>
              <a:t>	</a:t>
            </a:r>
          </a:p>
        </p:txBody>
      </p:sp>
    </p:spTree>
    <p:extLst>
      <p:ext uri="{BB962C8B-B14F-4D97-AF65-F5344CB8AC3E}">
        <p14:creationId xmlns:p14="http://schemas.microsoft.com/office/powerpoint/2010/main" val="147746102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At the heart of the problem…	</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sz="2400" dirty="0"/>
              <a:t>One of software’s greatest strengths - its flexibility - is also the origin of some of its greatest challenges.</a:t>
            </a:r>
          </a:p>
          <a:p>
            <a:pPr algn="just">
              <a:buFont typeface="Arial" panose="020B0604020202020204" pitchFamily="34" charset="0"/>
              <a:buChar char="•"/>
            </a:pPr>
            <a:r>
              <a:rPr lang="en-US" sz="2400" dirty="0"/>
              <a:t>Without the appropriate level of flexibility, software projects and companies can fail (and do fail). </a:t>
            </a:r>
          </a:p>
          <a:p>
            <a:pPr algn="just">
              <a:buFont typeface="Arial" panose="020B0604020202020204" pitchFamily="34" charset="0"/>
              <a:buChar char="•"/>
            </a:pPr>
            <a:r>
              <a:rPr lang="en-US" sz="2400" dirty="0"/>
              <a:t>Some judgement is required in order to determine the </a:t>
            </a:r>
            <a:r>
              <a:rPr lang="en-US" sz="2400" i="1" dirty="0"/>
              <a:t>appropriate</a:t>
            </a:r>
            <a:r>
              <a:rPr lang="en-US" sz="2400" dirty="0"/>
              <a:t> level of requirement understanding and definition.</a:t>
            </a:r>
          </a:p>
          <a:p>
            <a:pPr algn="just">
              <a:buFont typeface="Arial" panose="020B0604020202020204" pitchFamily="34" charset="0"/>
              <a:buChar char="•"/>
            </a:pPr>
            <a:r>
              <a:rPr lang="en-US" sz="2400" dirty="0"/>
              <a:t>This judgement is, to some extent, only learned through experience.</a:t>
            </a:r>
          </a:p>
          <a:p>
            <a:pPr algn="just">
              <a:buFont typeface="Arial" panose="020B0604020202020204" pitchFamily="34" charset="0"/>
              <a:buChar char="•"/>
            </a:pPr>
            <a:r>
              <a:rPr lang="en-US" sz="2400" dirty="0"/>
              <a:t>But there are also good practices that we can adopt to assist us. </a:t>
            </a:r>
          </a:p>
        </p:txBody>
      </p:sp>
    </p:spTree>
    <p:extLst>
      <p:ext uri="{BB962C8B-B14F-4D97-AF65-F5344CB8AC3E}">
        <p14:creationId xmlns:p14="http://schemas.microsoft.com/office/powerpoint/2010/main" val="21252027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Those humans…	</a:t>
            </a:r>
          </a:p>
        </p:txBody>
      </p:sp>
      <p:sp>
        <p:nvSpPr>
          <p:cNvPr id="3" name="Content Placeholder 2"/>
          <p:cNvSpPr>
            <a:spLocks noGrp="1"/>
          </p:cNvSpPr>
          <p:nvPr>
            <p:ph idx="1"/>
          </p:nvPr>
        </p:nvSpPr>
        <p:spPr>
          <a:xfrm>
            <a:off x="0" y="1676400"/>
            <a:ext cx="9143999" cy="4705350"/>
          </a:xfrm>
        </p:spPr>
        <p:txBody>
          <a:bodyPr/>
          <a:lstStyle/>
          <a:p>
            <a:pPr algn="just">
              <a:buFont typeface="Arial" panose="020B0604020202020204" pitchFamily="34" charset="0"/>
              <a:buChar char="•"/>
            </a:pPr>
            <a:r>
              <a:rPr lang="en-US" sz="2400" dirty="0"/>
              <a:t>Humans may be more inclined towards action rather than careful planning – there is not always a need in our day-to-day lives for heightened careful planning and retrospection.</a:t>
            </a:r>
          </a:p>
          <a:p>
            <a:pPr algn="just">
              <a:buFont typeface="Arial" panose="020B0604020202020204" pitchFamily="34" charset="0"/>
              <a:buChar char="•"/>
            </a:pPr>
            <a:r>
              <a:rPr lang="en-US" sz="2400" dirty="0"/>
              <a:t>Hence, we may be </a:t>
            </a:r>
            <a:r>
              <a:rPr lang="en-US" sz="2400" dirty="0" err="1"/>
              <a:t>optimised</a:t>
            </a:r>
            <a:r>
              <a:rPr lang="en-US" sz="2400" dirty="0"/>
              <a:t> for operational type activities (i.e. problem -&gt; fix; problem -&gt; fix) rather than problem avoidance (i.e. more planning -&gt; no problem / fewer problems).</a:t>
            </a:r>
          </a:p>
          <a:p>
            <a:pPr algn="just">
              <a:buFont typeface="Arial" panose="020B0604020202020204" pitchFamily="34" charset="0"/>
              <a:buChar char="•"/>
            </a:pPr>
            <a:r>
              <a:rPr lang="en-US" sz="2400" dirty="0"/>
              <a:t>Most of the time for us humans, this operational mode is fine, in fact it might well be necessary.</a:t>
            </a:r>
          </a:p>
          <a:p>
            <a:pPr algn="just">
              <a:buFont typeface="Arial" panose="020B0604020202020204" pitchFamily="34" charset="0"/>
              <a:buChar char="•"/>
            </a:pPr>
            <a:r>
              <a:rPr lang="en-US" sz="2400" dirty="0"/>
              <a:t>But for software development, failing to adequately work through requirements at the start, treating them as strategically important, can have devastating impacts for projects.</a:t>
            </a:r>
          </a:p>
        </p:txBody>
      </p:sp>
    </p:spTree>
    <p:extLst>
      <p:ext uri="{BB962C8B-B14F-4D97-AF65-F5344CB8AC3E}">
        <p14:creationId xmlns:p14="http://schemas.microsoft.com/office/powerpoint/2010/main" val="1696460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Strategic importance…	</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sz="2400" dirty="0"/>
              <a:t>Strategy Importance:</a:t>
            </a:r>
          </a:p>
          <a:p>
            <a:pPr lvl="1" algn="just">
              <a:buFont typeface="Arial" panose="020B0604020202020204" pitchFamily="34" charset="0"/>
              <a:buChar char="•"/>
            </a:pPr>
            <a:r>
              <a:rPr lang="en-US" sz="2000" dirty="0"/>
              <a:t>Worthy of investment</a:t>
            </a:r>
          </a:p>
          <a:p>
            <a:pPr lvl="1" algn="just">
              <a:buFont typeface="Arial" panose="020B0604020202020204" pitchFamily="34" charset="0"/>
              <a:buChar char="•"/>
            </a:pPr>
            <a:r>
              <a:rPr lang="en-US" sz="2000" dirty="0"/>
              <a:t>Worthy of careful planning and management</a:t>
            </a:r>
          </a:p>
          <a:p>
            <a:pPr lvl="1" algn="just">
              <a:buFont typeface="Arial" panose="020B0604020202020204" pitchFamily="34" charset="0"/>
              <a:buChar char="•"/>
            </a:pPr>
            <a:r>
              <a:rPr lang="en-US" sz="2000" dirty="0"/>
              <a:t>Critical to success</a:t>
            </a:r>
          </a:p>
          <a:p>
            <a:pPr marL="400050" algn="just">
              <a:buFont typeface="Arial" panose="020B0604020202020204" pitchFamily="34" charset="0"/>
              <a:buChar char="•"/>
            </a:pPr>
            <a:r>
              <a:rPr lang="en-US" dirty="0"/>
              <a:t>Strategy V Tactics?</a:t>
            </a:r>
          </a:p>
          <a:p>
            <a:pPr algn="just">
              <a:buFont typeface="Arial" panose="020B0604020202020204" pitchFamily="34" charset="0"/>
              <a:buChar char="•"/>
            </a:pPr>
            <a:endParaRPr lang="en-US" sz="2400" dirty="0"/>
          </a:p>
        </p:txBody>
      </p:sp>
    </p:spTree>
    <p:extLst>
      <p:ext uri="{BB962C8B-B14F-4D97-AF65-F5344CB8AC3E}">
        <p14:creationId xmlns:p14="http://schemas.microsoft.com/office/powerpoint/2010/main" val="1566775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At the heart of the problem…	</a:t>
            </a:r>
          </a:p>
        </p:txBody>
      </p:sp>
      <p:sp>
        <p:nvSpPr>
          <p:cNvPr id="3" name="Content Placeholder 2"/>
          <p:cNvSpPr>
            <a:spLocks noGrp="1"/>
          </p:cNvSpPr>
          <p:nvPr>
            <p:ph idx="1"/>
          </p:nvPr>
        </p:nvSpPr>
        <p:spPr/>
        <p:txBody>
          <a:bodyPr/>
          <a:lstStyle/>
          <a:p>
            <a:pPr algn="just"/>
            <a:r>
              <a:rPr lang="en-US" sz="2400" dirty="0"/>
              <a:t>From a software development perspective, </a:t>
            </a:r>
            <a:r>
              <a:rPr lang="en-US" sz="2400" b="1" dirty="0">
                <a:solidFill>
                  <a:srgbClr val="FF0000"/>
                </a:solidFill>
              </a:rPr>
              <a:t>we would benefit from being a little better at requirements quality</a:t>
            </a:r>
            <a:r>
              <a:rPr lang="en-US" sz="2400" dirty="0"/>
              <a:t>.</a:t>
            </a:r>
          </a:p>
          <a:p>
            <a:pPr algn="just"/>
            <a:endParaRPr lang="en-US" sz="2400" dirty="0"/>
          </a:p>
          <a:p>
            <a:pPr algn="just"/>
            <a:r>
              <a:rPr lang="en-US" sz="2400" dirty="0"/>
              <a:t>Evidence from a paper </a:t>
            </a:r>
            <a:r>
              <a:rPr lang="en-US" sz="2400" dirty="0" smtClean="0"/>
              <a:t>supports </a:t>
            </a:r>
            <a:r>
              <a:rPr lang="en-US" sz="2400" dirty="0"/>
              <a:t>the case that </a:t>
            </a:r>
            <a:r>
              <a:rPr lang="en-US" sz="2400" b="1" dirty="0"/>
              <a:t>inadequately defined requirements may be the primary source of software defects</a:t>
            </a:r>
            <a:r>
              <a:rPr lang="en-US" sz="2400" dirty="0"/>
              <a:t> (at least that is what practitioners have reported).</a:t>
            </a:r>
          </a:p>
        </p:txBody>
      </p:sp>
    </p:spTree>
    <p:extLst>
      <p:ext uri="{BB962C8B-B14F-4D97-AF65-F5344CB8AC3E}">
        <p14:creationId xmlns:p14="http://schemas.microsoft.com/office/powerpoint/2010/main" val="1821375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On competition and winning business</a:t>
            </a:r>
          </a:p>
        </p:txBody>
      </p:sp>
      <p:sp>
        <p:nvSpPr>
          <p:cNvPr id="3" name="Content Placeholder 2"/>
          <p:cNvSpPr>
            <a:spLocks noGrp="1"/>
          </p:cNvSpPr>
          <p:nvPr>
            <p:ph idx="1"/>
          </p:nvPr>
        </p:nvSpPr>
        <p:spPr/>
        <p:txBody>
          <a:bodyPr/>
          <a:lstStyle/>
          <a:p>
            <a:pPr algn="just"/>
            <a:r>
              <a:rPr lang="en-US" sz="2400" dirty="0"/>
              <a:t>Often </a:t>
            </a:r>
            <a:r>
              <a:rPr lang="en-US" sz="2400" b="1" dirty="0"/>
              <a:t>starts from the point where things can be quite nebulous</a:t>
            </a:r>
            <a:r>
              <a:rPr lang="en-US" sz="2400" dirty="0"/>
              <a:t>... Ideas, relationships, imperfect knowledge. </a:t>
            </a:r>
          </a:p>
          <a:p>
            <a:pPr algn="just"/>
            <a:r>
              <a:rPr lang="en-US" sz="2400" dirty="0"/>
              <a:t>Can (and may have to?) win business on the basis of hazy s/w requirements.</a:t>
            </a:r>
          </a:p>
          <a:p>
            <a:pPr algn="just"/>
            <a:r>
              <a:rPr lang="en-US" sz="2400" dirty="0"/>
              <a:t>New business development and sales-type activities are not overly concerned with engineering, delivery and lifetime maintenance of software/systems; rather they might be concerned with sales’ commission, business survival, profitability and (in some cases) short term motivations prevail.</a:t>
            </a:r>
          </a:p>
          <a:p>
            <a:pPr algn="just"/>
            <a:r>
              <a:rPr lang="en-US" sz="2400" dirty="0"/>
              <a:t>So we have </a:t>
            </a:r>
            <a:r>
              <a:rPr lang="en-US" sz="2400" b="1" dirty="0"/>
              <a:t>different concerns arising for different </a:t>
            </a:r>
            <a:r>
              <a:rPr lang="en-US" sz="2400" b="1" dirty="0">
                <a:solidFill>
                  <a:srgbClr val="FF0000"/>
                </a:solidFill>
              </a:rPr>
              <a:t>stakeholders</a:t>
            </a:r>
            <a:r>
              <a:rPr lang="en-US" sz="2400" b="1" dirty="0"/>
              <a:t> within software businesses</a:t>
            </a:r>
            <a:r>
              <a:rPr lang="en-US" sz="2400" dirty="0"/>
              <a:t>.</a:t>
            </a:r>
          </a:p>
        </p:txBody>
      </p:sp>
    </p:spTree>
    <p:extLst>
      <p:ext uri="{BB962C8B-B14F-4D97-AF65-F5344CB8AC3E}">
        <p14:creationId xmlns:p14="http://schemas.microsoft.com/office/powerpoint/2010/main" val="29814759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p:txBody>
          <a:bodyPr/>
          <a:lstStyle/>
          <a:p>
            <a:r>
              <a:rPr lang="en-US" dirty="0" smtClean="0"/>
              <a:t>Part 3 – Requirements</a:t>
            </a:r>
            <a:endParaRPr lang="en-US" dirty="0"/>
          </a:p>
        </p:txBody>
      </p:sp>
    </p:spTree>
    <p:extLst>
      <p:ext uri="{BB962C8B-B14F-4D97-AF65-F5344CB8AC3E}">
        <p14:creationId xmlns:p14="http://schemas.microsoft.com/office/powerpoint/2010/main" val="29553972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What are software requirements? </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sz="2400" dirty="0"/>
              <a:t>In their infancy at least, they may be nothing more than </a:t>
            </a:r>
            <a:r>
              <a:rPr lang="en-US" sz="2400" b="1" dirty="0"/>
              <a:t>abstract concepts</a:t>
            </a:r>
            <a:r>
              <a:rPr lang="en-US" sz="2400" dirty="0"/>
              <a:t>.</a:t>
            </a:r>
          </a:p>
          <a:p>
            <a:pPr algn="just">
              <a:buFont typeface="Arial" panose="020B0604020202020204" pitchFamily="34" charset="0"/>
              <a:buChar char="•"/>
            </a:pPr>
            <a:r>
              <a:rPr lang="en-US" sz="2400" dirty="0"/>
              <a:t>Converting these concepts into reliable working software is very challenging – there are many pitfalls and hurdles along the way.</a:t>
            </a:r>
          </a:p>
        </p:txBody>
      </p:sp>
    </p:spTree>
    <p:extLst>
      <p:ext uri="{BB962C8B-B14F-4D97-AF65-F5344CB8AC3E}">
        <p14:creationId xmlns:p14="http://schemas.microsoft.com/office/powerpoint/2010/main" val="31109692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Agile and non-agile worlds? </a:t>
            </a:r>
          </a:p>
        </p:txBody>
      </p:sp>
      <p:sp>
        <p:nvSpPr>
          <p:cNvPr id="3" name="Content Placeholder 2"/>
          <p:cNvSpPr>
            <a:spLocks noGrp="1"/>
          </p:cNvSpPr>
          <p:nvPr>
            <p:ph idx="1"/>
          </p:nvPr>
        </p:nvSpPr>
        <p:spPr/>
        <p:txBody>
          <a:bodyPr/>
          <a:lstStyle/>
          <a:p>
            <a:pPr algn="just"/>
            <a:r>
              <a:rPr lang="en-US" sz="2400" dirty="0"/>
              <a:t>When compared with traditional approaches, agile software development breaks development down into much </a:t>
            </a:r>
            <a:r>
              <a:rPr lang="en-US" sz="2400" b="1" dirty="0"/>
              <a:t>smaller development cycles </a:t>
            </a:r>
            <a:r>
              <a:rPr lang="en-US" sz="2400" dirty="0"/>
              <a:t>and increases release frequency.</a:t>
            </a:r>
          </a:p>
          <a:p>
            <a:pPr algn="just"/>
            <a:r>
              <a:rPr lang="en-US" sz="2400" dirty="0"/>
              <a:t>The agile approach is designed to </a:t>
            </a:r>
            <a:r>
              <a:rPr lang="en-US" sz="2400" b="1" dirty="0"/>
              <a:t>avoid lengthy phases of requirements documentation </a:t>
            </a:r>
            <a:r>
              <a:rPr lang="en-US" sz="2400" dirty="0"/>
              <a:t>and associated lengthy development cycles, by producing working software regularly thereby allowing users provide feedback on product development/direction.</a:t>
            </a:r>
          </a:p>
          <a:p>
            <a:pPr algn="just"/>
            <a:r>
              <a:rPr lang="en-US" sz="2400" dirty="0"/>
              <a:t>This avoids the problem of investing large sums of money and long periods of time building products that do not satisfy clients / prospective users.</a:t>
            </a:r>
          </a:p>
          <a:p>
            <a:pPr algn="just"/>
            <a:r>
              <a:rPr lang="en-US" sz="2400" dirty="0"/>
              <a:t>   </a:t>
            </a:r>
          </a:p>
        </p:txBody>
      </p:sp>
    </p:spTree>
    <p:extLst>
      <p:ext uri="{BB962C8B-B14F-4D97-AF65-F5344CB8AC3E}">
        <p14:creationId xmlns:p14="http://schemas.microsoft.com/office/powerpoint/2010/main" val="4057990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Agile and non-agile worlds? </a:t>
            </a:r>
          </a:p>
        </p:txBody>
      </p:sp>
      <p:sp>
        <p:nvSpPr>
          <p:cNvPr id="3" name="Content Placeholder 2"/>
          <p:cNvSpPr>
            <a:spLocks noGrp="1"/>
          </p:cNvSpPr>
          <p:nvPr>
            <p:ph idx="1"/>
          </p:nvPr>
        </p:nvSpPr>
        <p:spPr/>
        <p:txBody>
          <a:bodyPr/>
          <a:lstStyle/>
          <a:p>
            <a:pPr algn="just"/>
            <a:r>
              <a:rPr lang="en-US" sz="2400" dirty="0"/>
              <a:t>Implemented correctly, agile software development can help to produce solutions that users actually want by building up small increments of functionality regularly and not going too far off course during implementation. </a:t>
            </a:r>
          </a:p>
          <a:p>
            <a:pPr algn="just"/>
            <a:r>
              <a:rPr lang="en-US" sz="2400" dirty="0"/>
              <a:t>But agile is not a panacea for all requirements uncertainty. </a:t>
            </a:r>
          </a:p>
          <a:p>
            <a:pPr algn="just"/>
            <a:r>
              <a:rPr lang="en-US" sz="2400" dirty="0"/>
              <a:t>In the wrong hands, agile software development can produce a lot of code that may not ultimately be required. </a:t>
            </a:r>
          </a:p>
          <a:p>
            <a:pPr algn="just"/>
            <a:r>
              <a:rPr lang="en-US" sz="2400" dirty="0"/>
              <a:t>It becomes a matter of getting the balance right – between users story definition and timely feedback on working software. </a:t>
            </a:r>
          </a:p>
        </p:txBody>
      </p:sp>
    </p:spTree>
    <p:extLst>
      <p:ext uri="{BB962C8B-B14F-4D97-AF65-F5344CB8AC3E}">
        <p14:creationId xmlns:p14="http://schemas.microsoft.com/office/powerpoint/2010/main" val="15885356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Agile and non-agile worlds? </a:t>
            </a:r>
          </a:p>
        </p:txBody>
      </p:sp>
      <p:sp>
        <p:nvSpPr>
          <p:cNvPr id="3" name="Content Placeholder 2"/>
          <p:cNvSpPr>
            <a:spLocks noGrp="1"/>
          </p:cNvSpPr>
          <p:nvPr>
            <p:ph idx="1"/>
          </p:nvPr>
        </p:nvSpPr>
        <p:spPr/>
        <p:txBody>
          <a:bodyPr/>
          <a:lstStyle/>
          <a:p>
            <a:pPr algn="just">
              <a:buFont typeface="Arial" panose="020B0604020202020204" pitchFamily="34" charset="0"/>
              <a:buChar char="•"/>
            </a:pPr>
            <a:r>
              <a:rPr lang="en-US" sz="2400" dirty="0"/>
              <a:t>Irrespective of the development philosophy – i.e. agile or traditional – each time </a:t>
            </a:r>
            <a:r>
              <a:rPr lang="en-US" sz="2400" b="1" dirty="0"/>
              <a:t>requirements </a:t>
            </a:r>
            <a:r>
              <a:rPr lang="en-US" sz="2400" dirty="0"/>
              <a:t>are defined and code is written, it </a:t>
            </a:r>
            <a:r>
              <a:rPr lang="en-US" sz="2400" b="1" dirty="0"/>
              <a:t>should be considered as an economic proposition</a:t>
            </a:r>
            <a:r>
              <a:rPr lang="en-US" sz="2400" dirty="0"/>
              <a:t>. </a:t>
            </a:r>
          </a:p>
          <a:p>
            <a:pPr algn="just">
              <a:buFont typeface="Arial" panose="020B0604020202020204" pitchFamily="34" charset="0"/>
              <a:buChar char="•"/>
            </a:pPr>
            <a:r>
              <a:rPr lang="en-US" sz="2400" dirty="0"/>
              <a:t>Accordingly, we make an investment in requirements.</a:t>
            </a:r>
          </a:p>
          <a:p>
            <a:pPr algn="just">
              <a:buFont typeface="Arial" panose="020B0604020202020204" pitchFamily="34" charset="0"/>
              <a:buChar char="•"/>
            </a:pPr>
            <a:r>
              <a:rPr lang="en-US" sz="2400" dirty="0"/>
              <a:t>Not all investments produce desirable levels of return! </a:t>
            </a:r>
          </a:p>
          <a:p>
            <a:pPr algn="just">
              <a:buFont typeface="Arial" panose="020B0604020202020204" pitchFamily="34" charset="0"/>
              <a:buChar char="•"/>
            </a:pPr>
            <a:r>
              <a:rPr lang="en-US" sz="2400" dirty="0"/>
              <a:t>In all cases, we need to discover where we need to go as the project unfolds – </a:t>
            </a:r>
            <a:r>
              <a:rPr lang="en-US" sz="2400" b="1" dirty="0"/>
              <a:t>the destination does not exist at the outset, nor do all routes to getting there</a:t>
            </a:r>
            <a:r>
              <a:rPr lang="en-US" sz="2400" dirty="0"/>
              <a:t>.</a:t>
            </a:r>
          </a:p>
          <a:p>
            <a:pPr algn="just">
              <a:buFont typeface="Arial" panose="020B0604020202020204" pitchFamily="34" charset="0"/>
              <a:buChar char="•"/>
            </a:pPr>
            <a:r>
              <a:rPr lang="en-US" sz="2400" b="1" dirty="0"/>
              <a:t>Uncertainty prevails</a:t>
            </a:r>
            <a:r>
              <a:rPr lang="en-US" sz="2400" dirty="0"/>
              <a:t> – the only question relates to how we manage the uncertainty. This is a central challenge of all software development. </a:t>
            </a:r>
          </a:p>
        </p:txBody>
      </p:sp>
    </p:spTree>
    <p:extLst>
      <p:ext uri="{BB962C8B-B14F-4D97-AF65-F5344CB8AC3E}">
        <p14:creationId xmlns:p14="http://schemas.microsoft.com/office/powerpoint/2010/main" val="41154564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 simple requirement… </a:t>
            </a:r>
          </a:p>
        </p:txBody>
      </p:sp>
      <p:sp>
        <p:nvSpPr>
          <p:cNvPr id="3" name="Content Placeholder 2"/>
          <p:cNvSpPr>
            <a:spLocks noGrp="1"/>
          </p:cNvSpPr>
          <p:nvPr>
            <p:ph idx="1"/>
          </p:nvPr>
        </p:nvSpPr>
        <p:spPr/>
        <p:txBody>
          <a:bodyPr/>
          <a:lstStyle/>
          <a:p>
            <a:pPr marL="0" indent="0" algn="just"/>
            <a:r>
              <a:rPr lang="en-US" sz="2400" dirty="0"/>
              <a:t>Requirement: “</a:t>
            </a:r>
            <a:r>
              <a:rPr lang="en-US" sz="2400" i="1" dirty="0"/>
              <a:t>I want to go from Paris to Cannes</a:t>
            </a:r>
            <a:r>
              <a:rPr lang="en-US" sz="2400" dirty="0"/>
              <a:t>”.</a:t>
            </a:r>
          </a:p>
          <a:p>
            <a:pPr marL="0" indent="0" algn="just"/>
            <a:endParaRPr lang="en-US" sz="2400" dirty="0"/>
          </a:p>
          <a:p>
            <a:pPr marL="0" indent="0" algn="just"/>
            <a:r>
              <a:rPr lang="en-US" sz="2400" dirty="0"/>
              <a:t>A simple requirement.</a:t>
            </a:r>
          </a:p>
          <a:p>
            <a:pPr marL="0" indent="0" algn="just"/>
            <a:r>
              <a:rPr lang="en-US" sz="2400" dirty="0"/>
              <a:t>Or so it would seem…. </a:t>
            </a:r>
          </a:p>
        </p:txBody>
      </p:sp>
    </p:spTree>
    <p:extLst>
      <p:ext uri="{BB962C8B-B14F-4D97-AF65-F5344CB8AC3E}">
        <p14:creationId xmlns:p14="http://schemas.microsoft.com/office/powerpoint/2010/main" val="37374811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p:txBody>
          <a:bodyPr/>
          <a:lstStyle/>
          <a:p>
            <a:r>
              <a:rPr lang="en-US" dirty="0" smtClean="0"/>
              <a:t>An example with a simple requirements…..</a:t>
            </a:r>
            <a:endParaRPr lang="en-US" dirty="0"/>
          </a:p>
        </p:txBody>
      </p:sp>
    </p:spTree>
    <p:extLst>
      <p:ext uri="{BB962C8B-B14F-4D97-AF65-F5344CB8AC3E}">
        <p14:creationId xmlns:p14="http://schemas.microsoft.com/office/powerpoint/2010/main" val="7012122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We all know where Cannes is…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1584176"/>
            <a:ext cx="5229200" cy="5229200"/>
          </a:xfrm>
          <a:prstGeom prst="rect">
            <a:avLst/>
          </a:prstGeom>
        </p:spPr>
      </p:pic>
      <p:cxnSp>
        <p:nvCxnSpPr>
          <p:cNvPr id="5" name="Straight Arrow Connector 4"/>
          <p:cNvCxnSpPr/>
          <p:nvPr/>
        </p:nvCxnSpPr>
        <p:spPr bwMode="auto">
          <a:xfrm>
            <a:off x="4466573" y="2924944"/>
            <a:ext cx="1257555" cy="2664296"/>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5955515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‘How’ can this be achieved?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584176"/>
            <a:ext cx="5229200" cy="5229200"/>
          </a:xfrm>
          <a:prstGeom prst="rect">
            <a:avLst/>
          </a:prstGeom>
        </p:spPr>
      </p:pic>
      <p:cxnSp>
        <p:nvCxnSpPr>
          <p:cNvPr id="5" name="Straight Arrow Connector 4"/>
          <p:cNvCxnSpPr/>
          <p:nvPr/>
        </p:nvCxnSpPr>
        <p:spPr bwMode="auto">
          <a:xfrm>
            <a:off x="3026413" y="2924944"/>
            <a:ext cx="1257555" cy="2664296"/>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6" name="Content Placeholder 2"/>
          <p:cNvSpPr>
            <a:spLocks noGrp="1"/>
          </p:cNvSpPr>
          <p:nvPr>
            <p:ph idx="1"/>
          </p:nvPr>
        </p:nvSpPr>
        <p:spPr>
          <a:xfrm>
            <a:off x="5580111" y="1676400"/>
            <a:ext cx="3384377" cy="4705350"/>
          </a:xfrm>
        </p:spPr>
        <p:txBody>
          <a:bodyPr/>
          <a:lstStyle/>
          <a:p>
            <a:r>
              <a:rPr lang="en-US" sz="2400" dirty="0"/>
              <a:t>You can get the train.</a:t>
            </a:r>
          </a:p>
          <a:p>
            <a:r>
              <a:rPr lang="en-US" sz="2400" dirty="0"/>
              <a:t>You can drive.</a:t>
            </a:r>
          </a:p>
          <a:p>
            <a:r>
              <a:rPr lang="en-US" sz="2400" dirty="0"/>
              <a:t>You could walk!</a:t>
            </a:r>
          </a:p>
          <a:p>
            <a:r>
              <a:rPr lang="en-US" sz="2400" dirty="0"/>
              <a:t>You could fly.</a:t>
            </a:r>
          </a:p>
          <a:p>
            <a:r>
              <a:rPr lang="en-US" sz="2400" dirty="0" err="1"/>
              <a:t>Etc</a:t>
            </a:r>
            <a:r>
              <a:rPr lang="en-US" sz="2400" dirty="0"/>
              <a:t>…</a:t>
            </a:r>
          </a:p>
        </p:txBody>
      </p:sp>
    </p:spTree>
    <p:extLst>
      <p:ext uri="{BB962C8B-B14F-4D97-AF65-F5344CB8AC3E}">
        <p14:creationId xmlns:p14="http://schemas.microsoft.com/office/powerpoint/2010/main" val="1432201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See anything (potentially) wrong so far? </a:t>
            </a:r>
          </a:p>
        </p:txBody>
      </p:sp>
      <p:sp>
        <p:nvSpPr>
          <p:cNvPr id="6" name="Content Placeholder 2"/>
          <p:cNvSpPr>
            <a:spLocks noGrp="1"/>
          </p:cNvSpPr>
          <p:nvPr>
            <p:ph idx="1"/>
          </p:nvPr>
        </p:nvSpPr>
        <p:spPr>
          <a:xfrm>
            <a:off x="388939" y="1676400"/>
            <a:ext cx="8262936" cy="4705350"/>
          </a:xfrm>
        </p:spPr>
        <p:txBody>
          <a:bodyPr/>
          <a:lstStyle/>
          <a:p>
            <a:pPr algn="just">
              <a:buFont typeface="Arial" panose="020B0604020202020204" pitchFamily="34" charset="0"/>
              <a:buChar char="•"/>
            </a:pPr>
            <a:r>
              <a:rPr lang="en-US" sz="2400" dirty="0"/>
              <a:t>Is there an absence of detail in our requirement?</a:t>
            </a:r>
          </a:p>
          <a:p>
            <a:pPr algn="just">
              <a:buFont typeface="Arial" panose="020B0604020202020204" pitchFamily="34" charset="0"/>
              <a:buChar char="•"/>
            </a:pPr>
            <a:r>
              <a:rPr lang="en-US" sz="2400" dirty="0"/>
              <a:t>Or do we have enough detail to start working through our solution? </a:t>
            </a:r>
          </a:p>
          <a:p>
            <a:pPr algn="just">
              <a:buFont typeface="Arial" panose="020B0604020202020204" pitchFamily="34" charset="0"/>
              <a:buChar char="•"/>
            </a:pPr>
            <a:r>
              <a:rPr lang="en-US" sz="2400" dirty="0"/>
              <a:t>In what respect might this requirement be incomplete?</a:t>
            </a:r>
          </a:p>
        </p:txBody>
      </p:sp>
    </p:spTree>
    <p:extLst>
      <p:ext uri="{BB962C8B-B14F-4D97-AF65-F5344CB8AC3E}">
        <p14:creationId xmlns:p14="http://schemas.microsoft.com/office/powerpoint/2010/main" val="20876660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Let’s revisit the requirement? </a:t>
            </a:r>
          </a:p>
        </p:txBody>
      </p:sp>
      <p:sp>
        <p:nvSpPr>
          <p:cNvPr id="5" name="Content Placeholder 2"/>
          <p:cNvSpPr>
            <a:spLocks noGrp="1"/>
          </p:cNvSpPr>
          <p:nvPr>
            <p:ph idx="1"/>
          </p:nvPr>
        </p:nvSpPr>
        <p:spPr>
          <a:xfrm>
            <a:off x="388938" y="1675978"/>
            <a:ext cx="8262937" cy="4705350"/>
          </a:xfrm>
        </p:spPr>
        <p:txBody>
          <a:bodyPr/>
          <a:lstStyle/>
          <a:p>
            <a:pPr algn="just"/>
            <a:r>
              <a:rPr lang="en-US" sz="2400" dirty="0"/>
              <a:t>Requirement: “</a:t>
            </a:r>
            <a:r>
              <a:rPr lang="en-US" sz="2400" i="1" dirty="0"/>
              <a:t>I want to go from Paris to Cannes</a:t>
            </a:r>
            <a:r>
              <a:rPr lang="en-US" sz="2400" dirty="0"/>
              <a:t>”.</a:t>
            </a:r>
          </a:p>
          <a:p>
            <a:pPr lvl="1" algn="just">
              <a:buFont typeface="Arial" panose="020B0604020202020204" pitchFamily="34" charset="0"/>
              <a:buChar char="•"/>
            </a:pPr>
            <a:r>
              <a:rPr lang="en-US" sz="2000" dirty="0"/>
              <a:t>Is it Cannes in Provence, France that you wish to travel to?</a:t>
            </a:r>
          </a:p>
          <a:p>
            <a:pPr lvl="1" algn="just">
              <a:buFont typeface="Arial" panose="020B0604020202020204" pitchFamily="34" charset="0"/>
              <a:buChar char="•"/>
            </a:pPr>
            <a:r>
              <a:rPr lang="en-US" sz="2000" dirty="0"/>
              <a:t>Did I hear you correctly, was it Cannes, France or Caen, France?</a:t>
            </a:r>
          </a:p>
          <a:p>
            <a:pPr lvl="1" algn="just">
              <a:buFont typeface="Arial" panose="020B0604020202020204" pitchFamily="34" charset="0"/>
              <a:buChar char="•"/>
            </a:pPr>
            <a:r>
              <a:rPr lang="en-US" sz="2000" dirty="0"/>
              <a:t>Did you mean Cannes, Nova Scotia, Canada?</a:t>
            </a:r>
          </a:p>
          <a:p>
            <a:pPr lvl="1" algn="just">
              <a:buFont typeface="Arial" panose="020B0604020202020204" pitchFamily="34" charset="0"/>
              <a:buChar char="•"/>
            </a:pPr>
            <a:r>
              <a:rPr lang="en-US" sz="2000" dirty="0"/>
              <a:t>Or some other Cannes / Caen altogether? </a:t>
            </a:r>
          </a:p>
          <a:p>
            <a:pPr algn="just"/>
            <a:endParaRPr lang="en-US" sz="2400" dirty="0"/>
          </a:p>
          <a:p>
            <a:pPr algn="just"/>
            <a:r>
              <a:rPr lang="en-US" sz="2400" b="1" u="sng" dirty="0"/>
              <a:t>Problem:</a:t>
            </a:r>
            <a:r>
              <a:rPr lang="en-US" sz="2400" dirty="0"/>
              <a:t> </a:t>
            </a:r>
            <a:r>
              <a:rPr lang="en-US" sz="2400" b="1" dirty="0"/>
              <a:t>We did not test our requirement </a:t>
            </a:r>
            <a:r>
              <a:rPr lang="en-US" sz="2400" dirty="0"/>
              <a:t>for clarity/correctness before seeking out the solution to the assumed challenge. </a:t>
            </a:r>
          </a:p>
        </p:txBody>
      </p:sp>
    </p:spTree>
    <p:extLst>
      <p:ext uri="{BB962C8B-B14F-4D97-AF65-F5344CB8AC3E}">
        <p14:creationId xmlns:p14="http://schemas.microsoft.com/office/powerpoint/2010/main" val="35992187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4"/>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Map of France revisited…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584176"/>
            <a:ext cx="5229200" cy="5229200"/>
          </a:xfrm>
          <a:prstGeom prst="rect">
            <a:avLst/>
          </a:prstGeom>
        </p:spPr>
      </p:pic>
      <p:cxnSp>
        <p:nvCxnSpPr>
          <p:cNvPr id="7" name="Straight Arrow Connector 6"/>
          <p:cNvCxnSpPr/>
          <p:nvPr/>
        </p:nvCxnSpPr>
        <p:spPr bwMode="auto">
          <a:xfrm>
            <a:off x="3026413" y="2924944"/>
            <a:ext cx="1257555" cy="2664296"/>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 name="Straight Arrow Connector 7"/>
          <p:cNvCxnSpPr/>
          <p:nvPr/>
        </p:nvCxnSpPr>
        <p:spPr bwMode="auto">
          <a:xfrm flipH="1" flipV="1">
            <a:off x="2267744" y="2564904"/>
            <a:ext cx="723205" cy="297944"/>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2220697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Partial map of the world… </a:t>
            </a:r>
          </a:p>
        </p:txBody>
      </p:sp>
      <p:pic>
        <p:nvPicPr>
          <p:cNvPr id="2" name="Picture 1"/>
          <p:cNvPicPr>
            <a:picLocks noChangeAspect="1"/>
          </p:cNvPicPr>
          <p:nvPr/>
        </p:nvPicPr>
        <p:blipFill>
          <a:blip r:embed="rId2"/>
          <a:stretch>
            <a:fillRect/>
          </a:stretch>
        </p:blipFill>
        <p:spPr>
          <a:xfrm>
            <a:off x="842169" y="2132856"/>
            <a:ext cx="7239000" cy="3943350"/>
          </a:xfrm>
          <a:prstGeom prst="rect">
            <a:avLst/>
          </a:prstGeom>
        </p:spPr>
      </p:pic>
      <p:cxnSp>
        <p:nvCxnSpPr>
          <p:cNvPr id="9" name="Straight Arrow Connector 8"/>
          <p:cNvCxnSpPr/>
          <p:nvPr/>
        </p:nvCxnSpPr>
        <p:spPr bwMode="auto">
          <a:xfrm flipH="1">
            <a:off x="3635896" y="5157192"/>
            <a:ext cx="2592288" cy="72008"/>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Tree>
    <p:extLst>
      <p:ext uri="{BB962C8B-B14F-4D97-AF65-F5344CB8AC3E}">
        <p14:creationId xmlns:p14="http://schemas.microsoft.com/office/powerpoint/2010/main" val="12834421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Other potential requirement incompleteness… </a:t>
            </a:r>
          </a:p>
        </p:txBody>
      </p:sp>
      <p:sp>
        <p:nvSpPr>
          <p:cNvPr id="5" name="Content Placeholder 2"/>
          <p:cNvSpPr>
            <a:spLocks noGrp="1"/>
          </p:cNvSpPr>
          <p:nvPr>
            <p:ph idx="1"/>
          </p:nvPr>
        </p:nvSpPr>
        <p:spPr>
          <a:xfrm>
            <a:off x="703263" y="1676400"/>
            <a:ext cx="7948612" cy="4705350"/>
          </a:xfrm>
        </p:spPr>
        <p:txBody>
          <a:bodyPr/>
          <a:lstStyle/>
          <a:p>
            <a:pPr algn="just">
              <a:buFont typeface="Arial" panose="020B0604020202020204" pitchFamily="34" charset="0"/>
              <a:buChar char="•"/>
            </a:pPr>
            <a:r>
              <a:rPr lang="en-US" sz="2400" dirty="0"/>
              <a:t>Did I mention that I want to visit my grandmother in Montpelier </a:t>
            </a:r>
            <a:r>
              <a:rPr lang="en-US" sz="2400" dirty="0" err="1"/>
              <a:t>en</a:t>
            </a:r>
            <a:r>
              <a:rPr lang="en-US" sz="2400" dirty="0"/>
              <a:t> route?</a:t>
            </a:r>
          </a:p>
          <a:p>
            <a:pPr algn="just">
              <a:buFont typeface="Arial" panose="020B0604020202020204" pitchFamily="34" charset="0"/>
              <a:buChar char="•"/>
            </a:pPr>
            <a:r>
              <a:rPr lang="en-US" sz="2400" dirty="0"/>
              <a:t>Did I mention that I need to go to Cannes and return to Paris on the same day?</a:t>
            </a:r>
          </a:p>
          <a:p>
            <a:pPr algn="just">
              <a:buFont typeface="Arial" panose="020B0604020202020204" pitchFamily="34" charset="0"/>
              <a:buChar char="•"/>
            </a:pPr>
            <a:r>
              <a:rPr lang="en-US" sz="2400" dirty="0"/>
              <a:t>Did you know that I have a fear of flying?</a:t>
            </a:r>
          </a:p>
          <a:p>
            <a:pPr algn="just">
              <a:buFont typeface="Arial" panose="020B0604020202020204" pitchFamily="34" charset="0"/>
              <a:buChar char="•"/>
            </a:pPr>
            <a:r>
              <a:rPr lang="en-US" sz="2400" dirty="0"/>
              <a:t>Did you know that I only have €300 to spend on the trip?</a:t>
            </a:r>
          </a:p>
          <a:p>
            <a:pPr algn="just">
              <a:buFont typeface="Arial" panose="020B0604020202020204" pitchFamily="34" charset="0"/>
              <a:buChar char="•"/>
            </a:pPr>
            <a:r>
              <a:rPr lang="en-US" sz="2400" dirty="0"/>
              <a:t>Did you know that I can only travel on Tuesdays?</a:t>
            </a:r>
          </a:p>
          <a:p>
            <a:pPr algn="just">
              <a:buFont typeface="Arial" panose="020B0604020202020204" pitchFamily="34" charset="0"/>
              <a:buChar char="•"/>
            </a:pPr>
            <a:r>
              <a:rPr lang="en-US" sz="2400" dirty="0"/>
              <a:t>Did I tell you that I want my friend to accompany me?</a:t>
            </a:r>
          </a:p>
          <a:p>
            <a:pPr algn="just">
              <a:buFont typeface="Arial" panose="020B0604020202020204" pitchFamily="34" charset="0"/>
              <a:buChar char="•"/>
            </a:pPr>
            <a:r>
              <a:rPr lang="en-US" sz="2400" dirty="0"/>
              <a:t>Did I note that my actual destination is actually 45kms west of Cannes?</a:t>
            </a:r>
          </a:p>
          <a:p>
            <a:pPr algn="just">
              <a:buFont typeface="Arial" panose="020B0604020202020204" pitchFamily="34" charset="0"/>
              <a:buChar char="•"/>
            </a:pPr>
            <a:r>
              <a:rPr lang="en-US" sz="2400" dirty="0" err="1"/>
              <a:t>Etc</a:t>
            </a:r>
            <a:r>
              <a:rPr lang="en-US" sz="2400" dirty="0"/>
              <a:t>, </a:t>
            </a:r>
            <a:r>
              <a:rPr lang="en-US" sz="2400" dirty="0" err="1"/>
              <a:t>etc</a:t>
            </a:r>
            <a:r>
              <a:rPr lang="en-US" sz="2400" dirty="0"/>
              <a:t>, etc.</a:t>
            </a:r>
          </a:p>
        </p:txBody>
      </p:sp>
    </p:spTree>
    <p:extLst>
      <p:ext uri="{BB962C8B-B14F-4D97-AF65-F5344CB8AC3E}">
        <p14:creationId xmlns:p14="http://schemas.microsoft.com/office/powerpoint/2010/main" val="7632919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There were so many things that we missed…</a:t>
            </a:r>
          </a:p>
        </p:txBody>
      </p:sp>
      <p:sp>
        <p:nvSpPr>
          <p:cNvPr id="12" name="Content Placeholder 2"/>
          <p:cNvSpPr>
            <a:spLocks noGrp="1"/>
          </p:cNvSpPr>
          <p:nvPr>
            <p:ph idx="1"/>
          </p:nvPr>
        </p:nvSpPr>
        <p:spPr>
          <a:xfrm>
            <a:off x="703263" y="1676400"/>
            <a:ext cx="7948612" cy="4705350"/>
          </a:xfrm>
        </p:spPr>
        <p:txBody>
          <a:bodyPr/>
          <a:lstStyle/>
          <a:p>
            <a:pPr algn="just">
              <a:buFont typeface="Arial" panose="020B0604020202020204" pitchFamily="34" charset="0"/>
              <a:buChar char="•"/>
            </a:pPr>
            <a:r>
              <a:rPr lang="en-US" sz="2400" dirty="0"/>
              <a:t>Requirements should be </a:t>
            </a:r>
            <a:r>
              <a:rPr lang="en-US" sz="2400" b="1" dirty="0"/>
              <a:t>critically evaluated</a:t>
            </a:r>
            <a:r>
              <a:rPr lang="en-US" sz="2400" dirty="0"/>
              <a:t>.</a:t>
            </a:r>
          </a:p>
          <a:p>
            <a:pPr algn="just">
              <a:buFont typeface="Arial" panose="020B0604020202020204" pitchFamily="34" charset="0"/>
              <a:buChar char="•"/>
            </a:pPr>
            <a:r>
              <a:rPr lang="en-US" sz="2400" dirty="0"/>
              <a:t>Requirements are critically evaluated in most successful software development companies.</a:t>
            </a:r>
          </a:p>
          <a:p>
            <a:pPr algn="just">
              <a:buFont typeface="Arial" panose="020B0604020202020204" pitchFamily="34" charset="0"/>
              <a:buChar char="•"/>
            </a:pPr>
            <a:r>
              <a:rPr lang="en-US" sz="2400" dirty="0"/>
              <a:t>If we spend too much money building things that are not required, we are (</a:t>
            </a:r>
            <a:r>
              <a:rPr lang="en-US" sz="2400" dirty="0" err="1"/>
              <a:t>i</a:t>
            </a:r>
            <a:r>
              <a:rPr lang="en-US" sz="2400" dirty="0"/>
              <a:t>) at a competitive disadvantage, and (ii) risking project and company failure. </a:t>
            </a:r>
          </a:p>
          <a:p>
            <a:pPr algn="just">
              <a:buFont typeface="Arial" panose="020B0604020202020204" pitchFamily="34" charset="0"/>
              <a:buChar char="•"/>
            </a:pPr>
            <a:r>
              <a:rPr lang="en-US" sz="2400" dirty="0"/>
              <a:t>The concern is not just a function of money, it is also a function of time.</a:t>
            </a:r>
          </a:p>
          <a:p>
            <a:pPr algn="just">
              <a:buFont typeface="Arial" panose="020B0604020202020204" pitchFamily="34" charset="0"/>
              <a:buChar char="•"/>
            </a:pPr>
            <a:r>
              <a:rPr lang="en-US" sz="2400" dirty="0"/>
              <a:t>Requirements inherently have associated detail – the key question that arises is: </a:t>
            </a:r>
            <a:r>
              <a:rPr lang="en-US" sz="2400" b="1" i="1" dirty="0"/>
              <a:t>when</a:t>
            </a:r>
            <a:r>
              <a:rPr lang="en-US" sz="2400" b="1" dirty="0"/>
              <a:t> </a:t>
            </a:r>
            <a:r>
              <a:rPr lang="en-US" sz="2400" dirty="0"/>
              <a:t>and </a:t>
            </a:r>
            <a:r>
              <a:rPr lang="en-US" sz="2400" b="1" i="1" dirty="0"/>
              <a:t>how</a:t>
            </a:r>
            <a:r>
              <a:rPr lang="en-US" sz="2400" dirty="0"/>
              <a:t> do we discover the necessary detail?</a:t>
            </a:r>
          </a:p>
        </p:txBody>
      </p:sp>
    </p:spTree>
    <p:extLst>
      <p:ext uri="{BB962C8B-B14F-4D97-AF65-F5344CB8AC3E}">
        <p14:creationId xmlns:p14="http://schemas.microsoft.com/office/powerpoint/2010/main" val="540829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Relating the metaphor to software requirements?</a:t>
            </a:r>
          </a:p>
        </p:txBody>
      </p:sp>
      <p:sp>
        <p:nvSpPr>
          <p:cNvPr id="12" name="Content Placeholder 2"/>
          <p:cNvSpPr>
            <a:spLocks noGrp="1"/>
          </p:cNvSpPr>
          <p:nvPr>
            <p:ph idx="1"/>
          </p:nvPr>
        </p:nvSpPr>
        <p:spPr>
          <a:xfrm>
            <a:off x="703263" y="1676400"/>
            <a:ext cx="4444801" cy="4705350"/>
          </a:xfrm>
        </p:spPr>
        <p:txBody>
          <a:bodyPr/>
          <a:lstStyle/>
          <a:p>
            <a:r>
              <a:rPr lang="en-US" sz="1600" dirty="0"/>
              <a:t>Wrong place (i.e. Cannes / Caen)?</a:t>
            </a:r>
          </a:p>
          <a:p>
            <a:endParaRPr lang="en-US" sz="1600" dirty="0"/>
          </a:p>
          <a:p>
            <a:r>
              <a:rPr lang="en-US" sz="1600" dirty="0"/>
              <a:t>Need to visit my grandmother in Montpelier?</a:t>
            </a:r>
          </a:p>
          <a:p>
            <a:endParaRPr lang="en-US" sz="1600" dirty="0"/>
          </a:p>
          <a:p>
            <a:r>
              <a:rPr lang="en-US" sz="1600" dirty="0"/>
              <a:t>Need to return the same day?</a:t>
            </a:r>
          </a:p>
          <a:p>
            <a:endParaRPr lang="en-US" sz="1600" dirty="0"/>
          </a:p>
          <a:p>
            <a:r>
              <a:rPr lang="en-US" sz="1600" dirty="0"/>
              <a:t>Have a fear of flying?</a:t>
            </a:r>
          </a:p>
          <a:p>
            <a:endParaRPr lang="en-US" sz="1600" dirty="0"/>
          </a:p>
          <a:p>
            <a:r>
              <a:rPr lang="en-US" sz="1600" dirty="0"/>
              <a:t>Only have €300 to spend?</a:t>
            </a:r>
          </a:p>
          <a:p>
            <a:endParaRPr lang="en-US" sz="1600" dirty="0"/>
          </a:p>
          <a:p>
            <a:r>
              <a:rPr lang="en-US" sz="1600" dirty="0"/>
              <a:t>Can only go on a Tuesday?</a:t>
            </a:r>
          </a:p>
          <a:p>
            <a:endParaRPr lang="en-US" sz="1600" dirty="0"/>
          </a:p>
          <a:p>
            <a:r>
              <a:rPr lang="en-US" sz="1600" dirty="0"/>
              <a:t>Must be accompanied by friend?</a:t>
            </a:r>
          </a:p>
          <a:p>
            <a:endParaRPr lang="en-US" sz="1600" dirty="0"/>
          </a:p>
          <a:p>
            <a:r>
              <a:rPr lang="en-US" sz="1600" dirty="0"/>
              <a:t>My actual destination is 45kms west of Cannes?</a:t>
            </a:r>
          </a:p>
          <a:p>
            <a:endParaRPr lang="en-US" sz="1600" dirty="0"/>
          </a:p>
          <a:p>
            <a:endParaRPr lang="en-US" sz="1600" dirty="0"/>
          </a:p>
        </p:txBody>
      </p:sp>
      <p:sp>
        <p:nvSpPr>
          <p:cNvPr id="4" name="Content Placeholder 2"/>
          <p:cNvSpPr txBox="1">
            <a:spLocks/>
          </p:cNvSpPr>
          <p:nvPr/>
        </p:nvSpPr>
        <p:spPr bwMode="auto">
          <a:xfrm>
            <a:off x="5887839" y="1675978"/>
            <a:ext cx="3364681" cy="47053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600" kern="0" dirty="0"/>
              <a:t>Basic functional defect</a:t>
            </a:r>
          </a:p>
          <a:p>
            <a:endParaRPr lang="en-US" sz="1600" kern="0" dirty="0"/>
          </a:p>
          <a:p>
            <a:r>
              <a:rPr lang="en-US" sz="1600" kern="0" dirty="0"/>
              <a:t>Functionally incomplete</a:t>
            </a:r>
          </a:p>
          <a:p>
            <a:endParaRPr lang="en-US" sz="1600" kern="0" dirty="0"/>
          </a:p>
          <a:p>
            <a:r>
              <a:rPr lang="en-US" sz="1600" kern="0" dirty="0"/>
              <a:t>Performance requirement</a:t>
            </a:r>
          </a:p>
          <a:p>
            <a:endParaRPr lang="en-US" sz="1600" kern="0" dirty="0"/>
          </a:p>
          <a:p>
            <a:r>
              <a:rPr lang="en-US" sz="1600" kern="0" dirty="0"/>
              <a:t>Operational requirement? </a:t>
            </a:r>
          </a:p>
          <a:p>
            <a:endParaRPr lang="en-US" sz="1600" kern="0" dirty="0"/>
          </a:p>
          <a:p>
            <a:r>
              <a:rPr lang="en-US" sz="1600" kern="0" dirty="0"/>
              <a:t>Project constraint</a:t>
            </a:r>
          </a:p>
          <a:p>
            <a:endParaRPr lang="en-US" sz="1600" kern="0" dirty="0"/>
          </a:p>
          <a:p>
            <a:r>
              <a:rPr lang="en-US" sz="1600" kern="0" dirty="0"/>
              <a:t>Operational constraint?</a:t>
            </a:r>
          </a:p>
          <a:p>
            <a:endParaRPr lang="en-US" sz="1600" kern="0" dirty="0"/>
          </a:p>
          <a:p>
            <a:r>
              <a:rPr lang="en-US" sz="1600" kern="0" dirty="0"/>
              <a:t>Functionally incomplete</a:t>
            </a:r>
          </a:p>
          <a:p>
            <a:endParaRPr lang="en-US" sz="1600" kern="0" dirty="0"/>
          </a:p>
          <a:p>
            <a:r>
              <a:rPr lang="en-US" sz="1600" kern="0" dirty="0"/>
              <a:t>Functionally incomplete / inaccurate?</a:t>
            </a:r>
          </a:p>
          <a:p>
            <a:endParaRPr lang="en-US" sz="1600" kern="0" dirty="0"/>
          </a:p>
          <a:p>
            <a:endParaRPr lang="en-US" sz="1600" kern="0" dirty="0"/>
          </a:p>
        </p:txBody>
      </p:sp>
    </p:spTree>
    <p:extLst>
      <p:ext uri="{BB962C8B-B14F-4D97-AF65-F5344CB8AC3E}">
        <p14:creationId xmlns:p14="http://schemas.microsoft.com/office/powerpoint/2010/main" val="33860455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Is the seemingly simple requirement even viable?</a:t>
            </a:r>
          </a:p>
        </p:txBody>
      </p:sp>
      <p:sp>
        <p:nvSpPr>
          <p:cNvPr id="12" name="Content Placeholder 2"/>
          <p:cNvSpPr>
            <a:spLocks noGrp="1"/>
          </p:cNvSpPr>
          <p:nvPr>
            <p:ph idx="1"/>
          </p:nvPr>
        </p:nvSpPr>
        <p:spPr>
          <a:xfrm>
            <a:off x="703263" y="1676400"/>
            <a:ext cx="8117209" cy="4705350"/>
          </a:xfrm>
        </p:spPr>
        <p:txBody>
          <a:bodyPr/>
          <a:lstStyle/>
          <a:p>
            <a:pPr algn="just"/>
            <a:r>
              <a:rPr lang="en-US" sz="1800" dirty="0"/>
              <a:t>Q. If I cannot fly,</a:t>
            </a:r>
          </a:p>
          <a:p>
            <a:pPr algn="just"/>
            <a:r>
              <a:rPr lang="en-US" sz="1800" dirty="0"/>
              <a:t>and I need to return in the same day,</a:t>
            </a:r>
          </a:p>
          <a:p>
            <a:pPr algn="just"/>
            <a:r>
              <a:rPr lang="en-US" sz="1800" dirty="0"/>
              <a:t>and I need to visit my grandmother in Montpelier </a:t>
            </a:r>
            <a:r>
              <a:rPr lang="en-US" sz="1800" dirty="0" err="1"/>
              <a:t>en</a:t>
            </a:r>
            <a:r>
              <a:rPr lang="en-US" sz="1800" dirty="0"/>
              <a:t> route,</a:t>
            </a:r>
          </a:p>
          <a:p>
            <a:pPr algn="just"/>
            <a:r>
              <a:rPr lang="en-US" sz="1800" dirty="0"/>
              <a:t>and my meeting is actually 45kms west of Cannes,</a:t>
            </a:r>
          </a:p>
          <a:p>
            <a:pPr algn="just"/>
            <a:r>
              <a:rPr lang="en-US" sz="1800" dirty="0"/>
              <a:t>and I want my friend to accompany me,</a:t>
            </a:r>
          </a:p>
          <a:p>
            <a:pPr algn="just"/>
            <a:r>
              <a:rPr lang="en-US" sz="1800" dirty="0"/>
              <a:t>can I do all of this for €300? (i.e. considered collectively, there is some inconsistency emerging in our requirements)</a:t>
            </a:r>
          </a:p>
          <a:p>
            <a:pPr algn="just">
              <a:buFont typeface="Arial" panose="020B0604020202020204" pitchFamily="34" charset="0"/>
              <a:buChar char="•"/>
            </a:pPr>
            <a:r>
              <a:rPr lang="en-US" sz="1800" dirty="0"/>
              <a:t>From what looked like a relatively simple requirement at the outset is starting to look like it might be impossible to achieve (or at the very least, it will be challenging to achieve).</a:t>
            </a:r>
          </a:p>
          <a:p>
            <a:pPr algn="just">
              <a:buFont typeface="Arial" panose="020B0604020202020204" pitchFamily="34" charset="0"/>
              <a:buChar char="•"/>
            </a:pPr>
            <a:r>
              <a:rPr lang="en-US" sz="1800" i="1" dirty="0"/>
              <a:t>Perhaps </a:t>
            </a:r>
            <a:r>
              <a:rPr lang="en-US" sz="1800" dirty="0"/>
              <a:t>it is theoretically possible in one day to drive </a:t>
            </a:r>
            <a:r>
              <a:rPr lang="en-US" sz="1800" u="sng" dirty="0"/>
              <a:t>if</a:t>
            </a:r>
            <a:r>
              <a:rPr lang="en-US" sz="1800" dirty="0"/>
              <a:t> I own my own car: 7hrs 30mns Paris to Montpelier, visit grandmother for 1 hour, drive to my meeting, another 3hrs 30mns, meet for 1 hour, drive back to Paris, another 8hrs 15 </a:t>
            </a:r>
            <a:r>
              <a:rPr lang="en-US" sz="1800" dirty="0" err="1"/>
              <a:t>mns</a:t>
            </a:r>
            <a:r>
              <a:rPr lang="en-US" sz="1800" dirty="0"/>
              <a:t>. </a:t>
            </a:r>
          </a:p>
          <a:p>
            <a:pPr algn="just">
              <a:buFont typeface="Arial" panose="020B0604020202020204" pitchFamily="34" charset="0"/>
              <a:buChar char="•"/>
            </a:pPr>
            <a:r>
              <a:rPr lang="en-US" sz="1800" dirty="0">
                <a:solidFill>
                  <a:srgbClr val="FF0000"/>
                </a:solidFill>
              </a:rPr>
              <a:t>Simple things may become complex very quickly… some requirements are economically / practically unviable (but how/when do we discover this?). </a:t>
            </a:r>
          </a:p>
        </p:txBody>
      </p:sp>
    </p:spTree>
    <p:extLst>
      <p:ext uri="{BB962C8B-B14F-4D97-AF65-F5344CB8AC3E}">
        <p14:creationId xmlns:p14="http://schemas.microsoft.com/office/powerpoint/2010/main" val="1010692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p:txBody>
          <a:bodyPr/>
          <a:lstStyle/>
          <a:p>
            <a:r>
              <a:rPr lang="en-US" dirty="0" smtClean="0"/>
              <a:t>Part 4 – More problems….</a:t>
            </a:r>
            <a:endParaRPr lang="en-US" dirty="0"/>
          </a:p>
        </p:txBody>
      </p:sp>
    </p:spTree>
    <p:extLst>
      <p:ext uri="{BB962C8B-B14F-4D97-AF65-F5344CB8AC3E}">
        <p14:creationId xmlns:p14="http://schemas.microsoft.com/office/powerpoint/2010/main" val="32580694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Exactly the same problems arise in software requirements</a:t>
            </a:r>
          </a:p>
        </p:txBody>
      </p:sp>
      <p:sp>
        <p:nvSpPr>
          <p:cNvPr id="12" name="Content Placeholder 2"/>
          <p:cNvSpPr>
            <a:spLocks noGrp="1"/>
          </p:cNvSpPr>
          <p:nvPr>
            <p:ph idx="1"/>
          </p:nvPr>
        </p:nvSpPr>
        <p:spPr>
          <a:xfrm>
            <a:off x="703263" y="1676400"/>
            <a:ext cx="7831137" cy="4705350"/>
          </a:xfrm>
        </p:spPr>
        <p:txBody>
          <a:bodyPr/>
          <a:lstStyle/>
          <a:p>
            <a:pPr algn="just">
              <a:buFont typeface="Arial" panose="020B0604020202020204" pitchFamily="34" charset="0"/>
              <a:buChar char="•"/>
            </a:pPr>
            <a:r>
              <a:rPr lang="en-US" sz="2400" dirty="0"/>
              <a:t>It is </a:t>
            </a:r>
            <a:r>
              <a:rPr lang="en-US" sz="2400" b="1" dirty="0"/>
              <a:t>difficult to evaluate software requirement quality</a:t>
            </a:r>
            <a:r>
              <a:rPr lang="en-US" sz="2400" dirty="0"/>
              <a:t>.</a:t>
            </a:r>
          </a:p>
          <a:p>
            <a:pPr algn="just">
              <a:buFont typeface="Arial" panose="020B0604020202020204" pitchFamily="34" charset="0"/>
              <a:buChar char="•"/>
            </a:pPr>
            <a:r>
              <a:rPr lang="en-US" sz="2400" dirty="0"/>
              <a:t>Bet there are some good frameworks that we can employ.</a:t>
            </a:r>
          </a:p>
        </p:txBody>
      </p:sp>
    </p:spTree>
    <p:extLst>
      <p:ext uri="{BB962C8B-B14F-4D97-AF65-F5344CB8AC3E}">
        <p14:creationId xmlns:p14="http://schemas.microsoft.com/office/powerpoint/2010/main" val="36205796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Testing Requirements</a:t>
            </a:r>
          </a:p>
        </p:txBody>
      </p:sp>
      <p:sp>
        <p:nvSpPr>
          <p:cNvPr id="12" name="Content Placeholder 2"/>
          <p:cNvSpPr>
            <a:spLocks noGrp="1"/>
          </p:cNvSpPr>
          <p:nvPr>
            <p:ph idx="1"/>
          </p:nvPr>
        </p:nvSpPr>
        <p:spPr>
          <a:xfrm>
            <a:off x="703263" y="1676400"/>
            <a:ext cx="7831137" cy="4705350"/>
          </a:xfrm>
        </p:spPr>
        <p:txBody>
          <a:bodyPr/>
          <a:lstStyle/>
          <a:p>
            <a:r>
              <a:rPr lang="en-IE" dirty="0"/>
              <a:t>We will look at:</a:t>
            </a:r>
          </a:p>
          <a:p>
            <a:pPr>
              <a:buAutoNum type="arabicPeriod"/>
            </a:pPr>
            <a:r>
              <a:rPr lang="en-IE" dirty="0"/>
              <a:t>Quality of individual requirements / users stories</a:t>
            </a:r>
          </a:p>
          <a:p>
            <a:pPr>
              <a:buAutoNum type="arabicPeriod"/>
            </a:pPr>
            <a:r>
              <a:rPr lang="en-US" dirty="0"/>
              <a:t>T</a:t>
            </a:r>
            <a:r>
              <a:rPr lang="en-IE" dirty="0"/>
              <a:t>he quality of a group of software requirements / user stories when considered as a whole (i.e. as an overall product/application/system) </a:t>
            </a:r>
          </a:p>
        </p:txBody>
      </p:sp>
    </p:spTree>
    <p:extLst>
      <p:ext uri="{BB962C8B-B14F-4D97-AF65-F5344CB8AC3E}">
        <p14:creationId xmlns:p14="http://schemas.microsoft.com/office/powerpoint/2010/main" val="13861651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dirty="0"/>
          </a:p>
        </p:txBody>
      </p:sp>
      <p:sp>
        <p:nvSpPr>
          <p:cNvPr id="12" name="Content Placeholder 2"/>
          <p:cNvSpPr>
            <a:spLocks noGrp="1"/>
          </p:cNvSpPr>
          <p:nvPr>
            <p:ph idx="1"/>
          </p:nvPr>
        </p:nvSpPr>
        <p:spPr>
          <a:xfrm>
            <a:off x="703263" y="1676400"/>
            <a:ext cx="7831137" cy="4705350"/>
          </a:xfrm>
        </p:spPr>
        <p:txBody>
          <a:bodyPr anchor="ctr" anchorCtr="0"/>
          <a:lstStyle/>
          <a:p>
            <a:pPr algn="ctr"/>
            <a:r>
              <a:rPr lang="en-US" sz="3600" dirty="0"/>
              <a:t>1</a:t>
            </a:r>
            <a:r>
              <a:rPr lang="en-US" sz="4400" dirty="0"/>
              <a:t>. </a:t>
            </a:r>
            <a:r>
              <a:rPr lang="en-US" sz="3600" dirty="0"/>
              <a:t>Quality of Individual Requirements</a:t>
            </a:r>
            <a:endParaRPr lang="en-IE" dirty="0"/>
          </a:p>
        </p:txBody>
      </p:sp>
    </p:spTree>
    <p:extLst>
      <p:ext uri="{BB962C8B-B14F-4D97-AF65-F5344CB8AC3E}">
        <p14:creationId xmlns:p14="http://schemas.microsoft.com/office/powerpoint/2010/main" val="416814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Evaluating Quality - Requirements</a:t>
            </a:r>
          </a:p>
        </p:txBody>
      </p:sp>
      <p:sp>
        <p:nvSpPr>
          <p:cNvPr id="12" name="Content Placeholder 2"/>
          <p:cNvSpPr>
            <a:spLocks noGrp="1"/>
          </p:cNvSpPr>
          <p:nvPr>
            <p:ph idx="1"/>
          </p:nvPr>
        </p:nvSpPr>
        <p:spPr>
          <a:xfrm>
            <a:off x="703263" y="1676400"/>
            <a:ext cx="7831137" cy="4705350"/>
          </a:xfrm>
        </p:spPr>
        <p:txBody>
          <a:bodyPr/>
          <a:lstStyle/>
          <a:p>
            <a:pPr algn="just"/>
            <a:r>
              <a:rPr lang="en-IE" sz="1600" dirty="0"/>
              <a:t>Is each quality requirement: </a:t>
            </a:r>
          </a:p>
          <a:p>
            <a:pPr algn="just">
              <a:buFont typeface="Arial" panose="020B0604020202020204" pitchFamily="34" charset="0"/>
              <a:buChar char="•"/>
            </a:pPr>
            <a:r>
              <a:rPr lang="en-IE" sz="1600" b="1" dirty="0"/>
              <a:t>Mandatory</a:t>
            </a:r>
            <a:r>
              <a:rPr lang="en-IE" sz="1600" dirty="0"/>
              <a:t>: </a:t>
            </a:r>
          </a:p>
          <a:p>
            <a:pPr algn="just"/>
            <a:r>
              <a:rPr lang="en-IE" sz="1600" dirty="0"/>
              <a:t>− 	Not just an unintended architecture, design, or implementation constraint? </a:t>
            </a:r>
          </a:p>
          <a:p>
            <a:pPr algn="just"/>
            <a:r>
              <a:rPr lang="en-IE" sz="1600" dirty="0"/>
              <a:t>− 	Relevant? </a:t>
            </a:r>
          </a:p>
          <a:p>
            <a:pPr algn="just">
              <a:buFont typeface="Arial" panose="020B0604020202020204" pitchFamily="34" charset="0"/>
              <a:buChar char="•"/>
            </a:pPr>
            <a:r>
              <a:rPr lang="en-IE" sz="1600" b="1" dirty="0"/>
              <a:t>Feasible</a:t>
            </a:r>
            <a:r>
              <a:rPr lang="en-IE" sz="1600" dirty="0"/>
              <a:t> given endeavour, technology, and physical limitations? Simple </a:t>
            </a:r>
          </a:p>
          <a:p>
            <a:pPr algn="just"/>
            <a:r>
              <a:rPr lang="en-IE" sz="1600" dirty="0"/>
              <a:t>statements of goals such as “The system shall be secure” or “The system shall </a:t>
            </a:r>
          </a:p>
          <a:p>
            <a:pPr algn="just"/>
            <a:r>
              <a:rPr lang="en-IE" sz="1600" dirty="0"/>
              <a:t>be reliable” are not good requirements because they are either infeasible </a:t>
            </a:r>
          </a:p>
          <a:p>
            <a:pPr algn="just"/>
            <a:r>
              <a:rPr lang="en-IE" sz="1600" dirty="0"/>
              <a:t>because no system is totally secure or reliable or else ambiguous because they </a:t>
            </a:r>
          </a:p>
          <a:p>
            <a:pPr algn="just"/>
            <a:r>
              <a:rPr lang="en-IE" sz="1600" dirty="0"/>
              <a:t>do not say how secure or reliable they need to be. </a:t>
            </a:r>
          </a:p>
          <a:p>
            <a:pPr algn="just">
              <a:buFont typeface="Arial" panose="020B0604020202020204" pitchFamily="34" charset="0"/>
              <a:buChar char="•"/>
            </a:pPr>
            <a:r>
              <a:rPr lang="en-IE" sz="1600" b="1" dirty="0"/>
              <a:t>Scalable</a:t>
            </a:r>
            <a:r>
              <a:rPr lang="en-IE" sz="1600" dirty="0"/>
              <a:t> so that it is clear just how much quality is required? </a:t>
            </a:r>
          </a:p>
          <a:p>
            <a:pPr algn="just">
              <a:buFont typeface="Arial" panose="020B0604020202020204" pitchFamily="34" charset="0"/>
              <a:buChar char="•"/>
            </a:pPr>
            <a:r>
              <a:rPr lang="en-IE" sz="1600" b="1" dirty="0"/>
              <a:t>Unambiguous</a:t>
            </a:r>
            <a:r>
              <a:rPr lang="en-IE" sz="1600" dirty="0"/>
              <a:t> so that all stakeholders and developers will interpret it the </a:t>
            </a:r>
          </a:p>
          <a:p>
            <a:pPr algn="just"/>
            <a:r>
              <a:rPr lang="en-IE" sz="1600" dirty="0"/>
              <a:t>same way? </a:t>
            </a:r>
          </a:p>
          <a:p>
            <a:pPr algn="just">
              <a:buFont typeface="Arial" panose="020B0604020202020204" pitchFamily="34" charset="0"/>
              <a:buChar char="•"/>
            </a:pPr>
            <a:r>
              <a:rPr lang="en-IE" sz="1600" b="1" dirty="0"/>
              <a:t>Verifiable</a:t>
            </a:r>
            <a:r>
              <a:rPr lang="en-IE" sz="1600" dirty="0"/>
              <a:t> via testing, demonstration, inspection, </a:t>
            </a:r>
            <a:r>
              <a:rPr lang="en-IE" sz="1600" dirty="0" err="1"/>
              <a:t>etc</a:t>
            </a:r>
            <a:r>
              <a:rPr lang="en-IE" sz="1600" dirty="0"/>
              <a:t>? </a:t>
            </a:r>
          </a:p>
          <a:p>
            <a:pPr algn="just">
              <a:buFont typeface="Arial" panose="020B0604020202020204" pitchFamily="34" charset="0"/>
              <a:buChar char="•"/>
            </a:pPr>
            <a:r>
              <a:rPr lang="en-IE" sz="1600" b="1" dirty="0"/>
              <a:t>Correct </a:t>
            </a:r>
            <a:r>
              <a:rPr lang="en-IE" sz="1600" dirty="0"/>
              <a:t>in that it meets some real need of the stakeholders? </a:t>
            </a:r>
          </a:p>
          <a:p>
            <a:pPr algn="just">
              <a:buFont typeface="Arial" panose="020B0604020202020204" pitchFamily="34" charset="0"/>
              <a:buChar char="•"/>
            </a:pPr>
            <a:r>
              <a:rPr lang="en-IE" sz="1600" b="1" dirty="0"/>
              <a:t>Prioritized</a:t>
            </a:r>
            <a:r>
              <a:rPr lang="en-IE" sz="1600" dirty="0"/>
              <a:t> so that it can be allocated to an appropriate build or release? </a:t>
            </a:r>
          </a:p>
          <a:p>
            <a:pPr algn="just">
              <a:buFont typeface="Arial" panose="020B0604020202020204" pitchFamily="34" charset="0"/>
              <a:buChar char="•"/>
            </a:pPr>
            <a:r>
              <a:rPr lang="en-IE" sz="1600" b="1" dirty="0"/>
              <a:t>Traced</a:t>
            </a:r>
            <a:r>
              <a:rPr lang="en-IE" sz="1600" dirty="0"/>
              <a:t> to its source? </a:t>
            </a:r>
          </a:p>
          <a:p>
            <a:pPr algn="just"/>
            <a:r>
              <a:rPr lang="en-IE" sz="1600" dirty="0"/>
              <a:t>Does each quality requirement have an associated: </a:t>
            </a:r>
            <a:r>
              <a:rPr lang="en-IE" sz="1600" b="1" dirty="0"/>
              <a:t>Rationale</a:t>
            </a:r>
            <a:r>
              <a:rPr lang="en-IE" sz="1600" dirty="0"/>
              <a:t>? </a:t>
            </a:r>
          </a:p>
        </p:txBody>
      </p:sp>
      <p:sp>
        <p:nvSpPr>
          <p:cNvPr id="4" name="Content Placeholder 2"/>
          <p:cNvSpPr txBox="1">
            <a:spLocks/>
          </p:cNvSpPr>
          <p:nvPr/>
        </p:nvSpPr>
        <p:spPr bwMode="auto">
          <a:xfrm>
            <a:off x="3563888" y="92224"/>
            <a:ext cx="5544616"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dirty="0"/>
              <a:t>Journal Of Object Technology. Vol. 4, No. 9, November-December 2005. </a:t>
            </a:r>
          </a:p>
          <a:p>
            <a:r>
              <a:rPr lang="en-US" sz="2400" kern="0" dirty="0"/>
              <a:t> </a:t>
            </a:r>
          </a:p>
        </p:txBody>
      </p:sp>
    </p:spTree>
    <p:extLst>
      <p:ext uri="{BB962C8B-B14F-4D97-AF65-F5344CB8AC3E}">
        <p14:creationId xmlns:p14="http://schemas.microsoft.com/office/powerpoint/2010/main" val="11697967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Software Requirements</a:t>
            </a:r>
          </a:p>
        </p:txBody>
      </p:sp>
      <p:sp>
        <p:nvSpPr>
          <p:cNvPr id="12" name="Content Placeholder 2"/>
          <p:cNvSpPr>
            <a:spLocks noGrp="1"/>
          </p:cNvSpPr>
          <p:nvPr>
            <p:ph idx="1"/>
          </p:nvPr>
        </p:nvSpPr>
        <p:spPr>
          <a:xfrm>
            <a:off x="703263" y="1676400"/>
            <a:ext cx="7831137" cy="4705350"/>
          </a:xfrm>
        </p:spPr>
        <p:txBody>
          <a:bodyPr/>
          <a:lstStyle/>
          <a:p>
            <a:pPr algn="just">
              <a:buFont typeface="Arial" panose="020B0604020202020204" pitchFamily="34" charset="0"/>
              <a:buChar char="•"/>
            </a:pPr>
            <a:r>
              <a:rPr lang="en-IE" sz="1800" dirty="0"/>
              <a:t>The previous source (i.e. paper from Journal Of Object Technology. Vol. 4, No. 9, November-December 2005) discusses the </a:t>
            </a:r>
            <a:r>
              <a:rPr lang="en-IE" sz="1800" i="1" dirty="0"/>
              <a:t>quality </a:t>
            </a:r>
            <a:r>
              <a:rPr lang="en-IE" sz="1800" dirty="0"/>
              <a:t>of quality requirements.</a:t>
            </a:r>
          </a:p>
          <a:p>
            <a:pPr algn="just">
              <a:buFont typeface="Arial" panose="020B0604020202020204" pitchFamily="34" charset="0"/>
              <a:buChar char="•"/>
            </a:pPr>
            <a:endParaRPr lang="en-IE" sz="1800" dirty="0"/>
          </a:p>
          <a:p>
            <a:pPr algn="just">
              <a:buFont typeface="Arial" panose="020B0604020202020204" pitchFamily="34" charset="0"/>
              <a:buChar char="•"/>
            </a:pPr>
            <a:r>
              <a:rPr lang="en-IE" sz="1800" dirty="0"/>
              <a:t>How do these quality criteria manifest for the types of statements or user stories that are sometimes seen in agile software development?</a:t>
            </a:r>
          </a:p>
        </p:txBody>
      </p:sp>
    </p:spTree>
    <p:extLst>
      <p:ext uri="{BB962C8B-B14F-4D97-AF65-F5344CB8AC3E}">
        <p14:creationId xmlns:p14="http://schemas.microsoft.com/office/powerpoint/2010/main" val="26438944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(1)</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 Statements</a:t>
            </a:r>
            <a:r>
              <a:rPr lang="en-IE" sz="1800" dirty="0"/>
              <a:t>: </a:t>
            </a:r>
          </a:p>
          <a:p>
            <a:pPr algn="just"/>
            <a:r>
              <a:rPr lang="en-IE" sz="1800" b="1" u="sng" dirty="0"/>
              <a:t>Correct</a:t>
            </a:r>
            <a:r>
              <a:rPr lang="en-IE" sz="1800" dirty="0"/>
              <a:t>. </a:t>
            </a:r>
          </a:p>
          <a:p>
            <a:pPr algn="just"/>
            <a:r>
              <a:rPr lang="en-IE" sz="1800" dirty="0"/>
              <a:t>Each requirement must accurately describe the functionality to be delivered. The reference for correctness is the source of the requirement, such as an actual customer or a higher-level system requirements specification. </a:t>
            </a:r>
          </a:p>
          <a:p>
            <a:pPr algn="just"/>
            <a:r>
              <a:rPr lang="en-IE" sz="1800" dirty="0"/>
              <a:t>Only user representatives can determine the correctness of user requirements, which is why it is essential to include them, or their close surrogates, in inspections of the requirements. Requirements inspections that do not involve users can lead to developers saying, "That doesn’t make sense. This is probably what they meant." This is also known as "</a:t>
            </a:r>
            <a:r>
              <a:rPr lang="en-IE" sz="1800" b="1" dirty="0"/>
              <a:t>guessing</a:t>
            </a:r>
            <a:r>
              <a:rPr lang="en-IE" sz="1800" dirty="0"/>
              <a:t>." </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0764023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(2)</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 Statements</a:t>
            </a:r>
            <a:r>
              <a:rPr lang="en-IE" sz="1800" dirty="0"/>
              <a:t>: </a:t>
            </a:r>
          </a:p>
          <a:p>
            <a:pPr algn="just"/>
            <a:r>
              <a:rPr lang="en-IE" sz="1800" b="1" u="sng" dirty="0"/>
              <a:t>Feasible</a:t>
            </a:r>
            <a:r>
              <a:rPr lang="en-IE" sz="1800" dirty="0"/>
              <a:t>. </a:t>
            </a:r>
          </a:p>
          <a:p>
            <a:pPr algn="just"/>
            <a:r>
              <a:rPr lang="en-IE" sz="1800" dirty="0"/>
              <a:t>It must be possible to implement each requirement within the known capabilities and limitations of the system and its environment.</a:t>
            </a:r>
          </a:p>
          <a:p>
            <a:pPr algn="just"/>
            <a:r>
              <a:rPr lang="en-IE" sz="1800" dirty="0"/>
              <a:t>To avoid infeasible requirements, have a developer work with the requirements analysts or marketing personnel throughout the elicitation process.</a:t>
            </a:r>
          </a:p>
          <a:p>
            <a:pPr algn="just"/>
            <a:r>
              <a:rPr lang="en-IE" sz="1800" dirty="0"/>
              <a:t>This developer can </a:t>
            </a:r>
            <a:r>
              <a:rPr lang="en-IE" sz="1800" b="1" dirty="0"/>
              <a:t>provide an early reality check on what can and cannot be done technically</a:t>
            </a:r>
            <a:r>
              <a:rPr lang="en-IE" sz="1800" dirty="0"/>
              <a:t>, and what can be done only at excessive cost or with other </a:t>
            </a:r>
            <a:r>
              <a:rPr lang="en-IE" sz="1800" dirty="0" err="1"/>
              <a:t>tradeoffs</a:t>
            </a:r>
            <a:r>
              <a:rPr lang="en-IE" sz="1800" dirty="0"/>
              <a:t>.</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40105383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(3)</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 Statements</a:t>
            </a:r>
            <a:r>
              <a:rPr lang="en-IE" sz="1800" dirty="0"/>
              <a:t>: </a:t>
            </a:r>
          </a:p>
          <a:p>
            <a:pPr algn="just"/>
            <a:r>
              <a:rPr lang="en-IE" sz="1800" b="1" u="sng" dirty="0"/>
              <a:t>Necessary</a:t>
            </a:r>
            <a:r>
              <a:rPr lang="en-IE" sz="1800" dirty="0"/>
              <a:t>. </a:t>
            </a:r>
          </a:p>
          <a:p>
            <a:pPr algn="just"/>
            <a:r>
              <a:rPr lang="en-IE" sz="1800" dirty="0"/>
              <a:t>Each requirement should document something the customers really need or something that is required for conformance to an external requirement, an external interface, or a standard.</a:t>
            </a:r>
          </a:p>
          <a:p>
            <a:pPr algn="just"/>
            <a:r>
              <a:rPr lang="en-IE" sz="1800" dirty="0"/>
              <a:t>Another way to think of "necessary" is that each requirement originated from a source you recognize as having the authority to specify requirements.</a:t>
            </a:r>
          </a:p>
          <a:p>
            <a:pPr algn="just"/>
            <a:r>
              <a:rPr lang="en-IE" sz="1800" dirty="0"/>
              <a:t>Trace each requirement back to its origin, such as a use case, system requirement, regulation, or some other voice-of-the-customer input.</a:t>
            </a:r>
          </a:p>
          <a:p>
            <a:pPr algn="just"/>
            <a:r>
              <a:rPr lang="en-IE" sz="1800" dirty="0"/>
              <a:t>If you cannot identify the origin, perhaps the requirement is an example of "gold plating" and is not really necessary.</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27244608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(4)</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 Statements</a:t>
            </a:r>
            <a:r>
              <a:rPr lang="en-IE" sz="1800" dirty="0"/>
              <a:t>: </a:t>
            </a:r>
          </a:p>
          <a:p>
            <a:pPr algn="just"/>
            <a:r>
              <a:rPr lang="en-IE" sz="1800" b="1" u="sng" dirty="0"/>
              <a:t>Prioritised</a:t>
            </a:r>
            <a:r>
              <a:rPr lang="en-IE" sz="1800" dirty="0"/>
              <a:t>. </a:t>
            </a:r>
          </a:p>
          <a:p>
            <a:pPr algn="just"/>
            <a:r>
              <a:rPr lang="en-IE" sz="1800" dirty="0"/>
              <a:t>Assign an implementation priority to each requirement, feature, or use case to indicate how essential it is to include it in a particular product release.</a:t>
            </a:r>
          </a:p>
          <a:p>
            <a:pPr algn="just"/>
            <a:r>
              <a:rPr lang="en-IE" sz="1800" dirty="0"/>
              <a:t>Customers or their surrogates have the lion’s share of the responsibility for establishing priorities.</a:t>
            </a:r>
          </a:p>
          <a:p>
            <a:pPr algn="just"/>
            <a:r>
              <a:rPr lang="en-IE" sz="1800" dirty="0"/>
              <a:t>If all the requirements are regarded as equally important, the project manager is less able to react to new requirements added during development, budget cuts, schedule overruns, or the departure of a team member.</a:t>
            </a:r>
          </a:p>
          <a:p>
            <a:pPr algn="just"/>
            <a:r>
              <a:rPr lang="en-IE" sz="1800" dirty="0"/>
              <a:t>Priority is a function of the value provided to the customer, the relative cost of implementation, and the relative technical risk associated with implementation.</a:t>
            </a:r>
          </a:p>
          <a:p>
            <a:pPr algn="just"/>
            <a:r>
              <a:rPr lang="en-IE" sz="1800" dirty="0"/>
              <a:t>Prioritisation levels can vary from setting to setting as appropriate to their needs.</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9946897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(5)</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 Statements</a:t>
            </a:r>
            <a:r>
              <a:rPr lang="en-IE" sz="1800" dirty="0"/>
              <a:t>: </a:t>
            </a:r>
          </a:p>
          <a:p>
            <a:pPr algn="just"/>
            <a:r>
              <a:rPr lang="en-IE" sz="1800" b="1" u="sng" dirty="0"/>
              <a:t>Unambiguous</a:t>
            </a:r>
            <a:r>
              <a:rPr lang="en-IE" sz="1800" dirty="0"/>
              <a:t>. </a:t>
            </a:r>
          </a:p>
          <a:p>
            <a:pPr algn="just"/>
            <a:r>
              <a:rPr lang="en-IE" sz="1800" dirty="0"/>
              <a:t>The reader of a requirement statement should be able to </a:t>
            </a:r>
            <a:r>
              <a:rPr lang="en-IE" sz="1800" b="1" dirty="0"/>
              <a:t>draw only one interpretation of it</a:t>
            </a:r>
            <a:r>
              <a:rPr lang="en-IE" sz="1800" dirty="0"/>
              <a:t>. Also, multiple readers of a requirement should arrive at the same interpretation.</a:t>
            </a:r>
          </a:p>
          <a:p>
            <a:pPr algn="just"/>
            <a:r>
              <a:rPr lang="en-IE" sz="1800" dirty="0"/>
              <a:t>Natural language is highly prone to ambiguity. Avoid subjective words like user-friendly, easy, simple, rapid, efficient, several, state-of-the-art, improved, maximize, and minimize. </a:t>
            </a:r>
          </a:p>
          <a:p>
            <a:pPr algn="just"/>
            <a:r>
              <a:rPr lang="en-IE" sz="1800" dirty="0"/>
              <a:t>Write each requirement in succinct, simple, straightforward language of the user domain, not in </a:t>
            </a:r>
            <a:r>
              <a:rPr lang="en-IE" sz="1800" i="1" dirty="0"/>
              <a:t>computerese</a:t>
            </a:r>
            <a:r>
              <a:rPr lang="en-IE" sz="1800" dirty="0"/>
              <a:t>.</a:t>
            </a:r>
          </a:p>
          <a:p>
            <a:pPr algn="just"/>
            <a:r>
              <a:rPr lang="en-IE" sz="1800" dirty="0"/>
              <a:t>Effective ways to reveal ambiguity include formal inspections of the requirements specifications, writing test cases from requirements, and creating user scenarios that illustrate the expected </a:t>
            </a:r>
            <a:r>
              <a:rPr lang="en-IE" sz="1800" dirty="0" err="1"/>
              <a:t>behavior</a:t>
            </a:r>
            <a:r>
              <a:rPr lang="en-IE" sz="1800" dirty="0"/>
              <a:t> of a specific portion of the product. </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35409324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(6)</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 Statements</a:t>
            </a:r>
            <a:r>
              <a:rPr lang="en-IE" sz="1800" dirty="0"/>
              <a:t>: </a:t>
            </a:r>
          </a:p>
          <a:p>
            <a:pPr algn="just"/>
            <a:r>
              <a:rPr lang="en-IE" sz="1800" b="1" u="sng" dirty="0"/>
              <a:t>Verifiable</a:t>
            </a:r>
            <a:r>
              <a:rPr lang="en-IE" sz="1800" dirty="0"/>
              <a:t>. </a:t>
            </a:r>
          </a:p>
          <a:p>
            <a:pPr algn="just"/>
            <a:r>
              <a:rPr lang="en-IE" sz="1800" dirty="0"/>
              <a:t>See whether you can devise tests or use other verification approaches, such as inspection or demonstration, to determine whether each requirement is properly implemented in the product.</a:t>
            </a:r>
          </a:p>
          <a:p>
            <a:pPr algn="just"/>
            <a:r>
              <a:rPr lang="en-IE" sz="1800" dirty="0"/>
              <a:t>If a requirement is not verifiable, determining whether it was correctly implemented is a matter of </a:t>
            </a:r>
            <a:r>
              <a:rPr lang="en-IE" sz="1800" b="1" dirty="0"/>
              <a:t>opinion</a:t>
            </a:r>
            <a:r>
              <a:rPr lang="en-IE" sz="1800" dirty="0"/>
              <a:t>.</a:t>
            </a:r>
          </a:p>
          <a:p>
            <a:pPr algn="just"/>
            <a:r>
              <a:rPr lang="en-IE" sz="1800" dirty="0"/>
              <a:t>Requirements that are not consistent, feasible, or unambiguous also are not verifiable.</a:t>
            </a:r>
          </a:p>
          <a:p>
            <a:pPr algn="just"/>
            <a:r>
              <a:rPr lang="en-IE" sz="1800" dirty="0"/>
              <a:t>Any requirement that says the product shall "support" something is not verifiable.</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9499769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(7)</a:t>
            </a:r>
          </a:p>
        </p:txBody>
      </p:sp>
      <p:sp>
        <p:nvSpPr>
          <p:cNvPr id="12" name="Content Placeholder 2"/>
          <p:cNvSpPr>
            <a:spLocks noGrp="1"/>
          </p:cNvSpPr>
          <p:nvPr>
            <p:ph idx="1"/>
          </p:nvPr>
        </p:nvSpPr>
        <p:spPr>
          <a:xfrm>
            <a:off x="703263" y="1676400"/>
            <a:ext cx="7831137" cy="4705350"/>
          </a:xfrm>
        </p:spPr>
        <p:txBody>
          <a:bodyPr/>
          <a:lstStyle/>
          <a:p>
            <a:pPr algn="just"/>
            <a:r>
              <a:rPr lang="en-IE" sz="1600" b="1" dirty="0"/>
              <a:t>Testing the Quality of Requirement Statements</a:t>
            </a:r>
            <a:r>
              <a:rPr lang="en-IE" sz="1600" dirty="0"/>
              <a:t>: </a:t>
            </a:r>
          </a:p>
          <a:p>
            <a:pPr algn="just"/>
            <a:endParaRPr lang="en-IE" sz="1600" dirty="0"/>
          </a:p>
          <a:p>
            <a:pPr algn="just"/>
            <a:r>
              <a:rPr lang="en-IE" sz="1600" dirty="0"/>
              <a:t>“</a:t>
            </a:r>
            <a:r>
              <a:rPr lang="en-IE" sz="2000" i="1" dirty="0"/>
              <a:t>Another powerful quality technique is to write test cases against the requirements before you cut a single line of code. Test cases crystallize your vision of the product’s </a:t>
            </a:r>
            <a:r>
              <a:rPr lang="en-IE" sz="2000" i="1" dirty="0" err="1"/>
              <a:t>behavior</a:t>
            </a:r>
            <a:r>
              <a:rPr lang="en-IE" sz="2000" i="1" dirty="0"/>
              <a:t> as specified in the requirements and can reveal fuzziness, omissions, and ambiguities.</a:t>
            </a:r>
            <a:r>
              <a:rPr lang="en-IE" sz="1600" dirty="0"/>
              <a:t>”</a:t>
            </a:r>
          </a:p>
          <a:p>
            <a:pPr algn="just"/>
            <a:endParaRPr lang="en-IE" sz="1600" dirty="0"/>
          </a:p>
          <a:p>
            <a:pPr algn="just"/>
            <a:r>
              <a:rPr lang="en-IE" sz="1800" dirty="0"/>
              <a:t>This is part of Test Driven Development (TDD).</a:t>
            </a:r>
          </a:p>
          <a:p>
            <a:pPr algn="just"/>
            <a:endParaRPr lang="en-IE" sz="1800" dirty="0"/>
          </a:p>
          <a:p>
            <a:pPr algn="just"/>
            <a:r>
              <a:rPr lang="en-IE" sz="1800" dirty="0"/>
              <a:t>TDD is no less important in agile software development; rather it might be more critical for agile than for traditional software development? </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7030620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Requirement Statements (8)</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 Statements</a:t>
            </a:r>
            <a:r>
              <a:rPr lang="en-IE" sz="1800" dirty="0"/>
              <a:t>: </a:t>
            </a:r>
          </a:p>
          <a:p>
            <a:pPr algn="just"/>
            <a:r>
              <a:rPr lang="en-IE" sz="1800" b="1" u="sng" dirty="0"/>
              <a:t>Scalable</a:t>
            </a:r>
            <a:r>
              <a:rPr lang="en-IE" sz="1800" dirty="0"/>
              <a:t>. </a:t>
            </a:r>
          </a:p>
          <a:p>
            <a:pPr algn="just"/>
            <a:r>
              <a:rPr lang="en-IE" sz="1800" dirty="0"/>
              <a:t>Is each quality requirement: </a:t>
            </a:r>
          </a:p>
          <a:p>
            <a:pPr algn="just">
              <a:buFont typeface="Arial" panose="020B0604020202020204" pitchFamily="34" charset="0"/>
              <a:buChar char="•"/>
            </a:pPr>
            <a:r>
              <a:rPr lang="en-IE" sz="1800" b="1" dirty="0"/>
              <a:t>Scalable</a:t>
            </a:r>
            <a:r>
              <a:rPr lang="en-IE" sz="1800" dirty="0"/>
              <a:t> so that it is clear just how much quality is required? </a:t>
            </a:r>
          </a:p>
          <a:p>
            <a:pPr algn="just">
              <a:buFont typeface="Arial" panose="020B0604020202020204" pitchFamily="34" charset="0"/>
              <a:buChar char="•"/>
            </a:pPr>
            <a:r>
              <a:rPr lang="en-US" sz="1800" dirty="0"/>
              <a:t>It might be possible to implement a single calculation or procedure in isolation, but can we perform 10,000 of these per second as might be required operationally</a:t>
            </a:r>
          </a:p>
          <a:p>
            <a:pPr algn="just">
              <a:buFont typeface="Arial" panose="020B0604020202020204" pitchFamily="34" charset="0"/>
              <a:buChar char="•"/>
            </a:pPr>
            <a:r>
              <a:rPr lang="en-US" sz="1800" dirty="0"/>
              <a:t>Related to so-called </a:t>
            </a:r>
            <a:r>
              <a:rPr lang="en-US" sz="1800" i="1" dirty="0"/>
              <a:t>non-functional </a:t>
            </a:r>
            <a:r>
              <a:rPr lang="en-US" sz="1800" dirty="0"/>
              <a:t>perspectives: performance, security, safety </a:t>
            </a:r>
          </a:p>
          <a:p>
            <a:pPr algn="just">
              <a:buFont typeface="Arial" panose="020B0604020202020204" pitchFamily="34" charset="0"/>
              <a:buChar char="•"/>
            </a:pPr>
            <a:r>
              <a:rPr lang="en-US" sz="1800" dirty="0"/>
              <a:t>Difficult to assess without experience, so we exclude this from our assessment.</a:t>
            </a:r>
          </a:p>
          <a:p>
            <a:pPr algn="just"/>
            <a:r>
              <a:rPr lang="en-IE" sz="1800" b="1" u="sng" dirty="0"/>
              <a:t>Traceable</a:t>
            </a:r>
            <a:r>
              <a:rPr lang="en-IE" sz="1800" dirty="0"/>
              <a:t>. </a:t>
            </a:r>
          </a:p>
          <a:p>
            <a:pPr algn="just"/>
            <a:r>
              <a:rPr lang="en-IE" sz="1800" dirty="0"/>
              <a:t>Is the source of each quality requirement known? </a:t>
            </a:r>
          </a:p>
          <a:p>
            <a:pPr algn="just">
              <a:buFont typeface="Arial" panose="020B0604020202020204" pitchFamily="34" charset="0"/>
              <a:buChar char="•"/>
            </a:pPr>
            <a:r>
              <a:rPr lang="en-IE" sz="1800" b="1" dirty="0"/>
              <a:t>Who </a:t>
            </a:r>
            <a:r>
              <a:rPr lang="en-IE" sz="1800" dirty="0"/>
              <a:t>want this requirement / user story? </a:t>
            </a:r>
          </a:p>
          <a:p>
            <a:pPr algn="just">
              <a:buFont typeface="Arial" panose="020B0604020202020204" pitchFamily="34" charset="0"/>
              <a:buChar char="•"/>
            </a:pPr>
            <a:r>
              <a:rPr lang="en-IE" sz="1800" dirty="0"/>
              <a:t>If we do not know who wants it, then maybe it is not needed at all? </a:t>
            </a:r>
          </a:p>
          <a:p>
            <a:pPr algn="just">
              <a:buFont typeface="Arial" panose="020B0604020202020204" pitchFamily="34" charset="0"/>
              <a:buChar char="•"/>
            </a:pPr>
            <a:r>
              <a:rPr lang="en-IE" sz="1800" dirty="0"/>
              <a:t>We will deal with this at a system level – refer to later slides.</a:t>
            </a:r>
            <a:endParaRPr lang="en-US" sz="1800" dirty="0"/>
          </a:p>
          <a:p>
            <a:endParaRPr lang="en-IE" sz="1800" dirty="0"/>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5071436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endParaRPr lang="en-US" dirty="0"/>
          </a:p>
        </p:txBody>
      </p:sp>
      <p:sp>
        <p:nvSpPr>
          <p:cNvPr id="12" name="Content Placeholder 2"/>
          <p:cNvSpPr>
            <a:spLocks noGrp="1"/>
          </p:cNvSpPr>
          <p:nvPr>
            <p:ph idx="1"/>
          </p:nvPr>
        </p:nvSpPr>
        <p:spPr>
          <a:xfrm>
            <a:off x="703263" y="1676400"/>
            <a:ext cx="7831137" cy="4705350"/>
          </a:xfrm>
        </p:spPr>
        <p:txBody>
          <a:bodyPr anchor="ctr" anchorCtr="0"/>
          <a:lstStyle/>
          <a:p>
            <a:pPr algn="ctr"/>
            <a:r>
              <a:rPr lang="en-US" sz="3600" dirty="0"/>
              <a:t>2. Quality of Collective Requirements</a:t>
            </a:r>
            <a:endParaRPr lang="en-IE" sz="3600" dirty="0"/>
          </a:p>
        </p:txBody>
      </p:sp>
    </p:spTree>
    <p:extLst>
      <p:ext uri="{BB962C8B-B14F-4D97-AF65-F5344CB8AC3E}">
        <p14:creationId xmlns:p14="http://schemas.microsoft.com/office/powerpoint/2010/main" val="16765437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Requirements Quality </a:t>
            </a:r>
            <a:r>
              <a:rPr lang="en-US" dirty="0" smtClean="0"/>
              <a:t>- Collective</a:t>
            </a:r>
            <a:endParaRPr lang="en-US" dirty="0"/>
          </a:p>
        </p:txBody>
      </p:sp>
      <p:sp>
        <p:nvSpPr>
          <p:cNvPr id="12" name="Content Placeholder 2"/>
          <p:cNvSpPr>
            <a:spLocks noGrp="1"/>
          </p:cNvSpPr>
          <p:nvPr>
            <p:ph idx="1"/>
          </p:nvPr>
        </p:nvSpPr>
        <p:spPr>
          <a:xfrm>
            <a:off x="703263" y="1676400"/>
            <a:ext cx="7831137" cy="4705350"/>
          </a:xfrm>
        </p:spPr>
        <p:txBody>
          <a:bodyPr/>
          <a:lstStyle/>
          <a:p>
            <a:pPr algn="just">
              <a:buFont typeface="Arial" panose="020B0604020202020204" pitchFamily="34" charset="0"/>
              <a:buChar char="•"/>
            </a:pPr>
            <a:r>
              <a:rPr lang="en-IE" sz="2000" b="1" dirty="0" smtClean="0"/>
              <a:t>Overall</a:t>
            </a:r>
            <a:r>
              <a:rPr lang="en-IE" sz="2000" dirty="0" smtClean="0"/>
              <a:t> - Requirements </a:t>
            </a:r>
            <a:r>
              <a:rPr lang="en-IE" sz="2000" dirty="0"/>
              <a:t>statements are ultimately only a small part of an overall system / product.</a:t>
            </a:r>
          </a:p>
          <a:p>
            <a:pPr algn="just">
              <a:buFont typeface="Arial" panose="020B0604020202020204" pitchFamily="34" charset="0"/>
              <a:buChar char="•"/>
            </a:pPr>
            <a:r>
              <a:rPr lang="en-IE" sz="2000" b="1" dirty="0" smtClean="0"/>
              <a:t>Complete</a:t>
            </a:r>
            <a:r>
              <a:rPr lang="en-IE" sz="2000" dirty="0" smtClean="0"/>
              <a:t> </a:t>
            </a:r>
            <a:r>
              <a:rPr lang="en-IE" sz="2000" dirty="0"/>
              <a:t>- No requirements or necessary information should be </a:t>
            </a:r>
            <a:r>
              <a:rPr lang="en-IE" sz="2000" dirty="0" smtClean="0"/>
              <a:t>missing.</a:t>
            </a:r>
          </a:p>
          <a:p>
            <a:pPr algn="just">
              <a:buFont typeface="Arial" panose="020B0604020202020204" pitchFamily="34" charset="0"/>
              <a:buChar char="•"/>
            </a:pPr>
            <a:r>
              <a:rPr lang="en-IE" sz="2000" b="1" u="sng" dirty="0"/>
              <a:t>Consistent</a:t>
            </a:r>
            <a:r>
              <a:rPr lang="en-IE" sz="2000" dirty="0"/>
              <a:t>. Consistent </a:t>
            </a:r>
            <a:r>
              <a:rPr lang="en-IE" sz="2000" b="1" dirty="0"/>
              <a:t>requirements do not conflict with other software requirements </a:t>
            </a:r>
            <a:r>
              <a:rPr lang="en-IE" sz="2000" dirty="0"/>
              <a:t>or with higher level (system or business) requirements</a:t>
            </a:r>
            <a:r>
              <a:rPr lang="en-IE" sz="2000" dirty="0" smtClean="0"/>
              <a:t>.</a:t>
            </a:r>
          </a:p>
          <a:p>
            <a:pPr algn="just">
              <a:buFont typeface="Arial" panose="020B0604020202020204" pitchFamily="34" charset="0"/>
              <a:buChar char="•"/>
            </a:pPr>
            <a:r>
              <a:rPr lang="en-IE" sz="2000" b="1" u="sng" dirty="0"/>
              <a:t>Modifiable</a:t>
            </a:r>
            <a:r>
              <a:rPr lang="en-IE" sz="2000" dirty="0"/>
              <a:t>. You must be able to revise requirements when necessary and (potentially also) maintain a history of changes made to each requirement</a:t>
            </a:r>
            <a:r>
              <a:rPr lang="en-IE" sz="2000" dirty="0" smtClean="0"/>
              <a:t>.</a:t>
            </a:r>
          </a:p>
          <a:p>
            <a:pPr algn="just">
              <a:buFont typeface="Arial" panose="020B0604020202020204" pitchFamily="34" charset="0"/>
              <a:buChar char="•"/>
            </a:pPr>
            <a:r>
              <a:rPr lang="en-IE" sz="2000" b="1" u="sng" dirty="0"/>
              <a:t>Traceable</a:t>
            </a:r>
            <a:r>
              <a:rPr lang="en-IE" sz="2000" dirty="0"/>
              <a:t>. You should be able to link each software requirement to its </a:t>
            </a:r>
            <a:r>
              <a:rPr lang="en-IE" sz="2000" b="1" dirty="0"/>
              <a:t>source</a:t>
            </a:r>
            <a:r>
              <a:rPr lang="en-IE" sz="2000" dirty="0"/>
              <a:t>. </a:t>
            </a:r>
          </a:p>
          <a:p>
            <a:pPr algn="just">
              <a:buFont typeface="Arial" panose="020B0604020202020204" pitchFamily="34" charset="0"/>
              <a:buChar char="•"/>
            </a:pPr>
            <a:endParaRPr lang="en-IE" sz="2000" dirty="0"/>
          </a:p>
          <a:p>
            <a:pPr algn="just">
              <a:buFont typeface="Arial" panose="020B0604020202020204" pitchFamily="34" charset="0"/>
              <a:buChar char="•"/>
            </a:pPr>
            <a:endParaRPr lang="en-IE" sz="2000" dirty="0"/>
          </a:p>
          <a:p>
            <a:pPr algn="just">
              <a:buFont typeface="Arial" panose="020B0604020202020204" pitchFamily="34" charset="0"/>
              <a:buChar char="•"/>
            </a:pPr>
            <a:endParaRPr lang="en-IE" sz="2000" dirty="0" smtClean="0"/>
          </a:p>
          <a:p>
            <a:pPr algn="just">
              <a:buFont typeface="Arial" panose="020B0604020202020204" pitchFamily="34" charset="0"/>
              <a:buChar char="•"/>
            </a:pPr>
            <a:endParaRPr lang="en-IE" sz="2000" dirty="0"/>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endParaRPr lang="en-US" sz="2400" kern="0" dirty="0"/>
          </a:p>
        </p:txBody>
      </p:sp>
    </p:spTree>
    <p:extLst>
      <p:ext uri="{BB962C8B-B14F-4D97-AF65-F5344CB8AC3E}">
        <p14:creationId xmlns:p14="http://schemas.microsoft.com/office/powerpoint/2010/main" val="21774226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Requirements Quality - Overall (1)</a:t>
            </a:r>
          </a:p>
        </p:txBody>
      </p:sp>
      <p:sp>
        <p:nvSpPr>
          <p:cNvPr id="12" name="Content Placeholder 2"/>
          <p:cNvSpPr>
            <a:spLocks noGrp="1"/>
          </p:cNvSpPr>
          <p:nvPr>
            <p:ph idx="1"/>
          </p:nvPr>
        </p:nvSpPr>
        <p:spPr>
          <a:xfrm>
            <a:off x="703263" y="1676400"/>
            <a:ext cx="7831137" cy="4705350"/>
          </a:xfrm>
        </p:spPr>
        <p:txBody>
          <a:bodyPr/>
          <a:lstStyle/>
          <a:p>
            <a:pPr algn="just">
              <a:buFont typeface="Arial" panose="020B0604020202020204" pitchFamily="34" charset="0"/>
              <a:buChar char="•"/>
            </a:pPr>
            <a:r>
              <a:rPr lang="en-IE" sz="2000" dirty="0"/>
              <a:t>Requirements statements are ultimately only a small part of an overall system / product.</a:t>
            </a:r>
          </a:p>
          <a:p>
            <a:pPr algn="just">
              <a:buFont typeface="Arial" panose="020B0604020202020204" pitchFamily="34" charset="0"/>
              <a:buChar char="•"/>
            </a:pPr>
            <a:endParaRPr lang="en-IE" sz="2000" dirty="0"/>
          </a:p>
          <a:p>
            <a:pPr algn="just">
              <a:buFont typeface="Arial" panose="020B0604020202020204" pitchFamily="34" charset="0"/>
              <a:buChar char="•"/>
            </a:pPr>
            <a:r>
              <a:rPr lang="en-IE" sz="2000" dirty="0"/>
              <a:t>We therefore need to also consider how individual requirement statements reside alongside other existing and new/changing requirements statements.</a:t>
            </a:r>
          </a:p>
          <a:p>
            <a:pPr marL="0" indent="0" algn="just"/>
            <a:endParaRPr lang="en-IE" sz="2000" dirty="0"/>
          </a:p>
          <a:p>
            <a:pPr algn="just">
              <a:buFont typeface="Arial" panose="020B0604020202020204" pitchFamily="34" charset="0"/>
              <a:buChar char="•"/>
            </a:pPr>
            <a:r>
              <a:rPr lang="en-IE" sz="2000" dirty="0"/>
              <a:t>Therefore we have to also look to </a:t>
            </a:r>
            <a:r>
              <a:rPr lang="en-IE" sz="2000" b="1" dirty="0"/>
              <a:t>Characteristics of Quality Requirements Specifications (or our total set of statements / user stories)</a:t>
            </a:r>
            <a:endParaRPr lang="en-IE" sz="2000" dirty="0"/>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25791208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Requirements Quality - Overall (2)</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Requirements Specifications (or our total set of statements / user stories)</a:t>
            </a:r>
            <a:endParaRPr lang="en-IE" sz="1800" dirty="0"/>
          </a:p>
          <a:p>
            <a:pPr algn="just"/>
            <a:endParaRPr lang="en-IE" sz="1800" dirty="0"/>
          </a:p>
          <a:p>
            <a:pPr algn="just"/>
            <a:r>
              <a:rPr lang="en-IE" sz="1800" b="1" u="sng" dirty="0"/>
              <a:t>Complete</a:t>
            </a:r>
            <a:r>
              <a:rPr lang="en-IE" sz="1800" dirty="0"/>
              <a:t>. No requirements or necessary information should be missing. Completeness is also a desired characteristic of an individual requirement. It is hard to spot missing requirements because they aren’t there.</a:t>
            </a:r>
          </a:p>
          <a:p>
            <a:pPr algn="just"/>
            <a:r>
              <a:rPr lang="en-IE" sz="1800" dirty="0"/>
              <a:t>If you focus on user tasks rather than on system functions during requirements elicitation, you are less likely both to overlook requirements and to include requirements that aren’t really necessary.</a:t>
            </a:r>
          </a:p>
          <a:p>
            <a:pPr algn="just"/>
            <a:endParaRPr lang="en-IE" sz="1800" dirty="0"/>
          </a:p>
          <a:p>
            <a:pPr algn="just"/>
            <a:r>
              <a:rPr lang="en-IE" sz="1800" dirty="0"/>
              <a:t>If you know you are lacking certain information, use "TBD" ("to be determined") as a standard flag to highlight these gaps. Resolve all TBDs from a given set of the requirements before you proceed with construction of that part of the product.</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5414045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Requirements Quality - Overall (3)</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Requirements Specifications (or our total set of statements / user stories)</a:t>
            </a:r>
            <a:endParaRPr lang="en-IE" sz="1800" dirty="0"/>
          </a:p>
          <a:p>
            <a:pPr algn="just"/>
            <a:endParaRPr lang="en-IE" sz="1800" dirty="0"/>
          </a:p>
          <a:p>
            <a:pPr algn="just"/>
            <a:r>
              <a:rPr lang="en-IE" sz="1800" b="1" u="sng" dirty="0"/>
              <a:t>Consistent</a:t>
            </a:r>
            <a:r>
              <a:rPr lang="en-IE" sz="1800" dirty="0"/>
              <a:t>. Consistent </a:t>
            </a:r>
            <a:r>
              <a:rPr lang="en-IE" sz="1800" b="1" dirty="0"/>
              <a:t>requirements do not conflict with other software requirements </a:t>
            </a:r>
            <a:r>
              <a:rPr lang="en-IE" sz="1800" dirty="0"/>
              <a:t>or with higher level (system or business) requirements.</a:t>
            </a:r>
          </a:p>
          <a:p>
            <a:pPr algn="just"/>
            <a:r>
              <a:rPr lang="en-IE" sz="1800" dirty="0"/>
              <a:t>Disagreements among requirements must be resolved before development can proceed. You may not know which (if any) is correct until you do some research.</a:t>
            </a:r>
          </a:p>
          <a:p>
            <a:pPr algn="just"/>
            <a:r>
              <a:rPr lang="en-IE" sz="1800" b="1" dirty="0"/>
              <a:t>Be careful when modifying the requirements</a:t>
            </a:r>
            <a:r>
              <a:rPr lang="en-IE" sz="1800" dirty="0"/>
              <a:t>, as inconsistencies can slip in undetected if you review only the specific change and not any related requirements.</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32626974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Requirements Quality - Overall (4)</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Requirements Specifications (or our total set of statements / user stories)</a:t>
            </a:r>
            <a:endParaRPr lang="en-IE" sz="1800" dirty="0"/>
          </a:p>
          <a:p>
            <a:pPr algn="just"/>
            <a:endParaRPr lang="en-IE" sz="1800" dirty="0"/>
          </a:p>
          <a:p>
            <a:pPr algn="just"/>
            <a:r>
              <a:rPr lang="en-IE" sz="1800" b="1" u="sng" dirty="0"/>
              <a:t>Modifiable</a:t>
            </a:r>
            <a:r>
              <a:rPr lang="en-IE" sz="1800" dirty="0"/>
              <a:t>. You must be able to revise requirements when necessary and (potentially also) maintain a history of changes made to each requirement.</a:t>
            </a:r>
          </a:p>
          <a:p>
            <a:pPr algn="just"/>
            <a:r>
              <a:rPr lang="en-IE" sz="1800" dirty="0"/>
              <a:t>This may mean that each requirement be uniquely labelled and expressed separately from other requirements so you can refer to it unambiguously.</a:t>
            </a:r>
          </a:p>
          <a:p>
            <a:pPr algn="just"/>
            <a:r>
              <a:rPr lang="en-IE" sz="1800" dirty="0"/>
              <a:t>You can make groups of requirements more modifiable by organizing them so that </a:t>
            </a:r>
            <a:r>
              <a:rPr lang="en-IE" sz="1800" b="1" dirty="0"/>
              <a:t>related requirements are grouped together</a:t>
            </a:r>
            <a:r>
              <a:rPr lang="en-IE" sz="1800" dirty="0"/>
              <a:t>, and by creating a table of contents, index, and </a:t>
            </a:r>
            <a:r>
              <a:rPr lang="en-IE" sz="1800" b="1" dirty="0"/>
              <a:t>cross-reference</a:t>
            </a:r>
            <a:r>
              <a:rPr lang="en-IE" sz="1800" dirty="0"/>
              <a:t> listing.</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6982626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Requirements Quality - Overall (5)</a:t>
            </a:r>
          </a:p>
        </p:txBody>
      </p:sp>
      <p:sp>
        <p:nvSpPr>
          <p:cNvPr id="12" name="Content Placeholder 2"/>
          <p:cNvSpPr>
            <a:spLocks noGrp="1"/>
          </p:cNvSpPr>
          <p:nvPr>
            <p:ph idx="1"/>
          </p:nvPr>
        </p:nvSpPr>
        <p:spPr>
          <a:xfrm>
            <a:off x="703263" y="1676400"/>
            <a:ext cx="7831137" cy="4705350"/>
          </a:xfrm>
        </p:spPr>
        <p:txBody>
          <a:bodyPr/>
          <a:lstStyle/>
          <a:p>
            <a:pPr algn="just"/>
            <a:r>
              <a:rPr lang="en-IE" sz="1800" b="1" dirty="0"/>
              <a:t>Characteristics of Quality Requirements Specifications (or our total set of statements / user stories)</a:t>
            </a:r>
            <a:endParaRPr lang="en-IE" sz="1800" dirty="0"/>
          </a:p>
          <a:p>
            <a:pPr algn="just"/>
            <a:endParaRPr lang="en-IE" sz="1800" dirty="0"/>
          </a:p>
          <a:p>
            <a:pPr algn="just"/>
            <a:r>
              <a:rPr lang="en-IE" sz="1800" b="1" u="sng" dirty="0"/>
              <a:t>Traceable</a:t>
            </a:r>
            <a:r>
              <a:rPr lang="en-IE" sz="1800" dirty="0"/>
              <a:t>. You should be able to link each software requirement to its </a:t>
            </a:r>
            <a:r>
              <a:rPr lang="en-IE" sz="1800" b="1" dirty="0"/>
              <a:t>source</a:t>
            </a:r>
            <a:r>
              <a:rPr lang="en-IE" sz="1800" dirty="0"/>
              <a:t>. </a:t>
            </a:r>
          </a:p>
          <a:p>
            <a:pPr algn="just"/>
            <a:r>
              <a:rPr lang="en-IE" sz="1800" dirty="0"/>
              <a:t>Also might need to link each software requirement to the design elements, source code, and test cases that are constructed to implement and verify the requirement (especially in safety critical software).</a:t>
            </a:r>
          </a:p>
          <a:p>
            <a:pPr algn="just"/>
            <a:r>
              <a:rPr lang="en-IE" sz="1800" dirty="0"/>
              <a:t>Traceable requirements are uniquely labelled and are written in a structured, fine-grained way, as opposed to large, narrative paragraphs or bullet lists. </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40075839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Quality of Software Requirements</a:t>
            </a:r>
          </a:p>
        </p:txBody>
      </p:sp>
      <p:sp>
        <p:nvSpPr>
          <p:cNvPr id="12" name="Content Placeholder 2"/>
          <p:cNvSpPr>
            <a:spLocks noGrp="1"/>
          </p:cNvSpPr>
          <p:nvPr>
            <p:ph idx="1"/>
          </p:nvPr>
        </p:nvSpPr>
        <p:spPr>
          <a:xfrm>
            <a:off x="703263" y="1676400"/>
            <a:ext cx="7831137" cy="456456"/>
          </a:xfrm>
        </p:spPr>
        <p:txBody>
          <a:bodyPr/>
          <a:lstStyle/>
          <a:p>
            <a:r>
              <a:rPr lang="en-IE" sz="1800" dirty="0"/>
              <a:t>In summary we have: individual-statement </a:t>
            </a:r>
            <a:r>
              <a:rPr lang="en-IE" sz="1800" u="sng" dirty="0"/>
              <a:t>and</a:t>
            </a:r>
            <a:r>
              <a:rPr lang="en-IE" sz="1800" dirty="0"/>
              <a:t> all-statements concerns</a:t>
            </a:r>
          </a:p>
          <a:p>
            <a:endParaRPr lang="en-IE" sz="1800" b="1" dirty="0"/>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
        <p:nvSpPr>
          <p:cNvPr id="2" name="Cloud 1"/>
          <p:cNvSpPr/>
          <p:nvPr/>
        </p:nvSpPr>
        <p:spPr bwMode="auto">
          <a:xfrm>
            <a:off x="181472" y="2924944"/>
            <a:ext cx="4176464" cy="2592288"/>
          </a:xfrm>
          <a:prstGeom prst="cloud">
            <a:avLst/>
          </a:prstGeom>
          <a:solidFill>
            <a:schemeClr val="accent4">
              <a:lumMod val="75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algn="ctr"/>
            <a:r>
              <a:rPr lang="en-IE" u="sng" kern="0" dirty="0">
                <a:solidFill>
                  <a:schemeClr val="accent4">
                    <a:lumMod val="10000"/>
                  </a:schemeClr>
                </a:solidFill>
              </a:rPr>
              <a:t>Individual Statements</a:t>
            </a:r>
            <a:endParaRPr kumimoji="0" lang="en-IE" sz="1600" b="0" i="0" u="sng" strike="noStrike" cap="none" normalizeH="0" baseline="0" dirty="0">
              <a:ln>
                <a:noFill/>
              </a:ln>
              <a:solidFill>
                <a:schemeClr val="accent4">
                  <a:lumMod val="10000"/>
                </a:schemeClr>
              </a:solidFill>
              <a:effectLst/>
            </a:endParaRPr>
          </a:p>
        </p:txBody>
      </p:sp>
      <p:sp>
        <p:nvSpPr>
          <p:cNvPr id="6" name="Cloud 5"/>
          <p:cNvSpPr/>
          <p:nvPr/>
        </p:nvSpPr>
        <p:spPr bwMode="auto">
          <a:xfrm>
            <a:off x="4788024" y="2926888"/>
            <a:ext cx="4176464" cy="2592288"/>
          </a:xfrm>
          <a:prstGeom prst="cloud">
            <a:avLst/>
          </a:prstGeom>
          <a:solidFill>
            <a:schemeClr val="accent4">
              <a:lumMod val="75000"/>
            </a:schemeClr>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algn="ctr"/>
            <a:r>
              <a:rPr lang="en-IE" sz="1400" u="sng" dirty="0">
                <a:solidFill>
                  <a:schemeClr val="accent4">
                    <a:lumMod val="10000"/>
                  </a:schemeClr>
                </a:solidFill>
              </a:rPr>
              <a:t>All Statements Together</a:t>
            </a:r>
            <a:endParaRPr kumimoji="0" lang="en-IE" sz="1400" i="0" u="sng" strike="noStrike" cap="none" normalizeH="0" baseline="0" dirty="0">
              <a:ln>
                <a:noFill/>
              </a:ln>
              <a:solidFill>
                <a:schemeClr val="accent4">
                  <a:lumMod val="10000"/>
                </a:schemeClr>
              </a:solidFill>
              <a:effectLst/>
            </a:endParaRPr>
          </a:p>
        </p:txBody>
      </p:sp>
      <p:sp>
        <p:nvSpPr>
          <p:cNvPr id="8" name="Content Placeholder 2"/>
          <p:cNvSpPr txBox="1">
            <a:spLocks/>
          </p:cNvSpPr>
          <p:nvPr/>
        </p:nvSpPr>
        <p:spPr bwMode="auto">
          <a:xfrm>
            <a:off x="539552" y="3837248"/>
            <a:ext cx="3312368" cy="18246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IE" sz="1800" kern="0" dirty="0">
                <a:solidFill>
                  <a:schemeClr val="accent4">
                    <a:lumMod val="10000"/>
                  </a:schemeClr>
                </a:solidFill>
              </a:rPr>
              <a:t>Correct, Feasible, Necessary, Prioritised, Unambiguous, Verifiable</a:t>
            </a:r>
          </a:p>
          <a:p>
            <a:endParaRPr lang="en-IE" sz="1800" b="1" kern="0" dirty="0"/>
          </a:p>
        </p:txBody>
      </p:sp>
      <p:sp>
        <p:nvSpPr>
          <p:cNvPr id="11" name="Content Placeholder 2"/>
          <p:cNvSpPr txBox="1">
            <a:spLocks/>
          </p:cNvSpPr>
          <p:nvPr/>
        </p:nvSpPr>
        <p:spPr bwMode="auto">
          <a:xfrm>
            <a:off x="5441126" y="3924336"/>
            <a:ext cx="3312368" cy="6979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IE" sz="1800" kern="0" dirty="0">
                <a:solidFill>
                  <a:schemeClr val="accent4">
                    <a:lumMod val="10000"/>
                  </a:schemeClr>
                </a:solidFill>
              </a:rPr>
              <a:t>Complete, Consistent, Modifiable, Traceable, </a:t>
            </a:r>
          </a:p>
          <a:p>
            <a:endParaRPr lang="en-IE" sz="1800" b="1" kern="0" dirty="0"/>
          </a:p>
        </p:txBody>
      </p:sp>
    </p:spTree>
    <p:extLst>
      <p:ext uri="{BB962C8B-B14F-4D97-AF65-F5344CB8AC3E}">
        <p14:creationId xmlns:p14="http://schemas.microsoft.com/office/powerpoint/2010/main" val="2357677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8" grpId="0"/>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8419" name="Rectangle 3"/>
          <p:cNvSpPr>
            <a:spLocks noGrp="1" noChangeArrowheads="1"/>
          </p:cNvSpPr>
          <p:nvPr>
            <p:ph type="subTitle" idx="1"/>
          </p:nvPr>
        </p:nvSpPr>
        <p:spPr/>
        <p:txBody>
          <a:bodyPr/>
          <a:lstStyle/>
          <a:p>
            <a:r>
              <a:rPr lang="en-US" dirty="0" smtClean="0"/>
              <a:t>Part 5 – Quality Examples</a:t>
            </a:r>
            <a:endParaRPr lang="en-US" dirty="0"/>
          </a:p>
        </p:txBody>
      </p:sp>
    </p:spTree>
    <p:extLst>
      <p:ext uri="{BB962C8B-B14F-4D97-AF65-F5344CB8AC3E}">
        <p14:creationId xmlns:p14="http://schemas.microsoft.com/office/powerpoint/2010/main" val="10567985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Examples</a:t>
            </a:r>
          </a:p>
        </p:txBody>
      </p:sp>
      <p:sp>
        <p:nvSpPr>
          <p:cNvPr id="12" name="Content Placeholder 2"/>
          <p:cNvSpPr>
            <a:spLocks noGrp="1"/>
          </p:cNvSpPr>
          <p:nvPr>
            <p:ph idx="1"/>
          </p:nvPr>
        </p:nvSpPr>
        <p:spPr>
          <a:xfrm>
            <a:off x="703263" y="1676400"/>
            <a:ext cx="7831137" cy="456456"/>
          </a:xfrm>
        </p:spPr>
        <p:txBody>
          <a:bodyPr/>
          <a:lstStyle/>
          <a:p>
            <a:r>
              <a:rPr lang="en-IE" sz="1800" dirty="0"/>
              <a:t>Let’s take a look at some examples, all of which are based on </a:t>
            </a:r>
            <a:r>
              <a:rPr lang="en-IE" sz="1800" dirty="0" err="1"/>
              <a:t>Weigers</a:t>
            </a:r>
            <a:r>
              <a:rPr lang="en-IE" sz="1800" dirty="0"/>
              <a:t>’ article.</a:t>
            </a:r>
          </a:p>
          <a:p>
            <a:endParaRPr lang="en-IE" sz="1800" b="1" dirty="0"/>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7720091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Example 1</a:t>
            </a:r>
          </a:p>
        </p:txBody>
      </p:sp>
      <p:sp>
        <p:nvSpPr>
          <p:cNvPr id="12" name="Content Placeholder 2"/>
          <p:cNvSpPr>
            <a:spLocks noGrp="1"/>
          </p:cNvSpPr>
          <p:nvPr>
            <p:ph idx="1"/>
          </p:nvPr>
        </p:nvSpPr>
        <p:spPr>
          <a:xfrm>
            <a:off x="703263" y="1676400"/>
            <a:ext cx="7831137" cy="456456"/>
          </a:xfrm>
        </p:spPr>
        <p:txBody>
          <a:bodyPr/>
          <a:lstStyle/>
          <a:p>
            <a:pPr marL="0" indent="0" algn="just"/>
            <a:r>
              <a:rPr lang="en-IE" sz="1800" dirty="0"/>
              <a:t>"</a:t>
            </a:r>
            <a:r>
              <a:rPr lang="en-IE" sz="1800" i="1" dirty="0"/>
              <a:t>The product shall provide status messages at regular intervals not less than every 60 seconds</a:t>
            </a:r>
            <a:r>
              <a:rPr lang="en-IE" sz="1800" dirty="0"/>
              <a:t>." </a:t>
            </a:r>
          </a:p>
          <a:p>
            <a:pPr algn="just">
              <a:buFont typeface="Arial" panose="020B0604020202020204" pitchFamily="34" charset="0"/>
              <a:buChar char="•"/>
            </a:pPr>
            <a:r>
              <a:rPr lang="en-IE" sz="1800" dirty="0"/>
              <a:t>This requirement is incomplete: what are the status messages and how are they supposed to be displayed to the user?</a:t>
            </a:r>
          </a:p>
          <a:p>
            <a:pPr algn="just">
              <a:buFont typeface="Arial" panose="020B0604020202020204" pitchFamily="34" charset="0"/>
              <a:buChar char="•"/>
            </a:pPr>
            <a:r>
              <a:rPr lang="en-IE" sz="1800" dirty="0"/>
              <a:t>The requirement contains several ambiguities. What part of "the product" are we talking about?</a:t>
            </a:r>
          </a:p>
          <a:p>
            <a:pPr algn="just">
              <a:buFont typeface="Arial" panose="020B0604020202020204" pitchFamily="34" charset="0"/>
              <a:buChar char="•"/>
            </a:pPr>
            <a:r>
              <a:rPr lang="en-IE" sz="1800" dirty="0"/>
              <a:t>Is the interval between status messages really supposed to be </a:t>
            </a:r>
            <a:r>
              <a:rPr lang="en-IE" sz="1800" i="1" dirty="0"/>
              <a:t>at least </a:t>
            </a:r>
            <a:r>
              <a:rPr lang="en-IE" sz="1800" dirty="0"/>
              <a:t>60 seconds, so showing a new message every 10 years is okay?</a:t>
            </a:r>
          </a:p>
          <a:p>
            <a:pPr algn="just">
              <a:buFont typeface="Arial" panose="020B0604020202020204" pitchFamily="34" charset="0"/>
              <a:buChar char="•"/>
            </a:pPr>
            <a:r>
              <a:rPr lang="en-IE" sz="1800" dirty="0"/>
              <a:t>Perhaps the intent is to have no more than 60 seconds elapse between messages; would 1 millisecond be too short?</a:t>
            </a:r>
          </a:p>
          <a:p>
            <a:pPr algn="just">
              <a:buFont typeface="Arial" panose="020B0604020202020204" pitchFamily="34" charset="0"/>
              <a:buChar char="•"/>
            </a:pPr>
            <a:r>
              <a:rPr lang="en-IE" sz="1800" dirty="0"/>
              <a:t>The word "every" just confuses the issue. As a result of these problems, the requirement is not verifiable.</a:t>
            </a:r>
            <a:endParaRPr lang="en-IE" sz="1800" b="1" dirty="0"/>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8136193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Example 1 (</a:t>
            </a:r>
            <a:r>
              <a:rPr lang="en-US" dirty="0" err="1"/>
              <a:t>ctd</a:t>
            </a:r>
            <a:r>
              <a:rPr lang="en-US" dirty="0"/>
              <a:t>)</a:t>
            </a:r>
          </a:p>
        </p:txBody>
      </p:sp>
      <p:sp>
        <p:nvSpPr>
          <p:cNvPr id="12" name="Content Placeholder 2"/>
          <p:cNvSpPr>
            <a:spLocks noGrp="1"/>
          </p:cNvSpPr>
          <p:nvPr>
            <p:ph idx="1"/>
          </p:nvPr>
        </p:nvSpPr>
        <p:spPr>
          <a:xfrm>
            <a:off x="703263" y="1676400"/>
            <a:ext cx="7831137" cy="456456"/>
          </a:xfrm>
        </p:spPr>
        <p:txBody>
          <a:bodyPr/>
          <a:lstStyle/>
          <a:p>
            <a:pPr algn="just"/>
            <a:r>
              <a:rPr lang="en-IE" sz="1800" dirty="0" err="1"/>
              <a:t>Wiegers</a:t>
            </a:r>
            <a:r>
              <a:rPr lang="en-IE" sz="1800" dirty="0"/>
              <a:t> advocates splitting the requirement into multiple requirements because each will require separate test cases and because each should be separately traceable. If several requirements are strung together in a paragraph, it is easy to overlook one during construction or testing: </a:t>
            </a:r>
            <a:endParaRPr lang="en-IE" sz="1800" b="1" dirty="0"/>
          </a:p>
          <a:p>
            <a:pPr algn="just"/>
            <a:endParaRPr lang="en-IE" sz="1800" dirty="0"/>
          </a:p>
          <a:p>
            <a:pPr algn="just"/>
            <a:r>
              <a:rPr lang="en-IE" sz="1800" dirty="0"/>
              <a:t>"1. Status Messages.</a:t>
            </a:r>
          </a:p>
          <a:p>
            <a:pPr algn="just"/>
            <a:r>
              <a:rPr lang="en-IE" sz="1800" dirty="0"/>
              <a:t>1.1. The Background Task Manager shall display status messages in a designated area of the user interface at intervals of 60 plus or minus 10 seconds.</a:t>
            </a:r>
          </a:p>
          <a:p>
            <a:pPr algn="just"/>
            <a:r>
              <a:rPr lang="en-IE" sz="1800" dirty="0"/>
              <a:t>1.2. If background task processing is progressing normally, the percentage of the background task processing that has been completed shall be displayed.</a:t>
            </a:r>
          </a:p>
          <a:p>
            <a:pPr algn="just"/>
            <a:r>
              <a:rPr lang="en-IE" sz="1800" dirty="0"/>
              <a:t>1.3. A message shall be displayed when the background task is completed.</a:t>
            </a:r>
          </a:p>
          <a:p>
            <a:pPr algn="just"/>
            <a:r>
              <a:rPr lang="en-IE" sz="1800" dirty="0"/>
              <a:t>1.4. An error message shall be displayed if the background task has stalled."</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4913227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Example 1 (</a:t>
            </a:r>
            <a:r>
              <a:rPr lang="en-US" dirty="0" err="1"/>
              <a:t>ctd</a:t>
            </a:r>
            <a:r>
              <a:rPr lang="en-US" dirty="0"/>
              <a:t>)</a:t>
            </a:r>
          </a:p>
        </p:txBody>
      </p:sp>
      <p:sp>
        <p:nvSpPr>
          <p:cNvPr id="12" name="Content Placeholder 2"/>
          <p:cNvSpPr>
            <a:spLocks noGrp="1"/>
          </p:cNvSpPr>
          <p:nvPr>
            <p:ph idx="1"/>
          </p:nvPr>
        </p:nvSpPr>
        <p:spPr>
          <a:xfrm>
            <a:off x="703263" y="1676400"/>
            <a:ext cx="7831137" cy="456456"/>
          </a:xfrm>
        </p:spPr>
        <p:txBody>
          <a:bodyPr/>
          <a:lstStyle/>
          <a:p>
            <a:pPr algn="just"/>
            <a:r>
              <a:rPr lang="en-IE" sz="1800" dirty="0"/>
              <a:t>There is much improvement in </a:t>
            </a:r>
            <a:r>
              <a:rPr lang="en-IE" sz="1800" dirty="0" err="1"/>
              <a:t>Wiegers</a:t>
            </a:r>
            <a:r>
              <a:rPr lang="en-IE" sz="1800" dirty="0"/>
              <a:t>’ approach. But are some aspects still concerning? </a:t>
            </a:r>
            <a:endParaRPr lang="en-IE" sz="1800" b="1" dirty="0"/>
          </a:p>
          <a:p>
            <a:pPr algn="just"/>
            <a:endParaRPr lang="en-IE" sz="1800" dirty="0"/>
          </a:p>
          <a:p>
            <a:pPr algn="just"/>
            <a:r>
              <a:rPr lang="en-IE" sz="1800" dirty="0"/>
              <a:t>"1. Status Messages.</a:t>
            </a:r>
          </a:p>
          <a:p>
            <a:pPr algn="just"/>
            <a:r>
              <a:rPr lang="en-IE" sz="1800" dirty="0"/>
              <a:t>1.1. The Background Task Manager …</a:t>
            </a:r>
          </a:p>
          <a:p>
            <a:pPr algn="just"/>
            <a:r>
              <a:rPr lang="en-IE" sz="1800" dirty="0"/>
              <a:t>1.2. If background task processing is progressing </a:t>
            </a:r>
            <a:r>
              <a:rPr lang="en-IE" sz="1800" dirty="0">
                <a:solidFill>
                  <a:srgbClr val="FF0000"/>
                </a:solidFill>
              </a:rPr>
              <a:t>normally</a:t>
            </a:r>
            <a:r>
              <a:rPr lang="en-IE" sz="1800" dirty="0"/>
              <a:t>, ...</a:t>
            </a:r>
          </a:p>
          <a:p>
            <a:pPr algn="just"/>
            <a:r>
              <a:rPr lang="en-IE" sz="1800" dirty="0"/>
              <a:t>1.3. A message shall be displayed when the background task is completed.</a:t>
            </a:r>
          </a:p>
          <a:p>
            <a:pPr algn="just"/>
            <a:r>
              <a:rPr lang="en-IE" sz="1800" dirty="0"/>
              <a:t>1.4. An error message shall be displayed if the background task has </a:t>
            </a:r>
            <a:r>
              <a:rPr lang="en-IE" sz="1800" dirty="0">
                <a:solidFill>
                  <a:srgbClr val="FF0000"/>
                </a:solidFill>
              </a:rPr>
              <a:t>stalled</a:t>
            </a:r>
            <a:r>
              <a:rPr lang="en-IE" sz="1800" dirty="0"/>
              <a:t>.“</a:t>
            </a:r>
          </a:p>
          <a:p>
            <a:pPr algn="just"/>
            <a:r>
              <a:rPr lang="en-IE" sz="1800" dirty="0"/>
              <a:t>This requirement rewrite clarifies the content and timing for status messages – which is welcome. </a:t>
            </a:r>
          </a:p>
          <a:p>
            <a:pPr algn="just"/>
            <a:r>
              <a:rPr lang="en-IE" sz="1800" dirty="0"/>
              <a:t>But what is </a:t>
            </a:r>
            <a:r>
              <a:rPr lang="en-IE" sz="1800" i="1" dirty="0"/>
              <a:t>normal </a:t>
            </a:r>
            <a:r>
              <a:rPr lang="en-IE" sz="1800" dirty="0"/>
              <a:t>and what do we mean by </a:t>
            </a:r>
            <a:r>
              <a:rPr lang="en-IE" sz="1800" i="1" dirty="0"/>
              <a:t>stalled</a:t>
            </a:r>
            <a:r>
              <a:rPr lang="en-IE" sz="1800" dirty="0"/>
              <a:t>?</a:t>
            </a:r>
          </a:p>
          <a:p>
            <a:pPr algn="just"/>
            <a:r>
              <a:rPr lang="en-IE" sz="1800" dirty="0"/>
              <a:t>In the case of 1.3, </a:t>
            </a:r>
            <a:r>
              <a:rPr lang="en-IE" sz="1800" dirty="0">
                <a:solidFill>
                  <a:srgbClr val="FF0000"/>
                </a:solidFill>
              </a:rPr>
              <a:t>for how long should the completed message be displayed</a:t>
            </a:r>
            <a:r>
              <a:rPr lang="en-IE" sz="1800" dirty="0"/>
              <a:t>? Forever? For 60 plus or minus 10 seconds?</a:t>
            </a:r>
          </a:p>
          <a:p>
            <a:pPr algn="just"/>
            <a:r>
              <a:rPr lang="en-IE" sz="1800" dirty="0"/>
              <a:t>Therefore, room for significant improvement still exists in the quality of this requirement. </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38707308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Agile considerations…</a:t>
            </a:r>
          </a:p>
        </p:txBody>
      </p:sp>
      <p:sp>
        <p:nvSpPr>
          <p:cNvPr id="12" name="Content Placeholder 2"/>
          <p:cNvSpPr>
            <a:spLocks noGrp="1"/>
          </p:cNvSpPr>
          <p:nvPr>
            <p:ph idx="1"/>
          </p:nvPr>
        </p:nvSpPr>
        <p:spPr>
          <a:xfrm>
            <a:off x="703263" y="1676400"/>
            <a:ext cx="7831137" cy="456456"/>
          </a:xfrm>
        </p:spPr>
        <p:txBody>
          <a:bodyPr/>
          <a:lstStyle/>
          <a:p>
            <a:pPr marL="0" indent="0" algn="just"/>
            <a:r>
              <a:rPr lang="en-IE" sz="1800" dirty="0"/>
              <a:t>Some </a:t>
            </a:r>
            <a:r>
              <a:rPr lang="en-IE" sz="1800" i="1" dirty="0"/>
              <a:t>Agile</a:t>
            </a:r>
            <a:r>
              <a:rPr lang="en-IE" sz="1800" dirty="0"/>
              <a:t> interpretation of this scenario:</a:t>
            </a:r>
          </a:p>
          <a:p>
            <a:pPr algn="just">
              <a:buFont typeface="Arial" panose="020B0604020202020204" pitchFamily="34" charset="0"/>
              <a:buChar char="•"/>
            </a:pPr>
            <a:endParaRPr lang="en-IE" sz="1800" dirty="0"/>
          </a:p>
          <a:p>
            <a:pPr algn="just">
              <a:buFont typeface="Arial" panose="020B0604020202020204" pitchFamily="34" charset="0"/>
              <a:buChar char="•"/>
            </a:pPr>
            <a:r>
              <a:rPr lang="en-IE" sz="1800" dirty="0"/>
              <a:t>We do not want to spend a very long time perfecting a requirement pre-implementation – we want to code and see what people think of our solution.</a:t>
            </a:r>
          </a:p>
          <a:p>
            <a:pPr algn="just">
              <a:buFont typeface="Arial" panose="020B0604020202020204" pitchFamily="34" charset="0"/>
              <a:buChar char="•"/>
            </a:pPr>
            <a:r>
              <a:rPr lang="en-IE" sz="1800" dirty="0"/>
              <a:t>The question becomes: </a:t>
            </a:r>
            <a:r>
              <a:rPr lang="en-IE" sz="1800" b="1" dirty="0"/>
              <a:t>when is a requirement good enough?</a:t>
            </a:r>
          </a:p>
          <a:p>
            <a:pPr algn="just">
              <a:buFont typeface="Arial" panose="020B0604020202020204" pitchFamily="34" charset="0"/>
              <a:buChar char="•"/>
            </a:pPr>
            <a:r>
              <a:rPr lang="en-IE" sz="1800" dirty="0"/>
              <a:t>And there is no simple answer to that question! </a:t>
            </a:r>
          </a:p>
          <a:p>
            <a:pPr algn="just">
              <a:buFont typeface="Arial" panose="020B0604020202020204" pitchFamily="34" charset="0"/>
              <a:buChar char="•"/>
            </a:pPr>
            <a:r>
              <a:rPr lang="en-IE" sz="1800" dirty="0"/>
              <a:t>At the very least, efforts should be taken to tease out the meaning/intent of individual requirements. And efforts to flesh out requirements are very much desirable as otherwise the fluid space between the requirement and the actual need can quickly become unmanageable.</a:t>
            </a:r>
          </a:p>
          <a:p>
            <a:pPr algn="just">
              <a:buFont typeface="Arial" panose="020B0604020202020204" pitchFamily="34" charset="0"/>
              <a:buChar char="•"/>
            </a:pPr>
            <a:r>
              <a:rPr lang="en-IE" sz="1800" dirty="0"/>
              <a:t>There is a question of technique also – if we </a:t>
            </a:r>
            <a:r>
              <a:rPr lang="en-IE" sz="1800" b="1" dirty="0"/>
              <a:t>use TDD in combination with a unit testing strategy</a:t>
            </a:r>
            <a:r>
              <a:rPr lang="en-IE" sz="1800" dirty="0"/>
              <a:t>, then we have a vehicle to challenge and improve certain aspects of requirements at a very early stage in implementation.</a:t>
            </a:r>
          </a:p>
          <a:p>
            <a:pPr algn="just">
              <a:buFont typeface="Arial" panose="020B0604020202020204" pitchFamily="34" charset="0"/>
              <a:buChar char="•"/>
            </a:pPr>
            <a:r>
              <a:rPr lang="en-IE" sz="1800" dirty="0"/>
              <a:t>In this view of the world, TDD with unit testing is partly requirements capture and validation.</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1764696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Example 2</a:t>
            </a:r>
          </a:p>
        </p:txBody>
      </p:sp>
      <p:sp>
        <p:nvSpPr>
          <p:cNvPr id="12" name="Content Placeholder 2"/>
          <p:cNvSpPr>
            <a:spLocks noGrp="1"/>
          </p:cNvSpPr>
          <p:nvPr>
            <p:ph idx="1"/>
          </p:nvPr>
        </p:nvSpPr>
        <p:spPr>
          <a:xfrm>
            <a:off x="703263" y="1676400"/>
            <a:ext cx="7831137" cy="456456"/>
          </a:xfrm>
        </p:spPr>
        <p:txBody>
          <a:bodyPr/>
          <a:lstStyle/>
          <a:p>
            <a:pPr marL="0" indent="0" algn="just"/>
            <a:r>
              <a:rPr lang="en-IE" sz="1800" dirty="0"/>
              <a:t>"</a:t>
            </a:r>
            <a:r>
              <a:rPr lang="en-IE" sz="1800" i="1" dirty="0"/>
              <a:t>Charge numbers should be validated on-line against the master corporate charge number list, if possible.</a:t>
            </a:r>
            <a:r>
              <a:rPr lang="en-IE" sz="1800" dirty="0"/>
              <a:t>" </a:t>
            </a:r>
          </a:p>
          <a:p>
            <a:pPr algn="just">
              <a:buFont typeface="Arial" panose="020B0604020202020204" pitchFamily="34" charset="0"/>
              <a:buChar char="•"/>
            </a:pPr>
            <a:r>
              <a:rPr lang="en-IE" sz="1800" dirty="0"/>
              <a:t>This requirement is incomplete and unclear: </a:t>
            </a:r>
          </a:p>
          <a:p>
            <a:pPr algn="just">
              <a:buFont typeface="Arial" panose="020B0604020202020204" pitchFamily="34" charset="0"/>
              <a:buChar char="•"/>
            </a:pPr>
            <a:r>
              <a:rPr lang="en-IE" sz="1800" dirty="0"/>
              <a:t>What does "if possible" mean? If it’s technically feasible? If the master charge number list can be accessed on line?</a:t>
            </a:r>
          </a:p>
          <a:p>
            <a:pPr algn="just">
              <a:buFont typeface="Arial" panose="020B0604020202020204" pitchFamily="34" charset="0"/>
              <a:buChar char="•"/>
            </a:pPr>
            <a:r>
              <a:rPr lang="en-IE" sz="1800" dirty="0"/>
              <a:t>Avoid imprecise words like "should." The customer either needs this functionality or she/he doesn’t. </a:t>
            </a:r>
          </a:p>
          <a:p>
            <a:pPr algn="just">
              <a:buFont typeface="Arial" panose="020B0604020202020204" pitchFamily="34" charset="0"/>
              <a:buChar char="•"/>
            </a:pPr>
            <a:r>
              <a:rPr lang="en-IE" sz="1800" dirty="0"/>
              <a:t>“Shall" is a clearer statement of what is intended by the requirement and to explicitly specify priorities. </a:t>
            </a:r>
          </a:p>
          <a:p>
            <a:pPr algn="just">
              <a:buFont typeface="Arial" panose="020B0604020202020204" pitchFamily="34" charset="0"/>
              <a:buChar char="•"/>
            </a:pPr>
            <a:r>
              <a:rPr lang="en-IE" sz="1800" dirty="0" err="1"/>
              <a:t>Wieglers</a:t>
            </a:r>
            <a:r>
              <a:rPr lang="en-IE" sz="1800" dirty="0"/>
              <a:t> recommends: "</a:t>
            </a:r>
            <a:r>
              <a:rPr lang="en-IE" sz="1800" i="1" dirty="0"/>
              <a:t>The system shall validate the charge number entered against the on-line master corporate charge number list. If the charge number is not found on the list, an error message shall be displayed and the order shall not be accepted.</a:t>
            </a:r>
            <a:r>
              <a:rPr lang="en-IE" sz="1800" dirty="0"/>
              <a:t>”</a:t>
            </a:r>
          </a:p>
          <a:p>
            <a:pPr algn="just">
              <a:buFont typeface="Arial" panose="020B0604020202020204" pitchFamily="34" charset="0"/>
              <a:buChar char="•"/>
            </a:pPr>
            <a:r>
              <a:rPr lang="en-IE" sz="1800" dirty="0"/>
              <a:t>Can/Should the quality of this revised requirement be further improved? How?</a:t>
            </a:r>
          </a:p>
          <a:p>
            <a:pPr algn="just">
              <a:buFont typeface="Arial" panose="020B0604020202020204" pitchFamily="34" charset="0"/>
              <a:buChar char="•"/>
            </a:pPr>
            <a:r>
              <a:rPr lang="en-IE" sz="1800" dirty="0"/>
              <a:t>Will the client lose potential business if the order “shall not be accepted”?</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880656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In review…</a:t>
            </a:r>
          </a:p>
        </p:txBody>
      </p:sp>
      <p:sp>
        <p:nvSpPr>
          <p:cNvPr id="12" name="Content Placeholder 2"/>
          <p:cNvSpPr>
            <a:spLocks noGrp="1"/>
          </p:cNvSpPr>
          <p:nvPr>
            <p:ph idx="1"/>
          </p:nvPr>
        </p:nvSpPr>
        <p:spPr>
          <a:xfrm>
            <a:off x="703263" y="1676400"/>
            <a:ext cx="7831137" cy="456456"/>
          </a:xfrm>
        </p:spPr>
        <p:txBody>
          <a:bodyPr/>
          <a:lstStyle/>
          <a:p>
            <a:pPr algn="just">
              <a:buFont typeface="Arial" panose="020B0604020202020204" pitchFamily="34" charset="0"/>
              <a:buChar char="•"/>
            </a:pPr>
            <a:r>
              <a:rPr lang="en-IE" sz="1600" dirty="0"/>
              <a:t>We need to </a:t>
            </a:r>
            <a:r>
              <a:rPr lang="en-IE" sz="1600" b="1" dirty="0"/>
              <a:t>be very careful with requirements</a:t>
            </a:r>
            <a:r>
              <a:rPr lang="en-IE" sz="1600" dirty="0"/>
              <a:t>.</a:t>
            </a:r>
          </a:p>
          <a:p>
            <a:pPr algn="just">
              <a:buFont typeface="Arial" panose="020B0604020202020204" pitchFamily="34" charset="0"/>
              <a:buChar char="•"/>
            </a:pPr>
            <a:r>
              <a:rPr lang="en-IE" sz="1600" dirty="0"/>
              <a:t>Pay very careful attention to the </a:t>
            </a:r>
            <a:r>
              <a:rPr lang="en-IE" sz="1600" b="1" dirty="0"/>
              <a:t>language</a:t>
            </a:r>
            <a:r>
              <a:rPr lang="en-IE" sz="1600" dirty="0"/>
              <a:t> used.</a:t>
            </a:r>
          </a:p>
          <a:p>
            <a:pPr algn="just">
              <a:buFont typeface="Arial" panose="020B0604020202020204" pitchFamily="34" charset="0"/>
              <a:buChar char="•"/>
            </a:pPr>
            <a:r>
              <a:rPr lang="en-IE" sz="1600" dirty="0"/>
              <a:t>Ask: </a:t>
            </a:r>
            <a:r>
              <a:rPr lang="en-IE" sz="1600" b="1" dirty="0"/>
              <a:t>can this requirement be tested</a:t>
            </a:r>
            <a:r>
              <a:rPr lang="en-IE" sz="1600" dirty="0"/>
              <a:t>? (as a method to improving the quality of the requirement).</a:t>
            </a:r>
          </a:p>
          <a:p>
            <a:pPr algn="just">
              <a:buFont typeface="Arial" panose="020B0604020202020204" pitchFamily="34" charset="0"/>
              <a:buChar char="•"/>
            </a:pPr>
            <a:r>
              <a:rPr lang="en-IE" sz="1600" dirty="0"/>
              <a:t>Get used to </a:t>
            </a:r>
            <a:r>
              <a:rPr lang="en-IE" sz="1600" b="1" dirty="0"/>
              <a:t>asking questions</a:t>
            </a:r>
            <a:r>
              <a:rPr lang="en-IE" sz="1600" dirty="0"/>
              <a:t> such as “What do you mean by …?” </a:t>
            </a:r>
          </a:p>
          <a:p>
            <a:pPr algn="just">
              <a:buFont typeface="Arial" panose="020B0604020202020204" pitchFamily="34" charset="0"/>
              <a:buChar char="•"/>
            </a:pPr>
            <a:r>
              <a:rPr lang="en-IE" sz="1600" b="1" dirty="0"/>
              <a:t>Critically evaluate</a:t>
            </a:r>
            <a:r>
              <a:rPr lang="en-IE" sz="1600" dirty="0"/>
              <a:t> the quality of each requirement, even if only informally.</a:t>
            </a:r>
          </a:p>
          <a:p>
            <a:pPr algn="just">
              <a:buFont typeface="Arial" panose="020B0604020202020204" pitchFamily="34" charset="0"/>
              <a:buChar char="•"/>
            </a:pPr>
            <a:r>
              <a:rPr lang="en-IE" sz="1600" dirty="0"/>
              <a:t>Pay particular attention to scantily defined requirements – </a:t>
            </a:r>
            <a:r>
              <a:rPr lang="en-IE" sz="1600" b="1" dirty="0"/>
              <a:t>single, short sentences should carry ‘warning’ signs!</a:t>
            </a:r>
            <a:r>
              <a:rPr lang="en-IE" sz="1600" dirty="0"/>
              <a:t> Most implementations are complex and therefore, we should not expect that can be adequately captured in single short sentences.</a:t>
            </a:r>
          </a:p>
          <a:p>
            <a:pPr algn="just">
              <a:buFont typeface="Arial" panose="020B0604020202020204" pitchFamily="34" charset="0"/>
              <a:buChar char="•"/>
            </a:pPr>
            <a:r>
              <a:rPr lang="en-IE" sz="1600" b="1" dirty="0"/>
              <a:t>Use whiteboards and other tools</a:t>
            </a:r>
            <a:r>
              <a:rPr lang="en-IE" sz="1600" dirty="0"/>
              <a:t> to share/refine thoughts… </a:t>
            </a:r>
          </a:p>
          <a:p>
            <a:pPr algn="just">
              <a:buFont typeface="Arial" panose="020B0604020202020204" pitchFamily="34" charset="0"/>
              <a:buChar char="•"/>
            </a:pPr>
            <a:r>
              <a:rPr lang="en-IE" sz="1600" b="1" dirty="0"/>
              <a:t>Getting the balance right</a:t>
            </a:r>
            <a:r>
              <a:rPr lang="en-IE" sz="1600" dirty="0"/>
              <a:t> in requirement elicitation and definition and quality prior to moving forward with implementation is one place where we can hope to improve </a:t>
            </a:r>
          </a:p>
          <a:p>
            <a:pPr algn="just">
              <a:buFont typeface="Arial" panose="020B0604020202020204" pitchFamily="34" charset="0"/>
              <a:buChar char="•"/>
            </a:pPr>
            <a:r>
              <a:rPr lang="en-IE" sz="1600" dirty="0"/>
              <a:t>It is not necessarily the case that everything has to be written down; in the spirit of agile, </a:t>
            </a:r>
            <a:r>
              <a:rPr lang="en-IE" sz="1600" b="1" dirty="0"/>
              <a:t>it </a:t>
            </a:r>
            <a:r>
              <a:rPr lang="en-IE" sz="1600" b="1" i="1" dirty="0"/>
              <a:t>might </a:t>
            </a:r>
            <a:r>
              <a:rPr lang="en-IE" sz="1600" b="1" dirty="0"/>
              <a:t>be preferable/beneficial to discuss these matters for the purpose of clarification rather than an inefficient and time consuming textual exchange</a:t>
            </a:r>
            <a:r>
              <a:rPr lang="en-IE" sz="1600" dirty="0"/>
              <a:t>.</a:t>
            </a:r>
          </a:p>
          <a:p>
            <a:pPr algn="just">
              <a:buFont typeface="Arial" panose="020B0604020202020204" pitchFamily="34" charset="0"/>
              <a:buChar char="•"/>
            </a:pPr>
            <a:endParaRPr lang="en-IE" sz="1600" dirty="0"/>
          </a:p>
        </p:txBody>
      </p:sp>
    </p:spTree>
    <p:extLst>
      <p:ext uri="{BB962C8B-B14F-4D97-AF65-F5344CB8AC3E}">
        <p14:creationId xmlns:p14="http://schemas.microsoft.com/office/powerpoint/2010/main" val="26611933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Summary</a:t>
            </a:r>
          </a:p>
        </p:txBody>
      </p:sp>
      <p:sp>
        <p:nvSpPr>
          <p:cNvPr id="12" name="Content Placeholder 2"/>
          <p:cNvSpPr>
            <a:spLocks noGrp="1"/>
          </p:cNvSpPr>
          <p:nvPr>
            <p:ph idx="1"/>
          </p:nvPr>
        </p:nvSpPr>
        <p:spPr>
          <a:xfrm>
            <a:off x="703263" y="1676400"/>
            <a:ext cx="7831137" cy="456456"/>
          </a:xfrm>
        </p:spPr>
        <p:txBody>
          <a:bodyPr/>
          <a:lstStyle/>
          <a:p>
            <a:pPr algn="just"/>
            <a:r>
              <a:rPr lang="en-IE" sz="1800" dirty="0"/>
              <a:t>When it comes to testing software requirements:</a:t>
            </a:r>
          </a:p>
          <a:p>
            <a:pPr algn="just">
              <a:buFont typeface="Arial" panose="020B0604020202020204" pitchFamily="34" charset="0"/>
              <a:buChar char="•"/>
            </a:pPr>
            <a:r>
              <a:rPr lang="en-IE" sz="1800" dirty="0"/>
              <a:t>We should </a:t>
            </a:r>
            <a:r>
              <a:rPr lang="en-IE" sz="1800" b="1" dirty="0"/>
              <a:t>critically evaluate each and every requirement</a:t>
            </a:r>
            <a:r>
              <a:rPr lang="en-IE" sz="1800" dirty="0"/>
              <a:t> (even if only briefly)</a:t>
            </a:r>
          </a:p>
          <a:p>
            <a:pPr algn="just">
              <a:buFont typeface="Arial" panose="020B0604020202020204" pitchFamily="34" charset="0"/>
              <a:buChar char="•"/>
            </a:pPr>
            <a:r>
              <a:rPr lang="en-IE" sz="1800" dirty="0"/>
              <a:t>The extent to which clarification &amp; completeness are required is difficult to determine, so too is the level to which documentation is required.</a:t>
            </a:r>
          </a:p>
          <a:p>
            <a:pPr algn="just">
              <a:buFont typeface="Arial" panose="020B0604020202020204" pitchFamily="34" charset="0"/>
              <a:buChar char="•"/>
            </a:pPr>
            <a:r>
              <a:rPr lang="en-IE" sz="1800" dirty="0"/>
              <a:t>We should have </a:t>
            </a:r>
            <a:r>
              <a:rPr lang="en-IE" sz="1800" b="1" dirty="0"/>
              <a:t>evaluation criteria</a:t>
            </a:r>
            <a:r>
              <a:rPr lang="en-IE" sz="1800" dirty="0"/>
              <a:t>, things we think about when critically evaluating the quality of software requirements; e.g. complete, correct, testable, consistent, etc.</a:t>
            </a:r>
          </a:p>
          <a:p>
            <a:pPr algn="just">
              <a:buFont typeface="Arial" panose="020B0604020202020204" pitchFamily="34" charset="0"/>
              <a:buChar char="•"/>
            </a:pPr>
            <a:r>
              <a:rPr lang="en-IE" sz="1800" dirty="0"/>
              <a:t>There </a:t>
            </a:r>
            <a:r>
              <a:rPr lang="en-IE" sz="1800" b="1" dirty="0"/>
              <a:t>are no shortcuts</a:t>
            </a:r>
            <a:r>
              <a:rPr lang="en-IE" sz="1800" dirty="0"/>
              <a:t> to producing the software that is actually needed, and commencing with a foundation of poor quality requirements is likely to be one of worst approaches that can be adopted:</a:t>
            </a:r>
          </a:p>
          <a:p>
            <a:pPr lvl="1" algn="just">
              <a:buFont typeface="Arial" panose="020B0604020202020204" pitchFamily="34" charset="0"/>
              <a:buChar char="•"/>
            </a:pPr>
            <a:r>
              <a:rPr lang="en-IE" sz="1400" dirty="0"/>
              <a:t>This can frustrate developers faced with constantly reworking old inadequate software</a:t>
            </a:r>
          </a:p>
          <a:p>
            <a:pPr lvl="1" algn="just">
              <a:buFont typeface="Arial" panose="020B0604020202020204" pitchFamily="34" charset="0"/>
              <a:buChar char="•"/>
            </a:pPr>
            <a:r>
              <a:rPr lang="en-IE" sz="1400" dirty="0"/>
              <a:t>This does not please users / clients</a:t>
            </a:r>
          </a:p>
          <a:p>
            <a:pPr lvl="1" algn="just">
              <a:buFont typeface="Arial" panose="020B0604020202020204" pitchFamily="34" charset="0"/>
              <a:buChar char="•"/>
            </a:pPr>
            <a:r>
              <a:rPr lang="en-IE" sz="1400" dirty="0"/>
              <a:t>This is not a sound economic proposition.</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13681506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Critical analysis is difficult!</a:t>
            </a:r>
          </a:p>
        </p:txBody>
      </p:sp>
      <p:sp>
        <p:nvSpPr>
          <p:cNvPr id="12" name="Content Placeholder 2"/>
          <p:cNvSpPr>
            <a:spLocks noGrp="1"/>
          </p:cNvSpPr>
          <p:nvPr>
            <p:ph idx="1"/>
          </p:nvPr>
        </p:nvSpPr>
        <p:spPr>
          <a:xfrm>
            <a:off x="703263" y="1676400"/>
            <a:ext cx="7831137" cy="456456"/>
          </a:xfrm>
        </p:spPr>
        <p:txBody>
          <a:bodyPr/>
          <a:lstStyle/>
          <a:p>
            <a:pPr algn="just"/>
            <a:r>
              <a:rPr lang="en-IE" sz="1800" dirty="0"/>
              <a:t>Think “Critical Analysis”. Q. What does this mean exactly?</a:t>
            </a:r>
          </a:p>
          <a:p>
            <a:pPr algn="just"/>
            <a:r>
              <a:rPr lang="en-IE" sz="1800" dirty="0"/>
              <a:t>•	Think about the </a:t>
            </a:r>
            <a:r>
              <a:rPr lang="en-IE" sz="1800" b="1" dirty="0"/>
              <a:t>intention/purpose</a:t>
            </a:r>
            <a:r>
              <a:rPr lang="en-IE" sz="1800" dirty="0"/>
              <a:t> of the system and use this to guide your evaluation. </a:t>
            </a:r>
          </a:p>
          <a:p>
            <a:pPr algn="just"/>
            <a:r>
              <a:rPr lang="en-IE" sz="1800" dirty="0"/>
              <a:t>•	Keep in mind the types of </a:t>
            </a:r>
            <a:r>
              <a:rPr lang="en-IE" sz="1800" b="1" dirty="0"/>
              <a:t>constraints</a:t>
            </a:r>
            <a:r>
              <a:rPr lang="en-IE" sz="1800" dirty="0"/>
              <a:t> that systems of this type are subject to.</a:t>
            </a:r>
          </a:p>
          <a:p>
            <a:pPr algn="just"/>
            <a:r>
              <a:rPr lang="en-IE" sz="1800" dirty="0"/>
              <a:t>•	Don’t overlook </a:t>
            </a:r>
            <a:r>
              <a:rPr lang="en-IE" sz="1800" b="1" dirty="0"/>
              <a:t>practicalities</a:t>
            </a:r>
            <a:r>
              <a:rPr lang="en-IE" sz="1800" dirty="0"/>
              <a:t> and </a:t>
            </a:r>
            <a:r>
              <a:rPr lang="en-IE" sz="1800" b="1" dirty="0"/>
              <a:t>inconsistencies</a:t>
            </a:r>
          </a:p>
          <a:p>
            <a:pPr algn="just"/>
            <a:r>
              <a:rPr lang="en-IE" sz="1800" dirty="0"/>
              <a:t>•	Ask: is </a:t>
            </a:r>
            <a:r>
              <a:rPr lang="en-IE" sz="1800" b="1" dirty="0"/>
              <a:t>sufficient information </a:t>
            </a:r>
            <a:r>
              <a:rPr lang="en-IE" sz="1800" dirty="0"/>
              <a:t>provided so as to test this requirement?</a:t>
            </a:r>
          </a:p>
          <a:p>
            <a:pPr algn="just"/>
            <a:r>
              <a:rPr lang="en-IE" sz="1800" dirty="0"/>
              <a:t>•	Consider user stories </a:t>
            </a:r>
            <a:r>
              <a:rPr lang="en-IE" sz="1800" b="1" dirty="0"/>
              <a:t>individually</a:t>
            </a:r>
            <a:r>
              <a:rPr lang="en-IE" sz="1800" dirty="0"/>
              <a:t> </a:t>
            </a:r>
            <a:r>
              <a:rPr lang="en-IE" sz="1800" b="1" dirty="0"/>
              <a:t>and</a:t>
            </a:r>
            <a:r>
              <a:rPr lang="en-IE" sz="1800" dirty="0"/>
              <a:t> </a:t>
            </a:r>
            <a:r>
              <a:rPr lang="en-IE" sz="1800" b="1" dirty="0"/>
              <a:t>collectively</a:t>
            </a:r>
          </a:p>
          <a:p>
            <a:pPr algn="just"/>
            <a:r>
              <a:rPr lang="en-IE" sz="1800" dirty="0"/>
              <a:t>•	Reviewing requirements is DIFFICULT, it is hard work, this is one of the reasons that it is such a major source of defects</a:t>
            </a:r>
          </a:p>
        </p:txBody>
      </p:sp>
      <p:sp>
        <p:nvSpPr>
          <p:cNvPr id="4" name="Content Placeholder 2"/>
          <p:cNvSpPr txBox="1">
            <a:spLocks/>
          </p:cNvSpPr>
          <p:nvPr/>
        </p:nvSpPr>
        <p:spPr bwMode="auto">
          <a:xfrm>
            <a:off x="3455368" y="8408"/>
            <a:ext cx="5688632" cy="6004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2075" tIns="46038" rIns="92075" bIns="46038" numCol="1" anchor="t" anchorCtr="0" compatLnSpc="1">
            <a:prstTxWarp prst="textNoShape">
              <a:avLst/>
            </a:prstTxWarp>
          </a:bodyPr>
          <a:lstStyle>
            <a:lvl1pPr marL="342900" indent="-342900" algn="l" rtl="0" fontAlgn="base">
              <a:spcBef>
                <a:spcPct val="20000"/>
              </a:spcBef>
              <a:spcAft>
                <a:spcPct val="0"/>
              </a:spcAft>
              <a:buClr>
                <a:schemeClr val="bg1"/>
              </a:buClr>
              <a:buFont typeface="Monotype Sorts" charset="0"/>
              <a:defRPr sz="2800">
                <a:solidFill>
                  <a:schemeClr val="bg2"/>
                </a:solidFill>
                <a:latin typeface="+mn-lt"/>
                <a:ea typeface="+mn-ea"/>
                <a:cs typeface="+mn-cs"/>
              </a:defRPr>
            </a:lvl1pPr>
            <a:lvl2pPr marL="742950" indent="-285750" algn="l" rtl="0" fontAlgn="base">
              <a:spcBef>
                <a:spcPct val="20000"/>
              </a:spcBef>
              <a:spcAft>
                <a:spcPct val="0"/>
              </a:spcAft>
              <a:buClr>
                <a:schemeClr val="bg1"/>
              </a:buClr>
              <a:defRPr sz="2400">
                <a:solidFill>
                  <a:schemeClr val="bg2"/>
                </a:solidFill>
                <a:latin typeface="+mn-lt"/>
                <a:ea typeface="+mn-ea"/>
              </a:defRPr>
            </a:lvl2pPr>
            <a:lvl3pPr marL="1143000" indent="-228600" algn="l" rtl="0" fontAlgn="base">
              <a:spcBef>
                <a:spcPct val="20000"/>
              </a:spcBef>
              <a:spcAft>
                <a:spcPct val="0"/>
              </a:spcAft>
              <a:buClr>
                <a:schemeClr val="bg1"/>
              </a:buClr>
              <a:defRPr sz="2000">
                <a:solidFill>
                  <a:schemeClr val="bg2"/>
                </a:solidFill>
                <a:latin typeface="+mn-lt"/>
                <a:ea typeface="+mn-ea"/>
              </a:defRPr>
            </a:lvl3pPr>
            <a:lvl4pPr marL="1600200" indent="-228600" algn="l" rtl="0" fontAlgn="base">
              <a:spcBef>
                <a:spcPct val="20000"/>
              </a:spcBef>
              <a:spcAft>
                <a:spcPct val="0"/>
              </a:spcAft>
              <a:buClr>
                <a:schemeClr val="bg1"/>
              </a:buClr>
              <a:buFont typeface="Monotype Sorts" charset="0"/>
              <a:defRPr>
                <a:solidFill>
                  <a:schemeClr val="bg2"/>
                </a:solidFill>
                <a:latin typeface="+mn-lt"/>
                <a:ea typeface="+mn-ea"/>
              </a:defRPr>
            </a:lvl4pPr>
            <a:lvl5pPr marL="2057400" indent="-228600" algn="l" rtl="0" fontAlgn="base">
              <a:spcBef>
                <a:spcPct val="20000"/>
              </a:spcBef>
              <a:spcAft>
                <a:spcPct val="0"/>
              </a:spcAft>
              <a:buClr>
                <a:schemeClr val="bg1"/>
              </a:buClr>
              <a:defRPr>
                <a:solidFill>
                  <a:schemeClr val="bg2"/>
                </a:solidFill>
                <a:latin typeface="+mn-lt"/>
                <a:ea typeface="+mn-ea"/>
              </a:defRPr>
            </a:lvl5pPr>
            <a:lvl6pPr marL="2514600" indent="-228600" algn="l" rtl="0" fontAlgn="base">
              <a:spcBef>
                <a:spcPct val="20000"/>
              </a:spcBef>
              <a:spcAft>
                <a:spcPct val="0"/>
              </a:spcAft>
              <a:buClr>
                <a:schemeClr val="bg1"/>
              </a:buClr>
              <a:defRPr>
                <a:solidFill>
                  <a:schemeClr val="bg2"/>
                </a:solidFill>
                <a:latin typeface="+mn-lt"/>
                <a:ea typeface="+mn-ea"/>
              </a:defRPr>
            </a:lvl6pPr>
            <a:lvl7pPr marL="2971800" indent="-228600" algn="l" rtl="0" fontAlgn="base">
              <a:spcBef>
                <a:spcPct val="20000"/>
              </a:spcBef>
              <a:spcAft>
                <a:spcPct val="0"/>
              </a:spcAft>
              <a:buClr>
                <a:schemeClr val="bg1"/>
              </a:buClr>
              <a:defRPr>
                <a:solidFill>
                  <a:schemeClr val="bg2"/>
                </a:solidFill>
                <a:latin typeface="+mn-lt"/>
                <a:ea typeface="+mn-ea"/>
              </a:defRPr>
            </a:lvl7pPr>
            <a:lvl8pPr marL="3429000" indent="-228600" algn="l" rtl="0" fontAlgn="base">
              <a:spcBef>
                <a:spcPct val="20000"/>
              </a:spcBef>
              <a:spcAft>
                <a:spcPct val="0"/>
              </a:spcAft>
              <a:buClr>
                <a:schemeClr val="bg1"/>
              </a:buClr>
              <a:defRPr>
                <a:solidFill>
                  <a:schemeClr val="bg2"/>
                </a:solidFill>
                <a:latin typeface="+mn-lt"/>
                <a:ea typeface="+mn-ea"/>
              </a:defRPr>
            </a:lvl8pPr>
            <a:lvl9pPr marL="3886200" indent="-228600" algn="l" rtl="0" fontAlgn="base">
              <a:spcBef>
                <a:spcPct val="20000"/>
              </a:spcBef>
              <a:spcAft>
                <a:spcPct val="0"/>
              </a:spcAft>
              <a:buClr>
                <a:schemeClr val="bg1"/>
              </a:buClr>
              <a:defRPr>
                <a:solidFill>
                  <a:schemeClr val="bg2"/>
                </a:solidFill>
                <a:latin typeface="+mn-lt"/>
                <a:ea typeface="+mn-ea"/>
              </a:defRPr>
            </a:lvl9pPr>
          </a:lstStyle>
          <a:p>
            <a:r>
              <a:rPr lang="en-US" sz="1800" u="sng" kern="0" dirty="0"/>
              <a:t>Source:</a:t>
            </a:r>
            <a:r>
              <a:rPr lang="en-US" sz="1800" kern="0" dirty="0"/>
              <a:t> </a:t>
            </a:r>
            <a:r>
              <a:rPr lang="en-IE" sz="1800" kern="0" dirty="0"/>
              <a:t>Writing Quality Requirements, Karl E. </a:t>
            </a:r>
            <a:r>
              <a:rPr lang="en-IE" sz="1800" kern="0" dirty="0" err="1"/>
              <a:t>Wiegers</a:t>
            </a:r>
            <a:r>
              <a:rPr lang="en-IE" sz="1800" kern="0" dirty="0"/>
              <a:t>. processimpact.com/articles/qualreqs.html</a:t>
            </a:r>
            <a:r>
              <a:rPr lang="en-IE" sz="1800" dirty="0"/>
              <a:t> </a:t>
            </a:r>
          </a:p>
          <a:p>
            <a:r>
              <a:rPr lang="en-US" sz="2400" kern="0" dirty="0"/>
              <a:t> </a:t>
            </a:r>
          </a:p>
        </p:txBody>
      </p:sp>
    </p:spTree>
    <p:extLst>
      <p:ext uri="{BB962C8B-B14F-4D97-AF65-F5344CB8AC3E}">
        <p14:creationId xmlns:p14="http://schemas.microsoft.com/office/powerpoint/2010/main" val="8032821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EvolutifStandard">
  <a:themeElements>
    <a:clrScheme name="">
      <a:dk1>
        <a:srgbClr val="00279F"/>
      </a:dk1>
      <a:lt1>
        <a:srgbClr val="FFFFFF"/>
      </a:lt1>
      <a:dk2>
        <a:srgbClr val="0000FF"/>
      </a:dk2>
      <a:lt2>
        <a:srgbClr val="FFFF00"/>
      </a:lt2>
      <a:accent1>
        <a:srgbClr val="F57B49"/>
      </a:accent1>
      <a:accent2>
        <a:srgbClr val="FF00FF"/>
      </a:accent2>
      <a:accent3>
        <a:srgbClr val="AAAAFF"/>
      </a:accent3>
      <a:accent4>
        <a:srgbClr val="DADADA"/>
      </a:accent4>
      <a:accent5>
        <a:srgbClr val="F9BFB1"/>
      </a:accent5>
      <a:accent6>
        <a:srgbClr val="E700E7"/>
      </a:accent6>
      <a:hlink>
        <a:srgbClr val="FF0000"/>
      </a:hlink>
      <a:folHlink>
        <a:srgbClr val="919191"/>
      </a:folHlink>
    </a:clrScheme>
    <a:fontScheme name="EvolutifStandard">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Arial" charset="0"/>
            <a:ea typeface="ＭＳ Ｐゴシック" charset="0"/>
          </a:defRPr>
        </a:defPPr>
      </a:lstStyle>
    </a:lnDef>
  </a:objectDefaults>
  <a:extraClrSchemeLst>
    <a:extraClrScheme>
      <a:clrScheme name="EvolutifStandard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volutifStandar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volutifStandard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volutifStandard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volutifStandard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volutifStandard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volutifStandard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EvolutifStandard</Template>
  <TotalTime>0</TotalTime>
  <Words>5202</Words>
  <Application>Microsoft Office PowerPoint</Application>
  <PresentationFormat>On-screen Show (4:3)</PresentationFormat>
  <Paragraphs>461</Paragraphs>
  <Slides>63</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ＭＳ Ｐゴシック</vt:lpstr>
      <vt:lpstr>Arial</vt:lpstr>
      <vt:lpstr>Gill Sans</vt:lpstr>
      <vt:lpstr>Monotype Sorts</vt:lpstr>
      <vt:lpstr>EvolutifStandard</vt:lpstr>
      <vt:lpstr>PowerPoint Presentation</vt:lpstr>
      <vt:lpstr>PowerPoint Presentation</vt:lpstr>
      <vt:lpstr>Importance of requirements</vt:lpstr>
      <vt:lpstr>Defining software requirements </vt:lpstr>
      <vt:lpstr>Level of detail documented for software requirements: A spectrum</vt:lpstr>
      <vt:lpstr>Interplay of software requirements with development methodology </vt:lpstr>
      <vt:lpstr>Detail of software requirements: A spectrum </vt:lpstr>
      <vt:lpstr>PowerPoint Presentation</vt:lpstr>
      <vt:lpstr>At the heart of the problem… </vt:lpstr>
      <vt:lpstr>At the heart of the problem… </vt:lpstr>
      <vt:lpstr>Those humans… </vt:lpstr>
      <vt:lpstr>Strategic importance… </vt:lpstr>
      <vt:lpstr>At the heart of the problem… </vt:lpstr>
      <vt:lpstr>On competition and winning business</vt:lpstr>
      <vt:lpstr>PowerPoint Presentation</vt:lpstr>
      <vt:lpstr>What are software requirements? </vt:lpstr>
      <vt:lpstr>Agile and non-agile worlds? </vt:lpstr>
      <vt:lpstr>Agile and non-agile worlds? </vt:lpstr>
      <vt:lpstr>Agile and non-agile worlds? </vt:lpstr>
      <vt:lpstr>A simple requirement… </vt:lpstr>
      <vt:lpstr>PowerPoint Presentation</vt:lpstr>
      <vt:lpstr>We all know where Cannes is… </vt:lpstr>
      <vt:lpstr>‘How’ can this be achieved? </vt:lpstr>
      <vt:lpstr>See anything (potentially) wrong so far? </vt:lpstr>
      <vt:lpstr>Let’s revisit the requirement? </vt:lpstr>
      <vt:lpstr>Map of France revisited… </vt:lpstr>
      <vt:lpstr>Partial map of the world… </vt:lpstr>
      <vt:lpstr>Other potential requirement incompleteness… </vt:lpstr>
      <vt:lpstr>There were so many things that we missed…</vt:lpstr>
      <vt:lpstr>Relating the metaphor to software requirements?</vt:lpstr>
      <vt:lpstr>Is the seemingly simple requirement even viable?</vt:lpstr>
      <vt:lpstr>PowerPoint Presentation</vt:lpstr>
      <vt:lpstr>Exactly the same problems arise in software requirements</vt:lpstr>
      <vt:lpstr>Testing Requirements</vt:lpstr>
      <vt:lpstr>PowerPoint Presentation</vt:lpstr>
      <vt:lpstr>Evaluating Quality - Requirements</vt:lpstr>
      <vt:lpstr>Quality Software Requirements</vt:lpstr>
      <vt:lpstr>Quality Requirement Statements (1)</vt:lpstr>
      <vt:lpstr>Quality Requirement Statements (2)</vt:lpstr>
      <vt:lpstr>Quality Requirement Statements (3)</vt:lpstr>
      <vt:lpstr>Quality Requirement Statements (4)</vt:lpstr>
      <vt:lpstr>Quality Requirement Statements (5)</vt:lpstr>
      <vt:lpstr>Quality Requirement Statements (6)</vt:lpstr>
      <vt:lpstr>Quality Requirement Statements (7)</vt:lpstr>
      <vt:lpstr>Quality Requirement Statements (8)</vt:lpstr>
      <vt:lpstr>PowerPoint Presentation</vt:lpstr>
      <vt:lpstr>Requirements Quality - Collective</vt:lpstr>
      <vt:lpstr>Requirements Quality - Overall (1)</vt:lpstr>
      <vt:lpstr>Requirements Quality - Overall (2)</vt:lpstr>
      <vt:lpstr>Requirements Quality - Overall (3)</vt:lpstr>
      <vt:lpstr>Requirements Quality - Overall (4)</vt:lpstr>
      <vt:lpstr>Requirements Quality - Overall (5)</vt:lpstr>
      <vt:lpstr>Quality of Software Requirements</vt:lpstr>
      <vt:lpstr>PowerPoint Presentation</vt:lpstr>
      <vt:lpstr>Examples</vt:lpstr>
      <vt:lpstr>Example 1</vt:lpstr>
      <vt:lpstr>Example 1 (ctd)</vt:lpstr>
      <vt:lpstr>Example 1 (ctd)</vt:lpstr>
      <vt:lpstr>Agile considerations…</vt:lpstr>
      <vt:lpstr>Example 2</vt:lpstr>
      <vt:lpstr>In review…</vt:lpstr>
      <vt:lpstr>Summary</vt:lpstr>
      <vt:lpstr>Critical analysis is difficult!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2017-11-02T22:11:03Z</dcterms:created>
  <dcterms:modified xsi:type="dcterms:W3CDTF">2021-03-23T14:31:38Z</dcterms:modified>
</cp:coreProperties>
</file>