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331" r:id="rId2"/>
    <p:sldId id="700" r:id="rId3"/>
    <p:sldId id="701" r:id="rId4"/>
    <p:sldId id="702" r:id="rId5"/>
    <p:sldId id="703" r:id="rId6"/>
    <p:sldId id="704" r:id="rId7"/>
    <p:sldId id="706" r:id="rId8"/>
    <p:sldId id="707" r:id="rId9"/>
    <p:sldId id="708" r:id="rId10"/>
    <p:sldId id="709" r:id="rId11"/>
    <p:sldId id="710" r:id="rId12"/>
    <p:sldId id="711" r:id="rId13"/>
    <p:sldId id="712" r:id="rId14"/>
    <p:sldId id="713" r:id="rId15"/>
    <p:sldId id="714" r:id="rId16"/>
  </p:sldIdLst>
  <p:sldSz cx="9144000" cy="6858000" type="screen4x3"/>
  <p:notesSz cx="7315200" cy="9601200"/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>
      <p:cViewPr varScale="1">
        <p:scale>
          <a:sx n="69" d="100"/>
          <a:sy n="69" d="100"/>
        </p:scale>
        <p:origin x="16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088"/>
    </p:cViewPr>
  </p:sorterViewPr>
  <p:notesViewPr>
    <p:cSldViewPr>
      <p:cViewPr varScale="1">
        <p:scale>
          <a:sx n="88" d="100"/>
          <a:sy n="88" d="100"/>
        </p:scale>
        <p:origin x="2682" y="96"/>
      </p:cViewPr>
      <p:guideLst>
        <p:guide orient="horz" pos="3025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ill Sans" charset="0"/>
              </a:defRPr>
            </a:lvl1pPr>
          </a:lstStyle>
          <a:p>
            <a:endParaRPr lang="en-GB" dirty="0"/>
          </a:p>
        </p:txBody>
      </p:sp>
      <p:sp>
        <p:nvSpPr>
          <p:cNvPr id="141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912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endParaRPr lang="en-GB"/>
          </a:p>
        </p:txBody>
      </p:sp>
      <p:sp>
        <p:nvSpPr>
          <p:cNvPr id="141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ill Sans" charset="0"/>
              </a:defRPr>
            </a:lvl1pPr>
          </a:lstStyle>
          <a:p>
            <a:endParaRPr lang="en-GB" dirty="0"/>
          </a:p>
        </p:txBody>
      </p:sp>
      <p:sp>
        <p:nvSpPr>
          <p:cNvPr id="141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912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r>
              <a:rPr lang="en-GB"/>
              <a:t>Page </a:t>
            </a:r>
            <a:fld id="{EA5D38E3-B9B2-4441-826C-C6BD30AADF5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23481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141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912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41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1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80" y="4560302"/>
            <a:ext cx="5852844" cy="432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1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141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912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D1B6875-EB0E-AC4C-95B7-0367583F6CD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751571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2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569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020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879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90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398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191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4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449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043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822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043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334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343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21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1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84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676400"/>
            <a:ext cx="3898900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8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2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80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400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2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266700"/>
            <a:ext cx="2065337" cy="6115050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66700"/>
            <a:ext cx="6045200" cy="6115050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7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66700"/>
            <a:ext cx="8145462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676400"/>
            <a:ext cx="3898900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91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66700"/>
            <a:ext cx="8145462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52975" y="1676400"/>
            <a:ext cx="3898900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52975" y="4105275"/>
            <a:ext cx="3898900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38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50838"/>
            <a:ext cx="8423275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3" y="1190625"/>
            <a:ext cx="4135437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92650" y="1190625"/>
            <a:ext cx="4135438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861425" y="0"/>
            <a:ext cx="282575" cy="142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6390F-1603-4606-96BE-11F29AAF5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23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Line 2"/>
          <p:cNvSpPr>
            <a:spLocks noChangeShapeType="1"/>
          </p:cNvSpPr>
          <p:nvPr/>
        </p:nvSpPr>
        <p:spPr bwMode="auto">
          <a:xfrm>
            <a:off x="1588" y="1484313"/>
            <a:ext cx="90662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69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66700"/>
            <a:ext cx="8145462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069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1676400"/>
            <a:ext cx="7948612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06982" name="Rectangle 6"/>
          <p:cNvSpPr>
            <a:spLocks noChangeArrowheads="1"/>
          </p:cNvSpPr>
          <p:nvPr/>
        </p:nvSpPr>
        <p:spPr bwMode="auto">
          <a:xfrm>
            <a:off x="8172450" y="6400800"/>
            <a:ext cx="450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fld id="{F04697A2-D443-9B46-B76B-C17EBA70E809}" type="slidenum">
              <a:rPr lang="en-US" sz="1000">
                <a:solidFill>
                  <a:schemeClr val="bg2"/>
                </a:solidFill>
              </a:rPr>
              <a:pPr eaLnBrk="0" hangingPunct="0"/>
              <a:t>‹#›</a:t>
            </a:fld>
            <a:endParaRPr lang="en-US" sz="1000">
              <a:solidFill>
                <a:schemeClr val="bg2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14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Fundamental Test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test?</a:t>
            </a:r>
          </a:p>
        </p:txBody>
      </p:sp>
      <p:sp>
        <p:nvSpPr>
          <p:cNvPr id="32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test is a controlled exercise involving:</a:t>
            </a:r>
          </a:p>
          <a:p>
            <a:pPr lvl="1"/>
            <a:r>
              <a:rPr lang="en-US"/>
              <a:t>an object under test</a:t>
            </a:r>
          </a:p>
          <a:p>
            <a:pPr lvl="1"/>
            <a:r>
              <a:rPr lang="en-US"/>
              <a:t>a definition of the environment</a:t>
            </a:r>
          </a:p>
          <a:p>
            <a:pPr lvl="1"/>
            <a:r>
              <a:rPr lang="en-US"/>
              <a:t>a definition of the inputs</a:t>
            </a:r>
          </a:p>
          <a:p>
            <a:pPr lvl="1"/>
            <a:r>
              <a:rPr lang="en-US"/>
              <a:t>a definition of expected outputs or result</a:t>
            </a:r>
          </a:p>
          <a:p>
            <a:r>
              <a:rPr lang="en-US"/>
              <a:t>When a test is performed you get</a:t>
            </a:r>
          </a:p>
          <a:p>
            <a:pPr lvl="1"/>
            <a:r>
              <a:rPr lang="en-US"/>
              <a:t>an actual output or result</a:t>
            </a:r>
          </a:p>
          <a:p>
            <a:pPr lvl="1"/>
            <a:r>
              <a:rPr lang="en-US"/>
              <a:t>a determination whether the result is correct.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4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results</a:t>
            </a:r>
          </a:p>
        </p:txBody>
      </p:sp>
      <p:sp>
        <p:nvSpPr>
          <p:cNvPr id="321946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we run a test, we must have an expected result derived from the baseline</a:t>
            </a:r>
          </a:p>
          <a:p>
            <a:r>
              <a:rPr lang="en-US"/>
              <a:t>An actual result either matches or does not match the expected result</a:t>
            </a:r>
          </a:p>
          <a:p>
            <a:r>
              <a:rPr lang="en-US"/>
              <a:t>If there is a difference, there may be a fault in the software and we should investigate.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Test Process</a:t>
            </a:r>
          </a:p>
        </p:txBody>
      </p:sp>
      <p:sp>
        <p:nvSpPr>
          <p:cNvPr id="322150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fundamental test process consists of the following main activities:</a:t>
            </a:r>
          </a:p>
          <a:p>
            <a:pPr lvl="1"/>
            <a:r>
              <a:rPr lang="en-US"/>
              <a:t>test planning</a:t>
            </a:r>
          </a:p>
          <a:p>
            <a:pPr lvl="1"/>
            <a:r>
              <a:rPr lang="en-US"/>
              <a:t>test control</a:t>
            </a:r>
          </a:p>
          <a:p>
            <a:pPr lvl="1"/>
            <a:r>
              <a:rPr lang="en-US"/>
              <a:t>test analysis</a:t>
            </a:r>
          </a:p>
          <a:p>
            <a:pPr lvl="1"/>
            <a:r>
              <a:rPr lang="en-US"/>
              <a:t>test design</a:t>
            </a:r>
          </a:p>
          <a:p>
            <a:pPr lvl="1"/>
            <a:r>
              <a:rPr lang="en-US"/>
              <a:t>test implementation (aka preparation)</a:t>
            </a:r>
          </a:p>
          <a:p>
            <a:pPr lvl="1"/>
            <a:r>
              <a:rPr lang="en-US"/>
              <a:t>test execution and recording</a:t>
            </a:r>
          </a:p>
          <a:p>
            <a:pPr lvl="1"/>
            <a:r>
              <a:rPr lang="en-US"/>
              <a:t>evaluating exit criteria and reporting</a:t>
            </a:r>
          </a:p>
          <a:p>
            <a:pPr lvl="1"/>
            <a:r>
              <a:rPr lang="en-US"/>
              <a:t>test closure activities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35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Test Process 2</a:t>
            </a:r>
          </a:p>
        </p:txBody>
      </p:sp>
      <p:sp>
        <p:nvSpPr>
          <p:cNvPr id="32235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Although logically sequential, the activities in the process may overlap or take place concurrently.</a:t>
            </a:r>
          </a:p>
          <a:p>
            <a:pPr>
              <a:lnSpc>
                <a:spcPct val="90000"/>
              </a:lnSpc>
            </a:pPr>
            <a:r>
              <a:rPr lang="en-US"/>
              <a:t>By the way, the object under test need not be machine executable. That is, reviews and inspections have a similar process. This might seem like it is stretching </a:t>
            </a:r>
          </a:p>
          <a:p>
            <a:pPr>
              <a:lnSpc>
                <a:spcPct val="90000"/>
              </a:lnSpc>
            </a:pPr>
            <a:r>
              <a:rPr lang="en-US"/>
              <a:t>The other key point to be made here is that testing, as defined in this course, covers all activities for static and dynamic testing. We include inspections, reviews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17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planning</a:t>
            </a:r>
          </a:p>
        </p:txBody>
      </p:sp>
      <p:sp>
        <p:nvSpPr>
          <p:cNvPr id="3225618" name="Rectangle 18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</a:pPr>
            <a:r>
              <a:rPr lang="en-US" sz="2000"/>
              <a:t>Planning determines how the test strategy will be implemented:</a:t>
            </a:r>
          </a:p>
          <a:p>
            <a:pPr marL="457200" lvl="1" indent="0">
              <a:lnSpc>
                <a:spcPct val="80000"/>
              </a:lnSpc>
            </a:pPr>
            <a:r>
              <a:rPr lang="en-US" sz="1800"/>
              <a:t>what will not be done according to the strategy</a:t>
            </a:r>
          </a:p>
          <a:p>
            <a:pPr marL="457200" lvl="1" indent="0">
              <a:lnSpc>
                <a:spcPct val="80000"/>
              </a:lnSpc>
            </a:pPr>
            <a:r>
              <a:rPr lang="en-US" sz="1800"/>
              <a:t>what will be done according to the strategy</a:t>
            </a:r>
          </a:p>
          <a:p>
            <a:pPr marL="457200" lvl="1" indent="0">
              <a:lnSpc>
                <a:spcPct val="80000"/>
              </a:lnSpc>
            </a:pPr>
            <a:r>
              <a:rPr lang="en-US" sz="1800"/>
              <a:t>what will be adapted</a:t>
            </a:r>
          </a:p>
          <a:p>
            <a:pPr marL="0" indent="0">
              <a:lnSpc>
                <a:spcPct val="80000"/>
              </a:lnSpc>
            </a:pPr>
            <a:r>
              <a:rPr lang="en-US" sz="2000"/>
              <a:t>Test planning identifies, at a high level, the scope, approach and dependencies:</a:t>
            </a:r>
          </a:p>
          <a:p>
            <a:pPr marL="457200" lvl="1" indent="0">
              <a:lnSpc>
                <a:spcPct val="80000"/>
              </a:lnSpc>
            </a:pPr>
            <a:r>
              <a:rPr lang="en-US" sz="1800"/>
              <a:t>the software component(s) to be tested</a:t>
            </a:r>
          </a:p>
          <a:p>
            <a:pPr marL="457200" lvl="1" indent="0">
              <a:lnSpc>
                <a:spcPct val="80000"/>
              </a:lnSpc>
            </a:pPr>
            <a:r>
              <a:rPr lang="en-US" sz="1800"/>
              <a:t>additional infrastructure to test the component</a:t>
            </a:r>
          </a:p>
          <a:p>
            <a:pPr marL="457200" lvl="1" indent="0">
              <a:lnSpc>
                <a:spcPct val="80000"/>
              </a:lnSpc>
            </a:pPr>
            <a:r>
              <a:rPr lang="en-US" sz="1800"/>
              <a:t>the approach to test design</a:t>
            </a:r>
          </a:p>
          <a:p>
            <a:pPr marL="457200" lvl="1" indent="0">
              <a:lnSpc>
                <a:spcPct val="80000"/>
              </a:lnSpc>
            </a:pPr>
            <a:r>
              <a:rPr lang="en-US" sz="1800"/>
              <a:t>the test completion criteria</a:t>
            </a:r>
          </a:p>
        </p:txBody>
      </p:sp>
      <p:sp>
        <p:nvSpPr>
          <p:cNvPr id="3225619" name="Rectangle 19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</a:pPr>
            <a:r>
              <a:rPr lang="en-US" sz="1800"/>
              <a:t>Test planning has the following major tasks: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600"/>
              <a:t>Determining the scope and risks, and identifying the objectives of testing</a:t>
            </a:r>
          </a:p>
          <a:p>
            <a:pPr marL="457200" lvl="1" indent="0">
              <a:lnSpc>
                <a:spcPct val="80000"/>
              </a:lnSpc>
            </a:pPr>
            <a:r>
              <a:rPr lang="en-US" sz="1600"/>
              <a:t>Determining the test approach (techniques, test items, coverage, identifying and interfacing the teams involved in testing, testware)</a:t>
            </a:r>
          </a:p>
          <a:p>
            <a:pPr marL="457200" lvl="1" indent="0">
              <a:lnSpc>
                <a:spcPct val="80000"/>
              </a:lnSpc>
            </a:pPr>
            <a:r>
              <a:rPr lang="en-US" sz="1600"/>
              <a:t>Determining the required test resources (e.g. people, test environment, PCs)</a:t>
            </a:r>
          </a:p>
          <a:p>
            <a:pPr marL="457200" lvl="1" indent="0">
              <a:lnSpc>
                <a:spcPct val="80000"/>
              </a:lnSpc>
            </a:pPr>
            <a:r>
              <a:rPr lang="en-US" sz="1600"/>
              <a:t>Implementing the test policy and/or the test strategy</a:t>
            </a:r>
          </a:p>
          <a:p>
            <a:pPr marL="457200" lvl="1" indent="0">
              <a:lnSpc>
                <a:spcPct val="80000"/>
              </a:lnSpc>
            </a:pPr>
            <a:r>
              <a:rPr lang="en-US" sz="1600"/>
              <a:t>Scheduling test analysis and design tasks</a:t>
            </a:r>
          </a:p>
          <a:p>
            <a:pPr marL="457200" lvl="1" indent="0">
              <a:lnSpc>
                <a:spcPct val="80000"/>
              </a:lnSpc>
            </a:pPr>
            <a:r>
              <a:rPr lang="en-US" sz="1600"/>
              <a:t>Scheduling test implementation, execution and evaluation</a:t>
            </a:r>
          </a:p>
          <a:p>
            <a:pPr marL="457200" lvl="1" indent="0">
              <a:lnSpc>
                <a:spcPct val="80000"/>
              </a:lnSpc>
            </a:pPr>
            <a:r>
              <a:rPr lang="en-US" sz="1600"/>
              <a:t>Determining the exit criteria.</a:t>
            </a:r>
          </a:p>
          <a:p>
            <a:pPr marL="0" indent="0">
              <a:lnSpc>
                <a:spcPct val="80000"/>
              </a:lnSpc>
            </a:pPr>
            <a:endParaRPr lang="en-GB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control</a:t>
            </a:r>
          </a:p>
        </p:txBody>
      </p:sp>
      <p:sp>
        <p:nvSpPr>
          <p:cNvPr id="322970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 control has the following major tasks:</a:t>
            </a:r>
          </a:p>
          <a:p>
            <a:pPr lvl="1"/>
            <a:r>
              <a:rPr lang="en-US"/>
              <a:t>measuring and analyzing results</a:t>
            </a:r>
          </a:p>
          <a:p>
            <a:pPr lvl="1"/>
            <a:r>
              <a:rPr lang="en-US"/>
              <a:t>monitoring and documenting progress, test coverage and exit criteria</a:t>
            </a:r>
          </a:p>
          <a:p>
            <a:pPr lvl="1"/>
            <a:r>
              <a:rPr lang="en-US"/>
              <a:t>initiation of corrective actions</a:t>
            </a:r>
          </a:p>
          <a:p>
            <a:pPr lvl="1"/>
            <a:r>
              <a:rPr lang="en-US"/>
              <a:t>deciding what to do next.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7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analysis</a:t>
            </a:r>
          </a:p>
        </p:txBody>
      </p:sp>
      <p:sp>
        <p:nvSpPr>
          <p:cNvPr id="323175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Test analysis is the activity where tangible test conditions and test designs are derived from the baseline documents.</a:t>
            </a:r>
          </a:p>
          <a:p>
            <a:pPr>
              <a:lnSpc>
                <a:spcPct val="90000"/>
              </a:lnSpc>
            </a:pPr>
            <a:r>
              <a:rPr lang="en-US" dirty="0"/>
              <a:t>Firstly, the test basis (the baselines, such as requirements, architecture, design, interfaces) are reviewed. </a:t>
            </a:r>
          </a:p>
          <a:p>
            <a:pPr>
              <a:lnSpc>
                <a:spcPct val="90000"/>
              </a:lnSpc>
            </a:pPr>
            <a:r>
              <a:rPr lang="en-US" dirty="0"/>
              <a:t>If the baseline is testable, test conditions (or test requirements) are defined</a:t>
            </a:r>
          </a:p>
          <a:p>
            <a:pPr>
              <a:lnSpc>
                <a:spcPct val="90000"/>
              </a:lnSpc>
            </a:pPr>
            <a:r>
              <a:rPr lang="en-US" dirty="0"/>
              <a:t>But what if a requirements document is untestable?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7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design</a:t>
            </a:r>
          </a:p>
        </p:txBody>
      </p:sp>
      <p:sp>
        <p:nvSpPr>
          <p:cNvPr id="323379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Designing the test environment set-up and identifying any required infrastructure and tools.</a:t>
            </a:r>
          </a:p>
          <a:p>
            <a:r>
              <a:rPr lang="en-US"/>
              <a:t>A test inventory is prepared</a:t>
            </a:r>
          </a:p>
          <a:p>
            <a:pPr lvl="1"/>
            <a:r>
              <a:rPr lang="en-US"/>
              <a:t>the features to be tested</a:t>
            </a:r>
          </a:p>
          <a:p>
            <a:pPr lvl="1"/>
            <a:r>
              <a:rPr lang="en-US"/>
              <a:t>logical test cases to be exercised</a:t>
            </a:r>
          </a:p>
          <a:p>
            <a:pPr lvl="1"/>
            <a:r>
              <a:rPr lang="en-US"/>
              <a:t>test case prioritization, where necessary</a:t>
            </a:r>
          </a:p>
          <a:p>
            <a:r>
              <a:rPr lang="en-US"/>
              <a:t>When test design is complete, detailed scripts, test data and expected results can be prepared - this is called implementation.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implementation (preparation)</a:t>
            </a:r>
          </a:p>
        </p:txBody>
      </p:sp>
      <p:sp>
        <p:nvSpPr>
          <p:cNvPr id="323584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 implementation is where test conditions are transformed into test cases and testware, and the environment is set up</a:t>
            </a:r>
          </a:p>
          <a:p>
            <a:r>
              <a:rPr lang="en-US"/>
              <a:t>From the test cases, we can then identify and create test data, write test procedures, prepare expected results and, optionally, automate the tests</a:t>
            </a:r>
          </a:p>
          <a:p>
            <a:r>
              <a:rPr lang="en-US"/>
              <a:t>We group tests into suites for efficient test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execution and recording</a:t>
            </a:r>
          </a:p>
        </p:txBody>
      </p:sp>
      <p:sp>
        <p:nvSpPr>
          <p:cNvPr id="32378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Perform your "Pre-flight checks"</a:t>
            </a:r>
          </a:p>
          <a:p>
            <a:r>
              <a:rPr lang="en-US"/>
              <a:t>Tests follows the scripts, as defined</a:t>
            </a:r>
          </a:p>
          <a:p>
            <a:r>
              <a:rPr lang="en-US"/>
              <a:t>Test cases are run either manually or by using test execution tools, according to the planned sequence</a:t>
            </a:r>
          </a:p>
          <a:p>
            <a:r>
              <a:rPr lang="en-US"/>
              <a:t>We verify that actual results meet expected results and raise incident reports if they don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t</a:t>
            </a:r>
          </a:p>
          <a:p>
            <a:r>
              <a:rPr lang="en-US"/>
              <a:t>As we do progress through the tests, we log progress.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994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Raising incidents, re-testing and regression testing</a:t>
            </a:r>
          </a:p>
        </p:txBody>
      </p:sp>
      <p:sp>
        <p:nvSpPr>
          <p:cNvPr id="3239945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report test failures or discrepancies as incidents and analyze them in order to establish their cause</a:t>
            </a:r>
          </a:p>
          <a:p>
            <a:r>
              <a:rPr lang="en-US"/>
              <a:t>We repeat test activities as result of action taken for each failure which could be:</a:t>
            </a:r>
          </a:p>
          <a:p>
            <a:pPr lvl="1"/>
            <a:r>
              <a:rPr lang="en-US"/>
              <a:t>re-tests (confirmation tests)</a:t>
            </a:r>
          </a:p>
          <a:p>
            <a:pPr lvl="1"/>
            <a:r>
              <a:rPr lang="en-US"/>
              <a:t>regression tests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9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Evaluating exit criteria</a:t>
            </a:r>
          </a:p>
        </p:txBody>
      </p:sp>
      <p:sp>
        <p:nvSpPr>
          <p:cNvPr id="32419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Evaluating exit criteria is the activity where test execution is assessed against the defined objectives</a:t>
            </a:r>
          </a:p>
          <a:p>
            <a:r>
              <a:rPr lang="en-US"/>
              <a:t>This should be done for every test, regardless of phase</a:t>
            </a:r>
          </a:p>
          <a:p>
            <a:pPr lvl="1"/>
            <a:r>
              <a:rPr lang="en-US"/>
              <a:t>We check test logs against the exit criteria specified in test planning</a:t>
            </a:r>
          </a:p>
          <a:p>
            <a:pPr lvl="1"/>
            <a:r>
              <a:rPr lang="en-US"/>
              <a:t>We assess whether more tests are needed or if the exit criteria specified should be changed.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40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Evaluating exit criteria 2</a:t>
            </a:r>
          </a:p>
        </p:txBody>
      </p:sp>
      <p:sp>
        <p:nvSpPr>
          <p:cNvPr id="324403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Under time pressure…</a:t>
            </a:r>
          </a:p>
          <a:p>
            <a:pPr lvl="1"/>
            <a:r>
              <a:rPr lang="en-US"/>
              <a:t>some faults may be acceptable (for this release)</a:t>
            </a:r>
          </a:p>
          <a:p>
            <a:pPr lvl="1"/>
            <a:r>
              <a:rPr lang="en-US"/>
              <a:t>some tests may not be run at all</a:t>
            </a:r>
          </a:p>
          <a:p>
            <a:r>
              <a:rPr lang="en-US"/>
              <a:t>If there are no tests left, but there is still time</a:t>
            </a:r>
          </a:p>
          <a:p>
            <a:pPr lvl="1"/>
            <a:r>
              <a:rPr lang="en-US"/>
              <a:t>maybe some additional tests could be run</a:t>
            </a:r>
          </a:p>
          <a:p>
            <a:r>
              <a:rPr lang="en-US"/>
              <a:t>You may decide to release the software now, but testing could continue.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0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closure activities</a:t>
            </a:r>
          </a:p>
        </p:txBody>
      </p:sp>
      <p:sp>
        <p:nvSpPr>
          <p:cNvPr id="324608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Usually, a test summary report must be written for stakeholders at the end of a test phase</a:t>
            </a:r>
          </a:p>
          <a:p>
            <a:r>
              <a:rPr lang="en-US" sz="2400" dirty="0"/>
              <a:t>The summary provides stakeholders the evidence they need to make a decision (to release, to postpone, or in extreme circumstances, to cancel)</a:t>
            </a:r>
          </a:p>
          <a:p>
            <a:pPr lvl="1"/>
            <a:r>
              <a:rPr lang="en-US" sz="2000" dirty="0"/>
              <a:t>status of deliverables and documentation</a:t>
            </a:r>
          </a:p>
          <a:p>
            <a:pPr lvl="1"/>
            <a:r>
              <a:rPr lang="en-US" sz="2000" dirty="0"/>
              <a:t>aligned with sign-off and handover</a:t>
            </a:r>
          </a:p>
          <a:p>
            <a:r>
              <a:rPr lang="en-US" sz="2400" dirty="0"/>
              <a:t>The test team usually have a contribution to make to post implementation reviews, where lessons are learned for future releases </a:t>
            </a:r>
            <a:r>
              <a:rPr lang="en-US" sz="2400"/>
              <a:t>and </a:t>
            </a:r>
            <a:r>
              <a:rPr lang="en-US" sz="2400" smtClean="0"/>
              <a:t>projects</a:t>
            </a:r>
            <a:r>
              <a:rPr lang="en-US" sz="24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volutifStandard">
  <a:themeElements>
    <a:clrScheme name="">
      <a:dk1>
        <a:srgbClr val="00279F"/>
      </a:dk1>
      <a:lt1>
        <a:srgbClr val="FFFFFF"/>
      </a:lt1>
      <a:dk2>
        <a:srgbClr val="0000FF"/>
      </a:dk2>
      <a:lt2>
        <a:srgbClr val="FFFF00"/>
      </a:lt2>
      <a:accent1>
        <a:srgbClr val="F57B49"/>
      </a:accent1>
      <a:accent2>
        <a:srgbClr val="FF00FF"/>
      </a:accent2>
      <a:accent3>
        <a:srgbClr val="AAAAFF"/>
      </a:accent3>
      <a:accent4>
        <a:srgbClr val="DADADA"/>
      </a:accent4>
      <a:accent5>
        <a:srgbClr val="F9BFB1"/>
      </a:accent5>
      <a:accent6>
        <a:srgbClr val="E700E7"/>
      </a:accent6>
      <a:hlink>
        <a:srgbClr val="FF0000"/>
      </a:hlink>
      <a:folHlink>
        <a:srgbClr val="919191"/>
      </a:folHlink>
    </a:clrScheme>
    <a:fontScheme name="EvolutifStandard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EvolutifStandar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volutifStandar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EvolutifStandard</Template>
  <TotalTime>0</TotalTime>
  <Words>918</Words>
  <Application>Microsoft Office PowerPoint</Application>
  <PresentationFormat>On-screen Show (4:3)</PresentationFormat>
  <Paragraphs>97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ＭＳ Ｐゴシック</vt:lpstr>
      <vt:lpstr>Arial</vt:lpstr>
      <vt:lpstr>Gill Sans</vt:lpstr>
      <vt:lpstr>Monotype Sorts</vt:lpstr>
      <vt:lpstr>EvolutifStandard</vt:lpstr>
      <vt:lpstr>Fundamental Test Process</vt:lpstr>
      <vt:lpstr>What is a test?</vt:lpstr>
      <vt:lpstr>Expected results</vt:lpstr>
      <vt:lpstr>The Test Process</vt:lpstr>
      <vt:lpstr>The Test Process 2</vt:lpstr>
      <vt:lpstr>Test planning</vt:lpstr>
      <vt:lpstr>Test control</vt:lpstr>
      <vt:lpstr>Test analysis</vt:lpstr>
      <vt:lpstr>Test design</vt:lpstr>
      <vt:lpstr>Test implementation (preparation)</vt:lpstr>
      <vt:lpstr>Test execution and recording</vt:lpstr>
      <vt:lpstr>Raising incidents, re-testing and regression testing</vt:lpstr>
      <vt:lpstr>Evaluating exit criteria</vt:lpstr>
      <vt:lpstr>Evaluating exit criteria 2</vt:lpstr>
      <vt:lpstr>Test closure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2016-09-19T14:46:57Z</dcterms:created>
  <dcterms:modified xsi:type="dcterms:W3CDTF">2021-01-26T12:19:42Z</dcterms:modified>
</cp:coreProperties>
</file>