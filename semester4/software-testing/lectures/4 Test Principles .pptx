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9" r:id="rId1"/>
  </p:sldMasterIdLst>
  <p:notesMasterIdLst>
    <p:notesMasterId r:id="rId11"/>
  </p:notesMasterIdLst>
  <p:handoutMasterIdLst>
    <p:handoutMasterId r:id="rId12"/>
  </p:handoutMasterIdLst>
  <p:sldIdLst>
    <p:sldId id="778" r:id="rId2"/>
    <p:sldId id="317" r:id="rId3"/>
    <p:sldId id="318" r:id="rId4"/>
    <p:sldId id="319" r:id="rId5"/>
    <p:sldId id="320" r:id="rId6"/>
    <p:sldId id="321" r:id="rId7"/>
    <p:sldId id="322" r:id="rId8"/>
    <p:sldId id="323" r:id="rId9"/>
    <p:sldId id="775" r:id="rId10"/>
  </p:sldIdLst>
  <p:sldSz cx="9144000" cy="6858000" type="screen4x3"/>
  <p:notesSz cx="7315200" cy="9601200"/>
  <p:defaultTextStyle>
    <a:defPPr>
      <a:defRPr lang="en-US"/>
    </a:defPPr>
    <a:lvl1pPr algn="r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ＭＳ Ｐゴシック" charset="0"/>
        <a:cs typeface="+mn-cs"/>
      </a:defRPr>
    </a:lvl1pPr>
    <a:lvl2pPr marL="457200" algn="r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4400" algn="r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1600" algn="r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8800" algn="r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6000" algn="l" defTabSz="457200" rtl="0" eaLnBrk="1" latinLnBrk="0" hangingPunct="1">
      <a:defRPr sz="1600" kern="1200">
        <a:solidFill>
          <a:schemeClr val="tx1"/>
        </a:solidFill>
        <a:latin typeface="Arial" charset="0"/>
        <a:ea typeface="ＭＳ Ｐゴシック" charset="0"/>
        <a:cs typeface="+mn-cs"/>
      </a:defRPr>
    </a:lvl6pPr>
    <a:lvl7pPr marL="2743200" algn="l" defTabSz="457200" rtl="0" eaLnBrk="1" latinLnBrk="0" hangingPunct="1">
      <a:defRPr sz="1600" kern="1200">
        <a:solidFill>
          <a:schemeClr val="tx1"/>
        </a:solidFill>
        <a:latin typeface="Arial" charset="0"/>
        <a:ea typeface="ＭＳ Ｐゴシック" charset="0"/>
        <a:cs typeface="+mn-cs"/>
      </a:defRPr>
    </a:lvl7pPr>
    <a:lvl8pPr marL="3200400" algn="l" defTabSz="457200" rtl="0" eaLnBrk="1" latinLnBrk="0" hangingPunct="1">
      <a:defRPr sz="1600" kern="1200">
        <a:solidFill>
          <a:schemeClr val="tx1"/>
        </a:solidFill>
        <a:latin typeface="Arial" charset="0"/>
        <a:ea typeface="ＭＳ Ｐゴシック" charset="0"/>
        <a:cs typeface="+mn-cs"/>
      </a:defRPr>
    </a:lvl8pPr>
    <a:lvl9pPr marL="3657600" algn="l" defTabSz="457200" rtl="0" eaLnBrk="1" latinLnBrk="0" hangingPunct="1">
      <a:defRPr sz="1600" kern="1200">
        <a:solidFill>
          <a:schemeClr val="tx1"/>
        </a:solidFill>
        <a:latin typeface="Arial" charset="0"/>
        <a:ea typeface="ＭＳ Ｐゴシック" charset="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5" userDrawn="1">
          <p15:clr>
            <a:srgbClr val="A4A3A4"/>
          </p15:clr>
        </p15:guide>
        <p15:guide id="2" pos="230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0084" autoAdjust="0"/>
    <p:restoredTop sz="94660"/>
  </p:normalViewPr>
  <p:slideViewPr>
    <p:cSldViewPr>
      <p:cViewPr varScale="1">
        <p:scale>
          <a:sx n="68" d="100"/>
          <a:sy n="68" d="100"/>
        </p:scale>
        <p:origin x="166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88" d="100"/>
          <a:sy n="88" d="100"/>
        </p:scale>
        <p:origin x="2682" y="96"/>
      </p:cViewPr>
      <p:guideLst>
        <p:guide orient="horz" pos="3025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169578" cy="4805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531" tIns="45766" rIns="91531" bIns="45766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Gill Sans" charset="0"/>
              </a:defRPr>
            </a:lvl1pPr>
          </a:lstStyle>
          <a:p>
            <a:endParaRPr lang="en-GB" dirty="0"/>
          </a:p>
        </p:txBody>
      </p:sp>
      <p:sp>
        <p:nvSpPr>
          <p:cNvPr id="1412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912" y="1"/>
            <a:ext cx="3169578" cy="4805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531" tIns="45766" rIns="91531" bIns="45766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Gill Sans" charset="0"/>
              </a:defRPr>
            </a:lvl1pPr>
          </a:lstStyle>
          <a:p>
            <a:endParaRPr lang="en-GB"/>
          </a:p>
        </p:txBody>
      </p:sp>
      <p:sp>
        <p:nvSpPr>
          <p:cNvPr id="1412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119068"/>
            <a:ext cx="3169578" cy="4805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531" tIns="45766" rIns="91531" bIns="45766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Gill Sans" charset="0"/>
              </a:defRPr>
            </a:lvl1pPr>
          </a:lstStyle>
          <a:p>
            <a:endParaRPr lang="en-GB" dirty="0"/>
          </a:p>
        </p:txBody>
      </p:sp>
      <p:sp>
        <p:nvSpPr>
          <p:cNvPr id="1412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912" y="9119068"/>
            <a:ext cx="3169578" cy="4805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531" tIns="45766" rIns="91531" bIns="45766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Gill Sans" charset="0"/>
              </a:defRPr>
            </a:lvl1pPr>
          </a:lstStyle>
          <a:p>
            <a:r>
              <a:rPr lang="en-GB"/>
              <a:t>Page </a:t>
            </a:r>
            <a:fld id="{EA5D38E3-B9B2-4441-826C-C6BD30AADF56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023481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169578" cy="4805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531" tIns="45766" rIns="91531" bIns="45766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1413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912" y="1"/>
            <a:ext cx="3169578" cy="4805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531" tIns="45766" rIns="91531" bIns="45766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GB"/>
          </a:p>
        </p:txBody>
      </p:sp>
      <p:sp>
        <p:nvSpPr>
          <p:cNvPr id="1413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8888" y="720725"/>
            <a:ext cx="4799012" cy="35988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413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180" y="4560302"/>
            <a:ext cx="5852844" cy="43207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531" tIns="45766" rIns="91531" bIns="4576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413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119068"/>
            <a:ext cx="3169578" cy="4805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531" tIns="45766" rIns="91531" bIns="45766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1413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912" y="9119068"/>
            <a:ext cx="3169578" cy="4805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531" tIns="45766" rIns="91531" bIns="45766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2D1B6875-EB0E-AC4C-95B7-0367583F6CD8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9751571"/>
      </p:ext>
    </p:extLst>
  </p:cSld>
  <p:clrMap bg1="lt1" tx1="dk1" bg2="lt2" tx2="dk2" accent1="accent1" accent2="accent2" accent3="accent3" accent4="accent4" accent5="accent5" accent6="accent6" hlink="hlink" folHlink="folHlink"/>
  <p:hf sldNum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endParaRPr lang="en-GB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endParaRPr lang="en-GB" dirty="0"/>
          </a:p>
        </p:txBody>
      </p:sp>
      <p:sp>
        <p:nvSpPr>
          <p:cNvPr id="2711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711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57528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endParaRPr lang="en-GB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endParaRPr lang="en-GB" dirty="0"/>
          </a:p>
        </p:txBody>
      </p:sp>
      <p:sp>
        <p:nvSpPr>
          <p:cNvPr id="2712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712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07464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endParaRPr lang="en-GB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endParaRPr lang="en-GB" dirty="0"/>
          </a:p>
        </p:txBody>
      </p:sp>
      <p:sp>
        <p:nvSpPr>
          <p:cNvPr id="2713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713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58788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endParaRPr lang="en-GB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endParaRPr lang="en-GB" dirty="0"/>
          </a:p>
        </p:txBody>
      </p:sp>
      <p:sp>
        <p:nvSpPr>
          <p:cNvPr id="2714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714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43590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endParaRPr lang="en-GB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endParaRPr lang="en-GB" dirty="0"/>
          </a:p>
        </p:txBody>
      </p:sp>
      <p:sp>
        <p:nvSpPr>
          <p:cNvPr id="2715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715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4804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endParaRPr lang="en-GB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endParaRPr lang="en-GB" dirty="0"/>
          </a:p>
        </p:txBody>
      </p:sp>
      <p:sp>
        <p:nvSpPr>
          <p:cNvPr id="2716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716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81205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endParaRPr lang="en-GB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endParaRPr lang="en-GB" dirty="0"/>
          </a:p>
        </p:txBody>
      </p:sp>
      <p:sp>
        <p:nvSpPr>
          <p:cNvPr id="2717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717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7183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endParaRPr lang="en-GB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endParaRPr lang="en-GB" dirty="0"/>
          </a:p>
        </p:txBody>
      </p:sp>
      <p:sp>
        <p:nvSpPr>
          <p:cNvPr id="2718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718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54493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endParaRPr lang="en-GB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endParaRPr lang="en-GB" dirty="0"/>
          </a:p>
        </p:txBody>
      </p:sp>
      <p:sp>
        <p:nvSpPr>
          <p:cNvPr id="2683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683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57797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ga-IE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016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392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ga-IE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88411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03263" y="1676400"/>
            <a:ext cx="3897312" cy="47053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2975" y="1676400"/>
            <a:ext cx="3898900" cy="47053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294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ga-I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ga-I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31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ga-IE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085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123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ga-IE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80804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ga-IE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64000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128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86538" y="266700"/>
            <a:ext cx="2065337" cy="6115050"/>
          </a:xfrm>
        </p:spPr>
        <p:txBody>
          <a:bodyPr vert="eaVert"/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8938" y="266700"/>
            <a:ext cx="6045200" cy="6115050"/>
          </a:xfrm>
        </p:spPr>
        <p:txBody>
          <a:bodyPr vert="eaVert"/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1742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938" y="266700"/>
            <a:ext cx="8145462" cy="1104900"/>
          </a:xfrm>
        </p:spPr>
        <p:txBody>
          <a:bodyPr/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703263" y="1676400"/>
            <a:ext cx="3897312" cy="4705350"/>
          </a:xfrm>
        </p:spPr>
        <p:txBody>
          <a:bodyPr/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2975" y="1676400"/>
            <a:ext cx="3898900" cy="4705350"/>
          </a:xfrm>
        </p:spPr>
        <p:txBody>
          <a:bodyPr/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5919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938" y="266700"/>
            <a:ext cx="8145462" cy="1104900"/>
          </a:xfrm>
        </p:spPr>
        <p:txBody>
          <a:bodyPr/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703263" y="1676400"/>
            <a:ext cx="3897312" cy="4705350"/>
          </a:xfrm>
        </p:spPr>
        <p:txBody>
          <a:bodyPr/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52975" y="1676400"/>
            <a:ext cx="3898900" cy="2276475"/>
          </a:xfrm>
        </p:spPr>
        <p:txBody>
          <a:bodyPr/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52975" y="4105275"/>
            <a:ext cx="3898900" cy="2276475"/>
          </a:xfrm>
        </p:spPr>
        <p:txBody>
          <a:bodyPr/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5382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7988" y="350838"/>
            <a:ext cx="8423275" cy="6302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4813" y="1190625"/>
            <a:ext cx="4135437" cy="5219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92650" y="1190625"/>
            <a:ext cx="4135438" cy="5219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9"/>
          <p:cNvSpPr>
            <a:spLocks noGrp="1"/>
          </p:cNvSpPr>
          <p:nvPr>
            <p:ph type="sldNum" sz="quarter" idx="10"/>
          </p:nvPr>
        </p:nvSpPr>
        <p:spPr>
          <a:xfrm>
            <a:off x="8861425" y="0"/>
            <a:ext cx="282575" cy="142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F6390F-1603-4606-96BE-11F29AAF5AE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9238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978" name="Line 2"/>
          <p:cNvSpPr>
            <a:spLocks noChangeShapeType="1"/>
          </p:cNvSpPr>
          <p:nvPr/>
        </p:nvSpPr>
        <p:spPr bwMode="auto">
          <a:xfrm>
            <a:off x="1588" y="1484313"/>
            <a:ext cx="9066212" cy="0"/>
          </a:xfrm>
          <a:prstGeom prst="line">
            <a:avLst/>
          </a:prstGeom>
          <a:noFill/>
          <a:ln w="508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0697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388938" y="266700"/>
            <a:ext cx="8145462" cy="110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40698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1676400"/>
            <a:ext cx="7948612" cy="470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06982" name="Rectangle 6"/>
          <p:cNvSpPr>
            <a:spLocks noChangeArrowheads="1"/>
          </p:cNvSpPr>
          <p:nvPr/>
        </p:nvSpPr>
        <p:spPr bwMode="auto">
          <a:xfrm>
            <a:off x="8172450" y="6400800"/>
            <a:ext cx="45085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/>
            <a:fld id="{F04697A2-D443-9B46-B76B-C17EBA70E809}" type="slidenum">
              <a:rPr lang="en-US" sz="1000">
                <a:solidFill>
                  <a:schemeClr val="bg2"/>
                </a:solidFill>
              </a:rPr>
              <a:pPr eaLnBrk="0" hangingPunct="0"/>
              <a:t>‹#›</a:t>
            </a:fld>
            <a:endParaRPr lang="en-US" sz="1000">
              <a:solidFill>
                <a:schemeClr val="bg2"/>
              </a:solidFill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</p:sldLayoutIdLst>
  <p:txStyles>
    <p:titleStyle>
      <a:lvl1pPr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ＭＳ Ｐゴシック" charset="0"/>
        </a:defRPr>
      </a:lvl2pPr>
      <a:lvl3pPr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ＭＳ Ｐゴシック" charset="0"/>
        </a:defRPr>
      </a:lvl3pPr>
      <a:lvl4pPr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ＭＳ Ｐゴシック" charset="0"/>
        </a:defRPr>
      </a:lvl4pPr>
      <a:lvl5pPr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ＭＳ Ｐゴシック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ＭＳ Ｐゴシック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ＭＳ Ｐゴシック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ＭＳ Ｐゴシック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bg1"/>
        </a:buClr>
        <a:buFont typeface="Monotype Sorts" charset="0"/>
        <a:defRPr sz="2800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bg1"/>
        </a:buClr>
        <a:defRPr sz="2400">
          <a:solidFill>
            <a:schemeClr val="bg2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bg1"/>
        </a:buClr>
        <a:defRPr sz="2000">
          <a:solidFill>
            <a:schemeClr val="bg2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bg1"/>
        </a:buClr>
        <a:buFont typeface="Monotype Sorts" charset="0"/>
        <a:defRPr>
          <a:solidFill>
            <a:schemeClr val="bg2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bg1"/>
        </a:buClr>
        <a:defRPr>
          <a:solidFill>
            <a:schemeClr val="bg2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1"/>
        </a:buClr>
        <a:defRPr>
          <a:solidFill>
            <a:schemeClr val="bg2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1"/>
        </a:buClr>
        <a:defRPr>
          <a:solidFill>
            <a:schemeClr val="bg2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1"/>
        </a:buClr>
        <a:defRPr>
          <a:solidFill>
            <a:schemeClr val="bg2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1"/>
        </a:buClr>
        <a:defRPr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788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/>
              <a:t>General Testing Principles</a:t>
            </a:r>
          </a:p>
        </p:txBody>
      </p:sp>
      <p:sp>
        <p:nvSpPr>
          <p:cNvPr id="2294789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6491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5814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Principle 1 - Testing shows the presence of defects</a:t>
            </a:r>
          </a:p>
        </p:txBody>
      </p:sp>
      <p:sp>
        <p:nvSpPr>
          <p:cNvPr id="2295815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Testing can show that defects are present, but cannot prove that there are no defects.</a:t>
            </a:r>
          </a:p>
          <a:p>
            <a:r>
              <a:rPr lang="en-US"/>
              <a:t>Testing reduces the probability of undiscovered defects remaining in the software but, even if no defects are found, it is not a proof of correctness.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683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Principle 2 - Exhaustive testing is impossible</a:t>
            </a:r>
          </a:p>
        </p:txBody>
      </p:sp>
      <p:sp>
        <p:nvSpPr>
          <p:cNvPr id="2296837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400"/>
              <a:t>Exhaustive testing of all program paths is usually impossible</a:t>
            </a:r>
          </a:p>
          <a:p>
            <a:pPr>
              <a:lnSpc>
                <a:spcPct val="90000"/>
              </a:lnSpc>
            </a:pPr>
            <a:r>
              <a:rPr lang="en-US" sz="2400"/>
              <a:t>Exhaustive testing of all inputs is also impossible</a:t>
            </a:r>
          </a:p>
          <a:p>
            <a:pPr>
              <a:lnSpc>
                <a:spcPct val="90000"/>
              </a:lnSpc>
            </a:pPr>
            <a:r>
              <a:rPr lang="en-US" sz="2400"/>
              <a:t>If we could do exhaustive testing, most tests would be duplicates that tell us nothing</a:t>
            </a:r>
          </a:p>
          <a:p>
            <a:pPr>
              <a:lnSpc>
                <a:spcPct val="90000"/>
              </a:lnSpc>
            </a:pPr>
            <a:r>
              <a:rPr lang="en-US" sz="2400"/>
              <a:t>We need to select tests that are effective at finding faults but are also efficient</a:t>
            </a:r>
          </a:p>
          <a:p>
            <a:pPr>
              <a:lnSpc>
                <a:spcPct val="90000"/>
              </a:lnSpc>
            </a:pPr>
            <a:r>
              <a:rPr lang="en-US" sz="2400"/>
              <a:t>Instead of exhaustive testing, we use risk and priorities to focus our testing efforts.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786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Principle 3 - Early testing</a:t>
            </a:r>
          </a:p>
        </p:txBody>
      </p:sp>
      <p:sp>
        <p:nvSpPr>
          <p:cNvPr id="2297861" name="Rectangle 5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r>
              <a:rPr lang="en-US"/>
              <a:t>Testing activities should start as early as possible in the software or system development life cycle, and should be focused on defined objectives. </a:t>
            </a:r>
          </a:p>
        </p:txBody>
      </p:sp>
      <p:pic>
        <p:nvPicPr>
          <p:cNvPr id="6" name="Picture 9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/>
          <a:srcRect t="-18904" b="-18904"/>
          <a:stretch>
            <a:fillRect/>
          </a:stretch>
        </p:blipFill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888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Principle 4 - Defect clustering</a:t>
            </a:r>
          </a:p>
        </p:txBody>
      </p:sp>
      <p:sp>
        <p:nvSpPr>
          <p:cNvPr id="2298885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We've already seen an illustration of this</a:t>
            </a:r>
          </a:p>
          <a:p>
            <a:r>
              <a:rPr lang="en-US"/>
              <a:t>A small number of modules contain most of the defects discovered during pre-release testing, or show the most operational failures.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990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Principle 5 - Pesticide paradox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5976" y="4293096"/>
            <a:ext cx="3528392" cy="2549029"/>
          </a:xfrm>
          <a:prstGeom prst="rect">
            <a:avLst/>
          </a:prstGeom>
        </p:spPr>
      </p:pic>
      <p:sp>
        <p:nvSpPr>
          <p:cNvPr id="2299909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/>
              <a:t>If the same tests are repeated again and again, eventually, these test cases will no longer find new defects</a:t>
            </a:r>
          </a:p>
          <a:p>
            <a:r>
              <a:rPr lang="en-US" sz="2400"/>
              <a:t>This is the "</a:t>
            </a:r>
            <a:r>
              <a:rPr lang="en-US" sz="2400" b="1"/>
              <a:t>pesticide paradox</a:t>
            </a:r>
            <a:r>
              <a:rPr lang="en-US" sz="2400"/>
              <a:t>". When all the defects are removed, our tests will find no more</a:t>
            </a:r>
          </a:p>
          <a:p>
            <a:r>
              <a:rPr lang="en-US" sz="2400"/>
              <a:t>If we want to find more defects, we need new and different tests to be written to exercise different parts of the software or execute different program paths.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093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Principle 6 - Testing is context dependent</a:t>
            </a:r>
          </a:p>
        </p:txBody>
      </p:sp>
      <p:sp>
        <p:nvSpPr>
          <p:cNvPr id="2300933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400"/>
              <a:t>The testing we do must take account of the context</a:t>
            </a:r>
          </a:p>
          <a:p>
            <a:pPr>
              <a:lnSpc>
                <a:spcPct val="90000"/>
              </a:lnSpc>
            </a:pPr>
            <a:r>
              <a:rPr lang="en-US" sz="2400"/>
              <a:t>For example, safety-critical software is tested differently from an e-commerce site because the risk of failure is so much higher</a:t>
            </a:r>
          </a:p>
          <a:p>
            <a:pPr>
              <a:lnSpc>
                <a:spcPct val="90000"/>
              </a:lnSpc>
            </a:pPr>
            <a:r>
              <a:rPr lang="en-US" sz="2400"/>
              <a:t>The testing approach for embedded, mainframe or web based software will also vary</a:t>
            </a:r>
          </a:p>
          <a:p>
            <a:pPr>
              <a:lnSpc>
                <a:spcPct val="90000"/>
              </a:lnSpc>
            </a:pPr>
            <a:r>
              <a:rPr lang="en-US" sz="2400"/>
              <a:t>Obvious really, but we need to accommodate these changes in context.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195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Principle 7 - Absence-of-errors fallacy</a:t>
            </a:r>
          </a:p>
        </p:txBody>
      </p:sp>
      <p:sp>
        <p:nvSpPr>
          <p:cNvPr id="2301957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A system may have a good specification, and be tested thoroughly but it is still possible for the system to not meet the needs of its users</a:t>
            </a:r>
          </a:p>
          <a:p>
            <a:r>
              <a:rPr lang="en-GB"/>
              <a:t>This could be because the specification does not represent the needs of the users</a:t>
            </a:r>
          </a:p>
          <a:p>
            <a:r>
              <a:rPr lang="en-GB"/>
              <a:t>Finding and fixing defects does not help if the system has been based on faulty requirements that do not represent the real users’ needs and expectations.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714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testing Principles worth keeping in mind…</a:t>
            </a:r>
          </a:p>
        </p:txBody>
      </p:sp>
      <p:sp>
        <p:nvSpPr>
          <p:cNvPr id="226714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79512" y="1676400"/>
            <a:ext cx="8784976" cy="4705350"/>
          </a:xfrm>
        </p:spPr>
        <p:txBody>
          <a:bodyPr/>
          <a:lstStyle/>
          <a:p>
            <a:r>
              <a:rPr lang="en-US" sz="1800" dirty="0"/>
              <a:t>1. 	The goal of testing is to find defects before customers find them.</a:t>
            </a:r>
          </a:p>
          <a:p>
            <a:r>
              <a:rPr lang="en-US" sz="1800" dirty="0"/>
              <a:t>2. 	Understand the reason behind the test.</a:t>
            </a:r>
          </a:p>
          <a:p>
            <a:pPr>
              <a:buAutoNum type="arabicPeriod" startAt="3"/>
            </a:pPr>
            <a:r>
              <a:rPr lang="en-US" sz="1800" dirty="0"/>
              <a:t>Test the tests first.</a:t>
            </a:r>
          </a:p>
          <a:p>
            <a:pPr>
              <a:buAutoNum type="arabicPeriod" startAt="3"/>
            </a:pPr>
            <a:r>
              <a:rPr lang="en-US" sz="1800" dirty="0"/>
              <a:t>Corrections can have side-effects.</a:t>
            </a:r>
          </a:p>
          <a:p>
            <a:pPr>
              <a:buAutoNum type="arabicPeriod" startAt="3"/>
            </a:pPr>
            <a:r>
              <a:rPr lang="en-US" sz="1800" dirty="0"/>
              <a:t>Defects occur in convoys or clusters, and testing should focus on these convoys.</a:t>
            </a:r>
          </a:p>
          <a:p>
            <a:pPr>
              <a:buAutoNum type="arabicPeriod" startAt="3"/>
            </a:pPr>
            <a:r>
              <a:rPr lang="en-US" sz="1800" dirty="0"/>
              <a:t>Testing encompasses defect prevention.</a:t>
            </a:r>
          </a:p>
          <a:p>
            <a:pPr>
              <a:buAutoNum type="arabicPeriod" startAt="3"/>
            </a:pPr>
            <a:r>
              <a:rPr lang="en-US" sz="1800" dirty="0"/>
              <a:t>Testing is a fine balance of defect prevention and defect detection.</a:t>
            </a:r>
          </a:p>
          <a:p>
            <a:pPr>
              <a:buAutoNum type="arabicPeriod" startAt="3"/>
            </a:pPr>
            <a:r>
              <a:rPr lang="en-US" sz="1800" dirty="0"/>
              <a:t>Intelligent and well-planned automation is key to realizing the benefits of testing.</a:t>
            </a:r>
          </a:p>
          <a:p>
            <a:pPr>
              <a:buAutoNum type="arabicPeriod" startAt="3"/>
            </a:pPr>
            <a:r>
              <a:rPr lang="en-US" sz="1800" dirty="0"/>
              <a:t>Testing requires talented, committed people who believe in themselves and work in teams.</a:t>
            </a:r>
          </a:p>
        </p:txBody>
      </p:sp>
    </p:spTree>
    <p:extLst>
      <p:ext uri="{BB962C8B-B14F-4D97-AF65-F5344CB8AC3E}">
        <p14:creationId xmlns:p14="http://schemas.microsoft.com/office/powerpoint/2010/main" val="3328499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7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67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71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2671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71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2671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71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2671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71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2671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71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2671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71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2671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71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2671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71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2671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67141" grpId="0" build="p"/>
    </p:bldLst>
  </p:timing>
</p:sld>
</file>

<file path=ppt/theme/theme1.xml><?xml version="1.0" encoding="utf-8"?>
<a:theme xmlns:a="http://schemas.openxmlformats.org/drawingml/2006/main" name="EvolutifStandard">
  <a:themeElements>
    <a:clrScheme name="">
      <a:dk1>
        <a:srgbClr val="00279F"/>
      </a:dk1>
      <a:lt1>
        <a:srgbClr val="FFFFFF"/>
      </a:lt1>
      <a:dk2>
        <a:srgbClr val="0000FF"/>
      </a:dk2>
      <a:lt2>
        <a:srgbClr val="FFFF00"/>
      </a:lt2>
      <a:accent1>
        <a:srgbClr val="F57B49"/>
      </a:accent1>
      <a:accent2>
        <a:srgbClr val="FF00FF"/>
      </a:accent2>
      <a:accent3>
        <a:srgbClr val="AAAAFF"/>
      </a:accent3>
      <a:accent4>
        <a:srgbClr val="DADADA"/>
      </a:accent4>
      <a:accent5>
        <a:srgbClr val="F9BFB1"/>
      </a:accent5>
      <a:accent6>
        <a:srgbClr val="E700E7"/>
      </a:accent6>
      <a:hlink>
        <a:srgbClr val="FF0000"/>
      </a:hlink>
      <a:folHlink>
        <a:srgbClr val="919191"/>
      </a:folHlink>
    </a:clrScheme>
    <a:fontScheme name="EvolutifStandard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lnDef>
  </a:objectDefaults>
  <a:extraClrSchemeLst>
    <a:extraClrScheme>
      <a:clrScheme name="EvolutifStandard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volutifStandard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volutifStandard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volutifStandard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volutifStandard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volutifStandard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volutifStandard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EvolutifStandard</Template>
  <TotalTime>0</TotalTime>
  <Words>418</Words>
  <Application>Microsoft Office PowerPoint</Application>
  <PresentationFormat>On-screen Show (4:3)</PresentationFormat>
  <Paragraphs>38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ＭＳ Ｐゴシック</vt:lpstr>
      <vt:lpstr>Arial</vt:lpstr>
      <vt:lpstr>Gill Sans</vt:lpstr>
      <vt:lpstr>Monotype Sorts</vt:lpstr>
      <vt:lpstr>EvolutifStandard</vt:lpstr>
      <vt:lpstr>General Testing Principles</vt:lpstr>
      <vt:lpstr>Principle 1 - Testing shows the presence of defects</vt:lpstr>
      <vt:lpstr>Principle 2 - Exhaustive testing is impossible</vt:lpstr>
      <vt:lpstr>Principle 3 - Early testing</vt:lpstr>
      <vt:lpstr>Principle 4 - Defect clustering</vt:lpstr>
      <vt:lpstr>Principle 5 - Pesticide paradox</vt:lpstr>
      <vt:lpstr>Principle 6 - Testing is context dependent</vt:lpstr>
      <vt:lpstr>Principle 7 - Absence-of-errors fallacy</vt:lpstr>
      <vt:lpstr>Additional testing Principles worth keeping in mind…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2016-09-19T14:46:57Z</dcterms:created>
  <dcterms:modified xsi:type="dcterms:W3CDTF">2018-09-24T15:10:19Z</dcterms:modified>
</cp:coreProperties>
</file>