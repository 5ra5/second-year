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9" r:id="rId1"/>
  </p:sldMasterIdLst>
  <p:notesMasterIdLst>
    <p:notesMasterId r:id="rId62"/>
  </p:notesMasterIdLst>
  <p:handoutMasterIdLst>
    <p:handoutMasterId r:id="rId63"/>
  </p:handoutMasterIdLst>
  <p:sldIdLst>
    <p:sldId id="283" r:id="rId2"/>
    <p:sldId id="284" r:id="rId3"/>
    <p:sldId id="761" r:id="rId4"/>
    <p:sldId id="762" r:id="rId5"/>
    <p:sldId id="760" r:id="rId6"/>
    <p:sldId id="751" r:id="rId7"/>
    <p:sldId id="764" r:id="rId8"/>
    <p:sldId id="697" r:id="rId9"/>
    <p:sldId id="750" r:id="rId10"/>
    <p:sldId id="759" r:id="rId11"/>
    <p:sldId id="695" r:id="rId12"/>
    <p:sldId id="285" r:id="rId13"/>
    <p:sldId id="696" r:id="rId14"/>
    <p:sldId id="802" r:id="rId15"/>
    <p:sldId id="286" r:id="rId16"/>
    <p:sldId id="287" r:id="rId17"/>
    <p:sldId id="288" r:id="rId18"/>
    <p:sldId id="766" r:id="rId19"/>
    <p:sldId id="289" r:id="rId20"/>
    <p:sldId id="767" r:id="rId21"/>
    <p:sldId id="290" r:id="rId22"/>
    <p:sldId id="805" r:id="rId23"/>
    <p:sldId id="770" r:id="rId24"/>
    <p:sldId id="291" r:id="rId25"/>
    <p:sldId id="292" r:id="rId26"/>
    <p:sldId id="293" r:id="rId27"/>
    <p:sldId id="294" r:id="rId28"/>
    <p:sldId id="295" r:id="rId29"/>
    <p:sldId id="806" r:id="rId30"/>
    <p:sldId id="296" r:id="rId31"/>
    <p:sldId id="297" r:id="rId32"/>
    <p:sldId id="735" r:id="rId33"/>
    <p:sldId id="771" r:id="rId34"/>
    <p:sldId id="687" r:id="rId35"/>
    <p:sldId id="807" r:id="rId36"/>
    <p:sldId id="688" r:id="rId37"/>
    <p:sldId id="689" r:id="rId38"/>
    <p:sldId id="690" r:id="rId39"/>
    <p:sldId id="691" r:id="rId40"/>
    <p:sldId id="692" r:id="rId41"/>
    <p:sldId id="693" r:id="rId42"/>
    <p:sldId id="694" r:id="rId43"/>
    <p:sldId id="808" r:id="rId44"/>
    <p:sldId id="752" r:id="rId45"/>
    <p:sldId id="753" r:id="rId46"/>
    <p:sldId id="307" r:id="rId47"/>
    <p:sldId id="308" r:id="rId48"/>
    <p:sldId id="809" r:id="rId49"/>
    <p:sldId id="725" r:id="rId50"/>
    <p:sldId id="309" r:id="rId51"/>
    <p:sldId id="310" r:id="rId52"/>
    <p:sldId id="311" r:id="rId53"/>
    <p:sldId id="312" r:id="rId54"/>
    <p:sldId id="810" r:id="rId55"/>
    <p:sldId id="314" r:id="rId56"/>
    <p:sldId id="315" r:id="rId57"/>
    <p:sldId id="804" r:id="rId58"/>
    <p:sldId id="774" r:id="rId59"/>
    <p:sldId id="772" r:id="rId60"/>
    <p:sldId id="811" r:id="rId61"/>
  </p:sldIdLst>
  <p:sldSz cx="9144000" cy="6858000" type="screen4x3"/>
  <p:notesSz cx="7315200" cy="9601200"/>
  <p:defaultTextStyle>
    <a:defPPr>
      <a:defRPr lang="en-US"/>
    </a:defPPr>
    <a:lvl1pPr algn="r" rtl="0" fontAlgn="base">
      <a:spcBef>
        <a:spcPct val="0"/>
      </a:spcBef>
      <a:spcAft>
        <a:spcPct val="0"/>
      </a:spcAft>
      <a:defRPr sz="1600" kern="1200">
        <a:solidFill>
          <a:schemeClr val="tx1"/>
        </a:solidFill>
        <a:latin typeface="Arial" charset="0"/>
        <a:ea typeface="ＭＳ Ｐゴシック" charset="0"/>
        <a:cs typeface="+mn-cs"/>
      </a:defRPr>
    </a:lvl1pPr>
    <a:lvl2pPr marL="457200" algn="r" rtl="0" fontAlgn="base">
      <a:spcBef>
        <a:spcPct val="0"/>
      </a:spcBef>
      <a:spcAft>
        <a:spcPct val="0"/>
      </a:spcAft>
      <a:defRPr sz="1600" kern="1200">
        <a:solidFill>
          <a:schemeClr val="tx1"/>
        </a:solidFill>
        <a:latin typeface="Arial" charset="0"/>
        <a:ea typeface="ＭＳ Ｐゴシック" charset="0"/>
        <a:cs typeface="+mn-cs"/>
      </a:defRPr>
    </a:lvl2pPr>
    <a:lvl3pPr marL="914400" algn="r" rtl="0" fontAlgn="base">
      <a:spcBef>
        <a:spcPct val="0"/>
      </a:spcBef>
      <a:spcAft>
        <a:spcPct val="0"/>
      </a:spcAft>
      <a:defRPr sz="1600" kern="1200">
        <a:solidFill>
          <a:schemeClr val="tx1"/>
        </a:solidFill>
        <a:latin typeface="Arial" charset="0"/>
        <a:ea typeface="ＭＳ Ｐゴシック" charset="0"/>
        <a:cs typeface="+mn-cs"/>
      </a:defRPr>
    </a:lvl3pPr>
    <a:lvl4pPr marL="1371600" algn="r" rtl="0" fontAlgn="base">
      <a:spcBef>
        <a:spcPct val="0"/>
      </a:spcBef>
      <a:spcAft>
        <a:spcPct val="0"/>
      </a:spcAft>
      <a:defRPr sz="1600" kern="1200">
        <a:solidFill>
          <a:schemeClr val="tx1"/>
        </a:solidFill>
        <a:latin typeface="Arial" charset="0"/>
        <a:ea typeface="ＭＳ Ｐゴシック" charset="0"/>
        <a:cs typeface="+mn-cs"/>
      </a:defRPr>
    </a:lvl4pPr>
    <a:lvl5pPr marL="1828800" algn="r" rtl="0" fontAlgn="base">
      <a:spcBef>
        <a:spcPct val="0"/>
      </a:spcBef>
      <a:spcAft>
        <a:spcPct val="0"/>
      </a:spcAft>
      <a:defRPr sz="1600" kern="1200">
        <a:solidFill>
          <a:schemeClr val="tx1"/>
        </a:solidFill>
        <a:latin typeface="Arial" charset="0"/>
        <a:ea typeface="ＭＳ Ｐゴシック" charset="0"/>
        <a:cs typeface="+mn-cs"/>
      </a:defRPr>
    </a:lvl5pPr>
    <a:lvl6pPr marL="2286000" algn="l" defTabSz="457200" rtl="0" eaLnBrk="1" latinLnBrk="0" hangingPunct="1">
      <a:defRPr sz="1600" kern="1200">
        <a:solidFill>
          <a:schemeClr val="tx1"/>
        </a:solidFill>
        <a:latin typeface="Arial" charset="0"/>
        <a:ea typeface="ＭＳ Ｐゴシック" charset="0"/>
        <a:cs typeface="+mn-cs"/>
      </a:defRPr>
    </a:lvl6pPr>
    <a:lvl7pPr marL="2743200" algn="l" defTabSz="457200" rtl="0" eaLnBrk="1" latinLnBrk="0" hangingPunct="1">
      <a:defRPr sz="1600" kern="1200">
        <a:solidFill>
          <a:schemeClr val="tx1"/>
        </a:solidFill>
        <a:latin typeface="Arial" charset="0"/>
        <a:ea typeface="ＭＳ Ｐゴシック" charset="0"/>
        <a:cs typeface="+mn-cs"/>
      </a:defRPr>
    </a:lvl7pPr>
    <a:lvl8pPr marL="3200400" algn="l" defTabSz="457200" rtl="0" eaLnBrk="1" latinLnBrk="0" hangingPunct="1">
      <a:defRPr sz="1600" kern="1200">
        <a:solidFill>
          <a:schemeClr val="tx1"/>
        </a:solidFill>
        <a:latin typeface="Arial" charset="0"/>
        <a:ea typeface="ＭＳ Ｐゴシック" charset="0"/>
        <a:cs typeface="+mn-cs"/>
      </a:defRPr>
    </a:lvl8pPr>
    <a:lvl9pPr marL="3657600" algn="l" defTabSz="457200" rtl="0" eaLnBrk="1" latinLnBrk="0" hangingPunct="1">
      <a:defRPr sz="1600" kern="1200">
        <a:solidFill>
          <a:schemeClr val="tx1"/>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5"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84" autoAdjust="0"/>
    <p:restoredTop sz="67548" autoAdjust="0"/>
  </p:normalViewPr>
  <p:slideViewPr>
    <p:cSldViewPr>
      <p:cViewPr varScale="1">
        <p:scale>
          <a:sx n="72" d="100"/>
          <a:sy n="72" d="100"/>
        </p:scale>
        <p:origin x="2394" y="60"/>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88" d="100"/>
          <a:sy n="88" d="100"/>
        </p:scale>
        <p:origin x="2682" y="96"/>
      </p:cViewPr>
      <p:guideLst>
        <p:guide orient="horz" pos="3025"/>
        <p:guide pos="230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921C1E-0D55-4D8D-B494-AFFF81B9F730}" type="doc">
      <dgm:prSet loTypeId="urn:microsoft.com/office/officeart/2005/8/layout/hList3" loCatId="list" qsTypeId="urn:microsoft.com/office/officeart/2005/8/quickstyle/simple2" qsCatId="simple" csTypeId="urn:microsoft.com/office/officeart/2005/8/colors/accent0_3" csCatId="mainScheme" phldr="1"/>
      <dgm:spPr/>
      <dgm:t>
        <a:bodyPr/>
        <a:lstStyle/>
        <a:p>
          <a:endParaRPr lang="en-GB"/>
        </a:p>
      </dgm:t>
    </dgm:pt>
    <dgm:pt modelId="{483D94C4-B46F-4827-9299-A5EFEEC11263}">
      <dgm:prSet phldrT="[Text]" custT="1"/>
      <dgm:spPr/>
      <dgm:t>
        <a:bodyPr/>
        <a:lstStyle/>
        <a:p>
          <a:r>
            <a:rPr lang="en-GB" sz="4000" dirty="0"/>
            <a:t>Controlled exercise</a:t>
          </a:r>
        </a:p>
      </dgm:t>
    </dgm:pt>
    <dgm:pt modelId="{75417516-91B8-4700-A0DC-697BECBD9578}" type="parTrans" cxnId="{C574DFBB-F96D-4531-9E50-743DC156ED4A}">
      <dgm:prSet/>
      <dgm:spPr/>
      <dgm:t>
        <a:bodyPr/>
        <a:lstStyle/>
        <a:p>
          <a:endParaRPr lang="en-GB"/>
        </a:p>
      </dgm:t>
    </dgm:pt>
    <dgm:pt modelId="{8AB43CDC-1387-47F7-9F0F-525691171EC5}" type="sibTrans" cxnId="{C574DFBB-F96D-4531-9E50-743DC156ED4A}">
      <dgm:prSet/>
      <dgm:spPr/>
      <dgm:t>
        <a:bodyPr/>
        <a:lstStyle/>
        <a:p>
          <a:endParaRPr lang="en-GB"/>
        </a:p>
      </dgm:t>
    </dgm:pt>
    <dgm:pt modelId="{9BA47038-737A-4B93-817E-0BDE7C3A4CBC}">
      <dgm:prSet phldrT="[Text]"/>
      <dgm:spPr>
        <a:solidFill>
          <a:srgbClr val="00A1DE"/>
        </a:solidFill>
      </dgm:spPr>
      <dgm:t>
        <a:bodyPr/>
        <a:lstStyle/>
        <a:p>
          <a:r>
            <a:rPr lang="en-GB" dirty="0"/>
            <a:t>Object under test</a:t>
          </a:r>
        </a:p>
      </dgm:t>
    </dgm:pt>
    <dgm:pt modelId="{9149AEF8-4253-4F70-9DDE-D0CA5F4AEB01}" type="parTrans" cxnId="{5DA5E956-D5ED-4065-8B2A-9E3E7CDA3B57}">
      <dgm:prSet/>
      <dgm:spPr/>
      <dgm:t>
        <a:bodyPr/>
        <a:lstStyle/>
        <a:p>
          <a:endParaRPr lang="en-GB"/>
        </a:p>
      </dgm:t>
    </dgm:pt>
    <dgm:pt modelId="{AB5D7C5C-0B90-4734-8FA2-F98D340667C7}" type="sibTrans" cxnId="{5DA5E956-D5ED-4065-8B2A-9E3E7CDA3B57}">
      <dgm:prSet/>
      <dgm:spPr/>
      <dgm:t>
        <a:bodyPr/>
        <a:lstStyle/>
        <a:p>
          <a:endParaRPr lang="en-GB"/>
        </a:p>
      </dgm:t>
    </dgm:pt>
    <dgm:pt modelId="{73EDD27A-5823-4BC2-BA5A-DABD2C3161B6}">
      <dgm:prSet/>
      <dgm:spPr>
        <a:solidFill>
          <a:srgbClr val="00A1DE"/>
        </a:solidFill>
      </dgm:spPr>
      <dgm:t>
        <a:bodyPr/>
        <a:lstStyle/>
        <a:p>
          <a:r>
            <a:rPr lang="en-GB" dirty="0"/>
            <a:t>Definition of the environment;</a:t>
          </a:r>
        </a:p>
      </dgm:t>
    </dgm:pt>
    <dgm:pt modelId="{F40A6660-6EB4-4FD2-B509-D5977522D866}" type="parTrans" cxnId="{CF58FCF3-E6E1-41E9-A00B-9A8516CB192F}">
      <dgm:prSet/>
      <dgm:spPr/>
      <dgm:t>
        <a:bodyPr/>
        <a:lstStyle/>
        <a:p>
          <a:endParaRPr lang="en-GB"/>
        </a:p>
      </dgm:t>
    </dgm:pt>
    <dgm:pt modelId="{46FA9697-5B1A-482F-BD8D-79B0D8846D69}" type="sibTrans" cxnId="{CF58FCF3-E6E1-41E9-A00B-9A8516CB192F}">
      <dgm:prSet/>
      <dgm:spPr/>
      <dgm:t>
        <a:bodyPr/>
        <a:lstStyle/>
        <a:p>
          <a:endParaRPr lang="en-GB"/>
        </a:p>
      </dgm:t>
    </dgm:pt>
    <dgm:pt modelId="{F8C66F33-F501-46EA-B34D-7E0FCDCFBA5B}">
      <dgm:prSet/>
      <dgm:spPr>
        <a:solidFill>
          <a:srgbClr val="00A1DE"/>
        </a:solidFill>
      </dgm:spPr>
      <dgm:t>
        <a:bodyPr/>
        <a:lstStyle/>
        <a:p>
          <a:r>
            <a:rPr lang="en-GB"/>
            <a:t>Definition of the inputs;</a:t>
          </a:r>
          <a:endParaRPr lang="en-GB" dirty="0"/>
        </a:p>
      </dgm:t>
    </dgm:pt>
    <dgm:pt modelId="{C6DD5ADA-AEF4-4BEC-82AE-05E27AC9F9A9}" type="parTrans" cxnId="{8B1FF188-CB26-4647-9EEC-6DC7895774BA}">
      <dgm:prSet/>
      <dgm:spPr/>
      <dgm:t>
        <a:bodyPr/>
        <a:lstStyle/>
        <a:p>
          <a:endParaRPr lang="en-GB"/>
        </a:p>
      </dgm:t>
    </dgm:pt>
    <dgm:pt modelId="{03CC26FB-470C-4B6B-9B90-7C1C471CF4AA}" type="sibTrans" cxnId="{8B1FF188-CB26-4647-9EEC-6DC7895774BA}">
      <dgm:prSet/>
      <dgm:spPr/>
      <dgm:t>
        <a:bodyPr/>
        <a:lstStyle/>
        <a:p>
          <a:endParaRPr lang="en-GB"/>
        </a:p>
      </dgm:t>
    </dgm:pt>
    <dgm:pt modelId="{857B43AB-DCAD-44DC-819B-8CCBE680FE38}">
      <dgm:prSet/>
      <dgm:spPr>
        <a:solidFill>
          <a:srgbClr val="00A1DE"/>
        </a:solidFill>
      </dgm:spPr>
      <dgm:t>
        <a:bodyPr/>
        <a:lstStyle/>
        <a:p>
          <a:r>
            <a:rPr lang="en-GB" dirty="0"/>
            <a:t>Definition of the expected outputs</a:t>
          </a:r>
        </a:p>
      </dgm:t>
    </dgm:pt>
    <dgm:pt modelId="{37756A6A-6F9A-4949-9B17-F3887974C213}" type="parTrans" cxnId="{E8049B1F-FFE2-4665-876E-CDBA7AC6D6CD}">
      <dgm:prSet/>
      <dgm:spPr/>
      <dgm:t>
        <a:bodyPr/>
        <a:lstStyle/>
        <a:p>
          <a:endParaRPr lang="en-GB"/>
        </a:p>
      </dgm:t>
    </dgm:pt>
    <dgm:pt modelId="{62FC2962-820E-4E50-A246-66F1F0E38597}" type="sibTrans" cxnId="{E8049B1F-FFE2-4665-876E-CDBA7AC6D6CD}">
      <dgm:prSet/>
      <dgm:spPr/>
      <dgm:t>
        <a:bodyPr/>
        <a:lstStyle/>
        <a:p>
          <a:endParaRPr lang="en-GB"/>
        </a:p>
      </dgm:t>
    </dgm:pt>
    <dgm:pt modelId="{06816A3B-3DDC-4967-97C3-A2ED15423575}" type="pres">
      <dgm:prSet presAssocID="{FB921C1E-0D55-4D8D-B494-AFFF81B9F730}" presName="composite" presStyleCnt="0">
        <dgm:presLayoutVars>
          <dgm:chMax val="1"/>
          <dgm:dir/>
          <dgm:resizeHandles val="exact"/>
        </dgm:presLayoutVars>
      </dgm:prSet>
      <dgm:spPr/>
    </dgm:pt>
    <dgm:pt modelId="{BFEA8DB6-9525-42BA-84EE-0F1F23822C01}" type="pres">
      <dgm:prSet presAssocID="{483D94C4-B46F-4827-9299-A5EFEEC11263}" presName="roof" presStyleLbl="dkBgShp" presStyleIdx="0" presStyleCnt="2"/>
      <dgm:spPr/>
    </dgm:pt>
    <dgm:pt modelId="{43DA619F-D674-4991-8AD1-8667913882E8}" type="pres">
      <dgm:prSet presAssocID="{483D94C4-B46F-4827-9299-A5EFEEC11263}" presName="pillars" presStyleCnt="0"/>
      <dgm:spPr/>
    </dgm:pt>
    <dgm:pt modelId="{13452F81-478D-47CE-9181-E805117A6AAD}" type="pres">
      <dgm:prSet presAssocID="{483D94C4-B46F-4827-9299-A5EFEEC11263}" presName="pillar1" presStyleLbl="node1" presStyleIdx="0" presStyleCnt="4">
        <dgm:presLayoutVars>
          <dgm:bulletEnabled val="1"/>
        </dgm:presLayoutVars>
      </dgm:prSet>
      <dgm:spPr/>
    </dgm:pt>
    <dgm:pt modelId="{9D8B4FFF-C44D-45BF-8271-06E9C8F9C89A}" type="pres">
      <dgm:prSet presAssocID="{73EDD27A-5823-4BC2-BA5A-DABD2C3161B6}" presName="pillarX" presStyleLbl="node1" presStyleIdx="1" presStyleCnt="4">
        <dgm:presLayoutVars>
          <dgm:bulletEnabled val="1"/>
        </dgm:presLayoutVars>
      </dgm:prSet>
      <dgm:spPr/>
    </dgm:pt>
    <dgm:pt modelId="{586658A4-F5F6-400C-9712-1E8250A5B878}" type="pres">
      <dgm:prSet presAssocID="{F8C66F33-F501-46EA-B34D-7E0FCDCFBA5B}" presName="pillarX" presStyleLbl="node1" presStyleIdx="2" presStyleCnt="4">
        <dgm:presLayoutVars>
          <dgm:bulletEnabled val="1"/>
        </dgm:presLayoutVars>
      </dgm:prSet>
      <dgm:spPr/>
    </dgm:pt>
    <dgm:pt modelId="{850584B3-AB62-4DEE-9105-FDF5356489F1}" type="pres">
      <dgm:prSet presAssocID="{857B43AB-DCAD-44DC-819B-8CCBE680FE38}" presName="pillarX" presStyleLbl="node1" presStyleIdx="3" presStyleCnt="4">
        <dgm:presLayoutVars>
          <dgm:bulletEnabled val="1"/>
        </dgm:presLayoutVars>
      </dgm:prSet>
      <dgm:spPr/>
    </dgm:pt>
    <dgm:pt modelId="{05ADEE46-EEE2-49AE-96C1-4310DD1FF77A}" type="pres">
      <dgm:prSet presAssocID="{483D94C4-B46F-4827-9299-A5EFEEC11263}" presName="base" presStyleLbl="dkBgShp" presStyleIdx="1" presStyleCnt="2"/>
      <dgm:spPr/>
    </dgm:pt>
  </dgm:ptLst>
  <dgm:cxnLst>
    <dgm:cxn modelId="{E8049B1F-FFE2-4665-876E-CDBA7AC6D6CD}" srcId="{483D94C4-B46F-4827-9299-A5EFEEC11263}" destId="{857B43AB-DCAD-44DC-819B-8CCBE680FE38}" srcOrd="3" destOrd="0" parTransId="{37756A6A-6F9A-4949-9B17-F3887974C213}" sibTransId="{62FC2962-820E-4E50-A246-66F1F0E38597}"/>
    <dgm:cxn modelId="{BF2B5D4F-086C-5245-BA0B-84941ACDBA9F}" type="presOf" srcId="{FB921C1E-0D55-4D8D-B494-AFFF81B9F730}" destId="{06816A3B-3DDC-4967-97C3-A2ED15423575}" srcOrd="0" destOrd="0" presId="urn:microsoft.com/office/officeart/2005/8/layout/hList3"/>
    <dgm:cxn modelId="{5DA5E956-D5ED-4065-8B2A-9E3E7CDA3B57}" srcId="{483D94C4-B46F-4827-9299-A5EFEEC11263}" destId="{9BA47038-737A-4B93-817E-0BDE7C3A4CBC}" srcOrd="0" destOrd="0" parTransId="{9149AEF8-4253-4F70-9DDE-D0CA5F4AEB01}" sibTransId="{AB5D7C5C-0B90-4734-8FA2-F98D340667C7}"/>
    <dgm:cxn modelId="{8D4A0359-106E-CF43-AE24-A4D3D8349169}" type="presOf" srcId="{483D94C4-B46F-4827-9299-A5EFEEC11263}" destId="{BFEA8DB6-9525-42BA-84EE-0F1F23822C01}" srcOrd="0" destOrd="0" presId="urn:microsoft.com/office/officeart/2005/8/layout/hList3"/>
    <dgm:cxn modelId="{8B1FF188-CB26-4647-9EEC-6DC7895774BA}" srcId="{483D94C4-B46F-4827-9299-A5EFEEC11263}" destId="{F8C66F33-F501-46EA-B34D-7E0FCDCFBA5B}" srcOrd="2" destOrd="0" parTransId="{C6DD5ADA-AEF4-4BEC-82AE-05E27AC9F9A9}" sibTransId="{03CC26FB-470C-4B6B-9B90-7C1C471CF4AA}"/>
    <dgm:cxn modelId="{61DE19AE-F014-044F-916D-C3A7278FA8DD}" type="presOf" srcId="{9BA47038-737A-4B93-817E-0BDE7C3A4CBC}" destId="{13452F81-478D-47CE-9181-E805117A6AAD}" srcOrd="0" destOrd="0" presId="urn:microsoft.com/office/officeart/2005/8/layout/hList3"/>
    <dgm:cxn modelId="{03774CB3-87CF-B441-8C58-825AE09B5FCB}" type="presOf" srcId="{F8C66F33-F501-46EA-B34D-7E0FCDCFBA5B}" destId="{586658A4-F5F6-400C-9712-1E8250A5B878}" srcOrd="0" destOrd="0" presId="urn:microsoft.com/office/officeart/2005/8/layout/hList3"/>
    <dgm:cxn modelId="{55955AB4-7C42-8740-A694-0D5F1D082D5D}" type="presOf" srcId="{73EDD27A-5823-4BC2-BA5A-DABD2C3161B6}" destId="{9D8B4FFF-C44D-45BF-8271-06E9C8F9C89A}" srcOrd="0" destOrd="0" presId="urn:microsoft.com/office/officeart/2005/8/layout/hList3"/>
    <dgm:cxn modelId="{C574DFBB-F96D-4531-9E50-743DC156ED4A}" srcId="{FB921C1E-0D55-4D8D-B494-AFFF81B9F730}" destId="{483D94C4-B46F-4827-9299-A5EFEEC11263}" srcOrd="0" destOrd="0" parTransId="{75417516-91B8-4700-A0DC-697BECBD9578}" sibTransId="{8AB43CDC-1387-47F7-9F0F-525691171EC5}"/>
    <dgm:cxn modelId="{08A5D2CC-0CC4-9D44-8862-701EE92637BD}" type="presOf" srcId="{857B43AB-DCAD-44DC-819B-8CCBE680FE38}" destId="{850584B3-AB62-4DEE-9105-FDF5356489F1}" srcOrd="0" destOrd="0" presId="urn:microsoft.com/office/officeart/2005/8/layout/hList3"/>
    <dgm:cxn modelId="{CF58FCF3-E6E1-41E9-A00B-9A8516CB192F}" srcId="{483D94C4-B46F-4827-9299-A5EFEEC11263}" destId="{73EDD27A-5823-4BC2-BA5A-DABD2C3161B6}" srcOrd="1" destOrd="0" parTransId="{F40A6660-6EB4-4FD2-B509-D5977522D866}" sibTransId="{46FA9697-5B1A-482F-BD8D-79B0D8846D69}"/>
    <dgm:cxn modelId="{29174AF4-06D2-004E-AF75-C566C04DF998}" type="presParOf" srcId="{06816A3B-3DDC-4967-97C3-A2ED15423575}" destId="{BFEA8DB6-9525-42BA-84EE-0F1F23822C01}" srcOrd="0" destOrd="0" presId="urn:microsoft.com/office/officeart/2005/8/layout/hList3"/>
    <dgm:cxn modelId="{FD89C020-45D2-044F-8A3E-6116EFAB155A}" type="presParOf" srcId="{06816A3B-3DDC-4967-97C3-A2ED15423575}" destId="{43DA619F-D674-4991-8AD1-8667913882E8}" srcOrd="1" destOrd="0" presId="urn:microsoft.com/office/officeart/2005/8/layout/hList3"/>
    <dgm:cxn modelId="{C413E1B5-6C36-5B41-99FD-9AE9F484B32E}" type="presParOf" srcId="{43DA619F-D674-4991-8AD1-8667913882E8}" destId="{13452F81-478D-47CE-9181-E805117A6AAD}" srcOrd="0" destOrd="0" presId="urn:microsoft.com/office/officeart/2005/8/layout/hList3"/>
    <dgm:cxn modelId="{F455CB5C-EB86-6346-B564-C160A31DD67E}" type="presParOf" srcId="{43DA619F-D674-4991-8AD1-8667913882E8}" destId="{9D8B4FFF-C44D-45BF-8271-06E9C8F9C89A}" srcOrd="1" destOrd="0" presId="urn:microsoft.com/office/officeart/2005/8/layout/hList3"/>
    <dgm:cxn modelId="{FA9519EE-D86B-8B4D-B952-63D4AC8C3165}" type="presParOf" srcId="{43DA619F-D674-4991-8AD1-8667913882E8}" destId="{586658A4-F5F6-400C-9712-1E8250A5B878}" srcOrd="2" destOrd="0" presId="urn:microsoft.com/office/officeart/2005/8/layout/hList3"/>
    <dgm:cxn modelId="{938EF6FE-9235-414C-8943-897594607765}" type="presParOf" srcId="{43DA619F-D674-4991-8AD1-8667913882E8}" destId="{850584B3-AB62-4DEE-9105-FDF5356489F1}" srcOrd="3" destOrd="0" presId="urn:microsoft.com/office/officeart/2005/8/layout/hList3"/>
    <dgm:cxn modelId="{F463C8BB-A346-BA4E-82EB-D76AED3EF415}" type="presParOf" srcId="{06816A3B-3DDC-4967-97C3-A2ED15423575}" destId="{05ADEE46-EEE2-49AE-96C1-4310DD1FF77A}"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A8DB6-9525-42BA-84EE-0F1F23822C01}">
      <dsp:nvSpPr>
        <dsp:cNvPr id="0" name=""/>
        <dsp:cNvSpPr/>
      </dsp:nvSpPr>
      <dsp:spPr>
        <a:xfrm>
          <a:off x="0" y="0"/>
          <a:ext cx="5762170" cy="674914"/>
        </a:xfrm>
        <a:prstGeom prst="rect">
          <a:avLst/>
        </a:prstGeom>
        <a:solidFill>
          <a:schemeClr val="dk2">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GB" sz="4000" kern="1200" dirty="0"/>
            <a:t>Controlled exercise</a:t>
          </a:r>
        </a:p>
      </dsp:txBody>
      <dsp:txXfrm>
        <a:off x="0" y="0"/>
        <a:ext cx="5762170" cy="674914"/>
      </dsp:txXfrm>
    </dsp:sp>
    <dsp:sp modelId="{13452F81-478D-47CE-9181-E805117A6AAD}">
      <dsp:nvSpPr>
        <dsp:cNvPr id="0" name=""/>
        <dsp:cNvSpPr/>
      </dsp:nvSpPr>
      <dsp:spPr>
        <a:xfrm>
          <a:off x="0" y="674914"/>
          <a:ext cx="1440542" cy="1417320"/>
        </a:xfrm>
        <a:prstGeom prst="rect">
          <a:avLst/>
        </a:prstGeom>
        <a:solidFill>
          <a:srgbClr val="00A1DE"/>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Object under test</a:t>
          </a:r>
        </a:p>
      </dsp:txBody>
      <dsp:txXfrm>
        <a:off x="0" y="674914"/>
        <a:ext cx="1440542" cy="1417320"/>
      </dsp:txXfrm>
    </dsp:sp>
    <dsp:sp modelId="{9D8B4FFF-C44D-45BF-8271-06E9C8F9C89A}">
      <dsp:nvSpPr>
        <dsp:cNvPr id="0" name=""/>
        <dsp:cNvSpPr/>
      </dsp:nvSpPr>
      <dsp:spPr>
        <a:xfrm>
          <a:off x="1440542" y="674914"/>
          <a:ext cx="1440542" cy="1417320"/>
        </a:xfrm>
        <a:prstGeom prst="rect">
          <a:avLst/>
        </a:prstGeom>
        <a:solidFill>
          <a:srgbClr val="00A1DE"/>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Definition of the environment;</a:t>
          </a:r>
        </a:p>
      </dsp:txBody>
      <dsp:txXfrm>
        <a:off x="1440542" y="674914"/>
        <a:ext cx="1440542" cy="1417320"/>
      </dsp:txXfrm>
    </dsp:sp>
    <dsp:sp modelId="{586658A4-F5F6-400C-9712-1E8250A5B878}">
      <dsp:nvSpPr>
        <dsp:cNvPr id="0" name=""/>
        <dsp:cNvSpPr/>
      </dsp:nvSpPr>
      <dsp:spPr>
        <a:xfrm>
          <a:off x="2881085" y="674914"/>
          <a:ext cx="1440542" cy="1417320"/>
        </a:xfrm>
        <a:prstGeom prst="rect">
          <a:avLst/>
        </a:prstGeom>
        <a:solidFill>
          <a:srgbClr val="00A1DE"/>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Definition of the inputs;</a:t>
          </a:r>
          <a:endParaRPr lang="en-GB" sz="1700" kern="1200" dirty="0"/>
        </a:p>
      </dsp:txBody>
      <dsp:txXfrm>
        <a:off x="2881085" y="674914"/>
        <a:ext cx="1440542" cy="1417320"/>
      </dsp:txXfrm>
    </dsp:sp>
    <dsp:sp modelId="{850584B3-AB62-4DEE-9105-FDF5356489F1}">
      <dsp:nvSpPr>
        <dsp:cNvPr id="0" name=""/>
        <dsp:cNvSpPr/>
      </dsp:nvSpPr>
      <dsp:spPr>
        <a:xfrm>
          <a:off x="4321628" y="674914"/>
          <a:ext cx="1440542" cy="1417320"/>
        </a:xfrm>
        <a:prstGeom prst="rect">
          <a:avLst/>
        </a:prstGeom>
        <a:solidFill>
          <a:srgbClr val="00A1DE"/>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Definition of the expected outputs</a:t>
          </a:r>
        </a:p>
      </dsp:txBody>
      <dsp:txXfrm>
        <a:off x="4321628" y="674914"/>
        <a:ext cx="1440542" cy="1417320"/>
      </dsp:txXfrm>
    </dsp:sp>
    <dsp:sp modelId="{05ADEE46-EEE2-49AE-96C1-4310DD1FF77A}">
      <dsp:nvSpPr>
        <dsp:cNvPr id="0" name=""/>
        <dsp:cNvSpPr/>
      </dsp:nvSpPr>
      <dsp:spPr>
        <a:xfrm>
          <a:off x="0" y="2092234"/>
          <a:ext cx="5762170" cy="157480"/>
        </a:xfrm>
        <a:prstGeom prst="rect">
          <a:avLst/>
        </a:prstGeom>
        <a:solidFill>
          <a:schemeClr val="dk2">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2098" name="Rectangle 2"/>
          <p:cNvSpPr>
            <a:spLocks noGrp="1" noChangeArrowheads="1"/>
          </p:cNvSpPr>
          <p:nvPr>
            <p:ph type="hdr" sz="quarter"/>
          </p:nvPr>
        </p:nvSpPr>
        <p:spPr bwMode="auto">
          <a:xfrm>
            <a:off x="1" y="1"/>
            <a:ext cx="3169578" cy="48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t" anchorCtr="0" compatLnSpc="1">
            <a:prstTxWarp prst="textNoShape">
              <a:avLst/>
            </a:prstTxWarp>
          </a:bodyPr>
          <a:lstStyle>
            <a:lvl1pPr algn="l">
              <a:defRPr sz="1200">
                <a:latin typeface="Gill Sans" charset="0"/>
              </a:defRPr>
            </a:lvl1pPr>
          </a:lstStyle>
          <a:p>
            <a:endParaRPr lang="en-GB" dirty="0"/>
          </a:p>
        </p:txBody>
      </p:sp>
      <p:sp>
        <p:nvSpPr>
          <p:cNvPr id="1412099" name="Rectangle 3"/>
          <p:cNvSpPr>
            <a:spLocks noGrp="1" noChangeArrowheads="1"/>
          </p:cNvSpPr>
          <p:nvPr>
            <p:ph type="dt" sz="quarter" idx="1"/>
          </p:nvPr>
        </p:nvSpPr>
        <p:spPr bwMode="auto">
          <a:xfrm>
            <a:off x="4143912" y="1"/>
            <a:ext cx="3169578" cy="48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t" anchorCtr="0" compatLnSpc="1">
            <a:prstTxWarp prst="textNoShape">
              <a:avLst/>
            </a:prstTxWarp>
          </a:bodyPr>
          <a:lstStyle>
            <a:lvl1pPr>
              <a:defRPr sz="1200">
                <a:latin typeface="Gill Sans" charset="0"/>
              </a:defRPr>
            </a:lvl1pPr>
          </a:lstStyle>
          <a:p>
            <a:endParaRPr lang="en-GB"/>
          </a:p>
        </p:txBody>
      </p:sp>
      <p:sp>
        <p:nvSpPr>
          <p:cNvPr id="1412100" name="Rectangle 4"/>
          <p:cNvSpPr>
            <a:spLocks noGrp="1" noChangeArrowheads="1"/>
          </p:cNvSpPr>
          <p:nvPr>
            <p:ph type="ftr" sz="quarter" idx="2"/>
          </p:nvPr>
        </p:nvSpPr>
        <p:spPr bwMode="auto">
          <a:xfrm>
            <a:off x="1" y="9119068"/>
            <a:ext cx="3169578" cy="48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b" anchorCtr="0" compatLnSpc="1">
            <a:prstTxWarp prst="textNoShape">
              <a:avLst/>
            </a:prstTxWarp>
          </a:bodyPr>
          <a:lstStyle>
            <a:lvl1pPr algn="l">
              <a:defRPr sz="1200">
                <a:latin typeface="Gill Sans" charset="0"/>
              </a:defRPr>
            </a:lvl1pPr>
          </a:lstStyle>
          <a:p>
            <a:endParaRPr lang="en-GB" dirty="0"/>
          </a:p>
        </p:txBody>
      </p:sp>
      <p:sp>
        <p:nvSpPr>
          <p:cNvPr id="1412101" name="Rectangle 5"/>
          <p:cNvSpPr>
            <a:spLocks noGrp="1" noChangeArrowheads="1"/>
          </p:cNvSpPr>
          <p:nvPr>
            <p:ph type="sldNum" sz="quarter" idx="3"/>
          </p:nvPr>
        </p:nvSpPr>
        <p:spPr bwMode="auto">
          <a:xfrm>
            <a:off x="4143912" y="9119068"/>
            <a:ext cx="3169578" cy="48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b" anchorCtr="0" compatLnSpc="1">
            <a:prstTxWarp prst="textNoShape">
              <a:avLst/>
            </a:prstTxWarp>
          </a:bodyPr>
          <a:lstStyle>
            <a:lvl1pPr>
              <a:defRPr sz="1200">
                <a:latin typeface="Gill Sans" charset="0"/>
              </a:defRPr>
            </a:lvl1pPr>
          </a:lstStyle>
          <a:p>
            <a:r>
              <a:rPr lang="en-GB"/>
              <a:t>Page </a:t>
            </a:r>
            <a:fld id="{EA5D38E3-B9B2-4441-826C-C6BD30AADF56}" type="slidenum">
              <a:rPr lang="en-GB"/>
              <a:pPr/>
              <a:t>‹#›</a:t>
            </a:fld>
            <a:endParaRPr lang="en-GB"/>
          </a:p>
        </p:txBody>
      </p:sp>
    </p:spTree>
    <p:extLst>
      <p:ext uri="{BB962C8B-B14F-4D97-AF65-F5344CB8AC3E}">
        <p14:creationId xmlns:p14="http://schemas.microsoft.com/office/powerpoint/2010/main" val="4280234819"/>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22" name="Rectangle 2"/>
          <p:cNvSpPr>
            <a:spLocks noGrp="1" noChangeArrowheads="1"/>
          </p:cNvSpPr>
          <p:nvPr>
            <p:ph type="hdr" sz="quarter"/>
          </p:nvPr>
        </p:nvSpPr>
        <p:spPr bwMode="auto">
          <a:xfrm>
            <a:off x="1" y="1"/>
            <a:ext cx="3169578" cy="48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t" anchorCtr="0" compatLnSpc="1">
            <a:prstTxWarp prst="textNoShape">
              <a:avLst/>
            </a:prstTxWarp>
          </a:bodyPr>
          <a:lstStyle>
            <a:lvl1pPr algn="l">
              <a:defRPr sz="1200"/>
            </a:lvl1pPr>
          </a:lstStyle>
          <a:p>
            <a:endParaRPr lang="en-GB" dirty="0"/>
          </a:p>
        </p:txBody>
      </p:sp>
      <p:sp>
        <p:nvSpPr>
          <p:cNvPr id="1413123" name="Rectangle 3"/>
          <p:cNvSpPr>
            <a:spLocks noGrp="1" noChangeArrowheads="1"/>
          </p:cNvSpPr>
          <p:nvPr>
            <p:ph type="dt" idx="1"/>
          </p:nvPr>
        </p:nvSpPr>
        <p:spPr bwMode="auto">
          <a:xfrm>
            <a:off x="4143912" y="1"/>
            <a:ext cx="3169578" cy="480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t" anchorCtr="0" compatLnSpc="1">
            <a:prstTxWarp prst="textNoShape">
              <a:avLst/>
            </a:prstTxWarp>
          </a:bodyPr>
          <a:lstStyle>
            <a:lvl1pPr>
              <a:defRPr sz="1200"/>
            </a:lvl1pPr>
          </a:lstStyle>
          <a:p>
            <a:endParaRPr lang="en-GB"/>
          </a:p>
        </p:txBody>
      </p:sp>
      <p:sp>
        <p:nvSpPr>
          <p:cNvPr id="1413124" name="Rectangle 4"/>
          <p:cNvSpPr>
            <a:spLocks noGrp="1" noRot="1" noChangeAspect="1" noChangeArrowheads="1" noTextEdit="1"/>
          </p:cNvSpPr>
          <p:nvPr>
            <p:ph type="sldImg" idx="2"/>
          </p:nvPr>
        </p:nvSpPr>
        <p:spPr bwMode="auto">
          <a:xfrm>
            <a:off x="1258888" y="720725"/>
            <a:ext cx="4799012" cy="3598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1413125" name="Rectangle 5"/>
          <p:cNvSpPr>
            <a:spLocks noGrp="1" noChangeArrowheads="1"/>
          </p:cNvSpPr>
          <p:nvPr>
            <p:ph type="body" sz="quarter" idx="3"/>
          </p:nvPr>
        </p:nvSpPr>
        <p:spPr bwMode="auto">
          <a:xfrm>
            <a:off x="731180" y="4560302"/>
            <a:ext cx="5852844" cy="432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13126" name="Rectangle 6"/>
          <p:cNvSpPr>
            <a:spLocks noGrp="1" noChangeArrowheads="1"/>
          </p:cNvSpPr>
          <p:nvPr>
            <p:ph type="ftr" sz="quarter" idx="4"/>
          </p:nvPr>
        </p:nvSpPr>
        <p:spPr bwMode="auto">
          <a:xfrm>
            <a:off x="1" y="9119068"/>
            <a:ext cx="3169578" cy="48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b" anchorCtr="0" compatLnSpc="1">
            <a:prstTxWarp prst="textNoShape">
              <a:avLst/>
            </a:prstTxWarp>
          </a:bodyPr>
          <a:lstStyle>
            <a:lvl1pPr algn="l">
              <a:defRPr sz="1200"/>
            </a:lvl1pPr>
          </a:lstStyle>
          <a:p>
            <a:endParaRPr lang="en-GB" dirty="0"/>
          </a:p>
        </p:txBody>
      </p:sp>
      <p:sp>
        <p:nvSpPr>
          <p:cNvPr id="1413127" name="Rectangle 7"/>
          <p:cNvSpPr>
            <a:spLocks noGrp="1" noChangeArrowheads="1"/>
          </p:cNvSpPr>
          <p:nvPr>
            <p:ph type="sldNum" sz="quarter" idx="5"/>
          </p:nvPr>
        </p:nvSpPr>
        <p:spPr bwMode="auto">
          <a:xfrm>
            <a:off x="4143912" y="9119068"/>
            <a:ext cx="3169578" cy="480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531" tIns="45766" rIns="91531" bIns="45766" numCol="1" anchor="b" anchorCtr="0" compatLnSpc="1">
            <a:prstTxWarp prst="textNoShape">
              <a:avLst/>
            </a:prstTxWarp>
          </a:bodyPr>
          <a:lstStyle>
            <a:lvl1pPr>
              <a:defRPr sz="1200"/>
            </a:lvl1pPr>
          </a:lstStyle>
          <a:p>
            <a:fld id="{2D1B6875-EB0E-AC4C-95B7-0367583F6CD8}" type="slidenum">
              <a:rPr lang="en-GB"/>
              <a:pPr/>
              <a:t>‹#›</a:t>
            </a:fld>
            <a:endParaRPr lang="en-GB"/>
          </a:p>
        </p:txBody>
      </p:sp>
    </p:spTree>
    <p:extLst>
      <p:ext uri="{BB962C8B-B14F-4D97-AF65-F5344CB8AC3E}">
        <p14:creationId xmlns:p14="http://schemas.microsoft.com/office/powerpoint/2010/main" val="439751571"/>
      </p:ext>
    </p:extLst>
  </p:cSld>
  <p:clrMap bg1="lt1" tx1="dk1" bg2="lt2" tx2="dk2" accent1="accent1" accent2="accent2" accent3="accent3" accent4="accent4" accent5="accent5" accent6="accent6" hlink="hlink" folHlink="folHlink"/>
  <p:hf sldNum="0" hdr="0" ftr="0"/>
  <p:notesStyle>
    <a:lvl1pPr algn="l" rtl="0" fontAlgn="base">
      <a:spcBef>
        <a:spcPct val="30000"/>
      </a:spcBef>
      <a:spcAft>
        <a:spcPct val="0"/>
      </a:spcAft>
      <a:defRPr sz="1200" kern="1200">
        <a:solidFill>
          <a:schemeClr val="tx1"/>
        </a:solidFill>
        <a:latin typeface="Arial" charset="0"/>
        <a:ea typeface="ＭＳ Ｐゴシック" charset="0"/>
        <a:cs typeface="+mn-cs"/>
      </a:defRPr>
    </a:lvl1pPr>
    <a:lvl2pPr marL="457200" algn="l" rtl="0" fontAlgn="base">
      <a:spcBef>
        <a:spcPct val="30000"/>
      </a:spcBef>
      <a:spcAft>
        <a:spcPct val="0"/>
      </a:spcAft>
      <a:defRPr sz="1200" kern="1200">
        <a:solidFill>
          <a:schemeClr val="tx1"/>
        </a:solidFill>
        <a:latin typeface="Arial" charset="0"/>
        <a:ea typeface="ＭＳ Ｐゴシック" charset="0"/>
        <a:cs typeface="+mn-cs"/>
      </a:defRPr>
    </a:lvl2pPr>
    <a:lvl3pPr marL="914400" algn="l" rtl="0" fontAlgn="base">
      <a:spcBef>
        <a:spcPct val="30000"/>
      </a:spcBef>
      <a:spcAft>
        <a:spcPct val="0"/>
      </a:spcAft>
      <a:defRPr sz="1200" kern="1200">
        <a:solidFill>
          <a:schemeClr val="tx1"/>
        </a:solidFill>
        <a:latin typeface="Arial" charset="0"/>
        <a:ea typeface="ＭＳ Ｐゴシック" charset="0"/>
        <a:cs typeface="+mn-cs"/>
      </a:defRPr>
    </a:lvl3pPr>
    <a:lvl4pPr marL="1371600" algn="l" rtl="0" fontAlgn="base">
      <a:spcBef>
        <a:spcPct val="30000"/>
      </a:spcBef>
      <a:spcAft>
        <a:spcPct val="0"/>
      </a:spcAft>
      <a:defRPr sz="1200" kern="1200">
        <a:solidFill>
          <a:schemeClr val="tx1"/>
        </a:solidFill>
        <a:latin typeface="Arial" charset="0"/>
        <a:ea typeface="ＭＳ Ｐゴシック" charset="0"/>
        <a:cs typeface="+mn-cs"/>
      </a:defRPr>
    </a:lvl4pPr>
    <a:lvl5pPr marL="1828800" algn="l" rtl="0" fontAlgn="base">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n.wikipedia.org/wiki/Division_by_zero"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77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7776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9B643B6B-3CA3-4171-BAF4-3D5B56E2243F}"/>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208969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87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78787"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B4D53078-BDB1-4B1F-951C-8230E6660D39}"/>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490004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0869" y="4560793"/>
            <a:ext cx="5853468" cy="4320988"/>
          </a:xfrm>
          <a:prstGeom prst="rect">
            <a:avLst/>
          </a:prstGeom>
        </p:spPr>
        <p:txBody>
          <a:bodyPr>
            <a:normAutofit/>
          </a:bodyPr>
          <a:lstStyle/>
          <a:p>
            <a:endParaRPr lang="en-GB" dirty="0">
              <a:solidFill>
                <a:srgbClr val="0C2678"/>
              </a:solidFill>
              <a:latin typeface="Verdana" pitchFamily="34" charset="0"/>
              <a:ea typeface="+mn-ea"/>
            </a:endParaRPr>
          </a:p>
        </p:txBody>
      </p:sp>
      <p:sp>
        <p:nvSpPr>
          <p:cNvPr id="5" name="Date Placeholder 4">
            <a:extLst>
              <a:ext uri="{FF2B5EF4-FFF2-40B4-BE49-F238E27FC236}">
                <a16:creationId xmlns:a16="http://schemas.microsoft.com/office/drawing/2014/main" id="{3F3C87DD-C4EA-47E6-B462-AA3D6E1C9375}"/>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772856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0869" y="4560793"/>
            <a:ext cx="5853468" cy="4320988"/>
          </a:xfrm>
          <a:prstGeom prst="rect">
            <a:avLst/>
          </a:prstGeom>
        </p:spPr>
        <p:txBody>
          <a:bodyPr>
            <a:normAutofit/>
          </a:bodyPr>
          <a:lstStyle/>
          <a:p>
            <a:endParaRPr lang="en-GB" dirty="0">
              <a:solidFill>
                <a:srgbClr val="0C2678"/>
              </a:solidFill>
              <a:latin typeface="Verdana" pitchFamily="34" charset="0"/>
              <a:ea typeface="+mn-ea"/>
            </a:endParaRPr>
          </a:p>
        </p:txBody>
      </p:sp>
      <p:sp>
        <p:nvSpPr>
          <p:cNvPr id="5" name="Date Placeholder 4">
            <a:extLst>
              <a:ext uri="{FF2B5EF4-FFF2-40B4-BE49-F238E27FC236}">
                <a16:creationId xmlns:a16="http://schemas.microsoft.com/office/drawing/2014/main" id="{A1621B27-FCDC-41A9-A0C1-5D3CA7C85E82}"/>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845673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87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78787"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27ACA365-AF4F-4F5D-B6EB-BBA68B586149}"/>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585319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0869" y="4560793"/>
            <a:ext cx="5853468" cy="4320988"/>
          </a:xfrm>
          <a:prstGeom prst="rect">
            <a:avLst/>
          </a:prstGeom>
        </p:spPr>
        <p:txBody>
          <a:bodyPr>
            <a:normAutofit/>
          </a:bodyPr>
          <a:lstStyle/>
          <a:p>
            <a:r>
              <a:rPr lang="en-US" b="1" dirty="0">
                <a:solidFill>
                  <a:srgbClr val="0C2678"/>
                </a:solidFill>
                <a:latin typeface="Verdana" pitchFamily="34" charset="0"/>
                <a:ea typeface="+mn-ea"/>
              </a:rPr>
              <a:t>(PQ) Is anyone in the room familiar with the recent incident with the airline in question?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If someone expresses knowledge of it, ask them to relate to the rest of the room about the root of the problem. If not describe the situation. </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Ask if anyone can cite another recent example when inadequate testing was the cause of issues to an organization: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(EXAMPLE) Toyota – Recall of cars because of braking failure</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Use the rest of the slide content to discuss how important testing is.</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Highlight Willie Walsh’s statement and the importance he placed on good testing.</a:t>
            </a:r>
            <a:endParaRPr lang="en-GB" dirty="0">
              <a:solidFill>
                <a:srgbClr val="0C2678"/>
              </a:solidFill>
              <a:latin typeface="Verdana" pitchFamily="34" charset="0"/>
              <a:ea typeface="+mn-ea"/>
            </a:endParaRPr>
          </a:p>
        </p:txBody>
      </p:sp>
      <p:sp>
        <p:nvSpPr>
          <p:cNvPr id="5" name="Date Placeholder 4">
            <a:extLst>
              <a:ext uri="{FF2B5EF4-FFF2-40B4-BE49-F238E27FC236}">
                <a16:creationId xmlns:a16="http://schemas.microsoft.com/office/drawing/2014/main" id="{868FED65-FD45-4B3F-A260-237DB6B18A37}"/>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726105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0869" y="4560793"/>
            <a:ext cx="5853468" cy="4320988"/>
          </a:xfrm>
          <a:prstGeom prst="rect">
            <a:avLst/>
          </a:prstGeom>
        </p:spPr>
        <p:txBody>
          <a:bodyPr>
            <a:normAutofit/>
          </a:bodyPr>
          <a:lstStyle/>
          <a:p>
            <a:r>
              <a:rPr lang="en-US" b="1" dirty="0">
                <a:solidFill>
                  <a:srgbClr val="0C2678"/>
                </a:solidFill>
                <a:latin typeface="Verdana" pitchFamily="34" charset="0"/>
                <a:ea typeface="+mn-ea"/>
              </a:rPr>
              <a:t>(PQ) Is anyone in the room familiar with the recent incident with the airline in question?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If someone expresses knowledge of it, ask them to relate to the rest of the room about the root of the problem. If not describe the situation. </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Ask if anyone can cite another recent example when inadequate testing was the cause of issues to an organization: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(EXAMPLE) Toyota – Recall of cars because of braking failure</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Use the rest of the slide content to discuss how important testing is.</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Highlight Willie Walsh’s statement and the importance he placed on good testing.</a:t>
            </a:r>
            <a:endParaRPr lang="en-GB" dirty="0">
              <a:solidFill>
                <a:srgbClr val="0C2678"/>
              </a:solidFill>
              <a:latin typeface="Verdana" pitchFamily="34" charset="0"/>
              <a:ea typeface="+mn-ea"/>
            </a:endParaRPr>
          </a:p>
        </p:txBody>
      </p:sp>
      <p:sp>
        <p:nvSpPr>
          <p:cNvPr id="5" name="Date Placeholder 4">
            <a:extLst>
              <a:ext uri="{FF2B5EF4-FFF2-40B4-BE49-F238E27FC236}">
                <a16:creationId xmlns:a16="http://schemas.microsoft.com/office/drawing/2014/main" id="{09E5929A-D550-46C7-B664-FC6C5842C8A6}"/>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6279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8978" name="Rectangle 2"/>
          <p:cNvSpPr>
            <a:spLocks noGrp="1" noRot="1" noChangeAspect="1" noChangeArrowheads="1" noTextEdit="1"/>
          </p:cNvSpPr>
          <p:nvPr>
            <p:ph type="sldImg"/>
          </p:nvPr>
        </p:nvSpPr>
        <p:spPr>
          <a:xfrm>
            <a:off x="1262063" y="720725"/>
            <a:ext cx="4792662" cy="3594100"/>
          </a:xfrm>
          <a:ln/>
          <a:extLst>
            <a:ext uri="{FAA26D3D-D897-4be2-8F04-BA451C77F1D7}">
              <ma14:placeholderFlag xmlns:ma14="http://schemas.microsoft.com/office/mac/drawingml/2011/main" xmlns="" val="1"/>
            </a:ext>
          </a:extLst>
        </p:spPr>
      </p:sp>
      <p:sp>
        <p:nvSpPr>
          <p:cNvPr id="3198979" name="Rectangle 3"/>
          <p:cNvSpPr>
            <a:spLocks noGrp="1" noChangeArrowheads="1"/>
          </p:cNvSpPr>
          <p:nvPr>
            <p:ph type="body" idx="1"/>
          </p:nvPr>
        </p:nvSpPr>
        <p:spPr>
          <a:xfrm>
            <a:off x="974334" y="4558767"/>
            <a:ext cx="5366535" cy="4320770"/>
          </a:xfrm>
        </p:spPr>
        <p:txBody>
          <a:bodyPr/>
          <a:lstStyle/>
          <a:p>
            <a:endParaRPr lang="en-GB"/>
          </a:p>
        </p:txBody>
      </p:sp>
      <p:sp>
        <p:nvSpPr>
          <p:cNvPr id="2" name="Date Placeholder 1">
            <a:extLst>
              <a:ext uri="{FF2B5EF4-FFF2-40B4-BE49-F238E27FC236}">
                <a16:creationId xmlns:a16="http://schemas.microsoft.com/office/drawing/2014/main" id="{CA7BA884-98CE-42E4-A6D7-BFC6A0910081}"/>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035954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Rot="1" noChangeAspect="1" noChangeArrowheads="1" noTextEdit="1"/>
          </p:cNvSpPr>
          <p:nvPr>
            <p:ph type="sldImg"/>
          </p:nvPr>
        </p:nvSpPr>
        <p:spPr>
          <a:ln/>
        </p:spPr>
      </p:sp>
      <p:sp>
        <p:nvSpPr>
          <p:cNvPr id="247811" name="Rectangle 4"/>
          <p:cNvSpPr>
            <a:spLocks noGrp="1" noChangeArrowheads="1"/>
          </p:cNvSpPr>
          <p:nvPr>
            <p:ph type="body" idx="1"/>
          </p:nvPr>
        </p:nvSpPr>
        <p:spPr bwMode="auto">
          <a:xfrm>
            <a:off x="730869" y="4562284"/>
            <a:ext cx="5853468" cy="4318007"/>
          </a:xfrm>
          <a:prstGeom prst="rect">
            <a:avLst/>
          </a:prstGeom>
          <a:noFill/>
          <a:ln>
            <a:miter lim="800000"/>
            <a:headEnd/>
            <a:tailEnd/>
          </a:ln>
        </p:spPr>
        <p:txBody>
          <a:bodyPr lIns="91571" tIns="45786" rIns="91571" bIns="45786"/>
          <a:lstStyle/>
          <a:p>
            <a:pPr eaLnBrk="1" hangingPunct="1">
              <a:buNone/>
            </a:pPr>
            <a:r>
              <a:rPr lang="en-GB" sz="1000" b="1" dirty="0"/>
              <a:t>(PQ) Can you guess how many lines of code were used in the systems for these machines?</a:t>
            </a:r>
          </a:p>
          <a:p>
            <a:pPr eaLnBrk="1" hangingPunct="1">
              <a:buNone/>
            </a:pPr>
            <a:endParaRPr lang="en-GB" sz="1000" b="1" dirty="0"/>
          </a:p>
        </p:txBody>
      </p:sp>
      <p:sp>
        <p:nvSpPr>
          <p:cNvPr id="2" name="Date Placeholder 1">
            <a:extLst>
              <a:ext uri="{FF2B5EF4-FFF2-40B4-BE49-F238E27FC236}">
                <a16:creationId xmlns:a16="http://schemas.microsoft.com/office/drawing/2014/main" id="{B797902F-9B2D-4C64-8E6E-87E8E66412C9}"/>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575902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882" name="Rectangle 2"/>
          <p:cNvSpPr>
            <a:spLocks noGrp="1" noRot="1" noChangeAspect="1" noChangeArrowheads="1" noTextEdit="1"/>
          </p:cNvSpPr>
          <p:nvPr>
            <p:ph type="sldImg"/>
          </p:nvPr>
        </p:nvSpPr>
        <p:spPr>
          <a:xfrm>
            <a:off x="1262063" y="720725"/>
            <a:ext cx="4792662" cy="3594100"/>
          </a:xfrm>
          <a:ln/>
          <a:extLst>
            <a:ext uri="{FAA26D3D-D897-4be2-8F04-BA451C77F1D7}">
              <ma14:placeholderFlag xmlns:ma14="http://schemas.microsoft.com/office/mac/drawingml/2011/main" xmlns="" val="1"/>
            </a:ext>
          </a:extLst>
        </p:spPr>
      </p:sp>
      <p:sp>
        <p:nvSpPr>
          <p:cNvPr id="3194883" name="Rectangle 3"/>
          <p:cNvSpPr>
            <a:spLocks noGrp="1" noChangeArrowheads="1"/>
          </p:cNvSpPr>
          <p:nvPr>
            <p:ph type="body" idx="1"/>
          </p:nvPr>
        </p:nvSpPr>
        <p:spPr>
          <a:xfrm>
            <a:off x="974334" y="4558767"/>
            <a:ext cx="5366535" cy="4320770"/>
          </a:xfrm>
        </p:spPr>
        <p:txBody>
          <a:bodyPr/>
          <a:lstStyle/>
          <a:p>
            <a:endParaRPr lang="en-GB"/>
          </a:p>
        </p:txBody>
      </p:sp>
      <p:sp>
        <p:nvSpPr>
          <p:cNvPr id="2" name="Date Placeholder 1">
            <a:extLst>
              <a:ext uri="{FF2B5EF4-FFF2-40B4-BE49-F238E27FC236}">
                <a16:creationId xmlns:a16="http://schemas.microsoft.com/office/drawing/2014/main" id="{ED673DC6-0B55-4865-B77C-4FC8C50BEED6}"/>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110554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98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79811" name="Rectangle 3"/>
          <p:cNvSpPr>
            <a:spLocks noGrp="1" noChangeArrowheads="1"/>
          </p:cNvSpPr>
          <p:nvPr>
            <p:ph type="body" idx="1"/>
          </p:nvPr>
        </p:nvSpPr>
        <p:spPr/>
        <p:txBody>
          <a:bodyPr/>
          <a:lstStyle/>
          <a:p>
            <a:r>
              <a:rPr lang="en-GB" b="1" dirty="0" err="1"/>
              <a:t>Therac</a:t>
            </a:r>
            <a:r>
              <a:rPr lang="en-GB" b="1" dirty="0"/>
              <a:t> 25 </a:t>
            </a:r>
            <a:r>
              <a:rPr lang="en-GB" dirty="0"/>
              <a:t>– 6 accidents – 2</a:t>
            </a:r>
            <a:r>
              <a:rPr lang="en-GB" baseline="0" dirty="0"/>
              <a:t> software faults – 100x dose of radiation over narrower area – poor software design and development practices – 4 deaths, 2 others with life long injuries</a:t>
            </a:r>
          </a:p>
          <a:p>
            <a:r>
              <a:rPr lang="en-GB" b="1" dirty="0"/>
              <a:t>London Ambulance </a:t>
            </a:r>
            <a:r>
              <a:rPr lang="en-GB" dirty="0"/>
              <a:t>– Computer Aided Dispatch – 2500 calls,</a:t>
            </a:r>
            <a:r>
              <a:rPr lang="en-GB" baseline="0" dirty="0"/>
              <a:t> 200 ambulances - </a:t>
            </a:r>
            <a:r>
              <a:rPr lang="en-GB" dirty="0"/>
              <a:t>30 to 45 deaths? – went live without load testing and 81 software issues – training 10 month previous – incomplete data and user interface issues</a:t>
            </a:r>
          </a:p>
          <a:p>
            <a:r>
              <a:rPr lang="en-GB" b="1" dirty="0"/>
              <a:t>Denver Baggage</a:t>
            </a:r>
            <a:r>
              <a:rPr lang="en-GB" b="1" baseline="0" dirty="0"/>
              <a:t> Handling System </a:t>
            </a:r>
            <a:r>
              <a:rPr lang="en-GB" baseline="0" dirty="0"/>
              <a:t>– airport idle 16 months – 560 million added to cost of the airport – never implemented properly and scrapped in August 2005 - </a:t>
            </a:r>
            <a:r>
              <a:rPr lang="en-IE" baseline="0" dirty="0"/>
              <a:t>Underestimation of complexity.  Complex architecture.  Changes in requirements.  Underestimation of schedule and budget.  Dismissal of advice from experts.  Failure to build in backup or recovery process to handle situations in which part of the system failed.  The tendency of the system to enjoy eating people’s baggage.</a:t>
            </a:r>
          </a:p>
          <a:p>
            <a:r>
              <a:rPr lang="en-IE" b="1" baseline="0" dirty="0"/>
              <a:t>Taurus </a:t>
            </a:r>
            <a:r>
              <a:rPr lang="en-IE" baseline="0" dirty="0"/>
              <a:t>– London Stock Exchange - electronic system for the transfer of shares and other securities – abandoned at a cost of approx. £400 million - </a:t>
            </a:r>
            <a:r>
              <a:rPr lang="en-IE" sz="1200" b="0" i="0" kern="1200" dirty="0">
                <a:solidFill>
                  <a:schemeClr val="tx1"/>
                </a:solidFill>
                <a:effectLst/>
                <a:latin typeface="Arial" charset="0"/>
                <a:ea typeface="ＭＳ Ｐゴシック" charset="0"/>
                <a:cs typeface="+mn-cs"/>
              </a:rPr>
              <a:t>blamed on the fact that the system was too complicated. The proposed system consisted of a number of interlocking databases held by, amongst others, institutions, which were to be known as "controllers". But there were immense technical difficulties in tying together the databases in a secure and error free manner.</a:t>
            </a:r>
          </a:p>
          <a:p>
            <a:r>
              <a:rPr lang="en-IE" sz="1200" b="1" i="0" kern="1200" dirty="0">
                <a:solidFill>
                  <a:schemeClr val="tx1"/>
                </a:solidFill>
                <a:effectLst/>
                <a:latin typeface="Arial" charset="0"/>
                <a:ea typeface="ＭＳ Ｐゴシック" charset="0"/>
                <a:cs typeface="+mn-cs"/>
              </a:rPr>
              <a:t>Ariane 5 </a:t>
            </a:r>
            <a:r>
              <a:rPr lang="en-IE" sz="1200" b="0" i="0" kern="1200" dirty="0">
                <a:solidFill>
                  <a:schemeClr val="tx1"/>
                </a:solidFill>
                <a:effectLst/>
                <a:latin typeface="Arial" charset="0"/>
                <a:ea typeface="ＭＳ Ｐゴシック" charset="0"/>
                <a:cs typeface="+mn-cs"/>
              </a:rPr>
              <a:t>- On June 4th, 1996, the very first Ariane 5 rocket ignited its engines and began speeding away from the coast of French Guiana. 37 seconds later, the rocket flipped 90 degrees in the wrong direction, and less than two seconds later, aerodynamic forces ripped the boosters apart from the main stage at a height of 4km. This caused the self-destruct mechanism to trigger, and the spacecraft was consumed in a gigantic fireball of liquid hydrogen.</a:t>
            </a:r>
          </a:p>
          <a:p>
            <a:r>
              <a:rPr lang="en-IE" sz="1200" b="0" i="0" kern="1200" dirty="0">
                <a:solidFill>
                  <a:schemeClr val="tx1"/>
                </a:solidFill>
                <a:effectLst/>
                <a:latin typeface="Arial" charset="0"/>
                <a:ea typeface="ＭＳ Ｐゴシック" charset="0"/>
                <a:cs typeface="+mn-cs"/>
              </a:rPr>
              <a:t>The disastrous launch cost approximately $370m, led to a public inquiry, and through the destruction of the rocket’s payload, delayed scientific research into workings of the Earth’s magnetosphere for almost 4 years. The Ariane 5 launch is widely acknowledged as one of the most expensive software failures in history. The fault was quickly identified as a software bug in the rocket’s Inertial Reference System</a:t>
            </a:r>
            <a:r>
              <a:rPr lang="en-IE" sz="1200" b="0" i="0" kern="1200" baseline="0" dirty="0">
                <a:solidFill>
                  <a:schemeClr val="tx1"/>
                </a:solidFill>
                <a:effectLst/>
                <a:latin typeface="Arial" charset="0"/>
                <a:ea typeface="ＭＳ Ｐゴシック" charset="0"/>
                <a:cs typeface="+mn-cs"/>
              </a:rPr>
              <a:t> - </a:t>
            </a:r>
            <a:r>
              <a:rPr lang="en-IE" sz="1200" b="0" i="0" kern="1200" dirty="0">
                <a:solidFill>
                  <a:schemeClr val="tx1"/>
                </a:solidFill>
                <a:effectLst/>
                <a:latin typeface="Arial" charset="0"/>
                <a:ea typeface="ＭＳ Ｐゴシック" charset="0"/>
                <a:cs typeface="+mn-cs"/>
              </a:rPr>
              <a:t>the software attempted to stuff a 64-bit variable, which can represent billions of potential values, into a 16-bit integer, which can only represent 65,535 potential values. </a:t>
            </a:r>
          </a:p>
          <a:p>
            <a:r>
              <a:rPr lang="en-GB" b="1" dirty="0"/>
              <a:t>USS Yorktown</a:t>
            </a:r>
            <a:r>
              <a:rPr lang="en-GB" b="1" baseline="0" dirty="0"/>
              <a:t> </a:t>
            </a:r>
            <a:r>
              <a:rPr lang="en-GB" baseline="0" dirty="0"/>
              <a:t>- </a:t>
            </a:r>
            <a:r>
              <a:rPr lang="en-IE" sz="1200" b="0" i="0" kern="1200" dirty="0">
                <a:solidFill>
                  <a:schemeClr val="tx1"/>
                </a:solidFill>
                <a:effectLst/>
                <a:latin typeface="Arial" charset="0"/>
                <a:ea typeface="ＭＳ Ｐゴシック" charset="0"/>
                <a:cs typeface="+mn-cs"/>
              </a:rPr>
              <a:t>a </a:t>
            </a:r>
            <a:r>
              <a:rPr lang="en-IE" sz="1200" b="0" i="0" kern="1200" dirty="0">
                <a:solidFill>
                  <a:schemeClr val="tx1"/>
                </a:solidFill>
                <a:effectLst/>
                <a:latin typeface="Arial" charset="0"/>
                <a:ea typeface="ＭＳ Ｐゴシック" charset="0"/>
                <a:cs typeface="+mn-cs"/>
                <a:hlinkClick r:id="rId3" tooltip="Division by zero"/>
              </a:rPr>
              <a:t>division by zero</a:t>
            </a:r>
            <a:r>
              <a:rPr lang="en-IE" sz="1200" b="0" i="0" kern="1200" dirty="0">
                <a:solidFill>
                  <a:schemeClr val="tx1"/>
                </a:solidFill>
                <a:effectLst/>
                <a:latin typeface="Arial" charset="0"/>
                <a:ea typeface="ＭＳ Ｐゴシック" charset="0"/>
                <a:cs typeface="+mn-cs"/>
              </a:rPr>
              <a:t> error on board the USS Yorktown (CG-48) </a:t>
            </a:r>
            <a:r>
              <a:rPr lang="en-IE" sz="1200" b="0" i="1" kern="1200" dirty="0">
                <a:solidFill>
                  <a:schemeClr val="tx1"/>
                </a:solidFill>
                <a:effectLst/>
                <a:latin typeface="Arial" charset="0"/>
                <a:ea typeface="ＭＳ Ｐゴシック" charset="0"/>
                <a:cs typeface="+mn-cs"/>
              </a:rPr>
              <a:t>Remote Data Base Manager</a:t>
            </a:r>
            <a:r>
              <a:rPr lang="en-IE" sz="1200" b="0" i="0" kern="1200" dirty="0">
                <a:solidFill>
                  <a:schemeClr val="tx1"/>
                </a:solidFill>
                <a:effectLst/>
                <a:latin typeface="Arial" charset="0"/>
                <a:ea typeface="ＭＳ Ｐゴシック" charset="0"/>
                <a:cs typeface="+mn-cs"/>
              </a:rPr>
              <a:t> brought down all the machines on the network, causing the ship's propulsion system to fail.</a:t>
            </a:r>
          </a:p>
          <a:p>
            <a:r>
              <a:rPr lang="en-IE" sz="1200" b="1" i="0" kern="1200" dirty="0">
                <a:solidFill>
                  <a:schemeClr val="tx1"/>
                </a:solidFill>
                <a:effectLst/>
                <a:latin typeface="Arial" charset="0"/>
                <a:ea typeface="ＭＳ Ｐゴシック" charset="0"/>
                <a:cs typeface="+mn-cs"/>
              </a:rPr>
              <a:t>Mars Climate Orbiter </a:t>
            </a:r>
            <a:r>
              <a:rPr lang="en-IE" sz="1200" b="0" i="0" kern="1200" dirty="0">
                <a:solidFill>
                  <a:schemeClr val="tx1"/>
                </a:solidFill>
                <a:effectLst/>
                <a:latin typeface="Arial" charset="0"/>
                <a:ea typeface="ＭＳ Ｐゴシック" charset="0"/>
                <a:cs typeface="+mn-cs"/>
              </a:rPr>
              <a:t>- The mission was unsuccessful due to a navigation error caused by a failure to translate English units to metric.</a:t>
            </a:r>
            <a:endParaRPr lang="en-GB" dirty="0"/>
          </a:p>
        </p:txBody>
      </p:sp>
      <p:sp>
        <p:nvSpPr>
          <p:cNvPr id="2" name="Date Placeholder 1">
            <a:extLst>
              <a:ext uri="{FF2B5EF4-FFF2-40B4-BE49-F238E27FC236}">
                <a16:creationId xmlns:a16="http://schemas.microsoft.com/office/drawing/2014/main" id="{05D36BE4-CE66-4785-86B6-7F0BA58D5A37}"/>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318721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6930" name="Rectangle 2"/>
          <p:cNvSpPr>
            <a:spLocks noGrp="1" noRot="1" noChangeAspect="1" noChangeArrowheads="1" noTextEdit="1"/>
          </p:cNvSpPr>
          <p:nvPr>
            <p:ph type="sldImg"/>
          </p:nvPr>
        </p:nvSpPr>
        <p:spPr>
          <a:xfrm>
            <a:off x="1262063" y="720725"/>
            <a:ext cx="4792662" cy="3594100"/>
          </a:xfrm>
          <a:ln/>
          <a:extLst>
            <a:ext uri="{FAA26D3D-D897-4be2-8F04-BA451C77F1D7}">
              <ma14:placeholderFlag xmlns:ma14="http://schemas.microsoft.com/office/mac/drawingml/2011/main" xmlns="" val="1"/>
            </a:ext>
          </a:extLst>
        </p:spPr>
      </p:sp>
      <p:sp>
        <p:nvSpPr>
          <p:cNvPr id="3196931" name="Rectangle 3"/>
          <p:cNvSpPr>
            <a:spLocks noGrp="1" noChangeArrowheads="1"/>
          </p:cNvSpPr>
          <p:nvPr>
            <p:ph type="body" idx="1"/>
          </p:nvPr>
        </p:nvSpPr>
        <p:spPr>
          <a:xfrm>
            <a:off x="974334" y="4558767"/>
            <a:ext cx="5366535" cy="4320770"/>
          </a:xfrm>
        </p:spPr>
        <p:txBody>
          <a:bodyPr/>
          <a:lstStyle/>
          <a:p>
            <a:endParaRPr lang="en-GB"/>
          </a:p>
        </p:txBody>
      </p:sp>
      <p:sp>
        <p:nvSpPr>
          <p:cNvPr id="2" name="Date Placeholder 1">
            <a:extLst>
              <a:ext uri="{FF2B5EF4-FFF2-40B4-BE49-F238E27FC236}">
                <a16:creationId xmlns:a16="http://schemas.microsoft.com/office/drawing/2014/main" id="{015C0EAA-0BE6-4606-B7B7-4A0274151C42}"/>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722677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3074" name="Rectangle 2"/>
          <p:cNvSpPr>
            <a:spLocks noGrp="1" noRot="1" noChangeAspect="1" noChangeArrowheads="1" noTextEdit="1"/>
          </p:cNvSpPr>
          <p:nvPr>
            <p:ph type="sldImg"/>
          </p:nvPr>
        </p:nvSpPr>
        <p:spPr>
          <a:xfrm>
            <a:off x="1262063" y="720725"/>
            <a:ext cx="4792662" cy="3594100"/>
          </a:xfrm>
          <a:ln/>
          <a:extLst>
            <a:ext uri="{FAA26D3D-D897-4be2-8F04-BA451C77F1D7}">
              <ma14:placeholderFlag xmlns:ma14="http://schemas.microsoft.com/office/mac/drawingml/2011/main" xmlns="" val="1"/>
            </a:ext>
          </a:extLst>
        </p:spPr>
      </p:sp>
      <p:sp>
        <p:nvSpPr>
          <p:cNvPr id="3203075" name="Rectangle 3"/>
          <p:cNvSpPr>
            <a:spLocks noGrp="1" noChangeArrowheads="1"/>
          </p:cNvSpPr>
          <p:nvPr>
            <p:ph type="body" idx="1"/>
          </p:nvPr>
        </p:nvSpPr>
        <p:spPr>
          <a:xfrm>
            <a:off x="974334" y="4558767"/>
            <a:ext cx="5366535" cy="4320770"/>
          </a:xfrm>
        </p:spPr>
        <p:txBody>
          <a:bodyPr/>
          <a:lstStyle/>
          <a:p>
            <a:endParaRPr lang="en-GB" dirty="0"/>
          </a:p>
        </p:txBody>
      </p:sp>
      <p:sp>
        <p:nvSpPr>
          <p:cNvPr id="2" name="Date Placeholder 1">
            <a:extLst>
              <a:ext uri="{FF2B5EF4-FFF2-40B4-BE49-F238E27FC236}">
                <a16:creationId xmlns:a16="http://schemas.microsoft.com/office/drawing/2014/main" id="{54A49607-A74D-47A7-BFEB-CA3CFBBD9132}"/>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08719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08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0835"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2244DFF8-830E-4337-82E8-BE0612AA3621}"/>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120739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18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1859"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71CC0284-936A-4CA8-AA6A-398463E79C61}"/>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810848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5B1EF3FF-967E-41C7-A397-AE8837E503EC}"/>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785540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D3F577E2-46FE-45D3-962E-2384589DB48B}"/>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033548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39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3907"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69322405-EE57-4440-9070-F440C334B31B}"/>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848949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A48DF882-067E-4F15-B45C-98EF6207B4E2}"/>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1102589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49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4931"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51D61031-5A9C-4148-873A-35A5E011B082}"/>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8829113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A48DF882-067E-4F15-B45C-98EF6207B4E2}"/>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6177487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49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4931"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6F28AA01-E639-4451-A201-101AC691FB76}"/>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4187526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59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5955"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E38B7881-C0FF-41C4-BCC3-0E783C0ED5F7}"/>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9766300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697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6979" name="Rectangle 3"/>
          <p:cNvSpPr>
            <a:spLocks noGrp="1" noChangeArrowheads="1"/>
          </p:cNvSpPr>
          <p:nvPr>
            <p:ph type="body" idx="1"/>
          </p:nvPr>
        </p:nvSpPr>
        <p:spPr/>
        <p:txBody>
          <a:bodyPr/>
          <a:lstStyle/>
          <a:p>
            <a:endParaRPr lang="en-GB" dirty="0"/>
          </a:p>
        </p:txBody>
      </p:sp>
      <p:sp>
        <p:nvSpPr>
          <p:cNvPr id="2" name="Date Placeholder 1">
            <a:extLst>
              <a:ext uri="{FF2B5EF4-FFF2-40B4-BE49-F238E27FC236}">
                <a16:creationId xmlns:a16="http://schemas.microsoft.com/office/drawing/2014/main" id="{29A709D1-6813-42AA-93E9-738DB453BE58}"/>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1082584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80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800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B306B0EC-52C6-47C5-B42E-99F484F39A2B}"/>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720757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90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9027"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6F9ED9AB-FF8B-45EA-8C2C-E22686007196}"/>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40663842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005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90051"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1D7E9B45-806E-4E1F-8A9F-7C9B7715588A}"/>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4643870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A48DF882-067E-4F15-B45C-98EF6207B4E2}"/>
              </a:ext>
            </a:extLst>
          </p:cNvPr>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39370494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10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91075"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03887D27-0A1A-4A23-8523-9200A213CE85}"/>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2364492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20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92099"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45C23789-B007-4D27-9046-A1B7E07E652B}"/>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40448691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56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85667"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F165911E-862E-4F64-805A-DCB2309BD351}"/>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2152158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dirty="0"/>
          </a:p>
        </p:txBody>
      </p:sp>
      <p:sp>
        <p:nvSpPr>
          <p:cNvPr id="2" name="Date Placeholder 1">
            <a:extLst>
              <a:ext uri="{FF2B5EF4-FFF2-40B4-BE49-F238E27FC236}">
                <a16:creationId xmlns:a16="http://schemas.microsoft.com/office/drawing/2014/main" id="{A48DF882-067E-4F15-B45C-98EF6207B4E2}"/>
              </a:ext>
            </a:extLst>
          </p:cNvPr>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20380086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66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86691" name="Rectangle 3"/>
          <p:cNvSpPr>
            <a:spLocks noGrp="1" noChangeArrowheads="1"/>
          </p:cNvSpPr>
          <p:nvPr>
            <p:ph type="body" idx="1"/>
          </p:nvPr>
        </p:nvSpPr>
        <p:spPr/>
        <p:txBody>
          <a:bodyPr/>
          <a:lstStyle/>
          <a:p>
            <a:endParaRPr lang="en-GB" dirty="0"/>
          </a:p>
        </p:txBody>
      </p:sp>
      <p:sp>
        <p:nvSpPr>
          <p:cNvPr id="2" name="Date Placeholder 1">
            <a:extLst>
              <a:ext uri="{FF2B5EF4-FFF2-40B4-BE49-F238E27FC236}">
                <a16:creationId xmlns:a16="http://schemas.microsoft.com/office/drawing/2014/main" id="{8BFBAF77-3051-4826-B287-48AE03444DD5}"/>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8977772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77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87715"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0C39CA7B-E825-4CD5-987C-26C6533A1188}"/>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9662495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87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88739"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650D9D13-44F2-4DB9-AC03-4F8ED8EE7AE2}"/>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40443039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97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8976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29A29961-932C-4E9B-AFE7-1E4691C82669}"/>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8202064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07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90787"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6B105EAD-73AD-483F-8BB9-C0471C090D77}"/>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9226327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18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91811"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42870919-D5EB-461F-A06C-5931E6205A8C}"/>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8223930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28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192835"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8B94BC3E-7349-4DB9-AAE3-CAAAE7A8325C}"/>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3165226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A48DF882-067E-4F15-B45C-98EF6207B4E2}"/>
              </a:ext>
            </a:extLst>
          </p:cNvPr>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2830241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Rot="1" noChangeAspect="1" noChangeArrowheads="1" noTextEdit="1"/>
          </p:cNvSpPr>
          <p:nvPr>
            <p:ph type="sldImg"/>
          </p:nvPr>
        </p:nvSpPr>
        <p:spPr>
          <a:ln/>
        </p:spPr>
      </p:sp>
      <p:sp>
        <p:nvSpPr>
          <p:cNvPr id="266243" name="Rectangle 4"/>
          <p:cNvSpPr>
            <a:spLocks noGrp="1" noChangeArrowheads="1"/>
          </p:cNvSpPr>
          <p:nvPr>
            <p:ph type="body" idx="1"/>
          </p:nvPr>
        </p:nvSpPr>
        <p:spPr bwMode="auto">
          <a:xfrm>
            <a:off x="730869" y="4562284"/>
            <a:ext cx="5853468" cy="4318007"/>
          </a:xfrm>
          <a:prstGeom prst="rect">
            <a:avLst/>
          </a:prstGeom>
          <a:noFill/>
          <a:ln>
            <a:miter lim="800000"/>
            <a:headEnd/>
            <a:tailEnd/>
          </a:ln>
        </p:spPr>
        <p:txBody>
          <a:bodyPr lIns="91571" tIns="45786" rIns="91571" bIns="45786"/>
          <a:lstStyle/>
          <a:p>
            <a:pPr eaLnBrk="1" hangingPunct="1"/>
            <a:r>
              <a:rPr lang="en-US" altLang="ja-JP"/>
              <a:t>Describe the different between testing and debugging using the slide content as a basis for discussion. Important distinction is who does it and the objective of each. </a:t>
            </a:r>
          </a:p>
          <a:p>
            <a:pPr eaLnBrk="1" hangingPunct="1"/>
            <a:r>
              <a:rPr lang="en-US" altLang="ja-JP"/>
              <a:t>Testing – The systematic exploration of a component/system with the main aim of finding and reporting defects.</a:t>
            </a:r>
          </a:p>
          <a:p>
            <a:pPr eaLnBrk="1" hangingPunct="1"/>
            <a:r>
              <a:rPr lang="en-US" altLang="ja-JP"/>
              <a:t>Debugging – A process that developers go through to identify the cause of defects in code and undertake corrections. </a:t>
            </a:r>
            <a:endParaRPr lang="en-US" altLang="ja-JP" b="1"/>
          </a:p>
          <a:p>
            <a:pPr eaLnBrk="1" hangingPunct="1"/>
            <a:r>
              <a:rPr lang="en-US" altLang="ja-JP" b="1"/>
              <a:t>When does debugging take place?</a:t>
            </a:r>
            <a:endParaRPr lang="en-US" altLang="ja-JP"/>
          </a:p>
          <a:p>
            <a:pPr lvl="1" eaLnBrk="1" hangingPunct="1"/>
            <a:r>
              <a:rPr lang="en-US" altLang="ja-JP"/>
              <a:t>Debugging can take place when developers test their own pieces of code (unit testing) or when defects have been discovered in order to determine their root cause. Debugging can also be used in the creation of incident reports as a method to gather further information for analysis.</a:t>
            </a:r>
            <a:endParaRPr lang="en-GB"/>
          </a:p>
        </p:txBody>
      </p:sp>
      <p:sp>
        <p:nvSpPr>
          <p:cNvPr id="2" name="Date Placeholder 1">
            <a:extLst>
              <a:ext uri="{FF2B5EF4-FFF2-40B4-BE49-F238E27FC236}">
                <a16:creationId xmlns:a16="http://schemas.microsoft.com/office/drawing/2014/main" id="{D0A420D4-9185-45F7-AE6E-F55B4B677E2A}"/>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1951734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Rot="1" noChangeAspect="1" noChangeArrowheads="1" noTextEdit="1"/>
          </p:cNvSpPr>
          <p:nvPr>
            <p:ph type="sldImg"/>
          </p:nvPr>
        </p:nvSpPr>
        <p:spPr>
          <a:ln/>
        </p:spPr>
      </p:sp>
      <p:sp>
        <p:nvSpPr>
          <p:cNvPr id="264195" name="Rectangle 4"/>
          <p:cNvSpPr>
            <a:spLocks noGrp="1" noChangeArrowheads="1"/>
          </p:cNvSpPr>
          <p:nvPr>
            <p:ph type="body" idx="1"/>
          </p:nvPr>
        </p:nvSpPr>
        <p:spPr bwMode="auto">
          <a:xfrm>
            <a:off x="730869" y="4562284"/>
            <a:ext cx="5853468" cy="4318007"/>
          </a:xfrm>
          <a:prstGeom prst="rect">
            <a:avLst/>
          </a:prstGeom>
          <a:noFill/>
          <a:ln>
            <a:miter lim="800000"/>
            <a:headEnd/>
            <a:tailEnd/>
          </a:ln>
        </p:spPr>
        <p:txBody>
          <a:bodyPr lIns="91571" tIns="45786" rIns="91571" bIns="45786"/>
          <a:lstStyle/>
          <a:p>
            <a:pPr eaLnBrk="1" hangingPunct="1"/>
            <a:r>
              <a:rPr lang="en-US" altLang="ja-JP" b="1"/>
              <a:t>What is a test? </a:t>
            </a:r>
            <a:endParaRPr lang="en-US" altLang="ja-JP"/>
          </a:p>
          <a:p>
            <a:pPr lvl="1" eaLnBrk="1" hangingPunct="1"/>
            <a:r>
              <a:rPr lang="en-US" altLang="ja-JP"/>
              <a:t>IEEE 829 defines a test as a set of one or more test cases. IEEE 610 defines a test case as a set of input values, execution preconditions, expected results and execution postconditions, developed for a particular objective or test condition, such as to exercise a particular program path or to verify compliance with a specific requirement.</a:t>
            </a:r>
          </a:p>
          <a:p>
            <a:pPr eaLnBrk="1" hangingPunct="1"/>
            <a:r>
              <a:rPr lang="en-US" altLang="ja-JP"/>
              <a:t>Use this slide to describe what a test is paying particular attention to the keywords “controlled”, “environment”, “inputs” and “expected outputs”. When a test is executed, we will get an actual result/output and be able to decide if it is successful or not.</a:t>
            </a:r>
          </a:p>
          <a:p>
            <a:pPr eaLnBrk="1" hangingPunct="1"/>
            <a:r>
              <a:rPr lang="en-US" altLang="ja-JP"/>
              <a:t>Turn to pre-drawn flipchart of test suites, test conditions, test cases and use this to describe the phrases below:</a:t>
            </a:r>
          </a:p>
          <a:p>
            <a:pPr lvl="1" eaLnBrk="1" hangingPunct="1"/>
            <a:r>
              <a:rPr lang="en-US" altLang="ja-JP"/>
              <a:t>Test Case = A set of inputs, execution preconditions, and expected outcomes developed for a particular objective such as to exercise a particular program path or to verify compliance with a specific requirement. (BS7925)</a:t>
            </a:r>
          </a:p>
          <a:p>
            <a:pPr lvl="1" eaLnBrk="1" hangingPunct="1"/>
            <a:r>
              <a:rPr lang="en-US" altLang="ja-JP"/>
              <a:t>Test Condition = A situation, event, data value, logical expression selected to exercise a coverage item. Typically, several conditions are combined to make up a test case. (BS7925)</a:t>
            </a:r>
            <a:endParaRPr lang="en-GB"/>
          </a:p>
        </p:txBody>
      </p:sp>
      <p:sp>
        <p:nvSpPr>
          <p:cNvPr id="2" name="Date Placeholder 1">
            <a:extLst>
              <a:ext uri="{FF2B5EF4-FFF2-40B4-BE49-F238E27FC236}">
                <a16:creationId xmlns:a16="http://schemas.microsoft.com/office/drawing/2014/main" id="{C63619D6-CFBF-4A16-9CE2-8C0AB300A3B9}"/>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5442190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23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02339"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6C6773EE-1925-49A2-90F6-A9C6A753F719}"/>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0112987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0336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07BF0FE4-C57E-4E97-9AD9-9D3794DBFD3D}"/>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5091405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A48DF882-067E-4F15-B45C-98EF6207B4E2}"/>
              </a:ext>
            </a:extLst>
          </p:cNvPr>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20799048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1682" name="Rectangle 5"/>
          <p:cNvSpPr txBox="1">
            <a:spLocks noGrp="1" noChangeArrowheads="1"/>
          </p:cNvSpPr>
          <p:nvPr/>
        </p:nvSpPr>
        <p:spPr bwMode="auto">
          <a:xfrm>
            <a:off x="4145623" y="9122139"/>
            <a:ext cx="3169577" cy="47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0155" tIns="0" rIns="20155" bIns="0" anchor="b"/>
          <a:lstStyle>
            <a:lvl1pPr algn="l" defTabSz="966788">
              <a:defRPr>
                <a:solidFill>
                  <a:schemeClr val="tx1"/>
                </a:solidFill>
                <a:latin typeface="Arial" charset="0"/>
                <a:ea typeface="ＭＳ Ｐゴシック" charset="0"/>
              </a:defRPr>
            </a:lvl1pPr>
            <a:lvl2pPr marL="742950" indent="-285750" algn="l" defTabSz="966788">
              <a:defRPr>
                <a:solidFill>
                  <a:schemeClr val="tx1"/>
                </a:solidFill>
                <a:latin typeface="Arial" charset="0"/>
                <a:ea typeface="ＭＳ Ｐゴシック" charset="0"/>
              </a:defRPr>
            </a:lvl2pPr>
            <a:lvl3pPr marL="1143000" indent="-228600" algn="l" defTabSz="966788">
              <a:defRPr>
                <a:solidFill>
                  <a:schemeClr val="tx1"/>
                </a:solidFill>
                <a:latin typeface="Arial" charset="0"/>
                <a:ea typeface="ＭＳ Ｐゴシック" charset="0"/>
              </a:defRPr>
            </a:lvl3pPr>
            <a:lvl4pPr marL="1600200" indent="-228600" algn="l" defTabSz="966788">
              <a:defRPr>
                <a:solidFill>
                  <a:schemeClr val="tx1"/>
                </a:solidFill>
                <a:latin typeface="Arial" charset="0"/>
                <a:ea typeface="ＭＳ Ｐゴシック" charset="0"/>
              </a:defRPr>
            </a:lvl4pPr>
            <a:lvl5pPr marL="2057400" indent="-228600" algn="l" defTabSz="966788">
              <a:defRPr>
                <a:solidFill>
                  <a:schemeClr val="tx1"/>
                </a:solidFill>
                <a:latin typeface="Arial" charset="0"/>
                <a:ea typeface="ＭＳ Ｐゴシック" charset="0"/>
              </a:defRPr>
            </a:lvl5pPr>
            <a:lvl6pPr marL="2514600" indent="-228600" defTabSz="966788" fontAlgn="base">
              <a:spcBef>
                <a:spcPct val="0"/>
              </a:spcBef>
              <a:spcAft>
                <a:spcPct val="0"/>
              </a:spcAft>
              <a:defRPr>
                <a:solidFill>
                  <a:schemeClr val="tx1"/>
                </a:solidFill>
                <a:latin typeface="Arial" charset="0"/>
                <a:ea typeface="ＭＳ Ｐゴシック" charset="0"/>
              </a:defRPr>
            </a:lvl6pPr>
            <a:lvl7pPr marL="2971800" indent="-228600" defTabSz="966788" fontAlgn="base">
              <a:spcBef>
                <a:spcPct val="0"/>
              </a:spcBef>
              <a:spcAft>
                <a:spcPct val="0"/>
              </a:spcAft>
              <a:defRPr>
                <a:solidFill>
                  <a:schemeClr val="tx1"/>
                </a:solidFill>
                <a:latin typeface="Arial" charset="0"/>
                <a:ea typeface="ＭＳ Ｐゴシック" charset="0"/>
              </a:defRPr>
            </a:lvl7pPr>
            <a:lvl8pPr marL="3429000" indent="-228600" defTabSz="966788" fontAlgn="base">
              <a:spcBef>
                <a:spcPct val="0"/>
              </a:spcBef>
              <a:spcAft>
                <a:spcPct val="0"/>
              </a:spcAft>
              <a:defRPr>
                <a:solidFill>
                  <a:schemeClr val="tx1"/>
                </a:solidFill>
                <a:latin typeface="Arial" charset="0"/>
                <a:ea typeface="ＭＳ Ｐゴシック" charset="0"/>
              </a:defRPr>
            </a:lvl8pPr>
            <a:lvl9pPr marL="3886200" indent="-228600" defTabSz="966788" fontAlgn="base">
              <a:spcBef>
                <a:spcPct val="0"/>
              </a:spcBef>
              <a:spcAft>
                <a:spcPct val="0"/>
              </a:spcAft>
              <a:defRPr>
                <a:solidFill>
                  <a:schemeClr val="tx1"/>
                </a:solidFill>
                <a:latin typeface="Arial" charset="0"/>
                <a:ea typeface="ＭＳ Ｐゴシック" charset="0"/>
              </a:defRPr>
            </a:lvl9pPr>
          </a:lstStyle>
          <a:p>
            <a:pPr algn="r" eaLnBrk="0" hangingPunct="0"/>
            <a:fld id="{184F33FF-B725-4349-BA32-54F4A922DACF}" type="slidenum">
              <a:rPr lang="en-US" sz="1100" i="1">
                <a:latin typeface="Times New Roman" charset="0"/>
              </a:rPr>
              <a:pPr algn="r" eaLnBrk="0" hangingPunct="0"/>
              <a:t>49</a:t>
            </a:fld>
            <a:endParaRPr lang="en-US" sz="1100" i="1">
              <a:latin typeface="Times New Roman" charset="0"/>
            </a:endParaRPr>
          </a:p>
        </p:txBody>
      </p:sp>
      <p:sp>
        <p:nvSpPr>
          <p:cNvPr id="3271683" name="Rectangle 2"/>
          <p:cNvSpPr>
            <a:spLocks noGrp="1" noRot="1" noChangeAspect="1" noChangeArrowheads="1" noTextEdit="1"/>
          </p:cNvSpPr>
          <p:nvPr>
            <p:ph type="sldImg"/>
          </p:nvPr>
        </p:nvSpPr>
        <p:spPr>
          <a:xfrm>
            <a:off x="1262063" y="720725"/>
            <a:ext cx="4792662" cy="3594100"/>
          </a:xfrm>
          <a:ln/>
          <a:extLst>
            <a:ext uri="{FAA26D3D-D897-4be2-8F04-BA451C77F1D7}">
              <ma14:placeholderFlag xmlns:ma14="http://schemas.microsoft.com/office/mac/drawingml/2011/main" xmlns="" val="1"/>
            </a:ext>
          </a:extLst>
        </p:spPr>
      </p:sp>
      <p:sp>
        <p:nvSpPr>
          <p:cNvPr id="3271684" name="Rectangle 3"/>
          <p:cNvSpPr>
            <a:spLocks noGrp="1" noChangeArrowheads="1"/>
          </p:cNvSpPr>
          <p:nvPr>
            <p:ph type="body" idx="1"/>
          </p:nvPr>
        </p:nvSpPr>
        <p:spPr>
          <a:xfrm>
            <a:off x="974334" y="4558767"/>
            <a:ext cx="5366535" cy="4320770"/>
          </a:xfrm>
        </p:spPr>
        <p:txBody>
          <a:bodyPr lIns="97416" tIns="48710" rIns="97416" bIns="48710"/>
          <a:lstStyle/>
          <a:p>
            <a:endParaRPr lang="en-GB"/>
          </a:p>
        </p:txBody>
      </p:sp>
      <p:sp>
        <p:nvSpPr>
          <p:cNvPr id="2" name="Date Placeholder 1">
            <a:extLst>
              <a:ext uri="{FF2B5EF4-FFF2-40B4-BE49-F238E27FC236}">
                <a16:creationId xmlns:a16="http://schemas.microsoft.com/office/drawing/2014/main" id="{917BB658-CAA3-4812-9DFA-DD69F73B4CD8}"/>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7893599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43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04387"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CFA58F5A-0064-4AEA-B1CC-B45AE542860F}"/>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9189706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54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05411"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78822623-5478-4F89-9D3E-7B99E4B1AFFA}"/>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8259761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64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06435"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6BF94004-2716-43B4-8074-CD8CD61EC9C9}"/>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8747544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74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07459"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5AFBF59A-A3AE-422C-A2A8-FF5F48676D97}"/>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30948821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A48DF882-067E-4F15-B45C-98EF6207B4E2}"/>
              </a:ext>
            </a:extLst>
          </p:cNvPr>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35236949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95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09507"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2A597DA2-F987-4376-992E-DEEDF53528A3}"/>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2591088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05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10531"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66385256-EF27-4895-B3D7-70A7B0DF2480}"/>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41214559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05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10531"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99679353-F114-4C7E-AA62-DACC6682B3D1}"/>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21152654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0869" y="4560793"/>
            <a:ext cx="5853468" cy="4320988"/>
          </a:xfrm>
          <a:prstGeom prst="rect">
            <a:avLst/>
          </a:prstGeom>
        </p:spPr>
        <p:txBody>
          <a:bodyPr>
            <a:normAutofit/>
          </a:bodyPr>
          <a:lstStyle/>
          <a:p>
            <a:endParaRPr lang="en-GB" dirty="0">
              <a:solidFill>
                <a:srgbClr val="0C2678"/>
              </a:solidFill>
              <a:latin typeface="Verdana" pitchFamily="34" charset="0"/>
              <a:ea typeface="+mn-ea"/>
            </a:endParaRPr>
          </a:p>
        </p:txBody>
      </p:sp>
      <p:sp>
        <p:nvSpPr>
          <p:cNvPr id="5" name="Date Placeholder 4">
            <a:extLst>
              <a:ext uri="{FF2B5EF4-FFF2-40B4-BE49-F238E27FC236}">
                <a16:creationId xmlns:a16="http://schemas.microsoft.com/office/drawing/2014/main" id="{DD780395-0EB0-401E-A94D-3DED93E5FD3C}"/>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9150610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05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10531"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22185D7A-3525-40AF-897B-E9F009EA9887}"/>
              </a:ext>
            </a:extLst>
          </p:cNvPr>
          <p:cNvSpPr>
            <a:spLocks noGrp="1"/>
          </p:cNvSpPr>
          <p:nvPr>
            <p:ph type="dt" idx="1"/>
          </p:nvPr>
        </p:nvSpPr>
        <p:spPr/>
        <p:txBody>
          <a:bodyPr/>
          <a:lstStyle/>
          <a:p>
            <a:endParaRPr lang="en-GB"/>
          </a:p>
        </p:txBody>
      </p:sp>
    </p:spTree>
    <p:extLst>
      <p:ext uri="{BB962C8B-B14F-4D97-AF65-F5344CB8AC3E}">
        <p14:creationId xmlns:p14="http://schemas.microsoft.com/office/powerpoint/2010/main" val="1022791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8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82883" name="Rectangle 3"/>
          <p:cNvSpPr>
            <a:spLocks noGrp="1" noChangeArrowheads="1"/>
          </p:cNvSpPr>
          <p:nvPr>
            <p:ph type="body" idx="1"/>
          </p:nvPr>
        </p:nvSpPr>
        <p:spPr/>
        <p:txBody>
          <a:bodyPr/>
          <a:lstStyle/>
          <a:p>
            <a:endParaRPr lang="en-GB"/>
          </a:p>
        </p:txBody>
      </p:sp>
      <p:sp>
        <p:nvSpPr>
          <p:cNvPr id="2" name="Date Placeholder 1">
            <a:extLst>
              <a:ext uri="{FF2B5EF4-FFF2-40B4-BE49-F238E27FC236}">
                <a16:creationId xmlns:a16="http://schemas.microsoft.com/office/drawing/2014/main" id="{A48DF882-067E-4F15-B45C-98EF6207B4E2}"/>
              </a:ext>
            </a:extLst>
          </p:cNvPr>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1471803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Tree>
    <p:extLst>
      <p:ext uri="{BB962C8B-B14F-4D97-AF65-F5344CB8AC3E}">
        <p14:creationId xmlns:p14="http://schemas.microsoft.com/office/powerpoint/2010/main" val="2460016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32539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Tree>
    <p:extLst>
      <p:ext uri="{BB962C8B-B14F-4D97-AF65-F5344CB8AC3E}">
        <p14:creationId xmlns:p14="http://schemas.microsoft.com/office/powerpoint/2010/main" val="2788411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703263" y="1676400"/>
            <a:ext cx="3897312"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752975" y="1676400"/>
            <a:ext cx="3898900"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81229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97231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2736085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123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168080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1664000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557128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266700"/>
            <a:ext cx="2065337" cy="61150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388938" y="266700"/>
            <a:ext cx="6045200" cy="61150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590174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8938" y="266700"/>
            <a:ext cx="8145462"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703263" y="1676400"/>
            <a:ext cx="3897312"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752975" y="1676400"/>
            <a:ext cx="3898900"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179591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8938" y="266700"/>
            <a:ext cx="8145462"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703263" y="1676400"/>
            <a:ext cx="3897312"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quarter" idx="2"/>
          </p:nvPr>
        </p:nvSpPr>
        <p:spPr>
          <a:xfrm>
            <a:off x="4752975" y="1676400"/>
            <a:ext cx="3898900"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Content Placeholder 4"/>
          <p:cNvSpPr>
            <a:spLocks noGrp="1"/>
          </p:cNvSpPr>
          <p:nvPr>
            <p:ph sz="quarter" idx="3"/>
          </p:nvPr>
        </p:nvSpPr>
        <p:spPr>
          <a:xfrm>
            <a:off x="4752975" y="4105275"/>
            <a:ext cx="3898900"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82553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07988" y="350838"/>
            <a:ext cx="8423275" cy="630237"/>
          </a:xfrm>
        </p:spPr>
        <p:txBody>
          <a:bodyPr/>
          <a:lstStyle/>
          <a:p>
            <a:r>
              <a:rPr lang="en-US"/>
              <a:t>Click to edit Master title style</a:t>
            </a:r>
          </a:p>
        </p:txBody>
      </p:sp>
      <p:sp>
        <p:nvSpPr>
          <p:cNvPr id="3" name="Content Placeholder 2"/>
          <p:cNvSpPr>
            <a:spLocks noGrp="1"/>
          </p:cNvSpPr>
          <p:nvPr>
            <p:ph sz="half" idx="1"/>
          </p:nvPr>
        </p:nvSpPr>
        <p:spPr>
          <a:xfrm>
            <a:off x="404813" y="1190625"/>
            <a:ext cx="4135437"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92650" y="1190625"/>
            <a:ext cx="4135438"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a:xfrm>
            <a:off x="8861425" y="0"/>
            <a:ext cx="282575" cy="142875"/>
          </a:xfrm>
          <a:prstGeom prst="rect">
            <a:avLst/>
          </a:prstGeom>
        </p:spPr>
        <p:txBody>
          <a:bodyPr/>
          <a:lstStyle>
            <a:lvl1pPr>
              <a:defRPr/>
            </a:lvl1pPr>
          </a:lstStyle>
          <a:p>
            <a:pPr>
              <a:defRPr/>
            </a:pPr>
            <a:fld id="{ADF6390F-1603-4606-96BE-11F29AAF5AE2}" type="slidenum">
              <a:rPr lang="en-GB"/>
              <a:pPr>
                <a:defRPr/>
              </a:pPr>
              <a:t>‹#›</a:t>
            </a:fld>
            <a:endParaRPr lang="en-GB"/>
          </a:p>
        </p:txBody>
      </p:sp>
    </p:spTree>
    <p:extLst>
      <p:ext uri="{BB962C8B-B14F-4D97-AF65-F5344CB8AC3E}">
        <p14:creationId xmlns:p14="http://schemas.microsoft.com/office/powerpoint/2010/main" val="2699238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06978" name="Line 2"/>
          <p:cNvSpPr>
            <a:spLocks noChangeShapeType="1"/>
          </p:cNvSpPr>
          <p:nvPr/>
        </p:nvSpPr>
        <p:spPr bwMode="auto">
          <a:xfrm>
            <a:off x="1588" y="1484313"/>
            <a:ext cx="9066212" cy="0"/>
          </a:xfrm>
          <a:prstGeom prst="line">
            <a:avLst/>
          </a:prstGeom>
          <a:noFill/>
          <a:ln w="508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979" name="Rectangle 3"/>
          <p:cNvSpPr>
            <a:spLocks noGrp="1" noChangeArrowheads="1"/>
          </p:cNvSpPr>
          <p:nvPr>
            <p:ph type="title"/>
          </p:nvPr>
        </p:nvSpPr>
        <p:spPr bwMode="auto">
          <a:xfrm>
            <a:off x="388938" y="266700"/>
            <a:ext cx="8145462"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406980" name="Rectangle 4"/>
          <p:cNvSpPr>
            <a:spLocks noGrp="1" noChangeArrowheads="1"/>
          </p:cNvSpPr>
          <p:nvPr>
            <p:ph type="body" idx="1"/>
          </p:nvPr>
        </p:nvSpPr>
        <p:spPr bwMode="auto">
          <a:xfrm>
            <a:off x="703263" y="1676400"/>
            <a:ext cx="7948612"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06982" name="Rectangle 6"/>
          <p:cNvSpPr>
            <a:spLocks noChangeArrowheads="1"/>
          </p:cNvSpPr>
          <p:nvPr/>
        </p:nvSpPr>
        <p:spPr bwMode="auto">
          <a:xfrm>
            <a:off x="8172450" y="6400800"/>
            <a:ext cx="4508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eaLnBrk="0" hangingPunct="0"/>
            <a:fld id="{F04697A2-D443-9B46-B76B-C17EBA70E809}" type="slidenum">
              <a:rPr lang="en-US" sz="1000">
                <a:solidFill>
                  <a:schemeClr val="bg2"/>
                </a:solidFill>
              </a:rPr>
              <a:pPr eaLnBrk="0" hangingPunct="0"/>
              <a:t>‹#›</a:t>
            </a:fld>
            <a:endParaRPr lang="en-US" sz="1000">
              <a:solidFill>
                <a:schemeClr val="bg2"/>
              </a:solidFill>
            </a:endParaRP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lvl1pPr algn="l" rtl="0" fontAlgn="base">
        <a:spcBef>
          <a:spcPct val="0"/>
        </a:spcBef>
        <a:spcAft>
          <a:spcPct val="0"/>
        </a:spcAft>
        <a:defRPr sz="3600" b="1">
          <a:solidFill>
            <a:schemeClr val="bg2"/>
          </a:solidFill>
          <a:latin typeface="+mj-lt"/>
          <a:ea typeface="+mj-ea"/>
          <a:cs typeface="+mj-cs"/>
        </a:defRPr>
      </a:lvl1pPr>
      <a:lvl2pPr algn="l" rtl="0" fontAlgn="base">
        <a:spcBef>
          <a:spcPct val="0"/>
        </a:spcBef>
        <a:spcAft>
          <a:spcPct val="0"/>
        </a:spcAft>
        <a:defRPr sz="3600" b="1">
          <a:solidFill>
            <a:schemeClr val="bg2"/>
          </a:solidFill>
          <a:latin typeface="Arial" charset="0"/>
          <a:ea typeface="ＭＳ Ｐゴシック" charset="0"/>
        </a:defRPr>
      </a:lvl2pPr>
      <a:lvl3pPr algn="l" rtl="0" fontAlgn="base">
        <a:spcBef>
          <a:spcPct val="0"/>
        </a:spcBef>
        <a:spcAft>
          <a:spcPct val="0"/>
        </a:spcAft>
        <a:defRPr sz="3600" b="1">
          <a:solidFill>
            <a:schemeClr val="bg2"/>
          </a:solidFill>
          <a:latin typeface="Arial" charset="0"/>
          <a:ea typeface="ＭＳ Ｐゴシック" charset="0"/>
        </a:defRPr>
      </a:lvl3pPr>
      <a:lvl4pPr algn="l" rtl="0" fontAlgn="base">
        <a:spcBef>
          <a:spcPct val="0"/>
        </a:spcBef>
        <a:spcAft>
          <a:spcPct val="0"/>
        </a:spcAft>
        <a:defRPr sz="3600" b="1">
          <a:solidFill>
            <a:schemeClr val="bg2"/>
          </a:solidFill>
          <a:latin typeface="Arial" charset="0"/>
          <a:ea typeface="ＭＳ Ｐゴシック" charset="0"/>
        </a:defRPr>
      </a:lvl4pPr>
      <a:lvl5pPr algn="l" rtl="0" fontAlgn="base">
        <a:spcBef>
          <a:spcPct val="0"/>
        </a:spcBef>
        <a:spcAft>
          <a:spcPct val="0"/>
        </a:spcAft>
        <a:defRPr sz="3600" b="1">
          <a:solidFill>
            <a:schemeClr val="bg2"/>
          </a:solidFill>
          <a:latin typeface="Arial" charset="0"/>
          <a:ea typeface="ＭＳ Ｐゴシック" charset="0"/>
        </a:defRPr>
      </a:lvl5pPr>
      <a:lvl6pPr marL="457200" algn="l" rtl="0" fontAlgn="base">
        <a:spcBef>
          <a:spcPct val="0"/>
        </a:spcBef>
        <a:spcAft>
          <a:spcPct val="0"/>
        </a:spcAft>
        <a:defRPr sz="3600" b="1">
          <a:solidFill>
            <a:schemeClr val="bg2"/>
          </a:solidFill>
          <a:latin typeface="Arial" charset="0"/>
          <a:ea typeface="ＭＳ Ｐゴシック" charset="0"/>
        </a:defRPr>
      </a:lvl6pPr>
      <a:lvl7pPr marL="914400" algn="l" rtl="0" fontAlgn="base">
        <a:spcBef>
          <a:spcPct val="0"/>
        </a:spcBef>
        <a:spcAft>
          <a:spcPct val="0"/>
        </a:spcAft>
        <a:defRPr sz="3600" b="1">
          <a:solidFill>
            <a:schemeClr val="bg2"/>
          </a:solidFill>
          <a:latin typeface="Arial" charset="0"/>
          <a:ea typeface="ＭＳ Ｐゴシック" charset="0"/>
        </a:defRPr>
      </a:lvl7pPr>
      <a:lvl8pPr marL="1371600" algn="l" rtl="0" fontAlgn="base">
        <a:spcBef>
          <a:spcPct val="0"/>
        </a:spcBef>
        <a:spcAft>
          <a:spcPct val="0"/>
        </a:spcAft>
        <a:defRPr sz="3600" b="1">
          <a:solidFill>
            <a:schemeClr val="bg2"/>
          </a:solidFill>
          <a:latin typeface="Arial" charset="0"/>
          <a:ea typeface="ＭＳ Ｐゴシック" charset="0"/>
        </a:defRPr>
      </a:lvl8pPr>
      <a:lvl9pPr marL="1828800" algn="l" rtl="0" fontAlgn="base">
        <a:spcBef>
          <a:spcPct val="0"/>
        </a:spcBef>
        <a:spcAft>
          <a:spcPct val="0"/>
        </a:spcAft>
        <a:defRPr sz="3600" b="1">
          <a:solidFill>
            <a:schemeClr val="bg2"/>
          </a:solidFill>
          <a:latin typeface="Arial" charset="0"/>
          <a:ea typeface="ＭＳ Ｐゴシック" charset="0"/>
        </a:defRPr>
      </a:lvl9pPr>
    </p:titleStyle>
    <p:body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image" Target="../media/image11.wmf"/><Relationship Id="rId3" Type="http://schemas.openxmlformats.org/officeDocument/2006/relationships/image" Target="../media/image1.png"/><Relationship Id="rId7" Type="http://schemas.openxmlformats.org/officeDocument/2006/relationships/image" Target="../media/image5.jpeg"/><Relationship Id="rId12" Type="http://schemas.openxmlformats.org/officeDocument/2006/relationships/image" Target="../media/image10.emf"/><Relationship Id="rId2" Type="http://schemas.openxmlformats.org/officeDocument/2006/relationships/notesSlide" Target="../notesSlides/notesSlide8.xml"/><Relationship Id="rId16" Type="http://schemas.openxmlformats.org/officeDocument/2006/relationships/image" Target="../media/image14.wmf"/><Relationship Id="rId1" Type="http://schemas.openxmlformats.org/officeDocument/2006/relationships/slideLayout" Target="../slideLayouts/slideLayout6.xml"/><Relationship Id="rId6" Type="http://schemas.openxmlformats.org/officeDocument/2006/relationships/image" Target="../media/image4.jpeg"/><Relationship Id="rId11" Type="http://schemas.openxmlformats.org/officeDocument/2006/relationships/image" Target="../media/image9.emf"/><Relationship Id="rId5" Type="http://schemas.openxmlformats.org/officeDocument/2006/relationships/image" Target="../media/image3.png"/><Relationship Id="rId15" Type="http://schemas.openxmlformats.org/officeDocument/2006/relationships/image" Target="../media/image13.wmf"/><Relationship Id="rId10" Type="http://schemas.openxmlformats.org/officeDocument/2006/relationships/image" Target="../media/image8.emf"/><Relationship Id="rId4" Type="http://schemas.openxmlformats.org/officeDocument/2006/relationships/image" Target="../media/image2.png"/><Relationship Id="rId9" Type="http://schemas.openxmlformats.org/officeDocument/2006/relationships/image" Target="../media/image7.emf"/><Relationship Id="rId1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0996" name="Rectangle 4"/>
          <p:cNvSpPr>
            <a:spLocks noGrp="1" noChangeArrowheads="1"/>
          </p:cNvSpPr>
          <p:nvPr>
            <p:ph type="ctrTitle"/>
          </p:nvPr>
        </p:nvSpPr>
        <p:spPr/>
        <p:txBody>
          <a:bodyPr/>
          <a:lstStyle/>
          <a:p>
            <a:pPr algn="ctr"/>
            <a:r>
              <a:rPr lang="en-US" dirty="0"/>
              <a:t>Fundamentals of Testing</a:t>
            </a:r>
          </a:p>
        </p:txBody>
      </p:sp>
      <p:sp>
        <p:nvSpPr>
          <p:cNvPr id="2260997" name="Rectangle 5"/>
          <p:cNvSpPr>
            <a:spLocks noGrp="1" noChangeArrowheads="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2020" name="Rectangle 4"/>
          <p:cNvSpPr>
            <a:spLocks noGrp="1" noChangeArrowheads="1"/>
          </p:cNvSpPr>
          <p:nvPr>
            <p:ph type="ctrTitle"/>
          </p:nvPr>
        </p:nvSpPr>
        <p:spPr/>
        <p:txBody>
          <a:bodyPr/>
          <a:lstStyle/>
          <a:p>
            <a:pPr algn="ctr"/>
            <a:r>
              <a:rPr lang="en-US" dirty="0"/>
              <a:t>What is the scope of software testing?</a:t>
            </a:r>
          </a:p>
        </p:txBody>
      </p:sp>
      <p:sp>
        <p:nvSpPr>
          <p:cNvPr id="2262022" name="Rectangle 6"/>
          <p:cNvSpPr>
            <a:spLocks noGrp="1" noChangeArrowheads="1"/>
          </p:cNvSpPr>
          <p:nvPr>
            <p:ph type="subTitle" idx="1"/>
          </p:nvPr>
        </p:nvSpPr>
        <p:spPr/>
        <p:txBody>
          <a:bodyPr/>
          <a:lstStyle/>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How does testing fit in?</a:t>
            </a:r>
          </a:p>
        </p:txBody>
      </p:sp>
      <p:sp>
        <p:nvSpPr>
          <p:cNvPr id="3" name="Oval 2"/>
          <p:cNvSpPr/>
          <p:nvPr/>
        </p:nvSpPr>
        <p:spPr bwMode="auto">
          <a:xfrm>
            <a:off x="4283968" y="2780928"/>
            <a:ext cx="1440160"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Requirements</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0" name="Oval 9"/>
          <p:cNvSpPr/>
          <p:nvPr/>
        </p:nvSpPr>
        <p:spPr bwMode="auto">
          <a:xfrm>
            <a:off x="5855805" y="3380421"/>
            <a:ext cx="1440160"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Design</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1" name="Oval 10"/>
          <p:cNvSpPr/>
          <p:nvPr/>
        </p:nvSpPr>
        <p:spPr bwMode="auto">
          <a:xfrm>
            <a:off x="5868144" y="428422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Coding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2" name="Oval 11"/>
          <p:cNvSpPr/>
          <p:nvPr/>
        </p:nvSpPr>
        <p:spPr bwMode="auto">
          <a:xfrm>
            <a:off x="5508104" y="513775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rgbClr val="FF0000"/>
                </a:solidFill>
                <a:effectLst/>
                <a:latin typeface="Arial" charset="0"/>
                <a:ea typeface="ＭＳ Ｐゴシック" charset="0"/>
              </a:rPr>
              <a:t>Testing</a:t>
            </a:r>
            <a:endParaRPr kumimoji="0" lang="en-IE" sz="1000" b="0" i="0" u="none" strike="noStrike" cap="none" normalizeH="0" baseline="0" dirty="0">
              <a:ln>
                <a:noFill/>
              </a:ln>
              <a:solidFill>
                <a:srgbClr val="FF0000"/>
              </a:solidFill>
              <a:effectLst/>
              <a:latin typeface="Arial" charset="0"/>
              <a:ea typeface="ＭＳ Ｐゴシック" charset="0"/>
            </a:endParaRPr>
          </a:p>
        </p:txBody>
      </p:sp>
      <p:sp>
        <p:nvSpPr>
          <p:cNvPr id="13" name="Oval 12"/>
          <p:cNvSpPr/>
          <p:nvPr/>
        </p:nvSpPr>
        <p:spPr bwMode="auto">
          <a:xfrm>
            <a:off x="3491880" y="5200125"/>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Fixing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4" name="Oval 13"/>
          <p:cNvSpPr/>
          <p:nvPr/>
        </p:nvSpPr>
        <p:spPr bwMode="auto">
          <a:xfrm>
            <a:off x="2699792" y="430074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Shipping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5" name="Oval 14"/>
          <p:cNvSpPr/>
          <p:nvPr/>
        </p:nvSpPr>
        <p:spPr bwMode="auto">
          <a:xfrm>
            <a:off x="2715570" y="3394980"/>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Maintaining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6" name="Rectangle 7"/>
          <p:cNvSpPr txBox="1">
            <a:spLocks noChangeArrowheads="1"/>
          </p:cNvSpPr>
          <p:nvPr/>
        </p:nvSpPr>
        <p:spPr bwMode="auto">
          <a:xfrm>
            <a:off x="179512" y="1556793"/>
            <a:ext cx="8712968" cy="36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GB" sz="1400" kern="0" dirty="0"/>
              <a:t>Development lifecycle: (very?) Classic view of testing (</a:t>
            </a:r>
            <a:r>
              <a:rPr lang="en-GB" sz="1400" b="1" kern="0" dirty="0"/>
              <a:t>testing the produced code post-compilation</a:t>
            </a:r>
            <a:r>
              <a:rPr lang="en-GB" sz="1400" kern="0" dirty="0"/>
              <a:t>)</a:t>
            </a:r>
            <a:endParaRPr lang="en-US" sz="1200" kern="0" dirty="0"/>
          </a:p>
        </p:txBody>
      </p:sp>
      <p:cxnSp>
        <p:nvCxnSpPr>
          <p:cNvPr id="18" name="Straight Arrow Connector 17"/>
          <p:cNvCxnSpPr>
            <a:stCxn id="3" idx="6"/>
            <a:endCxn id="10" idx="0"/>
          </p:cNvCxnSpPr>
          <p:nvPr/>
        </p:nvCxnSpPr>
        <p:spPr bwMode="auto">
          <a:xfrm>
            <a:off x="5724128" y="2996952"/>
            <a:ext cx="851757" cy="383469"/>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5" name="Straight Arrow Connector 24"/>
          <p:cNvCxnSpPr>
            <a:stCxn id="10" idx="4"/>
            <a:endCxn id="11" idx="0"/>
          </p:cNvCxnSpPr>
          <p:nvPr/>
        </p:nvCxnSpPr>
        <p:spPr bwMode="auto">
          <a:xfrm>
            <a:off x="6575885" y="3812469"/>
            <a:ext cx="48343" cy="471754"/>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8" name="Straight Arrow Connector 27"/>
          <p:cNvCxnSpPr>
            <a:stCxn id="11" idx="4"/>
            <a:endCxn id="12" idx="0"/>
          </p:cNvCxnSpPr>
          <p:nvPr/>
        </p:nvCxnSpPr>
        <p:spPr bwMode="auto">
          <a:xfrm flipH="1">
            <a:off x="6264188" y="4716271"/>
            <a:ext cx="360040" cy="421482"/>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Straight Arrow Connector 30"/>
          <p:cNvCxnSpPr>
            <a:stCxn id="12" idx="2"/>
            <a:endCxn id="13" idx="6"/>
          </p:cNvCxnSpPr>
          <p:nvPr/>
        </p:nvCxnSpPr>
        <p:spPr bwMode="auto">
          <a:xfrm flipH="1">
            <a:off x="5004048" y="5353777"/>
            <a:ext cx="504056" cy="62372"/>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4" name="Straight Arrow Connector 33"/>
          <p:cNvCxnSpPr>
            <a:stCxn id="13" idx="0"/>
          </p:cNvCxnSpPr>
          <p:nvPr/>
        </p:nvCxnSpPr>
        <p:spPr bwMode="auto">
          <a:xfrm flipH="1" flipV="1">
            <a:off x="3539228" y="4732791"/>
            <a:ext cx="708736" cy="467334"/>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7" name="Straight Arrow Connector 36"/>
          <p:cNvCxnSpPr>
            <a:stCxn id="14" idx="0"/>
            <a:endCxn id="15" idx="4"/>
          </p:cNvCxnSpPr>
          <p:nvPr/>
        </p:nvCxnSpPr>
        <p:spPr bwMode="auto">
          <a:xfrm flipV="1">
            <a:off x="3455876" y="3827028"/>
            <a:ext cx="15778" cy="473715"/>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0" name="Straight Arrow Connector 39"/>
          <p:cNvCxnSpPr>
            <a:stCxn id="15" idx="0"/>
            <a:endCxn id="3" idx="2"/>
          </p:cNvCxnSpPr>
          <p:nvPr/>
        </p:nvCxnSpPr>
        <p:spPr bwMode="auto">
          <a:xfrm flipV="1">
            <a:off x="3471654" y="2996952"/>
            <a:ext cx="812314" cy="398028"/>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9" name="Curved Connector 38"/>
          <p:cNvCxnSpPr>
            <a:stCxn id="10" idx="6"/>
            <a:endCxn id="3" idx="7"/>
          </p:cNvCxnSpPr>
          <p:nvPr/>
        </p:nvCxnSpPr>
        <p:spPr bwMode="auto">
          <a:xfrm flipH="1" flipV="1">
            <a:off x="5513221" y="2844200"/>
            <a:ext cx="1782744" cy="752245"/>
          </a:xfrm>
          <a:prstGeom prst="curvedConnector4">
            <a:avLst>
              <a:gd name="adj1" fmla="val -12823"/>
              <a:gd name="adj2" fmla="val 138800"/>
            </a:avLst>
          </a:prstGeom>
          <a:solidFill>
            <a:schemeClr val="accent1"/>
          </a:solidFill>
          <a:ln w="9525"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7" name="Curved Connector 46"/>
          <p:cNvCxnSpPr>
            <a:stCxn id="11" idx="6"/>
            <a:endCxn id="10" idx="5"/>
          </p:cNvCxnSpPr>
          <p:nvPr/>
        </p:nvCxnSpPr>
        <p:spPr bwMode="auto">
          <a:xfrm flipH="1" flipV="1">
            <a:off x="7085058" y="3749197"/>
            <a:ext cx="295254" cy="751050"/>
          </a:xfrm>
          <a:prstGeom prst="curvedConnector4">
            <a:avLst>
              <a:gd name="adj1" fmla="val -77425"/>
              <a:gd name="adj2" fmla="val 60169"/>
            </a:avLst>
          </a:prstGeom>
          <a:solidFill>
            <a:schemeClr val="accent1"/>
          </a:solidFill>
          <a:ln w="9525"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0" name="Curved Connector 49"/>
          <p:cNvCxnSpPr>
            <a:stCxn id="12" idx="6"/>
            <a:endCxn id="11" idx="5"/>
          </p:cNvCxnSpPr>
          <p:nvPr/>
        </p:nvCxnSpPr>
        <p:spPr bwMode="auto">
          <a:xfrm flipV="1">
            <a:off x="7020272" y="4652999"/>
            <a:ext cx="138588" cy="700778"/>
          </a:xfrm>
          <a:prstGeom prst="curvedConnector2">
            <a:avLst/>
          </a:prstGeom>
          <a:solidFill>
            <a:schemeClr val="accent1"/>
          </a:solidFill>
          <a:ln w="9525"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3" name="Curved Connector 52"/>
          <p:cNvCxnSpPr>
            <a:stCxn id="13" idx="4"/>
            <a:endCxn id="10" idx="6"/>
          </p:cNvCxnSpPr>
          <p:nvPr/>
        </p:nvCxnSpPr>
        <p:spPr bwMode="auto">
          <a:xfrm rot="5400000" flipH="1" flipV="1">
            <a:off x="4754100" y="3090308"/>
            <a:ext cx="2035728" cy="3048001"/>
          </a:xfrm>
          <a:prstGeom prst="curvedConnector4">
            <a:avLst>
              <a:gd name="adj1" fmla="val -24748"/>
              <a:gd name="adj2" fmla="val 129636"/>
            </a:avLst>
          </a:prstGeom>
          <a:solidFill>
            <a:schemeClr val="accent1"/>
          </a:solidFill>
          <a:ln w="9525"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8" name="Curved Connector 57"/>
          <p:cNvCxnSpPr>
            <a:stCxn id="13" idx="5"/>
            <a:endCxn id="11" idx="6"/>
          </p:cNvCxnSpPr>
          <p:nvPr/>
        </p:nvCxnSpPr>
        <p:spPr bwMode="auto">
          <a:xfrm rot="5400000" flipH="1" flipV="1">
            <a:off x="5547127" y="3735716"/>
            <a:ext cx="1068654" cy="2597716"/>
          </a:xfrm>
          <a:prstGeom prst="curvedConnector4">
            <a:avLst>
              <a:gd name="adj1" fmla="val -27312"/>
              <a:gd name="adj2" fmla="val 108800"/>
            </a:avLst>
          </a:prstGeom>
          <a:solidFill>
            <a:schemeClr val="accent1"/>
          </a:solidFill>
          <a:ln w="9525"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8" name="Curved Connector 67"/>
          <p:cNvCxnSpPr>
            <a:stCxn id="15" idx="2"/>
            <a:endCxn id="10" idx="6"/>
          </p:cNvCxnSpPr>
          <p:nvPr/>
        </p:nvCxnSpPr>
        <p:spPr bwMode="auto">
          <a:xfrm rot="10800000" flipH="1">
            <a:off x="2715569" y="3596446"/>
            <a:ext cx="4580395" cy="14559"/>
          </a:xfrm>
          <a:prstGeom prst="curvedConnector5">
            <a:avLst>
              <a:gd name="adj1" fmla="val -2083"/>
              <a:gd name="adj2" fmla="val 9495577"/>
              <a:gd name="adj3" fmla="val 115070"/>
            </a:avLst>
          </a:prstGeom>
          <a:solidFill>
            <a:schemeClr val="accent1"/>
          </a:solidFill>
          <a:ln w="9525"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4" name="Curved Connector 73"/>
          <p:cNvCxnSpPr>
            <a:stCxn id="15" idx="2"/>
            <a:endCxn id="11" idx="6"/>
          </p:cNvCxnSpPr>
          <p:nvPr/>
        </p:nvCxnSpPr>
        <p:spPr bwMode="auto">
          <a:xfrm rot="10800000" flipH="1" flipV="1">
            <a:off x="2715570" y="3611003"/>
            <a:ext cx="4664742" cy="889243"/>
          </a:xfrm>
          <a:prstGeom prst="curvedConnector5">
            <a:avLst>
              <a:gd name="adj1" fmla="val -8136"/>
              <a:gd name="adj2" fmla="val -174627"/>
              <a:gd name="adj3" fmla="val 130593"/>
            </a:avLst>
          </a:prstGeom>
          <a:solidFill>
            <a:schemeClr val="accent1"/>
          </a:solidFill>
          <a:ln w="9525"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81" name="Rectangle 7"/>
          <p:cNvSpPr txBox="1">
            <a:spLocks noChangeArrowheads="1"/>
          </p:cNvSpPr>
          <p:nvPr/>
        </p:nvSpPr>
        <p:spPr bwMode="auto">
          <a:xfrm>
            <a:off x="179512" y="2257374"/>
            <a:ext cx="2160240" cy="1171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400" kern="0" dirty="0"/>
              <a:t>- This type of testing has quite a complex interplay with other lifecycle activities – as can be seen.</a:t>
            </a:r>
            <a:endParaRPr lang="en-US" sz="1200" kern="0" dirty="0"/>
          </a:p>
        </p:txBody>
      </p:sp>
      <p:sp>
        <p:nvSpPr>
          <p:cNvPr id="82" name="Rectangle 7"/>
          <p:cNvSpPr txBox="1">
            <a:spLocks noChangeArrowheads="1"/>
          </p:cNvSpPr>
          <p:nvPr/>
        </p:nvSpPr>
        <p:spPr bwMode="auto">
          <a:xfrm>
            <a:off x="179512" y="3769542"/>
            <a:ext cx="2016224" cy="955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400" kern="0" dirty="0"/>
              <a:t>- Traditionally the role of the software testers or the software test team / department.</a:t>
            </a:r>
            <a:endParaRPr lang="en-US" sz="1200" kern="0" dirty="0"/>
          </a:p>
        </p:txBody>
      </p:sp>
      <p:sp>
        <p:nvSpPr>
          <p:cNvPr id="83" name="Rectangle 7"/>
          <p:cNvSpPr txBox="1">
            <a:spLocks noChangeArrowheads="1"/>
          </p:cNvSpPr>
          <p:nvPr/>
        </p:nvSpPr>
        <p:spPr bwMode="auto">
          <a:xfrm>
            <a:off x="179512" y="4869160"/>
            <a:ext cx="2448272" cy="546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400" kern="0" dirty="0"/>
              <a:t>- A complex and expensive activity in its own right.</a:t>
            </a:r>
            <a:endParaRPr lang="en-US" sz="1200" kern="0" dirty="0"/>
          </a:p>
        </p:txBody>
      </p:sp>
      <p:sp>
        <p:nvSpPr>
          <p:cNvPr id="84" name="Rectangle 7"/>
          <p:cNvSpPr txBox="1">
            <a:spLocks noChangeArrowheads="1"/>
          </p:cNvSpPr>
          <p:nvPr/>
        </p:nvSpPr>
        <p:spPr bwMode="auto">
          <a:xfrm>
            <a:off x="179512" y="6237312"/>
            <a:ext cx="5970494" cy="523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600" kern="0" dirty="0">
                <a:solidFill>
                  <a:srgbClr val="FF0000"/>
                </a:solidFill>
              </a:rPr>
              <a:t>- But this is just one aspect of the software testing domain.</a:t>
            </a:r>
            <a:endParaRPr lang="en-US" sz="1400" kern="0" dirty="0">
              <a:solidFill>
                <a:srgbClr val="FF0000"/>
              </a:solidFill>
            </a:endParaRPr>
          </a:p>
        </p:txBody>
      </p:sp>
      <p:sp>
        <p:nvSpPr>
          <p:cNvPr id="30" name="Rectangle 7"/>
          <p:cNvSpPr txBox="1">
            <a:spLocks noChangeArrowheads="1"/>
          </p:cNvSpPr>
          <p:nvPr/>
        </p:nvSpPr>
        <p:spPr bwMode="auto">
          <a:xfrm>
            <a:off x="179511" y="5445224"/>
            <a:ext cx="2536057" cy="546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400" kern="0" dirty="0"/>
              <a:t>- Agile software development is different again.</a:t>
            </a:r>
            <a:endParaRPr lang="en-US" sz="1200" kern="0" dirty="0"/>
          </a:p>
        </p:txBody>
      </p:sp>
    </p:spTree>
    <p:extLst>
      <p:ext uri="{BB962C8B-B14F-4D97-AF65-F5344CB8AC3E}">
        <p14:creationId xmlns:p14="http://schemas.microsoft.com/office/powerpoint/2010/main" val="1468155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up)">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up)">
                                      <p:cBhvr>
                                        <p:cTn id="29" dur="5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right)">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right)">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wipe(right)">
                                      <p:cBhvr>
                                        <p:cTn id="48" dur="50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down)">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5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50"/>
                                        </p:tgtEl>
                                        <p:attrNameLst>
                                          <p:attrName>style.visibility</p:attrName>
                                        </p:attrNameLst>
                                      </p:cBhvr>
                                      <p:to>
                                        <p:strVal val="visible"/>
                                      </p:to>
                                    </p:set>
                                    <p:animEffect transition="in" filter="wipe(down)">
                                      <p:cBhvr>
                                        <p:cTn id="71" dur="500"/>
                                        <p:tgtEl>
                                          <p:spTgt spid="5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wipe(down)">
                                      <p:cBhvr>
                                        <p:cTn id="76" dur="500"/>
                                        <p:tgtEl>
                                          <p:spTgt spid="4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2" fill="hold" nodeType="click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wipe(right)">
                                      <p:cBhvr>
                                        <p:cTn id="81" dur="500"/>
                                        <p:tgtEl>
                                          <p:spTgt spid="3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58"/>
                                        </p:tgtEl>
                                        <p:attrNameLst>
                                          <p:attrName>style.visibility</p:attrName>
                                        </p:attrNameLst>
                                      </p:cBhvr>
                                      <p:to>
                                        <p:strVal val="visible"/>
                                      </p:to>
                                    </p:set>
                                    <p:animEffect transition="in" filter="wipe(left)">
                                      <p:cBhvr>
                                        <p:cTn id="86" dur="500"/>
                                        <p:tgtEl>
                                          <p:spTgt spid="5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53"/>
                                        </p:tgtEl>
                                        <p:attrNameLst>
                                          <p:attrName>style.visibility</p:attrName>
                                        </p:attrNameLst>
                                      </p:cBhvr>
                                      <p:to>
                                        <p:strVal val="visible"/>
                                      </p:to>
                                    </p:set>
                                    <p:animEffect transition="in" filter="wipe(left)">
                                      <p:cBhvr>
                                        <p:cTn id="91" dur="500"/>
                                        <p:tgtEl>
                                          <p:spTgt spid="5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68"/>
                                        </p:tgtEl>
                                        <p:attrNameLst>
                                          <p:attrName>style.visibility</p:attrName>
                                        </p:attrNameLst>
                                      </p:cBhvr>
                                      <p:to>
                                        <p:strVal val="visible"/>
                                      </p:to>
                                    </p:set>
                                    <p:animEffect transition="in" filter="wipe(left)">
                                      <p:cBhvr>
                                        <p:cTn id="96" dur="500"/>
                                        <p:tgtEl>
                                          <p:spTgt spid="6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74"/>
                                        </p:tgtEl>
                                        <p:attrNameLst>
                                          <p:attrName>style.visibility</p:attrName>
                                        </p:attrNameLst>
                                      </p:cBhvr>
                                      <p:to>
                                        <p:strVal val="visible"/>
                                      </p:to>
                                    </p:set>
                                    <p:animEffect transition="in" filter="wipe(left)">
                                      <p:cBhvr>
                                        <p:cTn id="101" dur="500"/>
                                        <p:tgtEl>
                                          <p:spTgt spid="74"/>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81"/>
                                        </p:tgtEl>
                                        <p:attrNameLst>
                                          <p:attrName>style.visibility</p:attrName>
                                        </p:attrNameLst>
                                      </p:cBhvr>
                                      <p:to>
                                        <p:strVal val="visible"/>
                                      </p:to>
                                    </p:set>
                                    <p:animEffect transition="in" filter="fade">
                                      <p:cBhvr>
                                        <p:cTn id="106" dur="500"/>
                                        <p:tgtEl>
                                          <p:spTgt spid="81"/>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82"/>
                                        </p:tgtEl>
                                        <p:attrNameLst>
                                          <p:attrName>style.visibility</p:attrName>
                                        </p:attrNameLst>
                                      </p:cBhvr>
                                      <p:to>
                                        <p:strVal val="visible"/>
                                      </p:to>
                                    </p:set>
                                    <p:animEffect transition="in" filter="fade">
                                      <p:cBhvr>
                                        <p:cTn id="111" dur="500"/>
                                        <p:tgtEl>
                                          <p:spTgt spid="82"/>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83"/>
                                        </p:tgtEl>
                                        <p:attrNameLst>
                                          <p:attrName>style.visibility</p:attrName>
                                        </p:attrNameLst>
                                      </p:cBhvr>
                                      <p:to>
                                        <p:strVal val="visible"/>
                                      </p:to>
                                    </p:set>
                                    <p:animEffect transition="in" filter="fade">
                                      <p:cBhvr>
                                        <p:cTn id="116" dur="500"/>
                                        <p:tgtEl>
                                          <p:spTgt spid="83"/>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84"/>
                                        </p:tgtEl>
                                        <p:attrNameLst>
                                          <p:attrName>style.visibility</p:attrName>
                                        </p:attrNameLst>
                                      </p:cBhvr>
                                      <p:to>
                                        <p:strVal val="visible"/>
                                      </p:to>
                                    </p:set>
                                    <p:animEffect transition="in" filter="fade">
                                      <p:cBhvr>
                                        <p:cTn id="121" dur="500"/>
                                        <p:tgtEl>
                                          <p:spTgt spid="84"/>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30"/>
                                        </p:tgtEl>
                                        <p:attrNameLst>
                                          <p:attrName>style.visibility</p:attrName>
                                        </p:attrNameLst>
                                      </p:cBhvr>
                                      <p:to>
                                        <p:strVal val="visible"/>
                                      </p:to>
                                    </p:set>
                                    <p:animEffect transition="in" filter="fade">
                                      <p:cBhvr>
                                        <p:cTn id="12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4" grpId="0" animBg="1"/>
      <p:bldP spid="15" grpId="0" animBg="1"/>
      <p:bldP spid="81" grpId="0"/>
      <p:bldP spid="82" grpId="0"/>
      <p:bldP spid="83" grpId="0"/>
      <p:bldP spid="84"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How does testing fit in?</a:t>
            </a:r>
          </a:p>
        </p:txBody>
      </p:sp>
      <p:sp>
        <p:nvSpPr>
          <p:cNvPr id="3" name="Oval 2"/>
          <p:cNvSpPr/>
          <p:nvPr/>
        </p:nvSpPr>
        <p:spPr bwMode="auto">
          <a:xfrm>
            <a:off x="4860032" y="2780928"/>
            <a:ext cx="1440160"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Requirements</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0" name="Oval 9"/>
          <p:cNvSpPr/>
          <p:nvPr/>
        </p:nvSpPr>
        <p:spPr bwMode="auto">
          <a:xfrm>
            <a:off x="6431869" y="3380421"/>
            <a:ext cx="1440160"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Design</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1" name="Oval 10"/>
          <p:cNvSpPr/>
          <p:nvPr/>
        </p:nvSpPr>
        <p:spPr bwMode="auto">
          <a:xfrm>
            <a:off x="6444208" y="428422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Coding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2" name="Oval 11"/>
          <p:cNvSpPr/>
          <p:nvPr/>
        </p:nvSpPr>
        <p:spPr bwMode="auto">
          <a:xfrm>
            <a:off x="6084168" y="513775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rgbClr val="FF0000"/>
                </a:solidFill>
                <a:effectLst/>
                <a:latin typeface="Arial" charset="0"/>
                <a:ea typeface="ＭＳ Ｐゴシック" charset="0"/>
              </a:rPr>
              <a:t>Testing</a:t>
            </a:r>
            <a:endParaRPr kumimoji="0" lang="en-IE" sz="1000" b="0" i="0" u="none" strike="noStrike" cap="none" normalizeH="0" baseline="0" dirty="0">
              <a:ln>
                <a:noFill/>
              </a:ln>
              <a:solidFill>
                <a:srgbClr val="FF0000"/>
              </a:solidFill>
              <a:effectLst/>
              <a:latin typeface="Arial" charset="0"/>
              <a:ea typeface="ＭＳ Ｐゴシック" charset="0"/>
            </a:endParaRPr>
          </a:p>
        </p:txBody>
      </p:sp>
      <p:sp>
        <p:nvSpPr>
          <p:cNvPr id="13" name="Oval 12"/>
          <p:cNvSpPr/>
          <p:nvPr/>
        </p:nvSpPr>
        <p:spPr bwMode="auto">
          <a:xfrm>
            <a:off x="4067944" y="5200125"/>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Fixing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4" name="Oval 13"/>
          <p:cNvSpPr/>
          <p:nvPr/>
        </p:nvSpPr>
        <p:spPr bwMode="auto">
          <a:xfrm>
            <a:off x="3275856" y="430074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Shipping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5" name="Oval 14"/>
          <p:cNvSpPr/>
          <p:nvPr/>
        </p:nvSpPr>
        <p:spPr bwMode="auto">
          <a:xfrm>
            <a:off x="3291634" y="3394980"/>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Maintaining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6" name="Rectangle 7"/>
          <p:cNvSpPr txBox="1">
            <a:spLocks noChangeArrowheads="1"/>
          </p:cNvSpPr>
          <p:nvPr/>
        </p:nvSpPr>
        <p:spPr bwMode="auto">
          <a:xfrm>
            <a:off x="179512" y="1556793"/>
            <a:ext cx="7948612" cy="36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GB" sz="1400" kern="0" dirty="0"/>
              <a:t>Development lifecycle: Broader scope of testing domain (</a:t>
            </a:r>
            <a:r>
              <a:rPr lang="en-GB" sz="1400" b="1" kern="0" dirty="0"/>
              <a:t>testing throughout the lifecycle</a:t>
            </a:r>
            <a:r>
              <a:rPr lang="en-GB" sz="1400" kern="0" dirty="0"/>
              <a:t>)</a:t>
            </a:r>
            <a:endParaRPr lang="en-US" sz="1200" kern="0" dirty="0"/>
          </a:p>
        </p:txBody>
      </p:sp>
      <p:cxnSp>
        <p:nvCxnSpPr>
          <p:cNvPr id="18" name="Straight Arrow Connector 17"/>
          <p:cNvCxnSpPr>
            <a:stCxn id="3" idx="6"/>
            <a:endCxn id="10" idx="0"/>
          </p:cNvCxnSpPr>
          <p:nvPr/>
        </p:nvCxnSpPr>
        <p:spPr bwMode="auto">
          <a:xfrm>
            <a:off x="6300192" y="2996952"/>
            <a:ext cx="851757" cy="383469"/>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5" name="Straight Arrow Connector 24"/>
          <p:cNvCxnSpPr>
            <a:stCxn id="10" idx="4"/>
            <a:endCxn id="11" idx="0"/>
          </p:cNvCxnSpPr>
          <p:nvPr/>
        </p:nvCxnSpPr>
        <p:spPr bwMode="auto">
          <a:xfrm>
            <a:off x="7151949" y="3812469"/>
            <a:ext cx="48343" cy="471754"/>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8" name="Straight Arrow Connector 27"/>
          <p:cNvCxnSpPr>
            <a:stCxn id="11" idx="4"/>
            <a:endCxn id="12" idx="0"/>
          </p:cNvCxnSpPr>
          <p:nvPr/>
        </p:nvCxnSpPr>
        <p:spPr bwMode="auto">
          <a:xfrm flipH="1">
            <a:off x="6840252" y="4716271"/>
            <a:ext cx="360040" cy="421482"/>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Straight Arrow Connector 30"/>
          <p:cNvCxnSpPr>
            <a:stCxn id="12" idx="2"/>
            <a:endCxn id="13" idx="6"/>
          </p:cNvCxnSpPr>
          <p:nvPr/>
        </p:nvCxnSpPr>
        <p:spPr bwMode="auto">
          <a:xfrm flipH="1">
            <a:off x="5580112" y="5353777"/>
            <a:ext cx="504056" cy="62372"/>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4" name="Straight Arrow Connector 33"/>
          <p:cNvCxnSpPr>
            <a:stCxn id="13" idx="0"/>
          </p:cNvCxnSpPr>
          <p:nvPr/>
        </p:nvCxnSpPr>
        <p:spPr bwMode="auto">
          <a:xfrm flipH="1" flipV="1">
            <a:off x="4115292" y="4732791"/>
            <a:ext cx="708736" cy="467334"/>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7" name="Straight Arrow Connector 36"/>
          <p:cNvCxnSpPr>
            <a:stCxn id="14" idx="0"/>
            <a:endCxn id="15" idx="4"/>
          </p:cNvCxnSpPr>
          <p:nvPr/>
        </p:nvCxnSpPr>
        <p:spPr bwMode="auto">
          <a:xfrm flipV="1">
            <a:off x="4031940" y="3827028"/>
            <a:ext cx="15778" cy="473715"/>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0" name="Straight Arrow Connector 39"/>
          <p:cNvCxnSpPr>
            <a:stCxn id="15" idx="0"/>
            <a:endCxn id="3" idx="2"/>
          </p:cNvCxnSpPr>
          <p:nvPr/>
        </p:nvCxnSpPr>
        <p:spPr bwMode="auto">
          <a:xfrm flipV="1">
            <a:off x="4047718" y="2996952"/>
            <a:ext cx="812314" cy="398028"/>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81" name="Rectangle 7"/>
          <p:cNvSpPr txBox="1">
            <a:spLocks noChangeArrowheads="1"/>
          </p:cNvSpPr>
          <p:nvPr/>
        </p:nvSpPr>
        <p:spPr bwMode="auto">
          <a:xfrm>
            <a:off x="179512" y="4489622"/>
            <a:ext cx="2160240"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400" kern="0" dirty="0"/>
              <a:t>- Testing is everywhere</a:t>
            </a:r>
            <a:endParaRPr lang="en-US" sz="1200" kern="0" dirty="0"/>
          </a:p>
        </p:txBody>
      </p:sp>
      <p:sp>
        <p:nvSpPr>
          <p:cNvPr id="82" name="Rectangle 7"/>
          <p:cNvSpPr txBox="1">
            <a:spLocks noChangeArrowheads="1"/>
          </p:cNvSpPr>
          <p:nvPr/>
        </p:nvSpPr>
        <p:spPr bwMode="auto">
          <a:xfrm>
            <a:off x="155826" y="4921670"/>
            <a:ext cx="2016224" cy="523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400" kern="0" dirty="0"/>
              <a:t>- Testing is expensive</a:t>
            </a:r>
            <a:endParaRPr lang="en-US" sz="1200" kern="0" dirty="0"/>
          </a:p>
        </p:txBody>
      </p:sp>
      <p:sp>
        <p:nvSpPr>
          <p:cNvPr id="83" name="Rectangle 7"/>
          <p:cNvSpPr txBox="1">
            <a:spLocks noChangeArrowheads="1"/>
          </p:cNvSpPr>
          <p:nvPr/>
        </p:nvSpPr>
        <p:spPr bwMode="auto">
          <a:xfrm>
            <a:off x="179512" y="5301208"/>
            <a:ext cx="386820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400" kern="0" dirty="0"/>
              <a:t>- Not testing enough can be more expensive; there is an economic consideration.</a:t>
            </a:r>
            <a:endParaRPr lang="en-US" sz="1200" kern="0" dirty="0"/>
          </a:p>
        </p:txBody>
      </p:sp>
      <p:grpSp>
        <p:nvGrpSpPr>
          <p:cNvPr id="26" name="Group 25"/>
          <p:cNvGrpSpPr/>
          <p:nvPr/>
        </p:nvGrpSpPr>
        <p:grpSpPr>
          <a:xfrm>
            <a:off x="4974205" y="2132869"/>
            <a:ext cx="1211814" cy="717681"/>
            <a:chOff x="4974205" y="2132869"/>
            <a:chExt cx="1211814" cy="717681"/>
          </a:xfrm>
        </p:grpSpPr>
        <p:cxnSp>
          <p:nvCxnSpPr>
            <p:cNvPr id="4" name="Curved Connector 3"/>
            <p:cNvCxnSpPr>
              <a:stCxn id="3" idx="7"/>
              <a:endCxn id="3" idx="1"/>
            </p:cNvCxnSpPr>
            <p:nvPr/>
          </p:nvCxnSpPr>
          <p:spPr bwMode="auto">
            <a:xfrm rot="16200000" flipV="1">
              <a:off x="5580112" y="2335027"/>
              <a:ext cx="12700" cy="1018346"/>
            </a:xfrm>
            <a:prstGeom prst="curvedConnector3">
              <a:avLst>
                <a:gd name="adj1" fmla="val 2298205"/>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5" name="Rectangle 7"/>
            <p:cNvSpPr txBox="1">
              <a:spLocks noChangeArrowheads="1"/>
            </p:cNvSpPr>
            <p:nvPr/>
          </p:nvSpPr>
          <p:spPr bwMode="auto">
            <a:xfrm>
              <a:off x="4974205" y="2132869"/>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Requirements Testing</a:t>
              </a:r>
              <a:endParaRPr lang="en-US" sz="1100" kern="0" dirty="0">
                <a:solidFill>
                  <a:srgbClr val="FF0000"/>
                </a:solidFill>
              </a:endParaRPr>
            </a:p>
          </p:txBody>
        </p:sp>
      </p:grpSp>
      <p:grpSp>
        <p:nvGrpSpPr>
          <p:cNvPr id="27" name="Group 26"/>
          <p:cNvGrpSpPr/>
          <p:nvPr/>
        </p:nvGrpSpPr>
        <p:grpSpPr>
          <a:xfrm>
            <a:off x="7522217" y="2734938"/>
            <a:ext cx="1211814" cy="861507"/>
            <a:chOff x="7522217" y="2734938"/>
            <a:chExt cx="1211814" cy="861507"/>
          </a:xfrm>
        </p:grpSpPr>
        <p:cxnSp>
          <p:nvCxnSpPr>
            <p:cNvPr id="32" name="Curved Connector 31"/>
            <p:cNvCxnSpPr>
              <a:stCxn id="10" idx="6"/>
              <a:endCxn id="10" idx="7"/>
            </p:cNvCxnSpPr>
            <p:nvPr/>
          </p:nvCxnSpPr>
          <p:spPr bwMode="auto">
            <a:xfrm flipH="1" flipV="1">
              <a:off x="7661122" y="3443693"/>
              <a:ext cx="210907" cy="152752"/>
            </a:xfrm>
            <a:prstGeom prst="curvedConnector4">
              <a:avLst>
                <a:gd name="adj1" fmla="val -108389"/>
                <a:gd name="adj2" fmla="val 291076"/>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6" name="Rectangle 7"/>
            <p:cNvSpPr txBox="1">
              <a:spLocks noChangeArrowheads="1"/>
            </p:cNvSpPr>
            <p:nvPr/>
          </p:nvSpPr>
          <p:spPr bwMode="auto">
            <a:xfrm>
              <a:off x="7522217" y="2734938"/>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Design  Testing</a:t>
              </a:r>
              <a:endParaRPr lang="en-US" sz="1100" kern="0" dirty="0">
                <a:solidFill>
                  <a:srgbClr val="FF0000"/>
                </a:solidFill>
              </a:endParaRPr>
            </a:p>
          </p:txBody>
        </p:sp>
      </p:grpSp>
      <p:grpSp>
        <p:nvGrpSpPr>
          <p:cNvPr id="29" name="Group 28"/>
          <p:cNvGrpSpPr/>
          <p:nvPr/>
        </p:nvGrpSpPr>
        <p:grpSpPr>
          <a:xfrm>
            <a:off x="7734924" y="3769542"/>
            <a:ext cx="1245608" cy="730705"/>
            <a:chOff x="7734924" y="3769542"/>
            <a:chExt cx="1245608" cy="730705"/>
          </a:xfrm>
        </p:grpSpPr>
        <p:cxnSp>
          <p:nvCxnSpPr>
            <p:cNvPr id="35" name="Curved Connector 34"/>
            <p:cNvCxnSpPr>
              <a:stCxn id="11" idx="6"/>
              <a:endCxn id="11" idx="7"/>
            </p:cNvCxnSpPr>
            <p:nvPr/>
          </p:nvCxnSpPr>
          <p:spPr bwMode="auto">
            <a:xfrm flipH="1" flipV="1">
              <a:off x="7734924" y="4347495"/>
              <a:ext cx="221452" cy="152752"/>
            </a:xfrm>
            <a:prstGeom prst="curvedConnector4">
              <a:avLst>
                <a:gd name="adj1" fmla="val -103228"/>
                <a:gd name="adj2" fmla="val 291076"/>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8" name="Rectangle 7"/>
            <p:cNvSpPr txBox="1">
              <a:spLocks noChangeArrowheads="1"/>
            </p:cNvSpPr>
            <p:nvPr/>
          </p:nvSpPr>
          <p:spPr bwMode="auto">
            <a:xfrm>
              <a:off x="7768718" y="3769542"/>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Code    Testing</a:t>
              </a:r>
              <a:endParaRPr lang="en-US" sz="1100" kern="0" dirty="0">
                <a:solidFill>
                  <a:srgbClr val="FF0000"/>
                </a:solidFill>
              </a:endParaRPr>
            </a:p>
          </p:txBody>
        </p:sp>
      </p:grpSp>
      <p:grpSp>
        <p:nvGrpSpPr>
          <p:cNvPr id="33" name="Group 32"/>
          <p:cNvGrpSpPr/>
          <p:nvPr/>
        </p:nvGrpSpPr>
        <p:grpSpPr>
          <a:xfrm>
            <a:off x="1907704" y="3874116"/>
            <a:ext cx="1589604" cy="642651"/>
            <a:chOff x="1907704" y="3874116"/>
            <a:chExt cx="1589604" cy="642651"/>
          </a:xfrm>
        </p:grpSpPr>
        <p:cxnSp>
          <p:nvCxnSpPr>
            <p:cNvPr id="41" name="Curved Connector 40"/>
            <p:cNvCxnSpPr>
              <a:stCxn id="14" idx="2"/>
              <a:endCxn id="14" idx="1"/>
            </p:cNvCxnSpPr>
            <p:nvPr/>
          </p:nvCxnSpPr>
          <p:spPr bwMode="auto">
            <a:xfrm rot="10800000" flipH="1">
              <a:off x="3275856" y="4364015"/>
              <a:ext cx="221452" cy="152752"/>
            </a:xfrm>
            <a:prstGeom prst="curvedConnector4">
              <a:avLst>
                <a:gd name="adj1" fmla="val -103228"/>
                <a:gd name="adj2" fmla="val 291076"/>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9" name="Rectangle 7"/>
            <p:cNvSpPr txBox="1">
              <a:spLocks noChangeArrowheads="1"/>
            </p:cNvSpPr>
            <p:nvPr/>
          </p:nvSpPr>
          <p:spPr bwMode="auto">
            <a:xfrm>
              <a:off x="1907704" y="3874116"/>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Acceptance Testing</a:t>
              </a:r>
              <a:endParaRPr lang="en-US" sz="1100" kern="0" dirty="0">
                <a:solidFill>
                  <a:srgbClr val="FF0000"/>
                </a:solidFill>
              </a:endParaRPr>
            </a:p>
          </p:txBody>
        </p:sp>
      </p:grpSp>
      <p:grpSp>
        <p:nvGrpSpPr>
          <p:cNvPr id="36" name="Group 35"/>
          <p:cNvGrpSpPr/>
          <p:nvPr/>
        </p:nvGrpSpPr>
        <p:grpSpPr>
          <a:xfrm>
            <a:off x="2227296" y="2807183"/>
            <a:ext cx="1285790" cy="803821"/>
            <a:chOff x="2227296" y="2807183"/>
            <a:chExt cx="1285790" cy="803821"/>
          </a:xfrm>
        </p:grpSpPr>
        <p:cxnSp>
          <p:nvCxnSpPr>
            <p:cNvPr id="42" name="Curved Connector 41"/>
            <p:cNvCxnSpPr>
              <a:stCxn id="15" idx="2"/>
              <a:endCxn id="15" idx="1"/>
            </p:cNvCxnSpPr>
            <p:nvPr/>
          </p:nvCxnSpPr>
          <p:spPr bwMode="auto">
            <a:xfrm rot="10800000" flipH="1">
              <a:off x="3291634" y="3458252"/>
              <a:ext cx="221452" cy="152752"/>
            </a:xfrm>
            <a:prstGeom prst="curvedConnector4">
              <a:avLst>
                <a:gd name="adj1" fmla="val -103228"/>
                <a:gd name="adj2" fmla="val 291076"/>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1" name="Rectangle 7"/>
            <p:cNvSpPr txBox="1">
              <a:spLocks noChangeArrowheads="1"/>
            </p:cNvSpPr>
            <p:nvPr/>
          </p:nvSpPr>
          <p:spPr bwMode="auto">
            <a:xfrm>
              <a:off x="2227296" y="2807183"/>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Maintenance Testing</a:t>
              </a:r>
              <a:endParaRPr lang="en-US" sz="1100" kern="0" dirty="0">
                <a:solidFill>
                  <a:srgbClr val="FF0000"/>
                </a:solidFill>
              </a:endParaRPr>
            </a:p>
          </p:txBody>
        </p:sp>
      </p:grpSp>
      <p:grpSp>
        <p:nvGrpSpPr>
          <p:cNvPr id="30" name="Group 29"/>
          <p:cNvGrpSpPr/>
          <p:nvPr/>
        </p:nvGrpSpPr>
        <p:grpSpPr>
          <a:xfrm>
            <a:off x="6840252" y="5506529"/>
            <a:ext cx="1426777" cy="678273"/>
            <a:chOff x="6840252" y="5506529"/>
            <a:chExt cx="1426777" cy="678273"/>
          </a:xfrm>
        </p:grpSpPr>
        <p:sp>
          <p:nvSpPr>
            <p:cNvPr id="52" name="Rectangle 7"/>
            <p:cNvSpPr txBox="1">
              <a:spLocks noChangeArrowheads="1"/>
            </p:cNvSpPr>
            <p:nvPr/>
          </p:nvSpPr>
          <p:spPr bwMode="auto">
            <a:xfrm>
              <a:off x="7055215" y="5805264"/>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Application / Product Testing</a:t>
              </a:r>
              <a:endParaRPr lang="en-US" sz="1100" kern="0" dirty="0">
                <a:solidFill>
                  <a:srgbClr val="FF0000"/>
                </a:solidFill>
              </a:endParaRPr>
            </a:p>
          </p:txBody>
        </p:sp>
        <p:cxnSp>
          <p:nvCxnSpPr>
            <p:cNvPr id="54" name="Curved Connector 53"/>
            <p:cNvCxnSpPr>
              <a:stCxn id="12" idx="4"/>
              <a:endCxn id="12" idx="5"/>
            </p:cNvCxnSpPr>
            <p:nvPr/>
          </p:nvCxnSpPr>
          <p:spPr bwMode="auto">
            <a:xfrm rot="5400000" flipH="1" flipV="1">
              <a:off x="7075932" y="5270849"/>
              <a:ext cx="63272" cy="534632"/>
            </a:xfrm>
            <a:prstGeom prst="curvedConnector3">
              <a:avLst>
                <a:gd name="adj1" fmla="val -361297"/>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sp>
        <p:nvSpPr>
          <p:cNvPr id="60" name="Rectangle 7"/>
          <p:cNvSpPr txBox="1">
            <a:spLocks noChangeArrowheads="1"/>
          </p:cNvSpPr>
          <p:nvPr/>
        </p:nvSpPr>
        <p:spPr bwMode="auto">
          <a:xfrm>
            <a:off x="179512" y="6407583"/>
            <a:ext cx="6408712" cy="405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600" kern="0" dirty="0">
                <a:solidFill>
                  <a:srgbClr val="FF0000"/>
                </a:solidFill>
              </a:rPr>
              <a:t>- This module is concerned with all of these different types of testing.</a:t>
            </a:r>
            <a:endParaRPr lang="en-US" sz="1400" kern="0" dirty="0">
              <a:solidFill>
                <a:srgbClr val="FF0000"/>
              </a:solidFill>
            </a:endParaRPr>
          </a:p>
        </p:txBody>
      </p:sp>
      <p:sp>
        <p:nvSpPr>
          <p:cNvPr id="43" name="Rectangle 7"/>
          <p:cNvSpPr txBox="1">
            <a:spLocks noChangeArrowheads="1"/>
          </p:cNvSpPr>
          <p:nvPr/>
        </p:nvSpPr>
        <p:spPr bwMode="auto">
          <a:xfrm>
            <a:off x="179512" y="5805264"/>
            <a:ext cx="3888432"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r>
              <a:rPr lang="en-GB" sz="1400" kern="0" dirty="0"/>
              <a:t>- Note on integration versus system/qualification versus acceptance testing</a:t>
            </a:r>
            <a:endParaRPr lang="en-US" sz="1200" kern="0" dirty="0"/>
          </a:p>
        </p:txBody>
      </p:sp>
    </p:spTree>
    <p:extLst>
      <p:ext uri="{BB962C8B-B14F-4D97-AF65-F5344CB8AC3E}">
        <p14:creationId xmlns:p14="http://schemas.microsoft.com/office/powerpoint/2010/main" val="233392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up)">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up)">
                                      <p:cBhvr>
                                        <p:cTn id="29" dur="5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right)">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right)">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wipe(right)">
                                      <p:cBhvr>
                                        <p:cTn id="48" dur="50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down)">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5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81"/>
                                        </p:tgtEl>
                                        <p:attrNameLst>
                                          <p:attrName>style.visibility</p:attrName>
                                        </p:attrNameLst>
                                      </p:cBhvr>
                                      <p:to>
                                        <p:strVal val="visible"/>
                                      </p:to>
                                    </p:set>
                                    <p:animEffect transition="in" filter="fade">
                                      <p:cBhvr>
                                        <p:cTn id="101" dur="500"/>
                                        <p:tgtEl>
                                          <p:spTgt spid="81"/>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82"/>
                                        </p:tgtEl>
                                        <p:attrNameLst>
                                          <p:attrName>style.visibility</p:attrName>
                                        </p:attrNameLst>
                                      </p:cBhvr>
                                      <p:to>
                                        <p:strVal val="visible"/>
                                      </p:to>
                                    </p:set>
                                    <p:animEffect transition="in" filter="fade">
                                      <p:cBhvr>
                                        <p:cTn id="106" dur="500"/>
                                        <p:tgtEl>
                                          <p:spTgt spid="82"/>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83"/>
                                        </p:tgtEl>
                                        <p:attrNameLst>
                                          <p:attrName>style.visibility</p:attrName>
                                        </p:attrNameLst>
                                      </p:cBhvr>
                                      <p:to>
                                        <p:strVal val="visible"/>
                                      </p:to>
                                    </p:set>
                                    <p:animEffect transition="in" filter="fade">
                                      <p:cBhvr>
                                        <p:cTn id="111" dur="500"/>
                                        <p:tgtEl>
                                          <p:spTgt spid="83"/>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60"/>
                                        </p:tgtEl>
                                        <p:attrNameLst>
                                          <p:attrName>style.visibility</p:attrName>
                                        </p:attrNameLst>
                                      </p:cBhvr>
                                      <p:to>
                                        <p:strVal val="visible"/>
                                      </p:to>
                                    </p:set>
                                    <p:animEffect transition="in" filter="fade">
                                      <p:cBhvr>
                                        <p:cTn id="116" dur="500"/>
                                        <p:tgtEl>
                                          <p:spTgt spid="60"/>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4" grpId="0" animBg="1"/>
      <p:bldP spid="15" grpId="0" animBg="1"/>
      <p:bldP spid="81" grpId="0"/>
      <p:bldP spid="82" grpId="0"/>
      <p:bldP spid="83" grpId="0"/>
      <p:bldP spid="60"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2020" name="Rectangle 4"/>
          <p:cNvSpPr>
            <a:spLocks noGrp="1" noChangeArrowheads="1"/>
          </p:cNvSpPr>
          <p:nvPr>
            <p:ph type="ctrTitle"/>
          </p:nvPr>
        </p:nvSpPr>
        <p:spPr/>
        <p:txBody>
          <a:bodyPr/>
          <a:lstStyle/>
          <a:p>
            <a:pPr algn="ctr"/>
            <a:r>
              <a:rPr lang="en-US"/>
              <a:t>Why is testing necessary?</a:t>
            </a:r>
          </a:p>
        </p:txBody>
      </p:sp>
      <p:sp>
        <p:nvSpPr>
          <p:cNvPr id="2262022" name="Rectangle 6"/>
          <p:cNvSpPr>
            <a:spLocks noGrp="1" noChangeArrowheads="1"/>
          </p:cNvSpPr>
          <p:nvPr>
            <p:ph type="subTitle" idx="1"/>
          </p:nvPr>
        </p:nvSpPr>
        <p:spPr/>
        <p:txBody>
          <a:bodyPr/>
          <a:lstStyle/>
          <a:p>
            <a:endParaRPr lang="en-GB"/>
          </a:p>
        </p:txBody>
      </p:sp>
    </p:spTree>
    <p:extLst>
      <p:ext uri="{BB962C8B-B14F-4D97-AF65-F5344CB8AC3E}">
        <p14:creationId xmlns:p14="http://schemas.microsoft.com/office/powerpoint/2010/main" val="16962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Why testing is important?</a:t>
            </a:r>
          </a:p>
        </p:txBody>
      </p:sp>
      <p:sp>
        <p:nvSpPr>
          <p:cNvPr id="1074179" name="Rectangle 3"/>
          <p:cNvSpPr>
            <a:spLocks noGrp="1"/>
          </p:cNvSpPr>
          <p:nvPr>
            <p:ph type="body" sz="half" idx="4294967295"/>
          </p:nvPr>
        </p:nvSpPr>
        <p:spPr>
          <a:xfrm>
            <a:off x="5076056" y="1628800"/>
            <a:ext cx="3847405" cy="4830663"/>
          </a:xfrm>
        </p:spPr>
        <p:txBody>
          <a:bodyPr/>
          <a:lstStyle/>
          <a:p>
            <a:pPr marL="0" indent="0">
              <a:buClr>
                <a:schemeClr val="tx2"/>
              </a:buClr>
            </a:pPr>
            <a:r>
              <a:rPr lang="en-GB" sz="1800" dirty="0">
                <a:solidFill>
                  <a:srgbClr val="99CC00"/>
                </a:solidFill>
              </a:rPr>
              <a:t>7 out of 10 IT projects fail</a:t>
            </a:r>
            <a:r>
              <a:rPr lang="en-GB" sz="1800" dirty="0"/>
              <a:t> and the reasons for failure can often be attributed to poor software testing. </a:t>
            </a:r>
          </a:p>
          <a:p>
            <a:pPr marL="0" indent="0">
              <a:buClr>
                <a:schemeClr val="tx2"/>
              </a:buClr>
            </a:pPr>
            <a:endParaRPr lang="en-GB" sz="1800" dirty="0"/>
          </a:p>
          <a:p>
            <a:pPr marL="0" indent="0">
              <a:buClr>
                <a:schemeClr val="tx2"/>
              </a:buClr>
            </a:pPr>
            <a:r>
              <a:rPr lang="en-GB" sz="1800" dirty="0"/>
              <a:t>Software testing can represent </a:t>
            </a:r>
            <a:r>
              <a:rPr lang="en-GB" sz="1800" dirty="0">
                <a:solidFill>
                  <a:srgbClr val="92D050"/>
                </a:solidFill>
              </a:rPr>
              <a:t>c.</a:t>
            </a:r>
            <a:r>
              <a:rPr lang="en-GB" sz="1800" dirty="0">
                <a:solidFill>
                  <a:srgbClr val="99CC00"/>
                </a:solidFill>
              </a:rPr>
              <a:t>40% of development costs</a:t>
            </a:r>
            <a:r>
              <a:rPr lang="en-GB" sz="1800" dirty="0"/>
              <a:t> within a project. </a:t>
            </a:r>
          </a:p>
          <a:p>
            <a:pPr marL="0" indent="0">
              <a:buClr>
                <a:schemeClr val="tx2"/>
              </a:buClr>
            </a:pPr>
            <a:endParaRPr lang="en-GB" sz="1800" dirty="0"/>
          </a:p>
          <a:p>
            <a:pPr marL="0" indent="0">
              <a:buClr>
                <a:schemeClr val="tx2"/>
              </a:buClr>
            </a:pPr>
            <a:r>
              <a:rPr lang="en-GB" sz="1800" dirty="0"/>
              <a:t>There are significant cost, time and quality benefits to getting software testing right. </a:t>
            </a:r>
          </a:p>
          <a:p>
            <a:pPr marL="0" indent="0">
              <a:buClr>
                <a:schemeClr val="tx2"/>
              </a:buClr>
            </a:pPr>
            <a:endParaRPr lang="en-GB" sz="1800" dirty="0"/>
          </a:p>
          <a:p>
            <a:pPr marL="0" indent="0">
              <a:buClr>
                <a:schemeClr val="tx2"/>
              </a:buClr>
            </a:pPr>
            <a:r>
              <a:rPr lang="en-GB" sz="1800" dirty="0"/>
              <a:t>Unfortunately, organisations often struggle to attain the desired balance between test coverage and time to delivery.</a:t>
            </a:r>
          </a:p>
        </p:txBody>
      </p:sp>
      <p:sp>
        <p:nvSpPr>
          <p:cNvPr id="2" name="Content Placeholder 1"/>
          <p:cNvSpPr>
            <a:spLocks noGrp="1"/>
          </p:cNvSpPr>
          <p:nvPr>
            <p:ph idx="1"/>
          </p:nvPr>
        </p:nvSpPr>
        <p:spPr>
          <a:xfrm>
            <a:off x="132085" y="2060848"/>
            <a:ext cx="4799955" cy="4104878"/>
          </a:xfrm>
        </p:spPr>
        <p:txBody>
          <a:bodyPr/>
          <a:lstStyle/>
          <a:p>
            <a:r>
              <a:rPr lang="en-IE" sz="1400" dirty="0"/>
              <a:t>After spending $130 million on it's problematical health insurance exchange, one of the 14 U.S. states that opted to create their own health insurance exchange (rather than utilize a federal-government-provided exchange) hired a new contractor in April 2014 to redo the site. Among the many problems with the initial site since it went live in October 2013, reportedly </a:t>
            </a:r>
            <a:r>
              <a:rPr lang="en-IE" sz="1400" b="1" dirty="0"/>
              <a:t>hundreds of </a:t>
            </a:r>
            <a:r>
              <a:rPr lang="en-IE" sz="1400" b="1" dirty="0" err="1"/>
              <a:t>enrollees</a:t>
            </a:r>
            <a:r>
              <a:rPr lang="en-IE" sz="1400" b="1" dirty="0"/>
              <a:t> receiving </a:t>
            </a:r>
            <a:r>
              <a:rPr lang="en-IE" sz="1400" b="1" dirty="0" err="1"/>
              <a:t>enrollment</a:t>
            </a:r>
            <a:r>
              <a:rPr lang="en-IE" sz="1400" b="1" dirty="0"/>
              <a:t> information with names and birth dates of other </a:t>
            </a:r>
            <a:r>
              <a:rPr lang="en-IE" sz="1400" b="1" dirty="0" err="1"/>
              <a:t>enrollees</a:t>
            </a:r>
            <a:r>
              <a:rPr lang="en-IE" sz="1400" dirty="0"/>
              <a:t>. It was estimated the </a:t>
            </a:r>
            <a:r>
              <a:rPr lang="en-IE" sz="1400" b="1" dirty="0">
                <a:solidFill>
                  <a:srgbClr val="FF0000"/>
                </a:solidFill>
              </a:rPr>
              <a:t>revamping would cost another $60 million</a:t>
            </a:r>
            <a:r>
              <a:rPr lang="en-IE" sz="1400" dirty="0"/>
              <a:t>. Additionally, the primary contractor and subcontractor for the site are embroiled in a lawsuit with one another and at last report were in arbitration. Eventually it was reported that </a:t>
            </a:r>
            <a:r>
              <a:rPr lang="en-IE" sz="1400" b="1" dirty="0">
                <a:solidFill>
                  <a:srgbClr val="FF0000"/>
                </a:solidFill>
              </a:rPr>
              <a:t>the prime contractor agreed to pay $45 million to the government to avoid a lawsuit</a:t>
            </a:r>
            <a:r>
              <a:rPr lang="en-IE" sz="1400" dirty="0"/>
              <a:t>.</a:t>
            </a:r>
          </a:p>
        </p:txBody>
      </p:sp>
    </p:spTree>
    <p:extLst>
      <p:ext uri="{BB962C8B-B14F-4D97-AF65-F5344CB8AC3E}">
        <p14:creationId xmlns:p14="http://schemas.microsoft.com/office/powerpoint/2010/main" val="233639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074179">
                                            <p:txEl>
                                              <p:pRg st="0" end="0"/>
                                            </p:txEl>
                                          </p:spTgt>
                                        </p:tgtEl>
                                        <p:attrNameLst>
                                          <p:attrName>style.visibility</p:attrName>
                                        </p:attrNameLst>
                                      </p:cBhvr>
                                      <p:to>
                                        <p:strVal val="visible"/>
                                      </p:to>
                                    </p:set>
                                    <p:anim calcmode="lin" valueType="num">
                                      <p:cBhvr>
                                        <p:cTn id="7" dur="1000" fill="hold"/>
                                        <p:tgtEl>
                                          <p:spTgt spid="1074179">
                                            <p:txEl>
                                              <p:pRg st="0" end="0"/>
                                            </p:txEl>
                                          </p:spTgt>
                                        </p:tgtEl>
                                        <p:attrNameLst>
                                          <p:attrName>ppt_w</p:attrName>
                                        </p:attrNameLst>
                                      </p:cBhvr>
                                      <p:tavLst>
                                        <p:tav tm="0">
                                          <p:val>
                                            <p:strVal val="#ppt_w*2.5"/>
                                          </p:val>
                                        </p:tav>
                                        <p:tav tm="100000">
                                          <p:val>
                                            <p:strVal val="#ppt_w"/>
                                          </p:val>
                                        </p:tav>
                                      </p:tavLst>
                                    </p:anim>
                                    <p:anim calcmode="lin" valueType="num">
                                      <p:cBhvr>
                                        <p:cTn id="8" dur="1000" fill="hold"/>
                                        <p:tgtEl>
                                          <p:spTgt spid="1074179">
                                            <p:txEl>
                                              <p:pRg st="0" end="0"/>
                                            </p:txEl>
                                          </p:spTgt>
                                        </p:tgtEl>
                                        <p:attrNameLst>
                                          <p:attrName>ppt_h</p:attrName>
                                        </p:attrNameLst>
                                      </p:cBhvr>
                                      <p:tavLst>
                                        <p:tav tm="0">
                                          <p:val>
                                            <p:strVal val="#ppt_h*0.01"/>
                                          </p:val>
                                        </p:tav>
                                        <p:tav tm="100000">
                                          <p:val>
                                            <p:strVal val="#ppt_h"/>
                                          </p:val>
                                        </p:tav>
                                      </p:tavLst>
                                    </p:anim>
                                    <p:anim calcmode="lin" valueType="num">
                                      <p:cBhvr>
                                        <p:cTn id="9" dur="1000" fill="hold"/>
                                        <p:tgtEl>
                                          <p:spTgt spid="1074179">
                                            <p:txEl>
                                              <p:pRg st="0" end="0"/>
                                            </p:txEl>
                                          </p:spTgt>
                                        </p:tgtEl>
                                        <p:attrNameLst>
                                          <p:attrName>ppt_x</p:attrName>
                                        </p:attrNameLst>
                                      </p:cBhvr>
                                      <p:tavLst>
                                        <p:tav tm="0">
                                          <p:val>
                                            <p:strVal val="#ppt_x"/>
                                          </p:val>
                                        </p:tav>
                                        <p:tav tm="100000">
                                          <p:val>
                                            <p:strVal val="#ppt_x"/>
                                          </p:val>
                                        </p:tav>
                                      </p:tavLst>
                                    </p:anim>
                                    <p:anim calcmode="lin" valueType="num">
                                      <p:cBhvr>
                                        <p:cTn id="10" dur="1000" fill="hold"/>
                                        <p:tgtEl>
                                          <p:spTgt spid="1074179">
                                            <p:txEl>
                                              <p:pRg st="0" end="0"/>
                                            </p:txEl>
                                          </p:spTgt>
                                        </p:tgtEl>
                                        <p:attrNameLst>
                                          <p:attrName>ppt_y</p:attrName>
                                        </p:attrNameLst>
                                      </p:cBhvr>
                                      <p:tavLst>
                                        <p:tav tm="0">
                                          <p:val>
                                            <p:strVal val="#ppt_h+1"/>
                                          </p:val>
                                        </p:tav>
                                        <p:tav tm="100000">
                                          <p:val>
                                            <p:strVal val="#ppt_y"/>
                                          </p:val>
                                        </p:tav>
                                      </p:tavLst>
                                    </p:anim>
                                    <p:animEffect transition="in" filter="fade">
                                      <p:cBhvr>
                                        <p:cTn id="11" dur="1000"/>
                                        <p:tgtEl>
                                          <p:spTgt spid="1074179">
                                            <p:txEl>
                                              <p:pRg st="0" end="0"/>
                                            </p:txEl>
                                          </p:spTgt>
                                        </p:tgtEl>
                                      </p:cBhvr>
                                    </p:animEffect>
                                  </p:childTnLst>
                                </p:cTn>
                              </p:par>
                            </p:childTnLst>
                          </p:cTn>
                        </p:par>
                        <p:par>
                          <p:cTn id="12" fill="hold">
                            <p:stCondLst>
                              <p:cond delay="1000"/>
                            </p:stCondLst>
                            <p:childTnLst>
                              <p:par>
                                <p:cTn id="13" presetID="58" presetClass="entr" presetSubtype="0" accel="100000" fill="hold" grpId="0" nodeType="afterEffect">
                                  <p:stCondLst>
                                    <p:cond delay="0"/>
                                  </p:stCondLst>
                                  <p:childTnLst>
                                    <p:set>
                                      <p:cBhvr>
                                        <p:cTn id="14" dur="1" fill="hold">
                                          <p:stCondLst>
                                            <p:cond delay="0"/>
                                          </p:stCondLst>
                                        </p:cTn>
                                        <p:tgtEl>
                                          <p:spTgt spid="1074179">
                                            <p:txEl>
                                              <p:pRg st="2" end="2"/>
                                            </p:txEl>
                                          </p:spTgt>
                                        </p:tgtEl>
                                        <p:attrNameLst>
                                          <p:attrName>style.visibility</p:attrName>
                                        </p:attrNameLst>
                                      </p:cBhvr>
                                      <p:to>
                                        <p:strVal val="visible"/>
                                      </p:to>
                                    </p:set>
                                    <p:anim calcmode="lin" valueType="num">
                                      <p:cBhvr>
                                        <p:cTn id="15" dur="1000" fill="hold"/>
                                        <p:tgtEl>
                                          <p:spTgt spid="1074179">
                                            <p:txEl>
                                              <p:pRg st="2" end="2"/>
                                            </p:txEl>
                                          </p:spTgt>
                                        </p:tgtEl>
                                        <p:attrNameLst>
                                          <p:attrName>ppt_w</p:attrName>
                                        </p:attrNameLst>
                                      </p:cBhvr>
                                      <p:tavLst>
                                        <p:tav tm="0">
                                          <p:val>
                                            <p:strVal val="#ppt_w*2.5"/>
                                          </p:val>
                                        </p:tav>
                                        <p:tav tm="100000">
                                          <p:val>
                                            <p:strVal val="#ppt_w"/>
                                          </p:val>
                                        </p:tav>
                                      </p:tavLst>
                                    </p:anim>
                                    <p:anim calcmode="lin" valueType="num">
                                      <p:cBhvr>
                                        <p:cTn id="16" dur="1000" fill="hold"/>
                                        <p:tgtEl>
                                          <p:spTgt spid="1074179">
                                            <p:txEl>
                                              <p:pRg st="2" end="2"/>
                                            </p:txEl>
                                          </p:spTgt>
                                        </p:tgtEl>
                                        <p:attrNameLst>
                                          <p:attrName>ppt_h</p:attrName>
                                        </p:attrNameLst>
                                      </p:cBhvr>
                                      <p:tavLst>
                                        <p:tav tm="0">
                                          <p:val>
                                            <p:strVal val="#ppt_h*0.01"/>
                                          </p:val>
                                        </p:tav>
                                        <p:tav tm="100000">
                                          <p:val>
                                            <p:strVal val="#ppt_h"/>
                                          </p:val>
                                        </p:tav>
                                      </p:tavLst>
                                    </p:anim>
                                    <p:anim calcmode="lin" valueType="num">
                                      <p:cBhvr>
                                        <p:cTn id="17" dur="1000" fill="hold"/>
                                        <p:tgtEl>
                                          <p:spTgt spid="1074179">
                                            <p:txEl>
                                              <p:pRg st="2" end="2"/>
                                            </p:txEl>
                                          </p:spTgt>
                                        </p:tgtEl>
                                        <p:attrNameLst>
                                          <p:attrName>ppt_x</p:attrName>
                                        </p:attrNameLst>
                                      </p:cBhvr>
                                      <p:tavLst>
                                        <p:tav tm="0">
                                          <p:val>
                                            <p:strVal val="#ppt_x"/>
                                          </p:val>
                                        </p:tav>
                                        <p:tav tm="100000">
                                          <p:val>
                                            <p:strVal val="#ppt_x"/>
                                          </p:val>
                                        </p:tav>
                                      </p:tavLst>
                                    </p:anim>
                                    <p:anim calcmode="lin" valueType="num">
                                      <p:cBhvr>
                                        <p:cTn id="18" dur="1000" fill="hold"/>
                                        <p:tgtEl>
                                          <p:spTgt spid="1074179">
                                            <p:txEl>
                                              <p:pRg st="2" end="2"/>
                                            </p:txEl>
                                          </p:spTgt>
                                        </p:tgtEl>
                                        <p:attrNameLst>
                                          <p:attrName>ppt_y</p:attrName>
                                        </p:attrNameLst>
                                      </p:cBhvr>
                                      <p:tavLst>
                                        <p:tav tm="0">
                                          <p:val>
                                            <p:strVal val="#ppt_h+1"/>
                                          </p:val>
                                        </p:tav>
                                        <p:tav tm="100000">
                                          <p:val>
                                            <p:strVal val="#ppt_y"/>
                                          </p:val>
                                        </p:tav>
                                      </p:tavLst>
                                    </p:anim>
                                    <p:animEffect transition="in" filter="fade">
                                      <p:cBhvr>
                                        <p:cTn id="19" dur="1000"/>
                                        <p:tgtEl>
                                          <p:spTgt spid="1074179">
                                            <p:txEl>
                                              <p:pRg st="2" end="2"/>
                                            </p:txEl>
                                          </p:spTgt>
                                        </p:tgtEl>
                                      </p:cBhvr>
                                    </p:animEffect>
                                  </p:childTnLst>
                                </p:cTn>
                              </p:par>
                            </p:childTnLst>
                          </p:cTn>
                        </p:par>
                        <p:par>
                          <p:cTn id="20" fill="hold">
                            <p:stCondLst>
                              <p:cond delay="2000"/>
                            </p:stCondLst>
                            <p:childTnLst>
                              <p:par>
                                <p:cTn id="21" presetID="58" presetClass="entr" presetSubtype="0" accel="100000" fill="hold" grpId="0" nodeType="afterEffect">
                                  <p:stCondLst>
                                    <p:cond delay="0"/>
                                  </p:stCondLst>
                                  <p:childTnLst>
                                    <p:set>
                                      <p:cBhvr>
                                        <p:cTn id="22" dur="1" fill="hold">
                                          <p:stCondLst>
                                            <p:cond delay="0"/>
                                          </p:stCondLst>
                                        </p:cTn>
                                        <p:tgtEl>
                                          <p:spTgt spid="1074179">
                                            <p:txEl>
                                              <p:pRg st="4" end="4"/>
                                            </p:txEl>
                                          </p:spTgt>
                                        </p:tgtEl>
                                        <p:attrNameLst>
                                          <p:attrName>style.visibility</p:attrName>
                                        </p:attrNameLst>
                                      </p:cBhvr>
                                      <p:to>
                                        <p:strVal val="visible"/>
                                      </p:to>
                                    </p:set>
                                    <p:anim calcmode="lin" valueType="num">
                                      <p:cBhvr>
                                        <p:cTn id="23" dur="1000" fill="hold"/>
                                        <p:tgtEl>
                                          <p:spTgt spid="1074179">
                                            <p:txEl>
                                              <p:pRg st="4" end="4"/>
                                            </p:txEl>
                                          </p:spTgt>
                                        </p:tgtEl>
                                        <p:attrNameLst>
                                          <p:attrName>ppt_w</p:attrName>
                                        </p:attrNameLst>
                                      </p:cBhvr>
                                      <p:tavLst>
                                        <p:tav tm="0">
                                          <p:val>
                                            <p:strVal val="#ppt_w*2.5"/>
                                          </p:val>
                                        </p:tav>
                                        <p:tav tm="100000">
                                          <p:val>
                                            <p:strVal val="#ppt_w"/>
                                          </p:val>
                                        </p:tav>
                                      </p:tavLst>
                                    </p:anim>
                                    <p:anim calcmode="lin" valueType="num">
                                      <p:cBhvr>
                                        <p:cTn id="24" dur="1000" fill="hold"/>
                                        <p:tgtEl>
                                          <p:spTgt spid="1074179">
                                            <p:txEl>
                                              <p:pRg st="4" end="4"/>
                                            </p:txEl>
                                          </p:spTgt>
                                        </p:tgtEl>
                                        <p:attrNameLst>
                                          <p:attrName>ppt_h</p:attrName>
                                        </p:attrNameLst>
                                      </p:cBhvr>
                                      <p:tavLst>
                                        <p:tav tm="0">
                                          <p:val>
                                            <p:strVal val="#ppt_h*0.01"/>
                                          </p:val>
                                        </p:tav>
                                        <p:tav tm="100000">
                                          <p:val>
                                            <p:strVal val="#ppt_h"/>
                                          </p:val>
                                        </p:tav>
                                      </p:tavLst>
                                    </p:anim>
                                    <p:anim calcmode="lin" valueType="num">
                                      <p:cBhvr>
                                        <p:cTn id="25" dur="1000" fill="hold"/>
                                        <p:tgtEl>
                                          <p:spTgt spid="107417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074179">
                                            <p:txEl>
                                              <p:pRg st="4" end="4"/>
                                            </p:txEl>
                                          </p:spTgt>
                                        </p:tgtEl>
                                        <p:attrNameLst>
                                          <p:attrName>ppt_y</p:attrName>
                                        </p:attrNameLst>
                                      </p:cBhvr>
                                      <p:tavLst>
                                        <p:tav tm="0">
                                          <p:val>
                                            <p:strVal val="#ppt_h+1"/>
                                          </p:val>
                                        </p:tav>
                                        <p:tav tm="100000">
                                          <p:val>
                                            <p:strVal val="#ppt_y"/>
                                          </p:val>
                                        </p:tav>
                                      </p:tavLst>
                                    </p:anim>
                                    <p:animEffect transition="in" filter="fade">
                                      <p:cBhvr>
                                        <p:cTn id="27" dur="1000"/>
                                        <p:tgtEl>
                                          <p:spTgt spid="1074179">
                                            <p:txEl>
                                              <p:pRg st="4" end="4"/>
                                            </p:txEl>
                                          </p:spTgt>
                                        </p:tgtEl>
                                      </p:cBhvr>
                                    </p:animEffect>
                                  </p:childTnLst>
                                </p:cTn>
                              </p:par>
                            </p:childTnLst>
                          </p:cTn>
                        </p:par>
                        <p:par>
                          <p:cTn id="28" fill="hold">
                            <p:stCondLst>
                              <p:cond delay="3000"/>
                            </p:stCondLst>
                            <p:childTnLst>
                              <p:par>
                                <p:cTn id="29" presetID="58" presetClass="entr" presetSubtype="0" accel="100000" fill="hold" grpId="0" nodeType="afterEffect">
                                  <p:stCondLst>
                                    <p:cond delay="0"/>
                                  </p:stCondLst>
                                  <p:childTnLst>
                                    <p:set>
                                      <p:cBhvr>
                                        <p:cTn id="30" dur="1" fill="hold">
                                          <p:stCondLst>
                                            <p:cond delay="0"/>
                                          </p:stCondLst>
                                        </p:cTn>
                                        <p:tgtEl>
                                          <p:spTgt spid="1074179">
                                            <p:txEl>
                                              <p:pRg st="6" end="6"/>
                                            </p:txEl>
                                          </p:spTgt>
                                        </p:tgtEl>
                                        <p:attrNameLst>
                                          <p:attrName>style.visibility</p:attrName>
                                        </p:attrNameLst>
                                      </p:cBhvr>
                                      <p:to>
                                        <p:strVal val="visible"/>
                                      </p:to>
                                    </p:set>
                                    <p:anim calcmode="lin" valueType="num">
                                      <p:cBhvr>
                                        <p:cTn id="31" dur="1000" fill="hold"/>
                                        <p:tgtEl>
                                          <p:spTgt spid="1074179">
                                            <p:txEl>
                                              <p:pRg st="6" end="6"/>
                                            </p:txEl>
                                          </p:spTgt>
                                        </p:tgtEl>
                                        <p:attrNameLst>
                                          <p:attrName>ppt_w</p:attrName>
                                        </p:attrNameLst>
                                      </p:cBhvr>
                                      <p:tavLst>
                                        <p:tav tm="0">
                                          <p:val>
                                            <p:strVal val="#ppt_w*2.5"/>
                                          </p:val>
                                        </p:tav>
                                        <p:tav tm="100000">
                                          <p:val>
                                            <p:strVal val="#ppt_w"/>
                                          </p:val>
                                        </p:tav>
                                      </p:tavLst>
                                    </p:anim>
                                    <p:anim calcmode="lin" valueType="num">
                                      <p:cBhvr>
                                        <p:cTn id="32" dur="1000" fill="hold"/>
                                        <p:tgtEl>
                                          <p:spTgt spid="1074179">
                                            <p:txEl>
                                              <p:pRg st="6" end="6"/>
                                            </p:txEl>
                                          </p:spTgt>
                                        </p:tgtEl>
                                        <p:attrNameLst>
                                          <p:attrName>ppt_h</p:attrName>
                                        </p:attrNameLst>
                                      </p:cBhvr>
                                      <p:tavLst>
                                        <p:tav tm="0">
                                          <p:val>
                                            <p:strVal val="#ppt_h*0.01"/>
                                          </p:val>
                                        </p:tav>
                                        <p:tav tm="100000">
                                          <p:val>
                                            <p:strVal val="#ppt_h"/>
                                          </p:val>
                                        </p:tav>
                                      </p:tavLst>
                                    </p:anim>
                                    <p:anim calcmode="lin" valueType="num">
                                      <p:cBhvr>
                                        <p:cTn id="33" dur="1000" fill="hold"/>
                                        <p:tgtEl>
                                          <p:spTgt spid="1074179">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1074179">
                                            <p:txEl>
                                              <p:pRg st="6" end="6"/>
                                            </p:txEl>
                                          </p:spTgt>
                                        </p:tgtEl>
                                        <p:attrNameLst>
                                          <p:attrName>ppt_y</p:attrName>
                                        </p:attrNameLst>
                                      </p:cBhvr>
                                      <p:tavLst>
                                        <p:tav tm="0">
                                          <p:val>
                                            <p:strVal val="#ppt_h+1"/>
                                          </p:val>
                                        </p:tav>
                                        <p:tav tm="100000">
                                          <p:val>
                                            <p:strVal val="#ppt_y"/>
                                          </p:val>
                                        </p:tav>
                                      </p:tavLst>
                                    </p:anim>
                                    <p:animEffect transition="in" filter="fade">
                                      <p:cBhvr>
                                        <p:cTn id="35" dur="1000"/>
                                        <p:tgtEl>
                                          <p:spTgt spid="10741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417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Certain test activities are one of the final activities.</a:t>
            </a:r>
          </a:p>
        </p:txBody>
      </p:sp>
      <p:sp>
        <p:nvSpPr>
          <p:cNvPr id="1074179" name="Rectangle 3"/>
          <p:cNvSpPr>
            <a:spLocks noGrp="1"/>
          </p:cNvSpPr>
          <p:nvPr>
            <p:ph type="body" sz="half" idx="4294967295"/>
          </p:nvPr>
        </p:nvSpPr>
        <p:spPr>
          <a:xfrm>
            <a:off x="899592" y="2276872"/>
            <a:ext cx="7128792" cy="3096344"/>
          </a:xfrm>
        </p:spPr>
        <p:txBody>
          <a:bodyPr/>
          <a:lstStyle/>
          <a:p>
            <a:pPr marL="0" indent="0">
              <a:buClr>
                <a:schemeClr val="tx2"/>
              </a:buClr>
            </a:pPr>
            <a:r>
              <a:rPr lang="en-GB" sz="1800" dirty="0">
                <a:solidFill>
                  <a:srgbClr val="FF0000"/>
                </a:solidFill>
              </a:rPr>
              <a:t>Because testing is one of the last tasks prior to customer delivery, well intentioned and appropriately planned testing activities are often subject to significant time pressure.</a:t>
            </a:r>
          </a:p>
          <a:p>
            <a:pPr marL="0" indent="0">
              <a:buClr>
                <a:schemeClr val="tx2"/>
              </a:buClr>
            </a:pPr>
            <a:endParaRPr lang="en-GB" sz="1800" dirty="0">
              <a:solidFill>
                <a:srgbClr val="FF0000"/>
              </a:solidFill>
            </a:endParaRPr>
          </a:p>
          <a:p>
            <a:pPr marL="0" indent="0">
              <a:buClr>
                <a:schemeClr val="tx2"/>
              </a:buClr>
            </a:pPr>
            <a:r>
              <a:rPr lang="en-GB" sz="1800" dirty="0">
                <a:solidFill>
                  <a:srgbClr val="FF0000"/>
                </a:solidFill>
              </a:rPr>
              <a:t>In this instance – it is not good to be last.</a:t>
            </a:r>
          </a:p>
        </p:txBody>
      </p:sp>
    </p:spTree>
    <p:extLst>
      <p:ext uri="{BB962C8B-B14F-4D97-AF65-F5344CB8AC3E}">
        <p14:creationId xmlns:p14="http://schemas.microsoft.com/office/powerpoint/2010/main" val="137214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074179">
                                            <p:txEl>
                                              <p:pRg st="0" end="0"/>
                                            </p:txEl>
                                          </p:spTgt>
                                        </p:tgtEl>
                                        <p:attrNameLst>
                                          <p:attrName>style.visibility</p:attrName>
                                        </p:attrNameLst>
                                      </p:cBhvr>
                                      <p:to>
                                        <p:strVal val="visible"/>
                                      </p:to>
                                    </p:set>
                                    <p:anim calcmode="lin" valueType="num">
                                      <p:cBhvr>
                                        <p:cTn id="7" dur="1000" fill="hold"/>
                                        <p:tgtEl>
                                          <p:spTgt spid="1074179">
                                            <p:txEl>
                                              <p:pRg st="0" end="0"/>
                                            </p:txEl>
                                          </p:spTgt>
                                        </p:tgtEl>
                                        <p:attrNameLst>
                                          <p:attrName>ppt_w</p:attrName>
                                        </p:attrNameLst>
                                      </p:cBhvr>
                                      <p:tavLst>
                                        <p:tav tm="0">
                                          <p:val>
                                            <p:strVal val="#ppt_w*2.5"/>
                                          </p:val>
                                        </p:tav>
                                        <p:tav tm="100000">
                                          <p:val>
                                            <p:strVal val="#ppt_w"/>
                                          </p:val>
                                        </p:tav>
                                      </p:tavLst>
                                    </p:anim>
                                    <p:anim calcmode="lin" valueType="num">
                                      <p:cBhvr>
                                        <p:cTn id="8" dur="1000" fill="hold"/>
                                        <p:tgtEl>
                                          <p:spTgt spid="1074179">
                                            <p:txEl>
                                              <p:pRg st="0" end="0"/>
                                            </p:txEl>
                                          </p:spTgt>
                                        </p:tgtEl>
                                        <p:attrNameLst>
                                          <p:attrName>ppt_h</p:attrName>
                                        </p:attrNameLst>
                                      </p:cBhvr>
                                      <p:tavLst>
                                        <p:tav tm="0">
                                          <p:val>
                                            <p:strVal val="#ppt_h*0.01"/>
                                          </p:val>
                                        </p:tav>
                                        <p:tav tm="100000">
                                          <p:val>
                                            <p:strVal val="#ppt_h"/>
                                          </p:val>
                                        </p:tav>
                                      </p:tavLst>
                                    </p:anim>
                                    <p:anim calcmode="lin" valueType="num">
                                      <p:cBhvr>
                                        <p:cTn id="9" dur="1000" fill="hold"/>
                                        <p:tgtEl>
                                          <p:spTgt spid="1074179">
                                            <p:txEl>
                                              <p:pRg st="0" end="0"/>
                                            </p:txEl>
                                          </p:spTgt>
                                        </p:tgtEl>
                                        <p:attrNameLst>
                                          <p:attrName>ppt_x</p:attrName>
                                        </p:attrNameLst>
                                      </p:cBhvr>
                                      <p:tavLst>
                                        <p:tav tm="0">
                                          <p:val>
                                            <p:strVal val="#ppt_x"/>
                                          </p:val>
                                        </p:tav>
                                        <p:tav tm="100000">
                                          <p:val>
                                            <p:strVal val="#ppt_x"/>
                                          </p:val>
                                        </p:tav>
                                      </p:tavLst>
                                    </p:anim>
                                    <p:anim calcmode="lin" valueType="num">
                                      <p:cBhvr>
                                        <p:cTn id="10" dur="1000" fill="hold"/>
                                        <p:tgtEl>
                                          <p:spTgt spid="1074179">
                                            <p:txEl>
                                              <p:pRg st="0" end="0"/>
                                            </p:txEl>
                                          </p:spTgt>
                                        </p:tgtEl>
                                        <p:attrNameLst>
                                          <p:attrName>ppt_y</p:attrName>
                                        </p:attrNameLst>
                                      </p:cBhvr>
                                      <p:tavLst>
                                        <p:tav tm="0">
                                          <p:val>
                                            <p:strVal val="#ppt_h+1"/>
                                          </p:val>
                                        </p:tav>
                                        <p:tav tm="100000">
                                          <p:val>
                                            <p:strVal val="#ppt_y"/>
                                          </p:val>
                                        </p:tav>
                                      </p:tavLst>
                                    </p:anim>
                                    <p:animEffect transition="in" filter="fade">
                                      <p:cBhvr>
                                        <p:cTn id="11" dur="1000"/>
                                        <p:tgtEl>
                                          <p:spTgt spid="107417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8" presetClass="entr" presetSubtype="0" accel="100000" fill="hold" grpId="0" nodeType="clickEffect">
                                  <p:stCondLst>
                                    <p:cond delay="0"/>
                                  </p:stCondLst>
                                  <p:childTnLst>
                                    <p:set>
                                      <p:cBhvr>
                                        <p:cTn id="15" dur="1" fill="hold">
                                          <p:stCondLst>
                                            <p:cond delay="0"/>
                                          </p:stCondLst>
                                        </p:cTn>
                                        <p:tgtEl>
                                          <p:spTgt spid="1074179">
                                            <p:txEl>
                                              <p:pRg st="2" end="2"/>
                                            </p:txEl>
                                          </p:spTgt>
                                        </p:tgtEl>
                                        <p:attrNameLst>
                                          <p:attrName>style.visibility</p:attrName>
                                        </p:attrNameLst>
                                      </p:cBhvr>
                                      <p:to>
                                        <p:strVal val="visible"/>
                                      </p:to>
                                    </p:set>
                                    <p:anim calcmode="lin" valueType="num">
                                      <p:cBhvr>
                                        <p:cTn id="16" dur="1000" fill="hold"/>
                                        <p:tgtEl>
                                          <p:spTgt spid="1074179">
                                            <p:txEl>
                                              <p:pRg st="2" end="2"/>
                                            </p:txEl>
                                          </p:spTgt>
                                        </p:tgtEl>
                                        <p:attrNameLst>
                                          <p:attrName>ppt_w</p:attrName>
                                        </p:attrNameLst>
                                      </p:cBhvr>
                                      <p:tavLst>
                                        <p:tav tm="0">
                                          <p:val>
                                            <p:strVal val="#ppt_w*2.5"/>
                                          </p:val>
                                        </p:tav>
                                        <p:tav tm="100000">
                                          <p:val>
                                            <p:strVal val="#ppt_w"/>
                                          </p:val>
                                        </p:tav>
                                      </p:tavLst>
                                    </p:anim>
                                    <p:anim calcmode="lin" valueType="num">
                                      <p:cBhvr>
                                        <p:cTn id="17" dur="1000" fill="hold"/>
                                        <p:tgtEl>
                                          <p:spTgt spid="1074179">
                                            <p:txEl>
                                              <p:pRg st="2" end="2"/>
                                            </p:txEl>
                                          </p:spTgt>
                                        </p:tgtEl>
                                        <p:attrNameLst>
                                          <p:attrName>ppt_h</p:attrName>
                                        </p:attrNameLst>
                                      </p:cBhvr>
                                      <p:tavLst>
                                        <p:tav tm="0">
                                          <p:val>
                                            <p:strVal val="#ppt_h*0.01"/>
                                          </p:val>
                                        </p:tav>
                                        <p:tav tm="100000">
                                          <p:val>
                                            <p:strVal val="#ppt_h"/>
                                          </p:val>
                                        </p:tav>
                                      </p:tavLst>
                                    </p:anim>
                                    <p:anim calcmode="lin" valueType="num">
                                      <p:cBhvr>
                                        <p:cTn id="18" dur="1000" fill="hold"/>
                                        <p:tgtEl>
                                          <p:spTgt spid="107417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74179">
                                            <p:txEl>
                                              <p:pRg st="2" end="2"/>
                                            </p:txEl>
                                          </p:spTgt>
                                        </p:tgtEl>
                                        <p:attrNameLst>
                                          <p:attrName>ppt_y</p:attrName>
                                        </p:attrNameLst>
                                      </p:cBhvr>
                                      <p:tavLst>
                                        <p:tav tm="0">
                                          <p:val>
                                            <p:strVal val="#ppt_h+1"/>
                                          </p:val>
                                        </p:tav>
                                        <p:tav tm="100000">
                                          <p:val>
                                            <p:strVal val="#ppt_y"/>
                                          </p:val>
                                        </p:tav>
                                      </p:tavLst>
                                    </p:anim>
                                    <p:animEffect transition="in" filter="fade">
                                      <p:cBhvr>
                                        <p:cTn id="20" dur="1000"/>
                                        <p:tgtEl>
                                          <p:spTgt spid="10741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417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7954" name="Title 1"/>
          <p:cNvSpPr>
            <a:spLocks noGrp="1"/>
          </p:cNvSpPr>
          <p:nvPr>
            <p:ph type="title"/>
          </p:nvPr>
        </p:nvSpPr>
        <p:spPr/>
        <p:txBody>
          <a:bodyPr anchor="ctr"/>
          <a:lstStyle/>
          <a:p>
            <a:r>
              <a:rPr lang="en-US"/>
              <a:t>Software is a Skin that Surrounds Our Civilization</a:t>
            </a:r>
          </a:p>
        </p:txBody>
      </p:sp>
      <p:sp>
        <p:nvSpPr>
          <p:cNvPr id="3197957" name="Slide Number Placeholder 5"/>
          <p:cNvSpPr txBox="1">
            <a:spLocks noGrp="1"/>
          </p:cNvSpPr>
          <p:nvPr/>
        </p:nvSpPr>
        <p:spPr bwMode="auto">
          <a:xfrm>
            <a:off x="7194550" y="6405563"/>
            <a:ext cx="190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a:defRPr>
                <a:solidFill>
                  <a:schemeClr val="tx1"/>
                </a:solidFill>
                <a:latin typeface="Arial" charset="0"/>
                <a:ea typeface="ＭＳ Ｐゴシック" charset="0"/>
              </a:defRPr>
            </a:lvl1pPr>
            <a:lvl2pPr marL="742950" indent="-285750" algn="l">
              <a:defRPr>
                <a:solidFill>
                  <a:schemeClr val="tx1"/>
                </a:solidFill>
                <a:latin typeface="Arial" charset="0"/>
                <a:ea typeface="ＭＳ Ｐゴシック" charset="0"/>
              </a:defRPr>
            </a:lvl2pPr>
            <a:lvl3pPr marL="1143000" indent="-228600" algn="l">
              <a:defRPr>
                <a:solidFill>
                  <a:schemeClr val="tx1"/>
                </a:solidFill>
                <a:latin typeface="Arial" charset="0"/>
                <a:ea typeface="ＭＳ Ｐゴシック" charset="0"/>
              </a:defRPr>
            </a:lvl3pPr>
            <a:lvl4pPr marL="1600200" indent="-228600" algn="l">
              <a:defRPr>
                <a:solidFill>
                  <a:schemeClr val="tx1"/>
                </a:solidFill>
                <a:latin typeface="Arial" charset="0"/>
                <a:ea typeface="ＭＳ Ｐゴシック" charset="0"/>
              </a:defRPr>
            </a:lvl4pPr>
            <a:lvl5pPr marL="2057400" indent="-228600" algn="l">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eaLnBrk="0" hangingPunct="0"/>
            <a:fld id="{74ADC6A2-D323-F840-88E4-854D396010D9}" type="slidenum">
              <a:rPr lang="en-US" sz="900">
                <a:latin typeface="Times New Roman" charset="0"/>
              </a:rPr>
              <a:pPr algn="r" eaLnBrk="0" hangingPunct="0"/>
              <a:t>8</a:t>
            </a:fld>
            <a:endParaRPr lang="en-US" sz="900">
              <a:latin typeface="Times New Roman" charset="0"/>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3068638"/>
            <a:ext cx="12192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3357563"/>
            <a:ext cx="1619250"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3913" y="1755775"/>
            <a:ext cx="142875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descr="C:\Documents and Settings\rpanesar\My Documents\My Pictures\Microsoft Clip Organizer\j0410044.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025" y="2003425"/>
            <a:ext cx="10001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5" descr="C:\Documents and Settings\rpanesar\My Documents\My Pictures\Microsoft Clip Organizer\j0433050.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65600" y="374173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9338" y="1557338"/>
            <a:ext cx="13684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5150" y="4868863"/>
            <a:ext cx="16430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1275" y="5229225"/>
            <a:ext cx="165735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8688" y="3286125"/>
            <a:ext cx="914400"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04100" y="1598613"/>
            <a:ext cx="98583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5" descr="MCj04157480000[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63713" y="1773238"/>
            <a:ext cx="16668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MCj02903870000[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3513" y="4527550"/>
            <a:ext cx="158115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6" descr="j021508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67400" y="4581525"/>
            <a:ext cx="1214438"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8" descr="C:\Documents and Settings\rpanesar\Local Settings\Temporary Internet Files\Content.IE5\P2WWCY0O\MCj02811390000[1].wmf"/>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18338" y="2590800"/>
            <a:ext cx="2125662"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Trivia Quiz: Lines of code</a:t>
            </a:r>
            <a:endParaRPr lang="en-US" dirty="0"/>
          </a:p>
        </p:txBody>
      </p:sp>
      <p:pic>
        <p:nvPicPr>
          <p:cNvPr id="4" name="Content Placeholder 3"/>
          <p:cNvPicPr>
            <a:picLocks noGrp="1" noChangeAspect="1"/>
          </p:cNvPicPr>
          <p:nvPr>
            <p:ph idx="1"/>
          </p:nvPr>
        </p:nvPicPr>
        <p:blipFill>
          <a:blip r:embed="rId3"/>
          <a:srcRect t="-7672" b="-7672"/>
          <a:stretch>
            <a:fillRect/>
          </a:stretch>
        </p:blipFill>
        <p:spPr>
          <a:xfrm>
            <a:off x="539552" y="1676400"/>
            <a:ext cx="3311723" cy="1960647"/>
          </a:xfrm>
        </p:spPr>
      </p:pic>
      <p:pic>
        <p:nvPicPr>
          <p:cNvPr id="1099782" name="Picture 6" descr="http://transbrasilvirtual.org/tba/images/stories/boeing-787-dreamliner-06.jpg"/>
          <p:cNvPicPr>
            <a:picLocks noChangeAspect="1" noChangeArrowheads="1"/>
          </p:cNvPicPr>
          <p:nvPr/>
        </p:nvPicPr>
        <p:blipFill>
          <a:blip r:embed="rId4" cstate="print"/>
          <a:srcRect t="20689" b="24398"/>
          <a:stretch>
            <a:fillRect/>
          </a:stretch>
        </p:blipFill>
        <p:spPr bwMode="auto">
          <a:xfrm>
            <a:off x="4034971" y="1625600"/>
            <a:ext cx="4687207" cy="1930400"/>
          </a:xfrm>
          <a:prstGeom prst="rect">
            <a:avLst/>
          </a:prstGeom>
          <a:noFill/>
        </p:spPr>
      </p:pic>
      <p:sp>
        <p:nvSpPr>
          <p:cNvPr id="9" name="TextBox 8"/>
          <p:cNvSpPr txBox="1"/>
          <p:nvPr/>
        </p:nvSpPr>
        <p:spPr>
          <a:xfrm>
            <a:off x="493487" y="4049486"/>
            <a:ext cx="3135084" cy="769441"/>
          </a:xfrm>
          <a:prstGeom prst="rect">
            <a:avLst/>
          </a:prstGeom>
          <a:noFill/>
        </p:spPr>
        <p:txBody>
          <a:bodyPr wrap="square" rtlCol="0">
            <a:spAutoFit/>
          </a:bodyPr>
          <a:lstStyle/>
          <a:p>
            <a:pPr algn="ctr">
              <a:buNone/>
            </a:pPr>
            <a:r>
              <a:rPr lang="en-GB" sz="4400" dirty="0">
                <a:solidFill>
                  <a:srgbClr val="000000"/>
                </a:solidFill>
              </a:rPr>
              <a:t>&gt;20 million</a:t>
            </a:r>
          </a:p>
        </p:txBody>
      </p:sp>
      <p:sp>
        <p:nvSpPr>
          <p:cNvPr id="10" name="TextBox 9"/>
          <p:cNvSpPr txBox="1"/>
          <p:nvPr/>
        </p:nvSpPr>
        <p:spPr>
          <a:xfrm>
            <a:off x="5246913" y="4042228"/>
            <a:ext cx="3098801" cy="769441"/>
          </a:xfrm>
          <a:prstGeom prst="rect">
            <a:avLst/>
          </a:prstGeom>
          <a:noFill/>
        </p:spPr>
        <p:txBody>
          <a:bodyPr wrap="square" rtlCol="0">
            <a:spAutoFit/>
          </a:bodyPr>
          <a:lstStyle/>
          <a:p>
            <a:pPr algn="ctr">
              <a:buNone/>
            </a:pPr>
            <a:r>
              <a:rPr lang="en-GB" sz="4400" dirty="0">
                <a:solidFill>
                  <a:srgbClr val="000000"/>
                </a:solidFill>
              </a:rPr>
              <a:t>6.5 million</a:t>
            </a:r>
          </a:p>
        </p:txBody>
      </p:sp>
    </p:spTree>
    <p:extLst>
      <p:ext uri="{BB962C8B-B14F-4D97-AF65-F5344CB8AC3E}">
        <p14:creationId xmlns:p14="http://schemas.microsoft.com/office/powerpoint/2010/main" val="2612420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9"/>
                                        </p:tgtEl>
                                        <p:attrNameLst>
                                          <p:attrName>ppt_y</p:attrName>
                                        </p:attrNameLst>
                                      </p:cBhvr>
                                      <p:tavLst>
                                        <p:tav tm="0">
                                          <p:val>
                                            <p:strVal val="#ppt_y"/>
                                          </p:val>
                                        </p:tav>
                                        <p:tav tm="100000">
                                          <p:val>
                                            <p:strVal val="#ppt_y"/>
                                          </p:val>
                                        </p:tav>
                                      </p:tavLst>
                                    </p:anim>
                                    <p:anim calcmode="lin" valueType="num">
                                      <p:cBhvr>
                                        <p:cTn id="14"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99782"/>
                                        </p:tgtEl>
                                        <p:attrNameLst>
                                          <p:attrName>style.visibility</p:attrName>
                                        </p:attrNameLst>
                                      </p:cBhvr>
                                      <p:to>
                                        <p:strVal val="visible"/>
                                      </p:to>
                                    </p:set>
                                    <p:animEffect transition="in" filter="fade">
                                      <p:cBhvr>
                                        <p:cTn id="21" dur="2000"/>
                                        <p:tgtEl>
                                          <p:spTgt spid="109978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type="lt">
                                    <p:tmAbs val="500"/>
                                  </p:iterate>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Think about what is really inside a car</a:t>
            </a:r>
          </a:p>
        </p:txBody>
      </p:sp>
      <p:pic>
        <p:nvPicPr>
          <p:cNvPr id="4" name="Content Placeholder 3"/>
          <p:cNvPicPr>
            <a:picLocks noGrp="1" noChangeAspect="1"/>
          </p:cNvPicPr>
          <p:nvPr>
            <p:ph idx="1"/>
          </p:nvPr>
        </p:nvPicPr>
        <p:blipFill>
          <a:blip r:embed="rId2"/>
          <a:srcRect t="10535" b="10535"/>
          <a:stretch>
            <a:fillRect/>
          </a:stretch>
        </p:blipFill>
        <p:spPr/>
      </p:pic>
    </p:spTree>
    <p:extLst>
      <p:ext uri="{BB962C8B-B14F-4D97-AF65-F5344CB8AC3E}">
        <p14:creationId xmlns:p14="http://schemas.microsoft.com/office/powerpoint/2010/main" val="714136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3867" name="Rectangle 11"/>
          <p:cNvSpPr>
            <a:spLocks noGrp="1" noChangeArrowheads="1"/>
          </p:cNvSpPr>
          <p:nvPr>
            <p:ph type="title"/>
          </p:nvPr>
        </p:nvSpPr>
        <p:spPr/>
        <p:txBody>
          <a:bodyPr/>
          <a:lstStyle/>
          <a:p>
            <a:r>
              <a:rPr lang="en-US"/>
              <a:t>Failures in Production Software</a:t>
            </a:r>
          </a:p>
        </p:txBody>
      </p:sp>
      <p:sp>
        <p:nvSpPr>
          <p:cNvPr id="3193868" name="Rectangle 12"/>
          <p:cNvSpPr>
            <a:spLocks noGrp="1" noChangeArrowheads="1"/>
          </p:cNvSpPr>
          <p:nvPr>
            <p:ph type="body" idx="1"/>
          </p:nvPr>
        </p:nvSpPr>
        <p:spPr/>
        <p:txBody>
          <a:bodyPr/>
          <a:lstStyle/>
          <a:p>
            <a:r>
              <a:rPr lang="en-US" sz="2400" dirty="0"/>
              <a:t>NASA</a:t>
            </a:r>
            <a:r>
              <a:rPr lang="ja-JP" altLang="en-US" sz="2400" dirty="0">
                <a:latin typeface="Arial"/>
              </a:rPr>
              <a:t>’</a:t>
            </a:r>
            <a:r>
              <a:rPr lang="en-US" sz="2400" dirty="0"/>
              <a:t>s Mars lander, September 1999, crashed due to a unit integration fault—over $50 million US !</a:t>
            </a:r>
          </a:p>
          <a:p>
            <a:r>
              <a:rPr lang="en-US" sz="2400" dirty="0"/>
              <a:t>Huge losses due to web application failures</a:t>
            </a:r>
          </a:p>
          <a:p>
            <a:pPr lvl="1"/>
            <a:r>
              <a:rPr lang="en-US" sz="2000" dirty="0"/>
              <a:t>Financial services : $6.5 million per hour</a:t>
            </a:r>
          </a:p>
          <a:p>
            <a:pPr lvl="1"/>
            <a:r>
              <a:rPr lang="en-US" sz="2000" dirty="0"/>
              <a:t>Credit card sales applications : $2.4 million per hour</a:t>
            </a:r>
          </a:p>
          <a:p>
            <a:r>
              <a:rPr lang="en-US" sz="2400" dirty="0"/>
              <a:t>In Dec 2006, amazon.com</a:t>
            </a:r>
            <a:r>
              <a:rPr lang="ja-JP" altLang="en-US" sz="2400" dirty="0">
                <a:latin typeface="Arial"/>
              </a:rPr>
              <a:t>’</a:t>
            </a:r>
            <a:r>
              <a:rPr lang="en-US" sz="2400" dirty="0"/>
              <a:t>s BOGO offer turned into a double discount</a:t>
            </a:r>
          </a:p>
          <a:p>
            <a:r>
              <a:rPr lang="en-US" sz="2400" dirty="0"/>
              <a:t>2007 : Symantec says that most security vulnerabilities are due to faulty software</a:t>
            </a:r>
          </a:p>
          <a:p>
            <a:r>
              <a:rPr lang="en-US" sz="2400" dirty="0"/>
              <a:t>Stronger testing could solve most of these problems</a:t>
            </a:r>
          </a:p>
          <a:p>
            <a:endParaRPr lang="en-GB" sz="2400" dirty="0"/>
          </a:p>
        </p:txBody>
      </p:sp>
      <p:sp>
        <p:nvSpPr>
          <p:cNvPr id="3193862" name="Slide Number Placeholder 5"/>
          <p:cNvSpPr txBox="1">
            <a:spLocks noGrp="1"/>
          </p:cNvSpPr>
          <p:nvPr/>
        </p:nvSpPr>
        <p:spPr bwMode="auto">
          <a:xfrm>
            <a:off x="7194550" y="6405563"/>
            <a:ext cx="190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a:defRPr>
                <a:solidFill>
                  <a:schemeClr val="tx1"/>
                </a:solidFill>
                <a:latin typeface="Arial" charset="0"/>
                <a:ea typeface="ＭＳ Ｐゴシック" charset="0"/>
              </a:defRPr>
            </a:lvl1pPr>
            <a:lvl2pPr marL="742950" indent="-285750" algn="l">
              <a:defRPr>
                <a:solidFill>
                  <a:schemeClr val="tx1"/>
                </a:solidFill>
                <a:latin typeface="Arial" charset="0"/>
                <a:ea typeface="ＭＳ Ｐゴシック" charset="0"/>
              </a:defRPr>
            </a:lvl2pPr>
            <a:lvl3pPr marL="1143000" indent="-228600" algn="l">
              <a:defRPr>
                <a:solidFill>
                  <a:schemeClr val="tx1"/>
                </a:solidFill>
                <a:latin typeface="Arial" charset="0"/>
                <a:ea typeface="ＭＳ Ｐゴシック" charset="0"/>
              </a:defRPr>
            </a:lvl3pPr>
            <a:lvl4pPr marL="1600200" indent="-228600" algn="l">
              <a:defRPr>
                <a:solidFill>
                  <a:schemeClr val="tx1"/>
                </a:solidFill>
                <a:latin typeface="Arial" charset="0"/>
                <a:ea typeface="ＭＳ Ｐゴシック" charset="0"/>
              </a:defRPr>
            </a:lvl4pPr>
            <a:lvl5pPr marL="2057400" indent="-228600" algn="l">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eaLnBrk="0" hangingPunct="0"/>
            <a:fld id="{C725D653-FE21-714D-AF94-2ADDDA116B82}" type="slidenum">
              <a:rPr lang="zh-CN" altLang="en-US" sz="900">
                <a:latin typeface="Times New Roman" charset="0"/>
                <a:ea typeface="宋体" charset="0"/>
                <a:cs typeface="宋体" charset="0"/>
              </a:rPr>
              <a:pPr algn="r" eaLnBrk="0" hangingPunct="0"/>
              <a:t>11</a:t>
            </a:fld>
            <a:endParaRPr lang="en-US" altLang="zh-CN" sz="900">
              <a:latin typeface="Times New Roman" charset="0"/>
              <a:ea typeface="宋体" charset="0"/>
              <a:cs typeface="宋体" charset="0"/>
            </a:endParaRPr>
          </a:p>
        </p:txBody>
      </p:sp>
      <p:sp>
        <p:nvSpPr>
          <p:cNvPr id="7" name="Text Box 4"/>
          <p:cNvSpPr txBox="1">
            <a:spLocks noChangeArrowheads="1"/>
          </p:cNvSpPr>
          <p:nvPr/>
        </p:nvSpPr>
        <p:spPr bwMode="auto">
          <a:xfrm>
            <a:off x="34925" y="5818188"/>
            <a:ext cx="9061450" cy="523875"/>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a:spAutoFit/>
          </a:bodyPr>
          <a:lstStyle/>
          <a:p>
            <a:pPr algn="ctr" eaLnBrk="0" hangingPunct="0">
              <a:defRPr/>
            </a:pPr>
            <a:r>
              <a:rPr lang="en-US" altLang="zh-CN" sz="2800" dirty="0">
                <a:solidFill>
                  <a:schemeClr val="tx2"/>
                </a:solidFill>
                <a:effectLst>
                  <a:outerShdw blurRad="38100" dist="38100" dir="2700000" algn="tl">
                    <a:srgbClr val="000000"/>
                  </a:outerShdw>
                </a:effectLst>
                <a:latin typeface="Times New Roman" pitchFamily="18" charset="0"/>
                <a:ea typeface="宋体" charset="-122"/>
              </a:rPr>
              <a:t>World-wide monetary loss due </a:t>
            </a:r>
            <a:r>
              <a:rPr lang="en-US" altLang="zh-CN" sz="2000" dirty="0">
                <a:solidFill>
                  <a:schemeClr val="tx2"/>
                </a:solidFill>
                <a:effectLst>
                  <a:outerShdw blurRad="38100" dist="38100" dir="2700000" algn="tl">
                    <a:srgbClr val="000000"/>
                  </a:outerShdw>
                </a:effectLst>
                <a:latin typeface="Times New Roman" pitchFamily="18" charset="0"/>
                <a:ea typeface="宋体" charset="-122"/>
              </a:rPr>
              <a:t>to</a:t>
            </a:r>
            <a:r>
              <a:rPr lang="en-US" altLang="zh-CN" sz="2800" dirty="0">
                <a:solidFill>
                  <a:schemeClr val="tx2"/>
                </a:solidFill>
                <a:effectLst>
                  <a:outerShdw blurRad="38100" dist="38100" dir="2700000" algn="tl">
                    <a:srgbClr val="000000"/>
                  </a:outerShdw>
                </a:effectLst>
                <a:latin typeface="Times New Roman" pitchFamily="18" charset="0"/>
                <a:ea typeface="宋体" charset="-122"/>
              </a:rPr>
              <a:t> poor software </a:t>
            </a:r>
            <a:r>
              <a:rPr lang="en-US" altLang="zh-CN" sz="2000" dirty="0">
                <a:solidFill>
                  <a:schemeClr val="tx2"/>
                </a:solidFill>
                <a:effectLst>
                  <a:outerShdw blurRad="38100" dist="38100" dir="2700000" algn="tl">
                    <a:srgbClr val="000000"/>
                  </a:outerShdw>
                </a:effectLst>
                <a:latin typeface="Times New Roman" pitchFamily="18" charset="0"/>
                <a:ea typeface="宋体" charset="-122"/>
              </a:rPr>
              <a:t>is </a:t>
            </a:r>
            <a:r>
              <a:rPr lang="en-US" altLang="zh-CN" sz="2800" dirty="0">
                <a:solidFill>
                  <a:schemeClr val="tx2"/>
                </a:solidFill>
                <a:effectLst>
                  <a:outerShdw blurRad="38100" dist="38100" dir="2700000" algn="tl">
                    <a:srgbClr val="000000"/>
                  </a:outerShdw>
                </a:effectLst>
                <a:latin typeface="Kristen ITC" pitchFamily="66" charset="0"/>
                <a:ea typeface="宋体" charset="-122"/>
              </a:rPr>
              <a:t>staggering</a:t>
            </a:r>
            <a:endParaRPr lang="en-US" sz="2800" dirty="0">
              <a:solidFill>
                <a:schemeClr val="tx2"/>
              </a:solidFill>
              <a:effectLst>
                <a:outerShdw blurRad="38100" dist="38100" dir="2700000" algn="tl">
                  <a:srgbClr val="000000"/>
                </a:outerShdw>
              </a:effectLst>
              <a:latin typeface="Kristen ITC" pitchFamily="66" charset="0"/>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38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938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938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9386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9386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9386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9386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48" name="Rectangle 8"/>
          <p:cNvSpPr>
            <a:spLocks noGrp="1" noChangeArrowheads="1"/>
          </p:cNvSpPr>
          <p:nvPr>
            <p:ph type="title"/>
          </p:nvPr>
        </p:nvSpPr>
        <p:spPr/>
        <p:txBody>
          <a:bodyPr/>
          <a:lstStyle/>
          <a:p>
            <a:r>
              <a:rPr lang="en-US"/>
              <a:t>Types of failure</a:t>
            </a:r>
          </a:p>
        </p:txBody>
      </p:sp>
      <p:sp>
        <p:nvSpPr>
          <p:cNvPr id="2263049" name="Rectangle 9"/>
          <p:cNvSpPr>
            <a:spLocks noGrp="1" noChangeArrowheads="1"/>
          </p:cNvSpPr>
          <p:nvPr>
            <p:ph type="body" idx="1"/>
          </p:nvPr>
        </p:nvSpPr>
        <p:spPr/>
        <p:txBody>
          <a:bodyPr/>
          <a:lstStyle/>
          <a:p>
            <a:r>
              <a:rPr lang="en-US" dirty="0"/>
              <a:t>Examples of famous (or infamous) failures:</a:t>
            </a:r>
          </a:p>
          <a:p>
            <a:pPr lvl="1"/>
            <a:r>
              <a:rPr lang="en-US" dirty="0"/>
              <a:t>Therac-25 (1985-1987)</a:t>
            </a:r>
          </a:p>
          <a:p>
            <a:pPr lvl="1"/>
            <a:r>
              <a:rPr lang="en-US" dirty="0"/>
              <a:t>London Ambulance System (1992)</a:t>
            </a:r>
          </a:p>
          <a:p>
            <a:pPr lvl="1"/>
            <a:r>
              <a:rPr lang="en-US" dirty="0"/>
              <a:t>Denver baggage handling system </a:t>
            </a:r>
          </a:p>
          <a:p>
            <a:pPr lvl="1"/>
            <a:r>
              <a:rPr lang="en-US" dirty="0"/>
              <a:t>(1990’s)</a:t>
            </a:r>
          </a:p>
          <a:p>
            <a:pPr lvl="1"/>
            <a:r>
              <a:rPr lang="en-US" dirty="0"/>
              <a:t>Taurus (1993)</a:t>
            </a:r>
          </a:p>
          <a:p>
            <a:pPr lvl="1"/>
            <a:r>
              <a:rPr lang="en-US" dirty="0" err="1"/>
              <a:t>Ariane</a:t>
            </a:r>
            <a:r>
              <a:rPr lang="en-US" dirty="0"/>
              <a:t> 5 (1996)</a:t>
            </a:r>
          </a:p>
          <a:p>
            <a:pPr lvl="1"/>
            <a:r>
              <a:rPr lang="en-US" dirty="0"/>
              <a:t>E-mail buffer overflow (1998)</a:t>
            </a:r>
          </a:p>
          <a:p>
            <a:pPr lvl="1"/>
            <a:r>
              <a:rPr lang="en-US" dirty="0"/>
              <a:t>USS Yorktown (1998)</a:t>
            </a:r>
          </a:p>
          <a:p>
            <a:pPr lvl="1"/>
            <a:r>
              <a:rPr lang="en-US" dirty="0"/>
              <a:t>Mars Climate Orbiter (September 23rd, 1999)</a:t>
            </a:r>
          </a:p>
        </p:txBody>
      </p:sp>
      <p:pic>
        <p:nvPicPr>
          <p:cNvPr id="3282946" name="Picture 2" descr="http://fauxdurbeyfield.files.wordpress.com/2010/07/21367-radiation_therapy.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240" y="2157933"/>
            <a:ext cx="1556409" cy="1152128"/>
          </a:xfrm>
          <a:prstGeom prst="rect">
            <a:avLst/>
          </a:prstGeom>
          <a:noFill/>
          <a:extLst>
            <a:ext uri="{909E8E84-426E-40DD-AFC4-6F175D3DCCD1}">
              <a14:hiddenFill xmlns:a14="http://schemas.microsoft.com/office/drawing/2010/main">
                <a:solidFill>
                  <a:srgbClr val="FFFFFF"/>
                </a:solidFill>
              </a14:hiddenFill>
            </a:ext>
          </a:extLst>
        </p:spPr>
      </p:pic>
      <p:pic>
        <p:nvPicPr>
          <p:cNvPr id="3282948" name="Picture 4" descr="http://cdn.ttgtmedia.com/rms/computerweekly/45441_london-ambulanc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83" y="2564904"/>
            <a:ext cx="1096569" cy="864096"/>
          </a:xfrm>
          <a:prstGeom prst="rect">
            <a:avLst/>
          </a:prstGeom>
          <a:noFill/>
          <a:extLst>
            <a:ext uri="{909E8E84-426E-40DD-AFC4-6F175D3DCCD1}">
              <a14:hiddenFill xmlns:a14="http://schemas.microsoft.com/office/drawing/2010/main">
                <a:solidFill>
                  <a:srgbClr val="FFFFFF"/>
                </a:solidFill>
              </a14:hiddenFill>
            </a:ext>
          </a:extLst>
        </p:spPr>
      </p:pic>
      <p:pic>
        <p:nvPicPr>
          <p:cNvPr id="3282956" name="Picture 12" descr="http://cpeadmin.engineering.usjr.edu.ph/upload/0e7d480a4bcebc23b28c6379f605b388.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1792" y="3459932"/>
            <a:ext cx="1997304" cy="1425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630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6304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6304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6304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6304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6304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6304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6304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6304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922" name="Rectangle 18"/>
          <p:cNvSpPr>
            <a:spLocks noGrp="1" noChangeArrowheads="1"/>
          </p:cNvSpPr>
          <p:nvPr>
            <p:ph type="title"/>
          </p:nvPr>
        </p:nvSpPr>
        <p:spPr/>
        <p:txBody>
          <a:bodyPr/>
          <a:lstStyle/>
          <a:p>
            <a:r>
              <a:rPr lang="en-US"/>
              <a:t>Why Does Testing Matter?</a:t>
            </a:r>
          </a:p>
        </p:txBody>
      </p:sp>
      <p:sp>
        <p:nvSpPr>
          <p:cNvPr id="3195923" name="Rectangle 19"/>
          <p:cNvSpPr>
            <a:spLocks noGrp="1" noChangeArrowheads="1"/>
          </p:cNvSpPr>
          <p:nvPr>
            <p:ph type="body" idx="1"/>
          </p:nvPr>
        </p:nvSpPr>
        <p:spPr>
          <a:xfrm>
            <a:off x="703263" y="1676400"/>
            <a:ext cx="6748462" cy="4705350"/>
          </a:xfrm>
        </p:spPr>
        <p:txBody>
          <a:bodyPr/>
          <a:lstStyle/>
          <a:p>
            <a:pPr>
              <a:lnSpc>
                <a:spcPct val="90000"/>
              </a:lnSpc>
            </a:pPr>
            <a:r>
              <a:rPr lang="en-US" sz="2400" dirty="0"/>
              <a:t>NIST report, </a:t>
            </a:r>
            <a:r>
              <a:rPr lang="ja-JP" altLang="en-US" sz="2400" dirty="0">
                <a:latin typeface="Arial"/>
              </a:rPr>
              <a:t>“</a:t>
            </a:r>
            <a:r>
              <a:rPr lang="en-US" sz="2400" dirty="0"/>
              <a:t>The Economic Impacts of Inadequate Infrastructure for Software Testing</a:t>
            </a:r>
            <a:r>
              <a:rPr lang="ja-JP" altLang="en-US" sz="2400" dirty="0">
                <a:latin typeface="Arial"/>
              </a:rPr>
              <a:t>”</a:t>
            </a:r>
            <a:endParaRPr lang="en-US" sz="2400" dirty="0"/>
          </a:p>
          <a:p>
            <a:pPr lvl="1">
              <a:lnSpc>
                <a:spcPct val="90000"/>
              </a:lnSpc>
            </a:pPr>
            <a:r>
              <a:rPr lang="en-US" sz="2000" dirty="0">
                <a:solidFill>
                  <a:srgbClr val="FF0000"/>
                </a:solidFill>
              </a:rPr>
              <a:t>Inadequate software testing costs the US alone between $22 and $59 billion annually</a:t>
            </a:r>
          </a:p>
          <a:p>
            <a:pPr lvl="1">
              <a:lnSpc>
                <a:spcPct val="90000"/>
              </a:lnSpc>
            </a:pPr>
            <a:r>
              <a:rPr lang="en-US" sz="2000" dirty="0">
                <a:solidFill>
                  <a:srgbClr val="FF0000"/>
                </a:solidFill>
              </a:rPr>
              <a:t>Better approaches could cut this amount in half</a:t>
            </a:r>
          </a:p>
          <a:p>
            <a:pPr>
              <a:lnSpc>
                <a:spcPct val="90000"/>
              </a:lnSpc>
            </a:pPr>
            <a:r>
              <a:rPr lang="en-US" sz="2400" dirty="0"/>
              <a:t>Major failures:  </a:t>
            </a:r>
            <a:r>
              <a:rPr lang="en-US" sz="2400" dirty="0" err="1"/>
              <a:t>Ariane</a:t>
            </a:r>
            <a:r>
              <a:rPr lang="en-US" sz="2400" dirty="0"/>
              <a:t> 5 explosion, Mars Polar Lander, Intel</a:t>
            </a:r>
            <a:r>
              <a:rPr lang="ja-JP" altLang="en-US" sz="2400" dirty="0">
                <a:latin typeface="Arial"/>
              </a:rPr>
              <a:t>’</a:t>
            </a:r>
            <a:r>
              <a:rPr lang="en-US" sz="2400" dirty="0"/>
              <a:t>s Pentium FDIV bug</a:t>
            </a:r>
          </a:p>
          <a:p>
            <a:pPr>
              <a:lnSpc>
                <a:spcPct val="90000"/>
              </a:lnSpc>
            </a:pPr>
            <a:r>
              <a:rPr lang="en-US" sz="2400" dirty="0"/>
              <a:t>Insufficient testing of safety-critical software can cost lives:</a:t>
            </a:r>
          </a:p>
          <a:p>
            <a:pPr lvl="1">
              <a:lnSpc>
                <a:spcPct val="90000"/>
              </a:lnSpc>
            </a:pPr>
            <a:r>
              <a:rPr lang="en-US" sz="2000" dirty="0"/>
              <a:t>THERAC-25 radiation machine:  3 dead</a:t>
            </a:r>
          </a:p>
          <a:p>
            <a:pPr>
              <a:lnSpc>
                <a:spcPct val="90000"/>
              </a:lnSpc>
            </a:pPr>
            <a:r>
              <a:rPr lang="en-US" sz="2400" dirty="0"/>
              <a:t>We want our programs to be reliable</a:t>
            </a:r>
          </a:p>
          <a:p>
            <a:pPr lvl="1">
              <a:lnSpc>
                <a:spcPct val="90000"/>
              </a:lnSpc>
            </a:pPr>
            <a:r>
              <a:rPr lang="en-US" sz="2000" dirty="0"/>
              <a:t>Testing is how, in most cases, we find out if they are</a:t>
            </a:r>
            <a:endParaRPr lang="en-GB" sz="2000" dirty="0"/>
          </a:p>
        </p:txBody>
      </p:sp>
      <p:pic>
        <p:nvPicPr>
          <p:cNvPr id="14" name="Content Placeholder 13"/>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7053263" y="44450"/>
            <a:ext cx="2127250" cy="3671888"/>
          </a:xfrm>
        </p:spPr>
      </p:pic>
      <p:sp>
        <p:nvSpPr>
          <p:cNvPr id="3195910" name="Slide Number Placeholder 5"/>
          <p:cNvSpPr txBox="1">
            <a:spLocks noGrp="1"/>
          </p:cNvSpPr>
          <p:nvPr/>
        </p:nvSpPr>
        <p:spPr bwMode="auto">
          <a:xfrm>
            <a:off x="7194550" y="6405563"/>
            <a:ext cx="190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a:defRPr>
                <a:solidFill>
                  <a:schemeClr val="tx1"/>
                </a:solidFill>
                <a:latin typeface="Arial" charset="0"/>
                <a:ea typeface="ＭＳ Ｐゴシック" charset="0"/>
              </a:defRPr>
            </a:lvl1pPr>
            <a:lvl2pPr marL="742950" indent="-285750" algn="l">
              <a:defRPr>
                <a:solidFill>
                  <a:schemeClr val="tx1"/>
                </a:solidFill>
                <a:latin typeface="Arial" charset="0"/>
                <a:ea typeface="ＭＳ Ｐゴシック" charset="0"/>
              </a:defRPr>
            </a:lvl2pPr>
            <a:lvl3pPr marL="1143000" indent="-228600" algn="l">
              <a:defRPr>
                <a:solidFill>
                  <a:schemeClr val="tx1"/>
                </a:solidFill>
                <a:latin typeface="Arial" charset="0"/>
                <a:ea typeface="ＭＳ Ｐゴシック" charset="0"/>
              </a:defRPr>
            </a:lvl3pPr>
            <a:lvl4pPr marL="1600200" indent="-228600" algn="l">
              <a:defRPr>
                <a:solidFill>
                  <a:schemeClr val="tx1"/>
                </a:solidFill>
                <a:latin typeface="Arial" charset="0"/>
                <a:ea typeface="ＭＳ Ｐゴシック" charset="0"/>
              </a:defRPr>
            </a:lvl4pPr>
            <a:lvl5pPr marL="2057400" indent="-228600" algn="l">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eaLnBrk="0" hangingPunct="0"/>
            <a:fld id="{A9EB7DAF-2623-D241-9217-1DE352FCC550}" type="slidenum">
              <a:rPr lang="en-US" sz="900">
                <a:latin typeface="Times New Roman" charset="0"/>
              </a:rPr>
              <a:pPr algn="r" eaLnBrk="0" hangingPunct="0"/>
              <a:t>13</a:t>
            </a:fld>
            <a:endParaRPr lang="en-US" sz="900">
              <a:latin typeface="Times New Roman" charset="0"/>
            </a:endParaRPr>
          </a:p>
        </p:txBody>
      </p:sp>
      <p:pic>
        <p:nvPicPr>
          <p:cNvPr id="9"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6475" y="4797425"/>
            <a:ext cx="1512888"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4"/>
          <p:cNvSpPr txBox="1">
            <a:spLocks noChangeArrowheads="1"/>
          </p:cNvSpPr>
          <p:nvPr/>
        </p:nvSpPr>
        <p:spPr bwMode="auto">
          <a:xfrm>
            <a:off x="7212013" y="5124450"/>
            <a:ext cx="1681162" cy="825500"/>
          </a:xfrm>
          <a:prstGeom prst="rect">
            <a:avLst/>
          </a:prstGeom>
          <a:noFill/>
          <a:ln>
            <a:noFill/>
          </a:ln>
          <a:extLst>
            <a:ext uri="{909E8E84-426E-40DD-AFC4-6F175D3DCCD1}">
              <a14:hiddenFill xmlns:a14="http://schemas.microsoft.com/office/drawing/2010/main">
                <a:solidFill>
                  <a:srgbClr val="2929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a:solidFill>
                  <a:schemeClr val="tx1"/>
                </a:solidFill>
                <a:latin typeface="Arial" charset="0"/>
                <a:ea typeface="ＭＳ Ｐゴシック" charset="0"/>
              </a:defRPr>
            </a:lvl1pPr>
            <a:lvl2pPr marL="742950" indent="-285750" algn="l">
              <a:defRPr>
                <a:solidFill>
                  <a:schemeClr val="tx1"/>
                </a:solidFill>
                <a:latin typeface="Arial" charset="0"/>
                <a:ea typeface="ＭＳ Ｐゴシック" charset="0"/>
              </a:defRPr>
            </a:lvl2pPr>
            <a:lvl3pPr marL="1143000" indent="-228600" algn="l">
              <a:defRPr>
                <a:solidFill>
                  <a:schemeClr val="tx1"/>
                </a:solidFill>
                <a:latin typeface="Arial" charset="0"/>
                <a:ea typeface="ＭＳ Ｐゴシック" charset="0"/>
              </a:defRPr>
            </a:lvl3pPr>
            <a:lvl4pPr marL="1600200" indent="-228600" algn="l">
              <a:defRPr>
                <a:solidFill>
                  <a:schemeClr val="tx1"/>
                </a:solidFill>
                <a:latin typeface="Arial" charset="0"/>
                <a:ea typeface="ＭＳ Ｐゴシック" charset="0"/>
              </a:defRPr>
            </a:lvl4pPr>
            <a:lvl5pPr marL="2057400" indent="-228600" algn="l">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ctr" eaLnBrk="0" hangingPunct="0"/>
            <a:r>
              <a:rPr lang="en-US">
                <a:solidFill>
                  <a:srgbClr val="000000"/>
                </a:solidFill>
                <a:latin typeface="Times New Roman" charset="0"/>
              </a:rPr>
              <a:t>Mars Polar</a:t>
            </a:r>
            <a:br>
              <a:rPr lang="en-US">
                <a:solidFill>
                  <a:srgbClr val="000000"/>
                </a:solidFill>
                <a:latin typeface="Times New Roman" charset="0"/>
              </a:rPr>
            </a:br>
            <a:r>
              <a:rPr lang="en-US">
                <a:solidFill>
                  <a:srgbClr val="000000"/>
                </a:solidFill>
                <a:latin typeface="Times New Roman" charset="0"/>
              </a:rPr>
              <a:t>Lander crash</a:t>
            </a:r>
            <a:br>
              <a:rPr lang="en-US">
                <a:solidFill>
                  <a:srgbClr val="000000"/>
                </a:solidFill>
                <a:latin typeface="Times New Roman" charset="0"/>
              </a:rPr>
            </a:br>
            <a:r>
              <a:rPr lang="en-US">
                <a:solidFill>
                  <a:srgbClr val="000000"/>
                </a:solidFill>
                <a:latin typeface="Times New Roman" charset="0"/>
              </a:rPr>
              <a:t>site?</a:t>
            </a:r>
          </a:p>
        </p:txBody>
      </p:sp>
      <p:sp>
        <p:nvSpPr>
          <p:cNvPr id="12" name="Text Box 26"/>
          <p:cNvSpPr txBox="1">
            <a:spLocks noChangeArrowheads="1"/>
          </p:cNvSpPr>
          <p:nvPr/>
        </p:nvSpPr>
        <p:spPr bwMode="auto">
          <a:xfrm>
            <a:off x="7164388" y="1338263"/>
            <a:ext cx="1981200"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defRPr>
                <a:solidFill>
                  <a:schemeClr val="tx1"/>
                </a:solidFill>
                <a:latin typeface="Arial" charset="0"/>
                <a:ea typeface="ＭＳ Ｐゴシック" charset="0"/>
              </a:defRPr>
            </a:lvl1pPr>
            <a:lvl2pPr marL="742950" indent="-285750" algn="l">
              <a:defRPr>
                <a:solidFill>
                  <a:schemeClr val="tx1"/>
                </a:solidFill>
                <a:latin typeface="Arial" charset="0"/>
                <a:ea typeface="ＭＳ Ｐゴシック" charset="0"/>
              </a:defRPr>
            </a:lvl2pPr>
            <a:lvl3pPr marL="1143000" indent="-228600" algn="l">
              <a:defRPr>
                <a:solidFill>
                  <a:schemeClr val="tx1"/>
                </a:solidFill>
                <a:latin typeface="Arial" charset="0"/>
                <a:ea typeface="ＭＳ Ｐゴシック" charset="0"/>
              </a:defRPr>
            </a:lvl3pPr>
            <a:lvl4pPr marL="1600200" indent="-228600" algn="l">
              <a:defRPr>
                <a:solidFill>
                  <a:schemeClr val="tx1"/>
                </a:solidFill>
                <a:latin typeface="Arial" charset="0"/>
                <a:ea typeface="ＭＳ Ｐゴシック" charset="0"/>
              </a:defRPr>
            </a:lvl4pPr>
            <a:lvl5pPr marL="2057400" indent="-228600" algn="l">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ctr" eaLnBrk="0" hangingPunct="0"/>
            <a:r>
              <a:rPr lang="en-US">
                <a:solidFill>
                  <a:srgbClr val="000000"/>
                </a:solidFill>
                <a:latin typeface="Times New Roman" charset="0"/>
              </a:rPr>
              <a:t>Ariane 5:</a:t>
            </a:r>
            <a:br>
              <a:rPr lang="en-US">
                <a:solidFill>
                  <a:srgbClr val="000000"/>
                </a:solidFill>
                <a:latin typeface="Times New Roman" charset="0"/>
              </a:rPr>
            </a:br>
            <a:r>
              <a:rPr lang="en-US">
                <a:solidFill>
                  <a:srgbClr val="000000"/>
                </a:solidFill>
                <a:latin typeface="Times New Roman" charset="0"/>
              </a:rPr>
              <a:t>exception-handling</a:t>
            </a:r>
            <a:br>
              <a:rPr lang="en-US">
                <a:solidFill>
                  <a:srgbClr val="000000"/>
                </a:solidFill>
                <a:latin typeface="Times New Roman" charset="0"/>
              </a:rPr>
            </a:br>
            <a:r>
              <a:rPr lang="en-US">
                <a:solidFill>
                  <a:srgbClr val="000000"/>
                </a:solidFill>
                <a:latin typeface="Times New Roman" charset="0"/>
              </a:rPr>
              <a:t>bug :  forced self</a:t>
            </a:r>
            <a:br>
              <a:rPr lang="en-US">
                <a:solidFill>
                  <a:srgbClr val="000000"/>
                </a:solidFill>
                <a:latin typeface="Times New Roman" charset="0"/>
              </a:rPr>
            </a:br>
            <a:r>
              <a:rPr lang="en-US">
                <a:solidFill>
                  <a:srgbClr val="000000"/>
                </a:solidFill>
                <a:latin typeface="Times New Roman" charset="0"/>
              </a:rPr>
              <a:t>destruct on maiden</a:t>
            </a:r>
            <a:br>
              <a:rPr lang="en-US">
                <a:solidFill>
                  <a:srgbClr val="000000"/>
                </a:solidFill>
                <a:latin typeface="Times New Roman" charset="0"/>
              </a:rPr>
            </a:br>
            <a:r>
              <a:rPr lang="en-US">
                <a:solidFill>
                  <a:srgbClr val="000000"/>
                </a:solidFill>
                <a:latin typeface="Times New Roman" charset="0"/>
              </a:rPr>
              <a:t>flight (64-bit to 16-bit</a:t>
            </a:r>
            <a:br>
              <a:rPr lang="en-US">
                <a:solidFill>
                  <a:srgbClr val="000000"/>
                </a:solidFill>
                <a:latin typeface="Times New Roman" charset="0"/>
              </a:rPr>
            </a:br>
            <a:r>
              <a:rPr lang="en-US">
                <a:solidFill>
                  <a:srgbClr val="000000"/>
                </a:solidFill>
                <a:latin typeface="Times New Roman" charset="0"/>
              </a:rPr>
              <a:t>conversion:  about</a:t>
            </a:r>
            <a:br>
              <a:rPr lang="en-US">
                <a:solidFill>
                  <a:srgbClr val="000000"/>
                </a:solidFill>
                <a:latin typeface="Times New Roman" charset="0"/>
              </a:rPr>
            </a:br>
            <a:r>
              <a:rPr lang="en-US">
                <a:solidFill>
                  <a:srgbClr val="000000"/>
                </a:solidFill>
                <a:latin typeface="Times New Roman" charset="0"/>
              </a:rPr>
              <a:t>370 million $ lost)</a:t>
            </a:r>
          </a:p>
        </p:txBody>
      </p:sp>
      <p:pic>
        <p:nvPicPr>
          <p:cNvPr id="13" name="Picture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0650" y="3933825"/>
            <a:ext cx="792163"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59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9592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9592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959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9592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9592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9592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959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2063" name="Rectangle 15"/>
          <p:cNvSpPr>
            <a:spLocks noGrp="1" noChangeArrowheads="1"/>
          </p:cNvSpPr>
          <p:nvPr>
            <p:ph type="title"/>
          </p:nvPr>
        </p:nvSpPr>
        <p:spPr>
          <a:xfrm>
            <a:off x="388938" y="266700"/>
            <a:ext cx="8431534" cy="1104900"/>
          </a:xfrm>
        </p:spPr>
        <p:txBody>
          <a:bodyPr/>
          <a:lstStyle/>
          <a:p>
            <a:r>
              <a:rPr lang="en-US" dirty="0"/>
              <a:t>Smaller scale – defects not </a:t>
            </a:r>
            <a:r>
              <a:rPr lang="en-US" dirty="0" err="1"/>
              <a:t>publicised</a:t>
            </a:r>
            <a:endParaRPr lang="en-US" dirty="0"/>
          </a:p>
        </p:txBody>
      </p:sp>
      <p:sp>
        <p:nvSpPr>
          <p:cNvPr id="3202064" name="Rectangle 16"/>
          <p:cNvSpPr>
            <a:spLocks noGrp="1" noChangeArrowheads="1"/>
          </p:cNvSpPr>
          <p:nvPr>
            <p:ph type="body" idx="1"/>
          </p:nvPr>
        </p:nvSpPr>
        <p:spPr>
          <a:xfrm>
            <a:off x="703263" y="1676400"/>
            <a:ext cx="4948237" cy="4705350"/>
          </a:xfrm>
        </p:spPr>
        <p:txBody>
          <a:bodyPr/>
          <a:lstStyle/>
          <a:p>
            <a:r>
              <a:rPr lang="en-US" sz="2400" dirty="0"/>
              <a:t>Software companies have to maintain their software, which is costly.</a:t>
            </a:r>
          </a:p>
          <a:p>
            <a:r>
              <a:rPr lang="en-US" sz="2400" dirty="0"/>
              <a:t>Potential defects are reported – as issues - from users / clients</a:t>
            </a:r>
          </a:p>
          <a:p>
            <a:r>
              <a:rPr lang="en-US" sz="2400" dirty="0"/>
              <a:t>Issues are </a:t>
            </a:r>
            <a:r>
              <a:rPr lang="en-US" sz="2400" dirty="0" err="1"/>
              <a:t>prioritised</a:t>
            </a:r>
            <a:r>
              <a:rPr lang="en-US" sz="2400" dirty="0"/>
              <a:t>, examined and resolved.</a:t>
            </a:r>
          </a:p>
          <a:p>
            <a:r>
              <a:rPr lang="en-US" sz="2400" dirty="0"/>
              <a:t>Some issues are the result of defects.</a:t>
            </a:r>
          </a:p>
          <a:p>
            <a:r>
              <a:rPr lang="en-US" sz="2400" dirty="0"/>
              <a:t>Triage is required.</a:t>
            </a:r>
            <a:endParaRPr lang="en-GB" sz="2400" dirty="0"/>
          </a:p>
        </p:txBody>
      </p:sp>
      <p:sp>
        <p:nvSpPr>
          <p:cNvPr id="3202053" name="Slide Number Placeholder 5"/>
          <p:cNvSpPr txBox="1">
            <a:spLocks noGrp="1"/>
          </p:cNvSpPr>
          <p:nvPr/>
        </p:nvSpPr>
        <p:spPr bwMode="auto">
          <a:xfrm>
            <a:off x="7194550" y="6405563"/>
            <a:ext cx="190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a:defRPr>
                <a:solidFill>
                  <a:schemeClr val="tx1"/>
                </a:solidFill>
                <a:latin typeface="Arial" charset="0"/>
                <a:ea typeface="ＭＳ Ｐゴシック" charset="0"/>
              </a:defRPr>
            </a:lvl1pPr>
            <a:lvl2pPr marL="742950" indent="-285750" algn="l">
              <a:defRPr>
                <a:solidFill>
                  <a:schemeClr val="tx1"/>
                </a:solidFill>
                <a:latin typeface="Arial" charset="0"/>
                <a:ea typeface="ＭＳ Ｐゴシック" charset="0"/>
              </a:defRPr>
            </a:lvl2pPr>
            <a:lvl3pPr marL="1143000" indent="-228600" algn="l">
              <a:defRPr>
                <a:solidFill>
                  <a:schemeClr val="tx1"/>
                </a:solidFill>
                <a:latin typeface="Arial" charset="0"/>
                <a:ea typeface="ＭＳ Ｐゴシック" charset="0"/>
              </a:defRPr>
            </a:lvl3pPr>
            <a:lvl4pPr marL="1600200" indent="-228600" algn="l">
              <a:defRPr>
                <a:solidFill>
                  <a:schemeClr val="tx1"/>
                </a:solidFill>
                <a:latin typeface="Arial" charset="0"/>
                <a:ea typeface="ＭＳ Ｐゴシック" charset="0"/>
              </a:defRPr>
            </a:lvl4pPr>
            <a:lvl5pPr marL="2057400" indent="-228600" algn="l">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r" eaLnBrk="0" hangingPunct="0"/>
            <a:fld id="{A9D4A944-2C69-5445-88F9-4DCF08869BEB}" type="slidenum">
              <a:rPr lang="en-US" sz="900">
                <a:latin typeface="Times New Roman" charset="0"/>
              </a:rPr>
              <a:pPr algn="r" eaLnBrk="0" hangingPunct="0"/>
              <a:t>14</a:t>
            </a:fld>
            <a:endParaRPr lang="en-US" sz="900">
              <a:latin typeface="Times New Roman" charset="0"/>
            </a:endParaRPr>
          </a:p>
        </p:txBody>
      </p:sp>
      <p:pic>
        <p:nvPicPr>
          <p:cNvPr id="3282946" name="Picture 2" descr="The Journey of Fatherhood | Tri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6384" y="2636912"/>
            <a:ext cx="2976331" cy="223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4730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020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020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020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020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0206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4070" name="Rectangle 6"/>
          <p:cNvSpPr>
            <a:spLocks noGrp="1" noChangeArrowheads="1"/>
          </p:cNvSpPr>
          <p:nvPr>
            <p:ph type="title"/>
          </p:nvPr>
        </p:nvSpPr>
        <p:spPr/>
        <p:txBody>
          <a:bodyPr/>
          <a:lstStyle/>
          <a:p>
            <a:r>
              <a:rPr lang="en-US"/>
              <a:t>Causes of software defects</a:t>
            </a:r>
          </a:p>
        </p:txBody>
      </p:sp>
      <p:sp>
        <p:nvSpPr>
          <p:cNvPr id="2264071" name="Rectangle 7"/>
          <p:cNvSpPr>
            <a:spLocks noGrp="1" noChangeArrowheads="1"/>
          </p:cNvSpPr>
          <p:nvPr>
            <p:ph type="body" idx="1"/>
          </p:nvPr>
        </p:nvSpPr>
        <p:spPr/>
        <p:txBody>
          <a:bodyPr/>
          <a:lstStyle/>
          <a:p>
            <a:r>
              <a:rPr lang="en-US" sz="2400" dirty="0">
                <a:solidFill>
                  <a:srgbClr val="FF0000"/>
                </a:solidFill>
              </a:rPr>
              <a:t>A human being can make an error (mistake), which produces a defect (fault, bug) in the code, in software or a system, or in a document</a:t>
            </a:r>
          </a:p>
          <a:p>
            <a:r>
              <a:rPr lang="en-US" sz="2400" dirty="0">
                <a:solidFill>
                  <a:srgbClr val="FF0000"/>
                </a:solidFill>
              </a:rPr>
              <a:t>If the code is executed, the system will fail, causing a failure</a:t>
            </a:r>
          </a:p>
          <a:p>
            <a:r>
              <a:rPr lang="en-US" sz="2400" dirty="0"/>
              <a:t>Defects in software, systems or documents may result in failures, but not all defects do so</a:t>
            </a:r>
          </a:p>
          <a:p>
            <a:r>
              <a:rPr lang="en-US" sz="2400" dirty="0"/>
              <a:t>Failures can be caused by environmental conditions as well:</a:t>
            </a:r>
          </a:p>
          <a:p>
            <a:pPr lvl="1"/>
            <a:r>
              <a:rPr lang="en-US" sz="2000" dirty="0"/>
              <a:t>radiation, magnetism, electronic fields, and pollution can cause faults in firmware or influence the </a:t>
            </a:r>
            <a:r>
              <a:rPr lang="en-GB" sz="2000" dirty="0"/>
              <a:t>execution of software by changing hardware conditions.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640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640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640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64071">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640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5092" name="Rectangle 4"/>
          <p:cNvSpPr>
            <a:spLocks noGrp="1" noChangeArrowheads="1"/>
          </p:cNvSpPr>
          <p:nvPr>
            <p:ph type="title"/>
          </p:nvPr>
        </p:nvSpPr>
        <p:spPr/>
        <p:txBody>
          <a:bodyPr/>
          <a:lstStyle/>
          <a:p>
            <a:r>
              <a:rPr lang="en-US"/>
              <a:t>Errors, defects and failures</a:t>
            </a:r>
          </a:p>
        </p:txBody>
      </p:sp>
      <p:pic>
        <p:nvPicPr>
          <p:cNvPr id="2265095" name="Picture 7" descr="errorfailure"/>
          <p:cNvPicPr>
            <a:picLocks noChangeAspect="1" noChangeArrowheads="1"/>
          </p:cNvPicPr>
          <p:nvPr/>
        </p:nvPicPr>
        <p:blipFill>
          <a:blip r:embed="rId3">
            <a:extLst>
              <a:ext uri="{28A0092B-C50C-407E-A947-70E740481C1C}">
                <a14:useLocalDpi xmlns:a14="http://schemas.microsoft.com/office/drawing/2010/main" val="0"/>
              </a:ext>
            </a:extLst>
          </a:blip>
          <a:srcRect l="-887" t="-1431" r="-887" b="-1431"/>
          <a:stretch>
            <a:fillRect/>
          </a:stretch>
        </p:blipFill>
        <p:spPr bwMode="auto">
          <a:xfrm>
            <a:off x="684213" y="1611313"/>
            <a:ext cx="7729537" cy="4841875"/>
          </a:xfrm>
          <a:prstGeom prst="rect">
            <a:avLst/>
          </a:prstGeom>
          <a:solidFill>
            <a:schemeClr val="tx1"/>
          </a:solidFill>
        </p:spPr>
      </p:pic>
      <p:sp>
        <p:nvSpPr>
          <p:cNvPr id="4" name="Rectangle 9"/>
          <p:cNvSpPr txBox="1">
            <a:spLocks noChangeArrowheads="1"/>
          </p:cNvSpPr>
          <p:nvPr/>
        </p:nvSpPr>
        <p:spPr bwMode="auto">
          <a:xfrm>
            <a:off x="5433691" y="1988840"/>
            <a:ext cx="3602805"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2000" kern="0" dirty="0">
                <a:solidFill>
                  <a:srgbClr val="FF0000"/>
                </a:solidFill>
              </a:rPr>
              <a:t>Some limitations in this view?</a:t>
            </a:r>
          </a:p>
          <a:p>
            <a:r>
              <a:rPr lang="en-US" sz="2000" kern="0" dirty="0">
                <a:solidFill>
                  <a:srgbClr val="FF0000"/>
                </a:solidFill>
              </a:rPr>
              <a:t>Simplistic view?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A failure is…</a:t>
            </a:r>
          </a:p>
        </p:txBody>
      </p:sp>
      <p:sp>
        <p:nvSpPr>
          <p:cNvPr id="2266121" name="Rectangle 9"/>
          <p:cNvSpPr>
            <a:spLocks noGrp="1" noChangeArrowheads="1"/>
          </p:cNvSpPr>
          <p:nvPr>
            <p:ph type="body" idx="1"/>
          </p:nvPr>
        </p:nvSpPr>
        <p:spPr>
          <a:xfrm>
            <a:off x="703263" y="3645024"/>
            <a:ext cx="7948612" cy="2736726"/>
          </a:xfrm>
        </p:spPr>
        <p:txBody>
          <a:bodyPr/>
          <a:lstStyle/>
          <a:p>
            <a:r>
              <a:rPr lang="en-US" sz="2400" dirty="0"/>
              <a:t>A failure is: </a:t>
            </a:r>
            <a:r>
              <a:rPr lang="en-US" sz="2400" dirty="0">
                <a:solidFill>
                  <a:srgbClr val="FF0000"/>
                </a:solidFill>
              </a:rPr>
              <a:t>a deviation of the software from its expected delivery or service</a:t>
            </a:r>
          </a:p>
          <a:p>
            <a:r>
              <a:rPr lang="en-US" sz="2400" dirty="0"/>
              <a:t>A failure occurs when software does the 'wrong' thing</a:t>
            </a:r>
          </a:p>
          <a:p>
            <a:r>
              <a:rPr lang="en-US" sz="2400" dirty="0"/>
              <a:t>Most of the time software does the right thing</a:t>
            </a:r>
          </a:p>
          <a:p>
            <a:r>
              <a:rPr lang="en-US" sz="2400" dirty="0"/>
              <a:t>Software defects cause software failures when the program is executed with a set of inputs that expose the defect.</a:t>
            </a:r>
          </a:p>
        </p:txBody>
      </p:sp>
      <p:sp>
        <p:nvSpPr>
          <p:cNvPr id="4" name="Rectangle 9"/>
          <p:cNvSpPr txBox="1">
            <a:spLocks noChangeArrowheads="1"/>
          </p:cNvSpPr>
          <p:nvPr/>
        </p:nvSpPr>
        <p:spPr bwMode="auto">
          <a:xfrm>
            <a:off x="755576" y="1484784"/>
            <a:ext cx="7948612"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2400" kern="0" dirty="0"/>
              <a:t>“</a:t>
            </a:r>
            <a:r>
              <a:rPr lang="en-US" sz="2400" kern="0" dirty="0">
                <a:solidFill>
                  <a:srgbClr val="FF0000"/>
                </a:solidFill>
              </a:rPr>
              <a:t>A failure is present if a warrantable (user) expectation is not fulfilled adequately</a:t>
            </a:r>
            <a:r>
              <a:rPr lang="en-US" sz="2400" kern="0" dirty="0"/>
              <a:t>.”</a:t>
            </a:r>
          </a:p>
        </p:txBody>
      </p:sp>
      <p:sp>
        <p:nvSpPr>
          <p:cNvPr id="5" name="Rectangle 9"/>
          <p:cNvSpPr txBox="1">
            <a:spLocks noChangeArrowheads="1"/>
          </p:cNvSpPr>
          <p:nvPr/>
        </p:nvSpPr>
        <p:spPr bwMode="auto">
          <a:xfrm>
            <a:off x="755576" y="2204864"/>
            <a:ext cx="7948612"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2400" kern="0" dirty="0"/>
              <a:t>Examples of failures include: products that are </a:t>
            </a:r>
            <a:r>
              <a:rPr lang="en-US" sz="2400" u="sng" kern="0" dirty="0"/>
              <a:t>too hard to use</a:t>
            </a:r>
            <a:r>
              <a:rPr lang="en-US" sz="2400" kern="0" dirty="0"/>
              <a:t>, or </a:t>
            </a:r>
            <a:r>
              <a:rPr lang="en-US" sz="2400" u="sng" kern="0" dirty="0"/>
              <a:t>too slow</a:t>
            </a:r>
            <a:r>
              <a:rPr lang="en-US" sz="2400" kern="0" dirty="0"/>
              <a:t>, even if they still fulfill the functional requirements. i.e. when a user experiences a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66121">
                                            <p:txEl>
                                              <p:pRg st="0" end="0"/>
                                            </p:txEl>
                                          </p:spTgt>
                                        </p:tgtEl>
                                        <p:attrNameLst>
                                          <p:attrName>style.visibility</p:attrName>
                                        </p:attrNameLst>
                                      </p:cBhvr>
                                      <p:to>
                                        <p:strVal val="visible"/>
                                      </p:to>
                                    </p:set>
                                    <p:animEffect transition="in" filter="dissolve">
                                      <p:cBhvr>
                                        <p:cTn id="17" dur="500"/>
                                        <p:tgtEl>
                                          <p:spTgt spid="226612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66121">
                                            <p:txEl>
                                              <p:pRg st="1" end="1"/>
                                            </p:txEl>
                                          </p:spTgt>
                                        </p:tgtEl>
                                        <p:attrNameLst>
                                          <p:attrName>style.visibility</p:attrName>
                                        </p:attrNameLst>
                                      </p:cBhvr>
                                      <p:to>
                                        <p:strVal val="visible"/>
                                      </p:to>
                                    </p:set>
                                    <p:animEffect transition="in" filter="dissolve">
                                      <p:cBhvr>
                                        <p:cTn id="22" dur="500"/>
                                        <p:tgtEl>
                                          <p:spTgt spid="226612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66121">
                                            <p:txEl>
                                              <p:pRg st="2" end="2"/>
                                            </p:txEl>
                                          </p:spTgt>
                                        </p:tgtEl>
                                        <p:attrNameLst>
                                          <p:attrName>style.visibility</p:attrName>
                                        </p:attrNameLst>
                                      </p:cBhvr>
                                      <p:to>
                                        <p:strVal val="visible"/>
                                      </p:to>
                                    </p:set>
                                    <p:animEffect transition="in" filter="dissolve">
                                      <p:cBhvr>
                                        <p:cTn id="27" dur="500"/>
                                        <p:tgtEl>
                                          <p:spTgt spid="2266121">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66121">
                                            <p:txEl>
                                              <p:pRg st="3" end="3"/>
                                            </p:txEl>
                                          </p:spTgt>
                                        </p:tgtEl>
                                        <p:attrNameLst>
                                          <p:attrName>style.visibility</p:attrName>
                                        </p:attrNameLst>
                                      </p:cBhvr>
                                      <p:to>
                                        <p:strVal val="visible"/>
                                      </p:to>
                                    </p:set>
                                    <p:animEffect transition="in" filter="dissolve">
                                      <p:cBhvr>
                                        <p:cTn id="32" dur="500"/>
                                        <p:tgtEl>
                                          <p:spTgt spid="22661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6121" grpId="0" build="p"/>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Terminology…</a:t>
            </a:r>
          </a:p>
        </p:txBody>
      </p:sp>
      <p:sp>
        <p:nvSpPr>
          <p:cNvPr id="4" name="Rectangle 9"/>
          <p:cNvSpPr txBox="1">
            <a:spLocks noChangeArrowheads="1"/>
          </p:cNvSpPr>
          <p:nvPr/>
        </p:nvSpPr>
        <p:spPr bwMode="auto">
          <a:xfrm>
            <a:off x="755576" y="1484784"/>
            <a:ext cx="7948612"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2400" kern="0" dirty="0"/>
              <a:t>Sometimes a failure will be called a “</a:t>
            </a:r>
            <a:r>
              <a:rPr lang="en-US" sz="2400" kern="0" dirty="0">
                <a:solidFill>
                  <a:srgbClr val="FF0000"/>
                </a:solidFill>
              </a:rPr>
              <a:t>problem</a:t>
            </a:r>
            <a:r>
              <a:rPr lang="en-US" sz="2400" kern="0" dirty="0"/>
              <a:t>”, “</a:t>
            </a:r>
            <a:r>
              <a:rPr lang="en-US" sz="2400" kern="0" dirty="0">
                <a:solidFill>
                  <a:srgbClr val="FF0000"/>
                </a:solidFill>
              </a:rPr>
              <a:t>incident</a:t>
            </a:r>
            <a:r>
              <a:rPr lang="en-US" sz="2400" kern="0" dirty="0"/>
              <a:t>” “</a:t>
            </a:r>
            <a:r>
              <a:rPr lang="en-US" sz="2400" kern="0" dirty="0">
                <a:solidFill>
                  <a:srgbClr val="FF0000"/>
                </a:solidFill>
              </a:rPr>
              <a:t>issue</a:t>
            </a:r>
            <a:r>
              <a:rPr lang="en-US" sz="2400" kern="0" dirty="0"/>
              <a:t>”</a:t>
            </a:r>
          </a:p>
        </p:txBody>
      </p:sp>
    </p:spTree>
    <p:extLst>
      <p:ext uri="{BB962C8B-B14F-4D97-AF65-F5344CB8AC3E}">
        <p14:creationId xmlns:p14="http://schemas.microsoft.com/office/powerpoint/2010/main" val="263761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7140" name="Rectangle 4"/>
          <p:cNvSpPr>
            <a:spLocks noGrp="1" noChangeArrowheads="1"/>
          </p:cNvSpPr>
          <p:nvPr>
            <p:ph type="title"/>
          </p:nvPr>
        </p:nvSpPr>
        <p:spPr/>
        <p:txBody>
          <a:bodyPr/>
          <a:lstStyle/>
          <a:p>
            <a:r>
              <a:rPr lang="en-US"/>
              <a:t>A defect is…</a:t>
            </a:r>
          </a:p>
        </p:txBody>
      </p:sp>
      <p:sp>
        <p:nvSpPr>
          <p:cNvPr id="2267141" name="Rectangle 5"/>
          <p:cNvSpPr>
            <a:spLocks noGrp="1" noChangeArrowheads="1"/>
          </p:cNvSpPr>
          <p:nvPr>
            <p:ph type="body" idx="1"/>
          </p:nvPr>
        </p:nvSpPr>
        <p:spPr/>
        <p:txBody>
          <a:bodyPr/>
          <a:lstStyle/>
          <a:p>
            <a:r>
              <a:rPr lang="en-US" dirty="0">
                <a:solidFill>
                  <a:srgbClr val="FF0000"/>
                </a:solidFill>
              </a:rPr>
              <a:t>A manifestation of human error in software</a:t>
            </a:r>
          </a:p>
          <a:p>
            <a:r>
              <a:rPr lang="en-US" dirty="0"/>
              <a:t>Defects may be caused by requirements, design or coding errors</a:t>
            </a:r>
          </a:p>
          <a:p>
            <a:r>
              <a:rPr lang="en-US" dirty="0"/>
              <a:t>They are discovered either by inspecting code or by inferring their existence from software failures.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671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671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671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Terminology…</a:t>
            </a:r>
          </a:p>
        </p:txBody>
      </p:sp>
      <p:sp>
        <p:nvSpPr>
          <p:cNvPr id="4" name="Rectangle 9"/>
          <p:cNvSpPr txBox="1">
            <a:spLocks noChangeArrowheads="1"/>
          </p:cNvSpPr>
          <p:nvPr/>
        </p:nvSpPr>
        <p:spPr bwMode="auto">
          <a:xfrm>
            <a:off x="755576" y="1484784"/>
            <a:ext cx="7948612"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2400" kern="0" dirty="0"/>
              <a:t>Sometimes a defect will be called a “</a:t>
            </a:r>
            <a:r>
              <a:rPr lang="en-US" sz="2400" kern="0" dirty="0">
                <a:solidFill>
                  <a:srgbClr val="FF0000"/>
                </a:solidFill>
              </a:rPr>
              <a:t>bug</a:t>
            </a:r>
            <a:r>
              <a:rPr lang="en-US" sz="2400" kern="0" dirty="0"/>
              <a:t>” or a “</a:t>
            </a:r>
            <a:r>
              <a:rPr lang="en-US" sz="2400" kern="0" dirty="0">
                <a:solidFill>
                  <a:srgbClr val="FF0000"/>
                </a:solidFill>
              </a:rPr>
              <a:t>fault</a:t>
            </a:r>
            <a:r>
              <a:rPr lang="en-US" sz="2400" kern="0" dirty="0"/>
              <a:t>”</a:t>
            </a:r>
          </a:p>
        </p:txBody>
      </p:sp>
    </p:spTree>
    <p:extLst>
      <p:ext uri="{BB962C8B-B14F-4D97-AF65-F5344CB8AC3E}">
        <p14:creationId xmlns:p14="http://schemas.microsoft.com/office/powerpoint/2010/main" val="2864410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8164" name="Rectangle 4"/>
          <p:cNvSpPr>
            <a:spLocks noGrp="1" noChangeArrowheads="1"/>
          </p:cNvSpPr>
          <p:nvPr>
            <p:ph type="title"/>
          </p:nvPr>
        </p:nvSpPr>
        <p:spPr/>
        <p:txBody>
          <a:bodyPr/>
          <a:lstStyle/>
          <a:p>
            <a:r>
              <a:rPr lang="en-US"/>
              <a:t>An error is…</a:t>
            </a:r>
          </a:p>
        </p:txBody>
      </p:sp>
      <p:sp>
        <p:nvSpPr>
          <p:cNvPr id="2268165" name="Rectangle 5"/>
          <p:cNvSpPr>
            <a:spLocks noGrp="1" noChangeArrowheads="1"/>
          </p:cNvSpPr>
          <p:nvPr>
            <p:ph type="body" idx="1"/>
          </p:nvPr>
        </p:nvSpPr>
        <p:spPr>
          <a:xfrm>
            <a:off x="755576" y="1700808"/>
            <a:ext cx="7948612" cy="4705350"/>
          </a:xfrm>
        </p:spPr>
        <p:txBody>
          <a:bodyPr/>
          <a:lstStyle/>
          <a:p>
            <a:r>
              <a:rPr lang="en-US" dirty="0"/>
              <a:t>A human action producing an incorrect result</a:t>
            </a:r>
          </a:p>
          <a:p>
            <a:r>
              <a:rPr lang="en-US" dirty="0"/>
              <a:t>When programmers make errors they introduce faults to program code</a:t>
            </a:r>
          </a:p>
          <a:p>
            <a:r>
              <a:rPr lang="en-US" dirty="0"/>
              <a:t>Errors are not</a:t>
            </a:r>
          </a:p>
          <a:p>
            <a:pPr lvl="1"/>
            <a:r>
              <a:rPr lang="en-US" dirty="0"/>
              <a:t>Errors are not just accidents or mistakes</a:t>
            </a:r>
          </a:p>
          <a:p>
            <a:pPr lvl="1"/>
            <a:r>
              <a:rPr lang="en-US" dirty="0"/>
              <a:t>Errors are not cured by "just being more careful"</a:t>
            </a:r>
          </a:p>
          <a:p>
            <a:pPr lvl="1"/>
            <a:r>
              <a:rPr lang="en-US" dirty="0"/>
              <a:t>Errors are not necessarily an act of incompetence</a:t>
            </a:r>
          </a:p>
          <a:p>
            <a:r>
              <a:rPr lang="en-US" dirty="0">
                <a:solidFill>
                  <a:srgbClr val="FF0000"/>
                </a:solidFill>
              </a:rPr>
              <a:t>Errors are inevitable in a complex activity</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681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681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681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681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681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681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6816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Fundamentals continued…</a:t>
            </a:r>
          </a:p>
        </p:txBody>
      </p:sp>
      <p:sp>
        <p:nvSpPr>
          <p:cNvPr id="4" name="Rectangle 9"/>
          <p:cNvSpPr txBox="1">
            <a:spLocks noChangeArrowheads="1"/>
          </p:cNvSpPr>
          <p:nvPr/>
        </p:nvSpPr>
        <p:spPr bwMode="auto">
          <a:xfrm>
            <a:off x="755576" y="1484784"/>
            <a:ext cx="79486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a:buFont typeface="Arial" panose="020B0604020202020204" pitchFamily="34" charset="0"/>
              <a:buChar char="•"/>
            </a:pPr>
            <a:r>
              <a:rPr lang="en-US" sz="2400" kern="0" dirty="0"/>
              <a:t>Software complexity</a:t>
            </a:r>
          </a:p>
          <a:p>
            <a:pPr>
              <a:buFont typeface="Arial" panose="020B0604020202020204" pitchFamily="34" charset="0"/>
              <a:buChar char="•"/>
            </a:pPr>
            <a:r>
              <a:rPr lang="en-US" sz="2400" dirty="0"/>
              <a:t>Role of testing in development, maintenance and operations</a:t>
            </a:r>
          </a:p>
          <a:p>
            <a:pPr>
              <a:buFont typeface="Arial" panose="020B0604020202020204" pitchFamily="34" charset="0"/>
              <a:buChar char="•"/>
            </a:pPr>
            <a:r>
              <a:rPr lang="en-US" sz="2400" dirty="0"/>
              <a:t>Testing and…..</a:t>
            </a:r>
          </a:p>
          <a:p>
            <a:pPr>
              <a:buFont typeface="Arial" panose="020B0604020202020204" pitchFamily="34" charset="0"/>
              <a:buChar char="•"/>
            </a:pPr>
            <a:endParaRPr lang="en-US" sz="2400" kern="0" dirty="0"/>
          </a:p>
          <a:p>
            <a:pPr>
              <a:buFont typeface="Arial" panose="020B0604020202020204" pitchFamily="34" charset="0"/>
              <a:buChar char="•"/>
            </a:pPr>
            <a:endParaRPr lang="en-US" sz="2400" kern="0" dirty="0"/>
          </a:p>
        </p:txBody>
      </p:sp>
    </p:spTree>
    <p:extLst>
      <p:ext uri="{BB962C8B-B14F-4D97-AF65-F5344CB8AC3E}">
        <p14:creationId xmlns:p14="http://schemas.microsoft.com/office/powerpoint/2010/main" val="19124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8164" name="Rectangle 4"/>
          <p:cNvSpPr>
            <a:spLocks noGrp="1" noChangeArrowheads="1"/>
          </p:cNvSpPr>
          <p:nvPr>
            <p:ph type="title"/>
          </p:nvPr>
        </p:nvSpPr>
        <p:spPr/>
        <p:txBody>
          <a:bodyPr/>
          <a:lstStyle/>
          <a:p>
            <a:r>
              <a:rPr lang="en-US" dirty="0"/>
              <a:t>How complex is software development?</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704" y="1349749"/>
            <a:ext cx="5292558" cy="5479096"/>
          </a:xfrm>
          <a:prstGeom prst="rect">
            <a:avLst/>
          </a:prstGeom>
        </p:spPr>
      </p:pic>
    </p:spTree>
    <p:extLst>
      <p:ext uri="{BB962C8B-B14F-4D97-AF65-F5344CB8AC3E}">
        <p14:creationId xmlns:p14="http://schemas.microsoft.com/office/powerpoint/2010/main" val="549974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9188" name="Rectangle 4"/>
          <p:cNvSpPr>
            <a:spLocks noGrp="1" noChangeArrowheads="1"/>
          </p:cNvSpPr>
          <p:nvPr>
            <p:ph type="title"/>
          </p:nvPr>
        </p:nvSpPr>
        <p:spPr/>
        <p:txBody>
          <a:bodyPr/>
          <a:lstStyle/>
          <a:p>
            <a:r>
              <a:rPr lang="en-US" sz="3200" dirty="0"/>
              <a:t>Role of testing in development, maintenance and operations</a:t>
            </a:r>
          </a:p>
        </p:txBody>
      </p:sp>
      <p:sp>
        <p:nvSpPr>
          <p:cNvPr id="2269189" name="Rectangle 5"/>
          <p:cNvSpPr>
            <a:spLocks noGrp="1" noChangeArrowheads="1"/>
          </p:cNvSpPr>
          <p:nvPr>
            <p:ph type="body" idx="1"/>
          </p:nvPr>
        </p:nvSpPr>
        <p:spPr/>
        <p:txBody>
          <a:bodyPr/>
          <a:lstStyle/>
          <a:p>
            <a:r>
              <a:rPr lang="en-US" dirty="0"/>
              <a:t>Rigorous testing of systems and documentation can help to:</a:t>
            </a:r>
          </a:p>
          <a:p>
            <a:pPr marL="857250" lvl="1" indent="-457200">
              <a:buFont typeface="Arial" panose="020B0604020202020204" pitchFamily="34" charset="0"/>
              <a:buChar char="•"/>
            </a:pPr>
            <a:r>
              <a:rPr lang="en-US" dirty="0">
                <a:solidFill>
                  <a:srgbClr val="FF0000"/>
                </a:solidFill>
              </a:rPr>
              <a:t>reduce the risk of problems occurring in an operational environment </a:t>
            </a:r>
          </a:p>
          <a:p>
            <a:pPr marL="857250" lvl="1" indent="-457200">
              <a:buFont typeface="Arial" panose="020B0604020202020204" pitchFamily="34" charset="0"/>
              <a:buChar char="•"/>
            </a:pPr>
            <a:r>
              <a:rPr lang="en-US" dirty="0"/>
              <a:t>and contribute to quality</a:t>
            </a:r>
          </a:p>
          <a:p>
            <a:r>
              <a:rPr lang="en-US" dirty="0"/>
              <a:t>Software testing may also be required:</a:t>
            </a:r>
          </a:p>
          <a:p>
            <a:pPr marL="857250" lvl="1" indent="-457200">
              <a:buFont typeface="Arial" panose="020B0604020202020204" pitchFamily="34" charset="0"/>
              <a:buChar char="•"/>
            </a:pPr>
            <a:r>
              <a:rPr lang="en-US" dirty="0"/>
              <a:t>to meet </a:t>
            </a:r>
            <a:r>
              <a:rPr lang="en-US" dirty="0">
                <a:solidFill>
                  <a:srgbClr val="FF0000"/>
                </a:solidFill>
              </a:rPr>
              <a:t>contractual or legal requirements</a:t>
            </a:r>
            <a:r>
              <a:rPr lang="en-US" dirty="0"/>
              <a:t>, </a:t>
            </a:r>
          </a:p>
          <a:p>
            <a:pPr marL="857250" lvl="1" indent="-457200">
              <a:buFont typeface="Arial" panose="020B0604020202020204" pitchFamily="34" charset="0"/>
              <a:buChar char="•"/>
            </a:pPr>
            <a:r>
              <a:rPr lang="en-US" dirty="0"/>
              <a:t>or industry-specific standards.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691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691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691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691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691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691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0212" name="Rectangle 4"/>
          <p:cNvSpPr>
            <a:spLocks noGrp="1" noChangeArrowheads="1"/>
          </p:cNvSpPr>
          <p:nvPr>
            <p:ph type="title"/>
          </p:nvPr>
        </p:nvSpPr>
        <p:spPr/>
        <p:txBody>
          <a:bodyPr/>
          <a:lstStyle/>
          <a:p>
            <a:r>
              <a:rPr lang="en-US" dirty="0"/>
              <a:t>Testing and confidence</a:t>
            </a:r>
          </a:p>
        </p:txBody>
      </p:sp>
      <p:sp>
        <p:nvSpPr>
          <p:cNvPr id="2270213" name="Rectangle 5"/>
          <p:cNvSpPr>
            <a:spLocks noGrp="1" noChangeArrowheads="1"/>
          </p:cNvSpPr>
          <p:nvPr>
            <p:ph type="body" idx="1"/>
          </p:nvPr>
        </p:nvSpPr>
        <p:spPr/>
        <p:txBody>
          <a:bodyPr/>
          <a:lstStyle/>
          <a:p>
            <a:r>
              <a:rPr lang="en-US" dirty="0"/>
              <a:t>If we buy a software package</a:t>
            </a:r>
          </a:p>
          <a:p>
            <a:pPr lvl="1"/>
            <a:r>
              <a:rPr lang="en-US" dirty="0"/>
              <a:t>we may believe it works, but...</a:t>
            </a:r>
          </a:p>
          <a:p>
            <a:pPr lvl="1"/>
            <a:r>
              <a:rPr lang="en-US" dirty="0"/>
              <a:t>a </a:t>
            </a:r>
            <a:r>
              <a:rPr lang="en-US" dirty="0">
                <a:solidFill>
                  <a:srgbClr val="FF0000"/>
                </a:solidFill>
              </a:rPr>
              <a:t>test gives us the confidence that it will work</a:t>
            </a:r>
          </a:p>
          <a:p>
            <a:r>
              <a:rPr lang="en-US" dirty="0"/>
              <a:t>When we buy a car, cooker, off-the-peg suit</a:t>
            </a:r>
          </a:p>
          <a:p>
            <a:pPr lvl="1"/>
            <a:r>
              <a:rPr lang="en-US" dirty="0"/>
              <a:t>we assume they work, but do they work for me?</a:t>
            </a:r>
          </a:p>
          <a:p>
            <a:pPr lvl="1"/>
            <a:r>
              <a:rPr lang="en-US" dirty="0"/>
              <a:t>we still test them</a:t>
            </a:r>
          </a:p>
          <a:p>
            <a:r>
              <a:rPr lang="en-US" dirty="0"/>
              <a:t>When we buy a kitchen, haircut, bespoke suit</a:t>
            </a:r>
          </a:p>
          <a:p>
            <a:pPr lvl="1"/>
            <a:r>
              <a:rPr lang="en-US" dirty="0"/>
              <a:t>we were </a:t>
            </a:r>
            <a:r>
              <a:rPr lang="en-US" dirty="0">
                <a:solidFill>
                  <a:srgbClr val="FF0000"/>
                </a:solidFill>
              </a:rPr>
              <a:t>involved in the requirements</a:t>
            </a:r>
          </a:p>
          <a:p>
            <a:pPr lvl="1"/>
            <a:r>
              <a:rPr lang="en-US" dirty="0"/>
              <a:t>and we test them.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02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7021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702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7021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7021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7021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021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7021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702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1236" name="Rectangle 4"/>
          <p:cNvSpPr>
            <a:spLocks noGrp="1" noChangeArrowheads="1"/>
          </p:cNvSpPr>
          <p:nvPr>
            <p:ph type="title"/>
          </p:nvPr>
        </p:nvSpPr>
        <p:spPr/>
        <p:txBody>
          <a:bodyPr/>
          <a:lstStyle/>
          <a:p>
            <a:r>
              <a:rPr lang="en-US"/>
              <a:t>Testing and contractual requirements</a:t>
            </a:r>
          </a:p>
        </p:txBody>
      </p:sp>
      <p:sp>
        <p:nvSpPr>
          <p:cNvPr id="2271237" name="Rectangle 5"/>
          <p:cNvSpPr>
            <a:spLocks noGrp="1" noChangeArrowheads="1"/>
          </p:cNvSpPr>
          <p:nvPr>
            <p:ph type="body" idx="1"/>
          </p:nvPr>
        </p:nvSpPr>
        <p:spPr/>
        <p:txBody>
          <a:bodyPr/>
          <a:lstStyle/>
          <a:p>
            <a:r>
              <a:rPr lang="en-US" dirty="0"/>
              <a:t>When we buy </a:t>
            </a:r>
            <a:r>
              <a:rPr lang="en-US" dirty="0">
                <a:solidFill>
                  <a:srgbClr val="FF0000"/>
                </a:solidFill>
              </a:rPr>
              <a:t>custom-built software</a:t>
            </a:r>
            <a:r>
              <a:rPr lang="en-US" dirty="0"/>
              <a:t>, a </a:t>
            </a:r>
            <a:r>
              <a:rPr lang="en-US" dirty="0">
                <a:solidFill>
                  <a:srgbClr val="FF0000"/>
                </a:solidFill>
              </a:rPr>
              <a:t>contract</a:t>
            </a:r>
            <a:r>
              <a:rPr lang="en-US" dirty="0"/>
              <a:t> will usually state</a:t>
            </a:r>
          </a:p>
          <a:p>
            <a:pPr lvl="1"/>
            <a:r>
              <a:rPr lang="en-US" dirty="0"/>
              <a:t>the </a:t>
            </a:r>
            <a:r>
              <a:rPr lang="en-US" dirty="0">
                <a:solidFill>
                  <a:srgbClr val="FF0000"/>
                </a:solidFill>
              </a:rPr>
              <a:t>requirements</a:t>
            </a:r>
            <a:r>
              <a:rPr lang="en-US" dirty="0"/>
              <a:t> for the software</a:t>
            </a:r>
          </a:p>
          <a:p>
            <a:pPr lvl="1"/>
            <a:r>
              <a:rPr lang="en-US" dirty="0"/>
              <a:t>the </a:t>
            </a:r>
            <a:r>
              <a:rPr lang="en-US" dirty="0">
                <a:solidFill>
                  <a:srgbClr val="FF0000"/>
                </a:solidFill>
              </a:rPr>
              <a:t>price</a:t>
            </a:r>
            <a:r>
              <a:rPr lang="en-US" dirty="0"/>
              <a:t> of the software</a:t>
            </a:r>
          </a:p>
          <a:p>
            <a:pPr lvl="1"/>
            <a:r>
              <a:rPr lang="en-US" dirty="0"/>
              <a:t>the </a:t>
            </a:r>
            <a:r>
              <a:rPr lang="en-US" dirty="0">
                <a:solidFill>
                  <a:srgbClr val="FF0000"/>
                </a:solidFill>
              </a:rPr>
              <a:t>delivery</a:t>
            </a:r>
            <a:r>
              <a:rPr lang="en-US" dirty="0"/>
              <a:t> </a:t>
            </a:r>
            <a:r>
              <a:rPr lang="en-US" dirty="0">
                <a:solidFill>
                  <a:srgbClr val="FF0000"/>
                </a:solidFill>
              </a:rPr>
              <a:t>schedule</a:t>
            </a:r>
            <a:r>
              <a:rPr lang="en-US" dirty="0"/>
              <a:t> and </a:t>
            </a:r>
            <a:r>
              <a:rPr lang="en-US" dirty="0">
                <a:solidFill>
                  <a:srgbClr val="FF0000"/>
                </a:solidFill>
              </a:rPr>
              <a:t>acceptance process</a:t>
            </a:r>
          </a:p>
          <a:p>
            <a:r>
              <a:rPr lang="en-US" dirty="0"/>
              <a:t>We don't pay the supplier until we have received and acceptance tested the software</a:t>
            </a:r>
          </a:p>
          <a:p>
            <a:r>
              <a:rPr lang="en-US" dirty="0"/>
              <a:t>Acceptance tests help to determine whether the supplier has met the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12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712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712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12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12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712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2260" name="Rectangle 4"/>
          <p:cNvSpPr>
            <a:spLocks noGrp="1" noChangeArrowheads="1"/>
          </p:cNvSpPr>
          <p:nvPr>
            <p:ph type="title"/>
          </p:nvPr>
        </p:nvSpPr>
        <p:spPr/>
        <p:txBody>
          <a:bodyPr/>
          <a:lstStyle/>
          <a:p>
            <a:r>
              <a:rPr lang="en-US"/>
              <a:t>Testing and other requirements</a:t>
            </a:r>
          </a:p>
        </p:txBody>
      </p:sp>
      <p:sp>
        <p:nvSpPr>
          <p:cNvPr id="2272261" name="Rectangle 5"/>
          <p:cNvSpPr>
            <a:spLocks noGrp="1" noChangeArrowheads="1"/>
          </p:cNvSpPr>
          <p:nvPr>
            <p:ph type="body" idx="1"/>
          </p:nvPr>
        </p:nvSpPr>
        <p:spPr/>
        <p:txBody>
          <a:bodyPr/>
          <a:lstStyle/>
          <a:p>
            <a:r>
              <a:rPr lang="en-US" dirty="0"/>
              <a:t>Software requirements may be </a:t>
            </a:r>
            <a:r>
              <a:rPr lang="en-US" dirty="0">
                <a:solidFill>
                  <a:srgbClr val="FF0000"/>
                </a:solidFill>
              </a:rPr>
              <a:t>imposed</a:t>
            </a:r>
            <a:r>
              <a:rPr lang="en-US" dirty="0"/>
              <a:t>:</a:t>
            </a:r>
          </a:p>
          <a:p>
            <a:pPr marL="800100" lvl="1" indent="-342900">
              <a:buFont typeface="Arial" panose="020B0604020202020204" pitchFamily="34" charset="0"/>
              <a:buChar char="•"/>
            </a:pPr>
            <a:r>
              <a:rPr lang="en-US" dirty="0">
                <a:solidFill>
                  <a:srgbClr val="FF0000"/>
                </a:solidFill>
              </a:rPr>
              <a:t>laws</a:t>
            </a:r>
            <a:r>
              <a:rPr lang="en-US" dirty="0"/>
              <a:t> governing our industry must be obeyed</a:t>
            </a:r>
          </a:p>
          <a:p>
            <a:pPr marL="800100" lvl="1" indent="-342900">
              <a:buFont typeface="Arial" panose="020B0604020202020204" pitchFamily="34" charset="0"/>
              <a:buChar char="•"/>
            </a:pPr>
            <a:r>
              <a:rPr lang="en-US" dirty="0">
                <a:solidFill>
                  <a:srgbClr val="FF0000"/>
                </a:solidFill>
              </a:rPr>
              <a:t>industry</a:t>
            </a:r>
            <a:r>
              <a:rPr lang="en-US" dirty="0"/>
              <a:t> </a:t>
            </a:r>
            <a:r>
              <a:rPr lang="en-US" dirty="0">
                <a:solidFill>
                  <a:srgbClr val="FF0000"/>
                </a:solidFill>
              </a:rPr>
              <a:t>regulations</a:t>
            </a:r>
            <a:r>
              <a:rPr lang="en-US" dirty="0"/>
              <a:t> must be adhered to</a:t>
            </a:r>
          </a:p>
          <a:p>
            <a:pPr marL="800100" lvl="1" indent="-342900">
              <a:buFont typeface="Arial" panose="020B0604020202020204" pitchFamily="34" charset="0"/>
              <a:buChar char="•"/>
            </a:pPr>
            <a:r>
              <a:rPr lang="en-US" dirty="0"/>
              <a:t>our customers may insist we are </a:t>
            </a:r>
            <a:r>
              <a:rPr lang="en-US">
                <a:solidFill>
                  <a:srgbClr val="FF0000"/>
                </a:solidFill>
              </a:rPr>
              <a:t>compliant</a:t>
            </a:r>
            <a:r>
              <a:rPr lang="en-US"/>
              <a:t> </a:t>
            </a:r>
          </a:p>
          <a:p>
            <a:pPr marL="800100" lvl="1" indent="-342900">
              <a:buFont typeface="Arial" panose="020B0604020202020204" pitchFamily="34" charset="0"/>
              <a:buChar char="•"/>
            </a:pPr>
            <a:r>
              <a:rPr lang="en-US">
                <a:solidFill>
                  <a:srgbClr val="FF0000"/>
                </a:solidFill>
              </a:rPr>
              <a:t>industry </a:t>
            </a:r>
            <a:r>
              <a:rPr lang="en-US" dirty="0">
                <a:solidFill>
                  <a:srgbClr val="FF0000"/>
                </a:solidFill>
              </a:rPr>
              <a:t>standards</a:t>
            </a:r>
            <a:r>
              <a:rPr lang="en-US" dirty="0"/>
              <a:t> (e.g. safety-critical software)</a:t>
            </a:r>
          </a:p>
          <a:p>
            <a:r>
              <a:rPr lang="en-US" dirty="0"/>
              <a:t>When we write, change or buy software, we have to provide </a:t>
            </a:r>
            <a:r>
              <a:rPr lang="en-US" dirty="0">
                <a:solidFill>
                  <a:srgbClr val="FF0000"/>
                </a:solidFill>
              </a:rPr>
              <a:t>evidence</a:t>
            </a:r>
            <a:r>
              <a:rPr lang="en-US" dirty="0"/>
              <a:t> that we comply</a:t>
            </a:r>
          </a:p>
          <a:p>
            <a:r>
              <a:rPr lang="en-US" dirty="0"/>
              <a:t>Testing provides most of that evidence.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22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722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722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22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22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7226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7226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84" name="Rectangle 4"/>
          <p:cNvSpPr>
            <a:spLocks noGrp="1" noChangeArrowheads="1"/>
          </p:cNvSpPr>
          <p:nvPr>
            <p:ph type="title"/>
          </p:nvPr>
        </p:nvSpPr>
        <p:spPr/>
        <p:txBody>
          <a:bodyPr/>
          <a:lstStyle/>
          <a:p>
            <a:r>
              <a:rPr lang="en-US"/>
              <a:t>Testing and quality</a:t>
            </a:r>
          </a:p>
        </p:txBody>
      </p:sp>
      <p:sp>
        <p:nvSpPr>
          <p:cNvPr id="2273285" name="Rectangle 5"/>
          <p:cNvSpPr>
            <a:spLocks noGrp="1" noChangeArrowheads="1"/>
          </p:cNvSpPr>
          <p:nvPr>
            <p:ph type="body" idx="1"/>
          </p:nvPr>
        </p:nvSpPr>
        <p:spPr/>
        <p:txBody>
          <a:bodyPr/>
          <a:lstStyle/>
          <a:p>
            <a:pPr>
              <a:lnSpc>
                <a:spcPct val="90000"/>
              </a:lnSpc>
            </a:pPr>
            <a:r>
              <a:rPr lang="en-US" dirty="0"/>
              <a:t>Testing can </a:t>
            </a:r>
            <a:r>
              <a:rPr lang="en-US" dirty="0">
                <a:solidFill>
                  <a:srgbClr val="FF0000"/>
                </a:solidFill>
              </a:rPr>
              <a:t>measure quality </a:t>
            </a:r>
            <a:r>
              <a:rPr lang="en-US" dirty="0"/>
              <a:t>of a product and indirectly, improve its quality.</a:t>
            </a:r>
          </a:p>
          <a:p>
            <a:pPr>
              <a:lnSpc>
                <a:spcPct val="90000"/>
              </a:lnSpc>
            </a:pPr>
            <a:r>
              <a:rPr lang="en-US" dirty="0"/>
              <a:t>Testing measures quality</a:t>
            </a:r>
          </a:p>
          <a:p>
            <a:pPr lvl="1">
              <a:lnSpc>
                <a:spcPct val="90000"/>
              </a:lnSpc>
            </a:pPr>
            <a:r>
              <a:rPr lang="en-US" dirty="0"/>
              <a:t>if we assess the </a:t>
            </a:r>
            <a:r>
              <a:rPr lang="en-US" dirty="0" err="1"/>
              <a:t>rigour</a:t>
            </a:r>
            <a:r>
              <a:rPr lang="en-US" dirty="0"/>
              <a:t> and number of tests and if we count the number of faults found...</a:t>
            </a:r>
          </a:p>
          <a:p>
            <a:pPr lvl="1">
              <a:lnSpc>
                <a:spcPct val="90000"/>
              </a:lnSpc>
            </a:pPr>
            <a:r>
              <a:rPr lang="en-US" dirty="0"/>
              <a:t>we can make an objective assessment of the quality of the system under test</a:t>
            </a:r>
          </a:p>
          <a:p>
            <a:pPr>
              <a:lnSpc>
                <a:spcPct val="90000"/>
              </a:lnSpc>
            </a:pPr>
            <a:r>
              <a:rPr lang="en-US" dirty="0">
                <a:solidFill>
                  <a:srgbClr val="FF0000"/>
                </a:solidFill>
              </a:rPr>
              <a:t>Testing improves quality</a:t>
            </a:r>
          </a:p>
          <a:p>
            <a:pPr lvl="1">
              <a:lnSpc>
                <a:spcPct val="90000"/>
              </a:lnSpc>
            </a:pPr>
            <a:r>
              <a:rPr lang="en-US" dirty="0"/>
              <a:t>tests aim to identify defects</a:t>
            </a:r>
          </a:p>
          <a:p>
            <a:pPr lvl="1">
              <a:lnSpc>
                <a:spcPct val="90000"/>
              </a:lnSpc>
            </a:pPr>
            <a:r>
              <a:rPr lang="en-US" dirty="0"/>
              <a:t>if defects are found, we can improve the quality of the software.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32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7328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7328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328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328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7328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7328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Fundamentals continued…</a:t>
            </a:r>
          </a:p>
        </p:txBody>
      </p:sp>
      <p:sp>
        <p:nvSpPr>
          <p:cNvPr id="4" name="Rectangle 9"/>
          <p:cNvSpPr txBox="1">
            <a:spLocks noChangeArrowheads="1"/>
          </p:cNvSpPr>
          <p:nvPr/>
        </p:nvSpPr>
        <p:spPr bwMode="auto">
          <a:xfrm>
            <a:off x="755576" y="1484784"/>
            <a:ext cx="79486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r>
              <a:rPr kumimoji="0" lang="en-US" sz="2400" b="0" i="0" u="none" strike="noStrike" kern="0" cap="none" spc="0" normalizeH="0" baseline="0" noProof="0" dirty="0">
                <a:ln>
                  <a:noFill/>
                </a:ln>
                <a:solidFill>
                  <a:srgbClr val="00279F"/>
                </a:solidFill>
                <a:effectLst/>
                <a:uLnTx/>
                <a:uFillTx/>
                <a:latin typeface="Arial"/>
                <a:ea typeface="ＭＳ Ｐゴシック"/>
                <a:cs typeface="+mn-cs"/>
              </a:rPr>
              <a:t>How much testing is enough?</a:t>
            </a:r>
            <a:endParaRPr kumimoji="0" lang="en-US" sz="2400" b="0" i="0" u="none" strike="noStrike" kern="120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p:txBody>
      </p:sp>
    </p:spTree>
    <p:extLst>
      <p:ext uri="{BB962C8B-B14F-4D97-AF65-F5344CB8AC3E}">
        <p14:creationId xmlns:p14="http://schemas.microsoft.com/office/powerpoint/2010/main" val="638541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4308" name="Rectangle 4"/>
          <p:cNvSpPr>
            <a:spLocks noGrp="1" noChangeArrowheads="1"/>
          </p:cNvSpPr>
          <p:nvPr>
            <p:ph type="title"/>
          </p:nvPr>
        </p:nvSpPr>
        <p:spPr/>
        <p:txBody>
          <a:bodyPr/>
          <a:lstStyle/>
          <a:p>
            <a:r>
              <a:rPr lang="en-US"/>
              <a:t>How much testing is enough?</a:t>
            </a:r>
          </a:p>
        </p:txBody>
      </p:sp>
      <p:sp>
        <p:nvSpPr>
          <p:cNvPr id="2274309" name="Rectangle 5"/>
          <p:cNvSpPr>
            <a:spLocks noGrp="1" noChangeArrowheads="1"/>
          </p:cNvSpPr>
          <p:nvPr>
            <p:ph type="body" idx="1"/>
          </p:nvPr>
        </p:nvSpPr>
        <p:spPr/>
        <p:txBody>
          <a:bodyPr/>
          <a:lstStyle/>
          <a:p>
            <a:r>
              <a:rPr lang="en-US" dirty="0"/>
              <a:t>A perplexing question</a:t>
            </a:r>
          </a:p>
          <a:p>
            <a:r>
              <a:rPr lang="en-US" dirty="0"/>
              <a:t>There's no upper limit</a:t>
            </a:r>
          </a:p>
          <a:p>
            <a:r>
              <a:rPr lang="en-US" dirty="0"/>
              <a:t>If we don't test enough, we get blamed for faults in production</a:t>
            </a:r>
          </a:p>
          <a:p>
            <a:r>
              <a:rPr lang="en-US" dirty="0"/>
              <a:t>The tester can't 'win'.</a:t>
            </a:r>
          </a:p>
          <a:p>
            <a:endParaRPr lang="en-US" dirty="0"/>
          </a:p>
          <a:p>
            <a:r>
              <a:rPr lang="en-US" dirty="0"/>
              <a:t>Think of managing a </a:t>
            </a:r>
            <a:r>
              <a:rPr lang="en-US" dirty="0">
                <a:solidFill>
                  <a:srgbClr val="FF0000"/>
                </a:solidFill>
              </a:rPr>
              <a:t>deficit or a surplus</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43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743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7430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7430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430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5332" name="Rectangle 4"/>
          <p:cNvSpPr>
            <a:spLocks noGrp="1" noChangeArrowheads="1"/>
          </p:cNvSpPr>
          <p:nvPr>
            <p:ph type="title"/>
          </p:nvPr>
        </p:nvSpPr>
        <p:spPr/>
        <p:txBody>
          <a:bodyPr/>
          <a:lstStyle/>
          <a:p>
            <a:r>
              <a:rPr lang="en-US"/>
              <a:t>How much testing is enough?</a:t>
            </a:r>
          </a:p>
        </p:txBody>
      </p:sp>
      <p:sp>
        <p:nvSpPr>
          <p:cNvPr id="2275333" name="Rectangle 5"/>
          <p:cNvSpPr>
            <a:spLocks noGrp="1" noChangeArrowheads="1"/>
          </p:cNvSpPr>
          <p:nvPr>
            <p:ph type="body" idx="1"/>
          </p:nvPr>
        </p:nvSpPr>
        <p:spPr/>
        <p:txBody>
          <a:bodyPr/>
          <a:lstStyle/>
          <a:p>
            <a:r>
              <a:rPr lang="en-US" dirty="0"/>
              <a:t>There are an infinite number of tests we could apply and </a:t>
            </a:r>
            <a:r>
              <a:rPr lang="en-US" dirty="0">
                <a:solidFill>
                  <a:srgbClr val="FF0000"/>
                </a:solidFill>
              </a:rPr>
              <a:t>software is never perfect</a:t>
            </a:r>
          </a:p>
          <a:p>
            <a:r>
              <a:rPr lang="en-US" dirty="0"/>
              <a:t>So how much testing is enough?</a:t>
            </a:r>
          </a:p>
          <a:p>
            <a:r>
              <a:rPr lang="en-US" dirty="0"/>
              <a:t>Objective coverage measures can be used:</a:t>
            </a:r>
          </a:p>
          <a:p>
            <a:pPr lvl="1"/>
            <a:r>
              <a:rPr lang="en-US" dirty="0"/>
              <a:t>standards may impose a level of testing</a:t>
            </a:r>
          </a:p>
          <a:p>
            <a:pPr lvl="1"/>
            <a:r>
              <a:rPr lang="en-US" dirty="0"/>
              <a:t>test design techniques give an objective target</a:t>
            </a:r>
          </a:p>
          <a:p>
            <a:r>
              <a:rPr lang="en-US" dirty="0"/>
              <a:t>But all too often, time is the limiting factor</a:t>
            </a:r>
          </a:p>
          <a:p>
            <a:pPr lvl="1"/>
            <a:r>
              <a:rPr lang="en-US" dirty="0"/>
              <a:t>so we may have to rely on a consensus view to ensure we do at least the most important tests.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53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753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7533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7533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7533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7533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7533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Testing is not practically feasible (1)</a:t>
            </a:r>
          </a:p>
        </p:txBody>
      </p:sp>
      <p:sp>
        <p:nvSpPr>
          <p:cNvPr id="3" name="Content Placeholder 2"/>
          <p:cNvSpPr>
            <a:spLocks noGrp="1"/>
          </p:cNvSpPr>
          <p:nvPr>
            <p:ph idx="1"/>
          </p:nvPr>
        </p:nvSpPr>
        <p:spPr/>
        <p:txBody>
          <a:bodyPr/>
          <a:lstStyle/>
          <a:p>
            <a:r>
              <a:rPr lang="en-US" sz="2400" dirty="0"/>
              <a:t>Consider a simple little program that consists of a loop in which there are 5 possible execution paths from the start of the loop to the end of the loop.</a:t>
            </a:r>
          </a:p>
          <a:p>
            <a:r>
              <a:rPr lang="en-US" sz="2400" dirty="0"/>
              <a:t>If the maximum number of iterations of the loop is 20 then there is: 5</a:t>
            </a:r>
            <a:r>
              <a:rPr lang="en-US" sz="2400" baseline="30000" dirty="0"/>
              <a:t>20</a:t>
            </a:r>
            <a:r>
              <a:rPr lang="en-US" sz="2400" dirty="0"/>
              <a:t> +5</a:t>
            </a:r>
            <a:r>
              <a:rPr lang="en-US" sz="2400" baseline="30000" dirty="0"/>
              <a:t>19</a:t>
            </a:r>
            <a:r>
              <a:rPr lang="en-US" sz="2400" dirty="0"/>
              <a:t> +5</a:t>
            </a:r>
            <a:r>
              <a:rPr lang="en-US" sz="2400" baseline="30000" dirty="0"/>
              <a:t>18</a:t>
            </a:r>
            <a:r>
              <a:rPr lang="en-US" sz="2400" dirty="0"/>
              <a:t> +...+5</a:t>
            </a:r>
            <a:r>
              <a:rPr lang="en-US" sz="2400" baseline="30000" dirty="0"/>
              <a:t>1</a:t>
            </a:r>
            <a:r>
              <a:rPr lang="en-US" sz="2400" dirty="0"/>
              <a:t> different execution traces. That's about 100 quadrillion different execution traces.</a:t>
            </a:r>
          </a:p>
          <a:p>
            <a:r>
              <a:rPr lang="en-US" sz="2400" dirty="0"/>
              <a:t>If each test is done manually and takes 5 minutes to test each trace then the full test takes 1 billion years.</a:t>
            </a:r>
          </a:p>
          <a:p>
            <a:r>
              <a:rPr lang="en-US" sz="2400" dirty="0"/>
              <a:t>If automated so that each test takes 5 microseconds, then it would take 19 years!</a:t>
            </a:r>
          </a:p>
        </p:txBody>
      </p:sp>
    </p:spTree>
    <p:extLst>
      <p:ext uri="{BB962C8B-B14F-4D97-AF65-F5344CB8AC3E}">
        <p14:creationId xmlns:p14="http://schemas.microsoft.com/office/powerpoint/2010/main" val="198547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Testing is not practically feasible (2)</a:t>
            </a:r>
          </a:p>
        </p:txBody>
      </p:sp>
      <p:sp>
        <p:nvSpPr>
          <p:cNvPr id="3" name="Content Placeholder 2"/>
          <p:cNvSpPr>
            <a:spLocks noGrp="1"/>
          </p:cNvSpPr>
          <p:nvPr>
            <p:ph idx="1"/>
          </p:nvPr>
        </p:nvSpPr>
        <p:spPr/>
        <p:txBody>
          <a:bodyPr/>
          <a:lstStyle/>
          <a:p>
            <a:r>
              <a:rPr lang="en-IE" sz="2400" b="1" dirty="0"/>
              <a:t>Complete testing is nearly impossible because of the following reasons:</a:t>
            </a:r>
          </a:p>
          <a:p>
            <a:pPr>
              <a:buFont typeface="Arial" panose="020B0604020202020204" pitchFamily="34" charset="0"/>
              <a:buChar char="•"/>
            </a:pPr>
            <a:r>
              <a:rPr lang="en-IE" sz="2400" dirty="0"/>
              <a:t>The domain of possible inputs of a program is too large to be completely used in testing a system. There are both valid inputs and invalid inputs.</a:t>
            </a:r>
          </a:p>
          <a:p>
            <a:pPr>
              <a:buFont typeface="Arial" panose="020B0604020202020204" pitchFamily="34" charset="0"/>
              <a:buChar char="•"/>
            </a:pPr>
            <a:r>
              <a:rPr lang="en-IE" sz="2400" dirty="0"/>
              <a:t>The program may have a large number of states.</a:t>
            </a:r>
          </a:p>
          <a:p>
            <a:pPr>
              <a:buFont typeface="Arial" panose="020B0604020202020204" pitchFamily="34" charset="0"/>
              <a:buChar char="•"/>
            </a:pPr>
            <a:r>
              <a:rPr lang="en-IE" sz="2400" dirty="0"/>
              <a:t>The design issues may be too complex to completely test (especially for larger systems)</a:t>
            </a:r>
          </a:p>
          <a:p>
            <a:pPr>
              <a:buFont typeface="Arial" panose="020B0604020202020204" pitchFamily="34" charset="0"/>
              <a:buChar char="•"/>
            </a:pPr>
            <a:r>
              <a:rPr lang="en-IE" sz="2400" dirty="0"/>
              <a:t>It may not be possible to create all possible execution environments of the system</a:t>
            </a:r>
            <a:endParaRPr lang="en-US" sz="2400" dirty="0"/>
          </a:p>
        </p:txBody>
      </p:sp>
    </p:spTree>
    <p:extLst>
      <p:ext uri="{BB962C8B-B14F-4D97-AF65-F5344CB8AC3E}">
        <p14:creationId xmlns:p14="http://schemas.microsoft.com/office/powerpoint/2010/main" val="256383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4226" name="Rectangle 2"/>
          <p:cNvSpPr>
            <a:spLocks noGrp="1" noChangeArrowheads="1"/>
          </p:cNvSpPr>
          <p:nvPr>
            <p:ph type="title"/>
          </p:nvPr>
        </p:nvSpPr>
        <p:spPr>
          <a:noFill/>
          <a:ln/>
        </p:spPr>
        <p:txBody>
          <a:bodyPr/>
          <a:lstStyle/>
          <a:p>
            <a:pPr eaLnBrk="0" hangingPunct="0"/>
            <a:r>
              <a:rPr lang="en-GB"/>
              <a:t>The bugs that lurk in our systems</a:t>
            </a:r>
          </a:p>
        </p:txBody>
      </p:sp>
      <p:sp>
        <p:nvSpPr>
          <p:cNvPr id="3124227" name="Oval 3"/>
          <p:cNvSpPr>
            <a:spLocks noChangeArrowheads="1"/>
          </p:cNvSpPr>
          <p:nvPr/>
        </p:nvSpPr>
        <p:spPr bwMode="auto">
          <a:xfrm>
            <a:off x="709613" y="1987550"/>
            <a:ext cx="7654925" cy="4025900"/>
          </a:xfrm>
          <a:prstGeom prst="ellipse">
            <a:avLst/>
          </a:prstGeom>
          <a:solidFill>
            <a:schemeClr val="tx1"/>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4228" name="Group 4"/>
          <p:cNvGrpSpPr>
            <a:grpSpLocks/>
          </p:cNvGrpSpPr>
          <p:nvPr/>
        </p:nvGrpSpPr>
        <p:grpSpPr bwMode="auto">
          <a:xfrm>
            <a:off x="6681788" y="3200400"/>
            <a:ext cx="1406525" cy="1752600"/>
            <a:chOff x="4560" y="2016"/>
            <a:chExt cx="960" cy="1104"/>
          </a:xfrm>
        </p:grpSpPr>
        <p:sp>
          <p:nvSpPr>
            <p:cNvPr id="3124229" name="Oval 5"/>
            <p:cNvSpPr>
              <a:spLocks noChangeArrowheads="1"/>
            </p:cNvSpPr>
            <p:nvPr/>
          </p:nvSpPr>
          <p:spPr bwMode="auto">
            <a:xfrm>
              <a:off x="4752" y="21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0" name="Oval 6"/>
            <p:cNvSpPr>
              <a:spLocks noChangeArrowheads="1"/>
            </p:cNvSpPr>
            <p:nvPr/>
          </p:nvSpPr>
          <p:spPr bwMode="auto">
            <a:xfrm>
              <a:off x="4608"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1" name="Oval 7"/>
            <p:cNvSpPr>
              <a:spLocks noChangeArrowheads="1"/>
            </p:cNvSpPr>
            <p:nvPr/>
          </p:nvSpPr>
          <p:spPr bwMode="auto">
            <a:xfrm>
              <a:off x="4992" y="20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2" name="Oval 8"/>
            <p:cNvSpPr>
              <a:spLocks noChangeArrowheads="1"/>
            </p:cNvSpPr>
            <p:nvPr/>
          </p:nvSpPr>
          <p:spPr bwMode="auto">
            <a:xfrm>
              <a:off x="508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3" name="Oval 9"/>
            <p:cNvSpPr>
              <a:spLocks noChangeArrowheads="1"/>
            </p:cNvSpPr>
            <p:nvPr/>
          </p:nvSpPr>
          <p:spPr bwMode="auto">
            <a:xfrm>
              <a:off x="5136"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4" name="Oval 10"/>
            <p:cNvSpPr>
              <a:spLocks noChangeArrowheads="1"/>
            </p:cNvSpPr>
            <p:nvPr/>
          </p:nvSpPr>
          <p:spPr bwMode="auto">
            <a:xfrm>
              <a:off x="5232" y="26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5" name="Oval 11"/>
            <p:cNvSpPr>
              <a:spLocks noChangeArrowheads="1"/>
            </p:cNvSpPr>
            <p:nvPr/>
          </p:nvSpPr>
          <p:spPr bwMode="auto">
            <a:xfrm>
              <a:off x="4848"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6" name="Oval 12"/>
            <p:cNvSpPr>
              <a:spLocks noChangeArrowheads="1"/>
            </p:cNvSpPr>
            <p:nvPr/>
          </p:nvSpPr>
          <p:spPr bwMode="auto">
            <a:xfrm>
              <a:off x="5424"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7" name="Oval 13"/>
            <p:cNvSpPr>
              <a:spLocks noChangeArrowheads="1"/>
            </p:cNvSpPr>
            <p:nvPr/>
          </p:nvSpPr>
          <p:spPr bwMode="auto">
            <a:xfrm>
              <a:off x="53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8" name="Oval 14"/>
            <p:cNvSpPr>
              <a:spLocks noChangeArrowheads="1"/>
            </p:cNvSpPr>
            <p:nvPr/>
          </p:nvSpPr>
          <p:spPr bwMode="auto">
            <a:xfrm>
              <a:off x="4800"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39" name="Oval 15"/>
            <p:cNvSpPr>
              <a:spLocks noChangeArrowheads="1"/>
            </p:cNvSpPr>
            <p:nvPr/>
          </p:nvSpPr>
          <p:spPr bwMode="auto">
            <a:xfrm>
              <a:off x="4560"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40" name="Oval 16"/>
            <p:cNvSpPr>
              <a:spLocks noChangeArrowheads="1"/>
            </p:cNvSpPr>
            <p:nvPr/>
          </p:nvSpPr>
          <p:spPr bwMode="auto">
            <a:xfrm>
              <a:off x="523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41" name="Oval 17"/>
            <p:cNvSpPr>
              <a:spLocks noChangeArrowheads="1"/>
            </p:cNvSpPr>
            <p:nvPr/>
          </p:nvSpPr>
          <p:spPr bwMode="auto">
            <a:xfrm>
              <a:off x="4752" y="30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4242" name="Group 18"/>
          <p:cNvGrpSpPr>
            <a:grpSpLocks/>
          </p:cNvGrpSpPr>
          <p:nvPr/>
        </p:nvGrpSpPr>
        <p:grpSpPr bwMode="auto">
          <a:xfrm>
            <a:off x="5205413" y="2209800"/>
            <a:ext cx="1406525" cy="1752600"/>
            <a:chOff x="3552" y="1392"/>
            <a:chExt cx="960" cy="1104"/>
          </a:xfrm>
        </p:grpSpPr>
        <p:sp>
          <p:nvSpPr>
            <p:cNvPr id="3124243" name="Oval 19"/>
            <p:cNvSpPr>
              <a:spLocks noChangeArrowheads="1"/>
            </p:cNvSpPr>
            <p:nvPr/>
          </p:nvSpPr>
          <p:spPr bwMode="auto">
            <a:xfrm>
              <a:off x="3744" y="15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44" name="Oval 20"/>
            <p:cNvSpPr>
              <a:spLocks noChangeArrowheads="1"/>
            </p:cNvSpPr>
            <p:nvPr/>
          </p:nvSpPr>
          <p:spPr bwMode="auto">
            <a:xfrm>
              <a:off x="3600" y="21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45" name="Oval 21"/>
            <p:cNvSpPr>
              <a:spLocks noChangeArrowheads="1"/>
            </p:cNvSpPr>
            <p:nvPr/>
          </p:nvSpPr>
          <p:spPr bwMode="auto">
            <a:xfrm>
              <a:off x="3984"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46" name="Oval 22"/>
            <p:cNvSpPr>
              <a:spLocks noChangeArrowheads="1"/>
            </p:cNvSpPr>
            <p:nvPr/>
          </p:nvSpPr>
          <p:spPr bwMode="auto">
            <a:xfrm>
              <a:off x="4080"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47" name="Oval 23"/>
            <p:cNvSpPr>
              <a:spLocks noChangeArrowheads="1"/>
            </p:cNvSpPr>
            <p:nvPr/>
          </p:nvSpPr>
          <p:spPr bwMode="auto">
            <a:xfrm>
              <a:off x="41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48" name="Oval 24"/>
            <p:cNvSpPr>
              <a:spLocks noChangeArrowheads="1"/>
            </p:cNvSpPr>
            <p:nvPr/>
          </p:nvSpPr>
          <p:spPr bwMode="auto">
            <a:xfrm>
              <a:off x="4224" y="20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49" name="Oval 25"/>
            <p:cNvSpPr>
              <a:spLocks noChangeArrowheads="1"/>
            </p:cNvSpPr>
            <p:nvPr/>
          </p:nvSpPr>
          <p:spPr bwMode="auto">
            <a:xfrm>
              <a:off x="3840" y="21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50" name="Oval 26"/>
            <p:cNvSpPr>
              <a:spLocks noChangeArrowheads="1"/>
            </p:cNvSpPr>
            <p:nvPr/>
          </p:nvSpPr>
          <p:spPr bwMode="auto">
            <a:xfrm>
              <a:off x="4416" y="22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51" name="Oval 27"/>
            <p:cNvSpPr>
              <a:spLocks noChangeArrowheads="1"/>
            </p:cNvSpPr>
            <p:nvPr/>
          </p:nvSpPr>
          <p:spPr bwMode="auto">
            <a:xfrm>
              <a:off x="4320"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52" name="Oval 28"/>
            <p:cNvSpPr>
              <a:spLocks noChangeArrowheads="1"/>
            </p:cNvSpPr>
            <p:nvPr/>
          </p:nvSpPr>
          <p:spPr bwMode="auto">
            <a:xfrm>
              <a:off x="3792" y="17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53" name="Oval 29"/>
            <p:cNvSpPr>
              <a:spLocks noChangeArrowheads="1"/>
            </p:cNvSpPr>
            <p:nvPr/>
          </p:nvSpPr>
          <p:spPr bwMode="auto">
            <a:xfrm>
              <a:off x="3552" y="18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54" name="Oval 30"/>
            <p:cNvSpPr>
              <a:spLocks noChangeArrowheads="1"/>
            </p:cNvSpPr>
            <p:nvPr/>
          </p:nvSpPr>
          <p:spPr bwMode="auto">
            <a:xfrm>
              <a:off x="4224" y="14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55" name="Oval 31"/>
            <p:cNvSpPr>
              <a:spLocks noChangeArrowheads="1"/>
            </p:cNvSpPr>
            <p:nvPr/>
          </p:nvSpPr>
          <p:spPr bwMode="auto">
            <a:xfrm>
              <a:off x="3744"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4256" name="Group 32"/>
          <p:cNvGrpSpPr>
            <a:grpSpLocks/>
          </p:cNvGrpSpPr>
          <p:nvPr/>
        </p:nvGrpSpPr>
        <p:grpSpPr bwMode="auto">
          <a:xfrm>
            <a:off x="2251075" y="3886200"/>
            <a:ext cx="1406525" cy="1752600"/>
            <a:chOff x="1536" y="2448"/>
            <a:chExt cx="960" cy="1104"/>
          </a:xfrm>
        </p:grpSpPr>
        <p:sp>
          <p:nvSpPr>
            <p:cNvPr id="3124257" name="Oval 33"/>
            <p:cNvSpPr>
              <a:spLocks noChangeArrowheads="1"/>
            </p:cNvSpPr>
            <p:nvPr/>
          </p:nvSpPr>
          <p:spPr bwMode="auto">
            <a:xfrm>
              <a:off x="1728"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58" name="Oval 34"/>
            <p:cNvSpPr>
              <a:spLocks noChangeArrowheads="1"/>
            </p:cNvSpPr>
            <p:nvPr/>
          </p:nvSpPr>
          <p:spPr bwMode="auto">
            <a:xfrm>
              <a:off x="158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59" name="Oval 35"/>
            <p:cNvSpPr>
              <a:spLocks noChangeArrowheads="1"/>
            </p:cNvSpPr>
            <p:nvPr/>
          </p:nvSpPr>
          <p:spPr bwMode="auto">
            <a:xfrm>
              <a:off x="1968"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0" name="Oval 36"/>
            <p:cNvSpPr>
              <a:spLocks noChangeArrowheads="1"/>
            </p:cNvSpPr>
            <p:nvPr/>
          </p:nvSpPr>
          <p:spPr bwMode="auto">
            <a:xfrm>
              <a:off x="2064"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1" name="Oval 37"/>
            <p:cNvSpPr>
              <a:spLocks noChangeArrowheads="1"/>
            </p:cNvSpPr>
            <p:nvPr/>
          </p:nvSpPr>
          <p:spPr bwMode="auto">
            <a:xfrm>
              <a:off x="2112" y="34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2" name="Oval 38"/>
            <p:cNvSpPr>
              <a:spLocks noChangeArrowheads="1"/>
            </p:cNvSpPr>
            <p:nvPr/>
          </p:nvSpPr>
          <p:spPr bwMode="auto">
            <a:xfrm>
              <a:off x="220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3" name="Oval 39"/>
            <p:cNvSpPr>
              <a:spLocks noChangeArrowheads="1"/>
            </p:cNvSpPr>
            <p:nvPr/>
          </p:nvSpPr>
          <p:spPr bwMode="auto">
            <a:xfrm>
              <a:off x="182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4" name="Oval 40"/>
            <p:cNvSpPr>
              <a:spLocks noChangeArrowheads="1"/>
            </p:cNvSpPr>
            <p:nvPr/>
          </p:nvSpPr>
          <p:spPr bwMode="auto">
            <a:xfrm>
              <a:off x="2400"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5" name="Oval 41"/>
            <p:cNvSpPr>
              <a:spLocks noChangeArrowheads="1"/>
            </p:cNvSpPr>
            <p:nvPr/>
          </p:nvSpPr>
          <p:spPr bwMode="auto">
            <a:xfrm>
              <a:off x="2304"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6" name="Oval 42"/>
            <p:cNvSpPr>
              <a:spLocks noChangeArrowheads="1"/>
            </p:cNvSpPr>
            <p:nvPr/>
          </p:nvSpPr>
          <p:spPr bwMode="auto">
            <a:xfrm>
              <a:off x="1776"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7" name="Oval 43"/>
            <p:cNvSpPr>
              <a:spLocks noChangeArrowheads="1"/>
            </p:cNvSpPr>
            <p:nvPr/>
          </p:nvSpPr>
          <p:spPr bwMode="auto">
            <a:xfrm>
              <a:off x="153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8" name="Oval 44"/>
            <p:cNvSpPr>
              <a:spLocks noChangeArrowheads="1"/>
            </p:cNvSpPr>
            <p:nvPr/>
          </p:nvSpPr>
          <p:spPr bwMode="auto">
            <a:xfrm>
              <a:off x="2208"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69" name="Oval 45"/>
            <p:cNvSpPr>
              <a:spLocks noChangeArrowheads="1"/>
            </p:cNvSpPr>
            <p:nvPr/>
          </p:nvSpPr>
          <p:spPr bwMode="auto">
            <a:xfrm>
              <a:off x="1728" y="34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4270" name="Group 46"/>
          <p:cNvGrpSpPr>
            <a:grpSpLocks/>
          </p:cNvGrpSpPr>
          <p:nvPr/>
        </p:nvGrpSpPr>
        <p:grpSpPr bwMode="auto">
          <a:xfrm>
            <a:off x="5345113" y="4038600"/>
            <a:ext cx="1408112" cy="1752600"/>
            <a:chOff x="3648" y="2544"/>
            <a:chExt cx="960" cy="1104"/>
          </a:xfrm>
        </p:grpSpPr>
        <p:sp>
          <p:nvSpPr>
            <p:cNvPr id="3124271" name="Oval 47"/>
            <p:cNvSpPr>
              <a:spLocks noChangeArrowheads="1"/>
            </p:cNvSpPr>
            <p:nvPr/>
          </p:nvSpPr>
          <p:spPr bwMode="auto">
            <a:xfrm>
              <a:off x="3840"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72" name="Oval 48"/>
            <p:cNvSpPr>
              <a:spLocks noChangeArrowheads="1"/>
            </p:cNvSpPr>
            <p:nvPr/>
          </p:nvSpPr>
          <p:spPr bwMode="auto">
            <a:xfrm>
              <a:off x="3696"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73" name="Oval 49"/>
            <p:cNvSpPr>
              <a:spLocks noChangeArrowheads="1"/>
            </p:cNvSpPr>
            <p:nvPr/>
          </p:nvSpPr>
          <p:spPr bwMode="auto">
            <a:xfrm>
              <a:off x="4080"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74" name="Oval 50"/>
            <p:cNvSpPr>
              <a:spLocks noChangeArrowheads="1"/>
            </p:cNvSpPr>
            <p:nvPr/>
          </p:nvSpPr>
          <p:spPr bwMode="auto">
            <a:xfrm>
              <a:off x="417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75" name="Oval 51"/>
            <p:cNvSpPr>
              <a:spLocks noChangeArrowheads="1"/>
            </p:cNvSpPr>
            <p:nvPr/>
          </p:nvSpPr>
          <p:spPr bwMode="auto">
            <a:xfrm>
              <a:off x="4224" y="35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76" name="Oval 52"/>
            <p:cNvSpPr>
              <a:spLocks noChangeArrowheads="1"/>
            </p:cNvSpPr>
            <p:nvPr/>
          </p:nvSpPr>
          <p:spPr bwMode="auto">
            <a:xfrm>
              <a:off x="4320"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77" name="Oval 53"/>
            <p:cNvSpPr>
              <a:spLocks noChangeArrowheads="1"/>
            </p:cNvSpPr>
            <p:nvPr/>
          </p:nvSpPr>
          <p:spPr bwMode="auto">
            <a:xfrm>
              <a:off x="3936"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78" name="Oval 54"/>
            <p:cNvSpPr>
              <a:spLocks noChangeArrowheads="1"/>
            </p:cNvSpPr>
            <p:nvPr/>
          </p:nvSpPr>
          <p:spPr bwMode="auto">
            <a:xfrm>
              <a:off x="4512" y="33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79" name="Oval 55"/>
            <p:cNvSpPr>
              <a:spLocks noChangeArrowheads="1"/>
            </p:cNvSpPr>
            <p:nvPr/>
          </p:nvSpPr>
          <p:spPr bwMode="auto">
            <a:xfrm>
              <a:off x="441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80" name="Oval 56"/>
            <p:cNvSpPr>
              <a:spLocks noChangeArrowheads="1"/>
            </p:cNvSpPr>
            <p:nvPr/>
          </p:nvSpPr>
          <p:spPr bwMode="auto">
            <a:xfrm>
              <a:off x="3888"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81" name="Oval 57"/>
            <p:cNvSpPr>
              <a:spLocks noChangeArrowheads="1"/>
            </p:cNvSpPr>
            <p:nvPr/>
          </p:nvSpPr>
          <p:spPr bwMode="auto">
            <a:xfrm>
              <a:off x="3648"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82" name="Oval 58"/>
            <p:cNvSpPr>
              <a:spLocks noChangeArrowheads="1"/>
            </p:cNvSpPr>
            <p:nvPr/>
          </p:nvSpPr>
          <p:spPr bwMode="auto">
            <a:xfrm>
              <a:off x="4320"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83" name="Oval 59"/>
            <p:cNvSpPr>
              <a:spLocks noChangeArrowheads="1"/>
            </p:cNvSpPr>
            <p:nvPr/>
          </p:nvSpPr>
          <p:spPr bwMode="auto">
            <a:xfrm>
              <a:off x="3840" y="35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4284" name="Group 60"/>
          <p:cNvGrpSpPr>
            <a:grpSpLocks/>
          </p:cNvGrpSpPr>
          <p:nvPr/>
        </p:nvGrpSpPr>
        <p:grpSpPr bwMode="auto">
          <a:xfrm>
            <a:off x="2251075" y="3505200"/>
            <a:ext cx="1406525" cy="1752600"/>
            <a:chOff x="1536" y="2208"/>
            <a:chExt cx="960" cy="1104"/>
          </a:xfrm>
        </p:grpSpPr>
        <p:sp>
          <p:nvSpPr>
            <p:cNvPr id="3124285" name="Oval 61"/>
            <p:cNvSpPr>
              <a:spLocks noChangeArrowheads="1"/>
            </p:cNvSpPr>
            <p:nvPr/>
          </p:nvSpPr>
          <p:spPr bwMode="auto">
            <a:xfrm>
              <a:off x="17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86" name="Oval 62"/>
            <p:cNvSpPr>
              <a:spLocks noChangeArrowheads="1"/>
            </p:cNvSpPr>
            <p:nvPr/>
          </p:nvSpPr>
          <p:spPr bwMode="auto">
            <a:xfrm>
              <a:off x="1584"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87" name="Oval 63"/>
            <p:cNvSpPr>
              <a:spLocks noChangeArrowheads="1"/>
            </p:cNvSpPr>
            <p:nvPr/>
          </p:nvSpPr>
          <p:spPr bwMode="auto">
            <a:xfrm>
              <a:off x="1968" y="22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88" name="Oval 64"/>
            <p:cNvSpPr>
              <a:spLocks noChangeArrowheads="1"/>
            </p:cNvSpPr>
            <p:nvPr/>
          </p:nvSpPr>
          <p:spPr bwMode="auto">
            <a:xfrm>
              <a:off x="2064"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89" name="Oval 65"/>
            <p:cNvSpPr>
              <a:spLocks noChangeArrowheads="1"/>
            </p:cNvSpPr>
            <p:nvPr/>
          </p:nvSpPr>
          <p:spPr bwMode="auto">
            <a:xfrm>
              <a:off x="2112"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90" name="Oval 66"/>
            <p:cNvSpPr>
              <a:spLocks noChangeArrowheads="1"/>
            </p:cNvSpPr>
            <p:nvPr/>
          </p:nvSpPr>
          <p:spPr bwMode="auto">
            <a:xfrm>
              <a:off x="2208"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91" name="Oval 67"/>
            <p:cNvSpPr>
              <a:spLocks noChangeArrowheads="1"/>
            </p:cNvSpPr>
            <p:nvPr/>
          </p:nvSpPr>
          <p:spPr bwMode="auto">
            <a:xfrm>
              <a:off x="1824"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92" name="Oval 68"/>
            <p:cNvSpPr>
              <a:spLocks noChangeArrowheads="1"/>
            </p:cNvSpPr>
            <p:nvPr/>
          </p:nvSpPr>
          <p:spPr bwMode="auto">
            <a:xfrm>
              <a:off x="2400" y="30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93" name="Oval 69"/>
            <p:cNvSpPr>
              <a:spLocks noChangeArrowheads="1"/>
            </p:cNvSpPr>
            <p:nvPr/>
          </p:nvSpPr>
          <p:spPr bwMode="auto">
            <a:xfrm>
              <a:off x="2304"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94" name="Oval 70"/>
            <p:cNvSpPr>
              <a:spLocks noChangeArrowheads="1"/>
            </p:cNvSpPr>
            <p:nvPr/>
          </p:nvSpPr>
          <p:spPr bwMode="auto">
            <a:xfrm>
              <a:off x="1776"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95" name="Oval 71"/>
            <p:cNvSpPr>
              <a:spLocks noChangeArrowheads="1"/>
            </p:cNvSpPr>
            <p:nvPr/>
          </p:nvSpPr>
          <p:spPr bwMode="auto">
            <a:xfrm>
              <a:off x="1536" y="26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96" name="Oval 72"/>
            <p:cNvSpPr>
              <a:spLocks noChangeArrowheads="1"/>
            </p:cNvSpPr>
            <p:nvPr/>
          </p:nvSpPr>
          <p:spPr bwMode="auto">
            <a:xfrm>
              <a:off x="2208" y="22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297" name="Oval 73"/>
            <p:cNvSpPr>
              <a:spLocks noChangeArrowheads="1"/>
            </p:cNvSpPr>
            <p:nvPr/>
          </p:nvSpPr>
          <p:spPr bwMode="auto">
            <a:xfrm>
              <a:off x="1728" y="32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4298" name="Group 74"/>
          <p:cNvGrpSpPr>
            <a:grpSpLocks/>
          </p:cNvGrpSpPr>
          <p:nvPr/>
        </p:nvGrpSpPr>
        <p:grpSpPr bwMode="auto">
          <a:xfrm>
            <a:off x="3727450" y="2133600"/>
            <a:ext cx="1406525" cy="1752600"/>
            <a:chOff x="2544" y="1344"/>
            <a:chExt cx="960" cy="1104"/>
          </a:xfrm>
        </p:grpSpPr>
        <p:sp>
          <p:nvSpPr>
            <p:cNvPr id="3124299" name="Oval 75"/>
            <p:cNvSpPr>
              <a:spLocks noChangeArrowheads="1"/>
            </p:cNvSpPr>
            <p:nvPr/>
          </p:nvSpPr>
          <p:spPr bwMode="auto">
            <a:xfrm>
              <a:off x="2736" y="14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0" name="Oval 76"/>
            <p:cNvSpPr>
              <a:spLocks noChangeArrowheads="1"/>
            </p:cNvSpPr>
            <p:nvPr/>
          </p:nvSpPr>
          <p:spPr bwMode="auto">
            <a:xfrm>
              <a:off x="259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1" name="Oval 77"/>
            <p:cNvSpPr>
              <a:spLocks noChangeArrowheads="1"/>
            </p:cNvSpPr>
            <p:nvPr/>
          </p:nvSpPr>
          <p:spPr bwMode="auto">
            <a:xfrm>
              <a:off x="2976" y="13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2" name="Oval 78"/>
            <p:cNvSpPr>
              <a:spLocks noChangeArrowheads="1"/>
            </p:cNvSpPr>
            <p:nvPr/>
          </p:nvSpPr>
          <p:spPr bwMode="auto">
            <a:xfrm>
              <a:off x="3072"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3" name="Oval 79"/>
            <p:cNvSpPr>
              <a:spLocks noChangeArrowheads="1"/>
            </p:cNvSpPr>
            <p:nvPr/>
          </p:nvSpPr>
          <p:spPr bwMode="auto">
            <a:xfrm>
              <a:off x="3120" y="23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4" name="Oval 80"/>
            <p:cNvSpPr>
              <a:spLocks noChangeArrowheads="1"/>
            </p:cNvSpPr>
            <p:nvPr/>
          </p:nvSpPr>
          <p:spPr bwMode="auto">
            <a:xfrm>
              <a:off x="3216" y="19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5" name="Oval 81"/>
            <p:cNvSpPr>
              <a:spLocks noChangeArrowheads="1"/>
            </p:cNvSpPr>
            <p:nvPr/>
          </p:nvSpPr>
          <p:spPr bwMode="auto">
            <a:xfrm>
              <a:off x="283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6" name="Oval 82"/>
            <p:cNvSpPr>
              <a:spLocks noChangeArrowheads="1"/>
            </p:cNvSpPr>
            <p:nvPr/>
          </p:nvSpPr>
          <p:spPr bwMode="auto">
            <a:xfrm>
              <a:off x="3408" y="21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7" name="Oval 83"/>
            <p:cNvSpPr>
              <a:spLocks noChangeArrowheads="1"/>
            </p:cNvSpPr>
            <p:nvPr/>
          </p:nvSpPr>
          <p:spPr bwMode="auto">
            <a:xfrm>
              <a:off x="3312"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8" name="Oval 84"/>
            <p:cNvSpPr>
              <a:spLocks noChangeArrowheads="1"/>
            </p:cNvSpPr>
            <p:nvPr/>
          </p:nvSpPr>
          <p:spPr bwMode="auto">
            <a:xfrm>
              <a:off x="2784"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09" name="Oval 85"/>
            <p:cNvSpPr>
              <a:spLocks noChangeArrowheads="1"/>
            </p:cNvSpPr>
            <p:nvPr/>
          </p:nvSpPr>
          <p:spPr bwMode="auto">
            <a:xfrm>
              <a:off x="2544" y="17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10" name="Oval 86"/>
            <p:cNvSpPr>
              <a:spLocks noChangeArrowheads="1"/>
            </p:cNvSpPr>
            <p:nvPr/>
          </p:nvSpPr>
          <p:spPr bwMode="auto">
            <a:xfrm>
              <a:off x="3216"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11" name="Oval 87"/>
            <p:cNvSpPr>
              <a:spLocks noChangeArrowheads="1"/>
            </p:cNvSpPr>
            <p:nvPr/>
          </p:nvSpPr>
          <p:spPr bwMode="auto">
            <a:xfrm>
              <a:off x="2736"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4312" name="Group 88"/>
          <p:cNvGrpSpPr>
            <a:grpSpLocks/>
          </p:cNvGrpSpPr>
          <p:nvPr/>
        </p:nvGrpSpPr>
        <p:grpSpPr bwMode="auto">
          <a:xfrm>
            <a:off x="2390775" y="2705100"/>
            <a:ext cx="1408113" cy="1752600"/>
            <a:chOff x="1632" y="1704"/>
            <a:chExt cx="960" cy="1104"/>
          </a:xfrm>
        </p:grpSpPr>
        <p:sp>
          <p:nvSpPr>
            <p:cNvPr id="3124313" name="Oval 89"/>
            <p:cNvSpPr>
              <a:spLocks noChangeArrowheads="1"/>
            </p:cNvSpPr>
            <p:nvPr/>
          </p:nvSpPr>
          <p:spPr bwMode="auto">
            <a:xfrm>
              <a:off x="1824" y="18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14" name="Oval 90"/>
            <p:cNvSpPr>
              <a:spLocks noChangeArrowheads="1"/>
            </p:cNvSpPr>
            <p:nvPr/>
          </p:nvSpPr>
          <p:spPr bwMode="auto">
            <a:xfrm>
              <a:off x="1680" y="24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15" name="Oval 91"/>
            <p:cNvSpPr>
              <a:spLocks noChangeArrowheads="1"/>
            </p:cNvSpPr>
            <p:nvPr/>
          </p:nvSpPr>
          <p:spPr bwMode="auto">
            <a:xfrm>
              <a:off x="2064" y="17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16" name="Oval 92"/>
            <p:cNvSpPr>
              <a:spLocks noChangeArrowheads="1"/>
            </p:cNvSpPr>
            <p:nvPr/>
          </p:nvSpPr>
          <p:spPr bwMode="auto">
            <a:xfrm>
              <a:off x="2160" y="20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17" name="Oval 93"/>
            <p:cNvSpPr>
              <a:spLocks noChangeArrowheads="1"/>
            </p:cNvSpPr>
            <p:nvPr/>
          </p:nvSpPr>
          <p:spPr bwMode="auto">
            <a:xfrm>
              <a:off x="2208" y="26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18" name="Oval 94"/>
            <p:cNvSpPr>
              <a:spLocks noChangeArrowheads="1"/>
            </p:cNvSpPr>
            <p:nvPr/>
          </p:nvSpPr>
          <p:spPr bwMode="auto">
            <a:xfrm>
              <a:off x="2304" y="23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19" name="Oval 95"/>
            <p:cNvSpPr>
              <a:spLocks noChangeArrowheads="1"/>
            </p:cNvSpPr>
            <p:nvPr/>
          </p:nvSpPr>
          <p:spPr bwMode="auto">
            <a:xfrm>
              <a:off x="1920" y="24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20" name="Oval 96"/>
            <p:cNvSpPr>
              <a:spLocks noChangeArrowheads="1"/>
            </p:cNvSpPr>
            <p:nvPr/>
          </p:nvSpPr>
          <p:spPr bwMode="auto">
            <a:xfrm>
              <a:off x="2496" y="25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21" name="Oval 97"/>
            <p:cNvSpPr>
              <a:spLocks noChangeArrowheads="1"/>
            </p:cNvSpPr>
            <p:nvPr/>
          </p:nvSpPr>
          <p:spPr bwMode="auto">
            <a:xfrm>
              <a:off x="2400" y="20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22" name="Oval 98"/>
            <p:cNvSpPr>
              <a:spLocks noChangeArrowheads="1"/>
            </p:cNvSpPr>
            <p:nvPr/>
          </p:nvSpPr>
          <p:spPr bwMode="auto">
            <a:xfrm>
              <a:off x="1872" y="20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23" name="Oval 99"/>
            <p:cNvSpPr>
              <a:spLocks noChangeArrowheads="1"/>
            </p:cNvSpPr>
            <p:nvPr/>
          </p:nvSpPr>
          <p:spPr bwMode="auto">
            <a:xfrm>
              <a:off x="1632" y="21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24" name="Oval 100"/>
            <p:cNvSpPr>
              <a:spLocks noChangeArrowheads="1"/>
            </p:cNvSpPr>
            <p:nvPr/>
          </p:nvSpPr>
          <p:spPr bwMode="auto">
            <a:xfrm>
              <a:off x="2304" y="17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25" name="Oval 101"/>
            <p:cNvSpPr>
              <a:spLocks noChangeArrowheads="1"/>
            </p:cNvSpPr>
            <p:nvPr/>
          </p:nvSpPr>
          <p:spPr bwMode="auto">
            <a:xfrm>
              <a:off x="1824" y="27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4326" name="Oval 102"/>
          <p:cNvSpPr>
            <a:spLocks noChangeArrowheads="1"/>
          </p:cNvSpPr>
          <p:nvPr/>
        </p:nvSpPr>
        <p:spPr bwMode="auto">
          <a:xfrm>
            <a:off x="5133975" y="2209800"/>
            <a:ext cx="141288"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24327" name="Oval 103"/>
          <p:cNvSpPr>
            <a:spLocks noChangeArrowheads="1"/>
          </p:cNvSpPr>
          <p:nvPr/>
        </p:nvSpPr>
        <p:spPr bwMode="auto">
          <a:xfrm>
            <a:off x="3657600" y="4038600"/>
            <a:ext cx="141288"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28" name="Oval 104"/>
          <p:cNvSpPr>
            <a:spLocks noChangeArrowheads="1"/>
          </p:cNvSpPr>
          <p:nvPr/>
        </p:nvSpPr>
        <p:spPr bwMode="auto">
          <a:xfrm>
            <a:off x="1617663" y="5029200"/>
            <a:ext cx="141287"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29" name="Oval 105"/>
          <p:cNvSpPr>
            <a:spLocks noChangeArrowheads="1"/>
          </p:cNvSpPr>
          <p:nvPr/>
        </p:nvSpPr>
        <p:spPr bwMode="auto">
          <a:xfrm>
            <a:off x="2039938" y="5257800"/>
            <a:ext cx="141287"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30" name="Oval 106"/>
          <p:cNvSpPr>
            <a:spLocks noChangeArrowheads="1"/>
          </p:cNvSpPr>
          <p:nvPr/>
        </p:nvSpPr>
        <p:spPr bwMode="auto">
          <a:xfrm>
            <a:off x="2109788" y="2667000"/>
            <a:ext cx="141287"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31" name="Oval 107"/>
          <p:cNvSpPr>
            <a:spLocks noChangeArrowheads="1"/>
          </p:cNvSpPr>
          <p:nvPr/>
        </p:nvSpPr>
        <p:spPr bwMode="auto">
          <a:xfrm>
            <a:off x="1687513" y="2971800"/>
            <a:ext cx="141287"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32" name="Oval 108"/>
          <p:cNvSpPr>
            <a:spLocks noChangeArrowheads="1"/>
          </p:cNvSpPr>
          <p:nvPr/>
        </p:nvSpPr>
        <p:spPr bwMode="auto">
          <a:xfrm>
            <a:off x="1336675" y="3048000"/>
            <a:ext cx="1397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4333" name="Group 109"/>
          <p:cNvGrpSpPr>
            <a:grpSpLocks/>
          </p:cNvGrpSpPr>
          <p:nvPr/>
        </p:nvGrpSpPr>
        <p:grpSpPr bwMode="auto">
          <a:xfrm>
            <a:off x="3516313" y="5562600"/>
            <a:ext cx="493712" cy="228600"/>
            <a:chOff x="2400" y="3504"/>
            <a:chExt cx="336" cy="144"/>
          </a:xfrm>
        </p:grpSpPr>
        <p:sp>
          <p:nvSpPr>
            <p:cNvPr id="3124334" name="Oval 110"/>
            <p:cNvSpPr>
              <a:spLocks noChangeArrowheads="1"/>
            </p:cNvSpPr>
            <p:nvPr/>
          </p:nvSpPr>
          <p:spPr bwMode="auto">
            <a:xfrm>
              <a:off x="2400" y="35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35" name="Oval 111"/>
            <p:cNvSpPr>
              <a:spLocks noChangeArrowheads="1"/>
            </p:cNvSpPr>
            <p:nvPr/>
          </p:nvSpPr>
          <p:spPr bwMode="auto">
            <a:xfrm>
              <a:off x="2640" y="35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4336" name="Group 112"/>
          <p:cNvGrpSpPr>
            <a:grpSpLocks/>
          </p:cNvGrpSpPr>
          <p:nvPr/>
        </p:nvGrpSpPr>
        <p:grpSpPr bwMode="auto">
          <a:xfrm>
            <a:off x="6542088" y="2590800"/>
            <a:ext cx="914400" cy="609600"/>
            <a:chOff x="4464" y="1632"/>
            <a:chExt cx="624" cy="384"/>
          </a:xfrm>
        </p:grpSpPr>
        <p:sp>
          <p:nvSpPr>
            <p:cNvPr id="3124337" name="Oval 113"/>
            <p:cNvSpPr>
              <a:spLocks noChangeArrowheads="1"/>
            </p:cNvSpPr>
            <p:nvPr/>
          </p:nvSpPr>
          <p:spPr bwMode="auto">
            <a:xfrm>
              <a:off x="4464" y="16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38" name="Oval 114"/>
            <p:cNvSpPr>
              <a:spLocks noChangeArrowheads="1"/>
            </p:cNvSpPr>
            <p:nvPr/>
          </p:nvSpPr>
          <p:spPr bwMode="auto">
            <a:xfrm>
              <a:off x="4992" y="18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39" name="Oval 115"/>
            <p:cNvSpPr>
              <a:spLocks noChangeArrowheads="1"/>
            </p:cNvSpPr>
            <p:nvPr/>
          </p:nvSpPr>
          <p:spPr bwMode="auto">
            <a:xfrm>
              <a:off x="4704" y="16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40" name="Oval 116"/>
            <p:cNvSpPr>
              <a:spLocks noChangeArrowheads="1"/>
            </p:cNvSpPr>
            <p:nvPr/>
          </p:nvSpPr>
          <p:spPr bwMode="auto">
            <a:xfrm>
              <a:off x="4608" y="19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4341" name="Group 117"/>
          <p:cNvGrpSpPr>
            <a:grpSpLocks/>
          </p:cNvGrpSpPr>
          <p:nvPr/>
        </p:nvGrpSpPr>
        <p:grpSpPr bwMode="auto">
          <a:xfrm>
            <a:off x="3868738" y="3886200"/>
            <a:ext cx="1406525" cy="1752600"/>
            <a:chOff x="2640" y="2448"/>
            <a:chExt cx="960" cy="1104"/>
          </a:xfrm>
        </p:grpSpPr>
        <p:sp>
          <p:nvSpPr>
            <p:cNvPr id="3124342" name="Oval 118"/>
            <p:cNvSpPr>
              <a:spLocks noChangeArrowheads="1"/>
            </p:cNvSpPr>
            <p:nvPr/>
          </p:nvSpPr>
          <p:spPr bwMode="auto">
            <a:xfrm>
              <a:off x="2832"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43" name="Oval 119"/>
            <p:cNvSpPr>
              <a:spLocks noChangeArrowheads="1"/>
            </p:cNvSpPr>
            <p:nvPr/>
          </p:nvSpPr>
          <p:spPr bwMode="auto">
            <a:xfrm>
              <a:off x="2688"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44" name="Oval 120"/>
            <p:cNvSpPr>
              <a:spLocks noChangeArrowheads="1"/>
            </p:cNvSpPr>
            <p:nvPr/>
          </p:nvSpPr>
          <p:spPr bwMode="auto">
            <a:xfrm>
              <a:off x="3072"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45" name="Oval 121"/>
            <p:cNvSpPr>
              <a:spLocks noChangeArrowheads="1"/>
            </p:cNvSpPr>
            <p:nvPr/>
          </p:nvSpPr>
          <p:spPr bwMode="auto">
            <a:xfrm>
              <a:off x="3168"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46" name="Oval 122"/>
            <p:cNvSpPr>
              <a:spLocks noChangeArrowheads="1"/>
            </p:cNvSpPr>
            <p:nvPr/>
          </p:nvSpPr>
          <p:spPr bwMode="auto">
            <a:xfrm>
              <a:off x="3216" y="34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47" name="Oval 123"/>
            <p:cNvSpPr>
              <a:spLocks noChangeArrowheads="1"/>
            </p:cNvSpPr>
            <p:nvPr/>
          </p:nvSpPr>
          <p:spPr bwMode="auto">
            <a:xfrm>
              <a:off x="3312"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48" name="Oval 124"/>
            <p:cNvSpPr>
              <a:spLocks noChangeArrowheads="1"/>
            </p:cNvSpPr>
            <p:nvPr/>
          </p:nvSpPr>
          <p:spPr bwMode="auto">
            <a:xfrm>
              <a:off x="2928"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49" name="Oval 125"/>
            <p:cNvSpPr>
              <a:spLocks noChangeArrowheads="1"/>
            </p:cNvSpPr>
            <p:nvPr/>
          </p:nvSpPr>
          <p:spPr bwMode="auto">
            <a:xfrm>
              <a:off x="3504"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50" name="Oval 126"/>
            <p:cNvSpPr>
              <a:spLocks noChangeArrowheads="1"/>
            </p:cNvSpPr>
            <p:nvPr/>
          </p:nvSpPr>
          <p:spPr bwMode="auto">
            <a:xfrm>
              <a:off x="3408"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51" name="Oval 127"/>
            <p:cNvSpPr>
              <a:spLocks noChangeArrowheads="1"/>
            </p:cNvSpPr>
            <p:nvPr/>
          </p:nvSpPr>
          <p:spPr bwMode="auto">
            <a:xfrm>
              <a:off x="2880"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52" name="Oval 128"/>
            <p:cNvSpPr>
              <a:spLocks noChangeArrowheads="1"/>
            </p:cNvSpPr>
            <p:nvPr/>
          </p:nvSpPr>
          <p:spPr bwMode="auto">
            <a:xfrm>
              <a:off x="2640"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53" name="Oval 129"/>
            <p:cNvSpPr>
              <a:spLocks noChangeArrowheads="1"/>
            </p:cNvSpPr>
            <p:nvPr/>
          </p:nvSpPr>
          <p:spPr bwMode="auto">
            <a:xfrm>
              <a:off x="3312"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54" name="Oval 130"/>
            <p:cNvSpPr>
              <a:spLocks noChangeArrowheads="1"/>
            </p:cNvSpPr>
            <p:nvPr/>
          </p:nvSpPr>
          <p:spPr bwMode="auto">
            <a:xfrm>
              <a:off x="2832" y="34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4355" name="Oval 131"/>
          <p:cNvSpPr>
            <a:spLocks noChangeArrowheads="1"/>
          </p:cNvSpPr>
          <p:nvPr/>
        </p:nvSpPr>
        <p:spPr bwMode="auto">
          <a:xfrm>
            <a:off x="3727450" y="2362200"/>
            <a:ext cx="141288"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24356" name="Oval 132"/>
          <p:cNvSpPr>
            <a:spLocks noChangeArrowheads="1"/>
          </p:cNvSpPr>
          <p:nvPr/>
        </p:nvSpPr>
        <p:spPr bwMode="auto">
          <a:xfrm>
            <a:off x="6892925" y="5181600"/>
            <a:ext cx="141288"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grpSp>
        <p:nvGrpSpPr>
          <p:cNvPr id="3124357" name="Group 133"/>
          <p:cNvGrpSpPr>
            <a:grpSpLocks/>
          </p:cNvGrpSpPr>
          <p:nvPr/>
        </p:nvGrpSpPr>
        <p:grpSpPr bwMode="auto">
          <a:xfrm>
            <a:off x="2462213" y="3733800"/>
            <a:ext cx="1406525" cy="1752600"/>
            <a:chOff x="1680" y="2352"/>
            <a:chExt cx="960" cy="1104"/>
          </a:xfrm>
        </p:grpSpPr>
        <p:sp>
          <p:nvSpPr>
            <p:cNvPr id="3124358" name="Oval 134"/>
            <p:cNvSpPr>
              <a:spLocks noChangeArrowheads="1"/>
            </p:cNvSpPr>
            <p:nvPr/>
          </p:nvSpPr>
          <p:spPr bwMode="auto">
            <a:xfrm>
              <a:off x="1872"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59" name="Oval 135"/>
            <p:cNvSpPr>
              <a:spLocks noChangeArrowheads="1"/>
            </p:cNvSpPr>
            <p:nvPr/>
          </p:nvSpPr>
          <p:spPr bwMode="auto">
            <a:xfrm>
              <a:off x="172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0" name="Oval 136"/>
            <p:cNvSpPr>
              <a:spLocks noChangeArrowheads="1"/>
            </p:cNvSpPr>
            <p:nvPr/>
          </p:nvSpPr>
          <p:spPr bwMode="auto">
            <a:xfrm>
              <a:off x="2112"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1" name="Oval 137"/>
            <p:cNvSpPr>
              <a:spLocks noChangeArrowheads="1"/>
            </p:cNvSpPr>
            <p:nvPr/>
          </p:nvSpPr>
          <p:spPr bwMode="auto">
            <a:xfrm>
              <a:off x="2208"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2" name="Oval 138"/>
            <p:cNvSpPr>
              <a:spLocks noChangeArrowheads="1"/>
            </p:cNvSpPr>
            <p:nvPr/>
          </p:nvSpPr>
          <p:spPr bwMode="auto">
            <a:xfrm>
              <a:off x="2256" y="33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3" name="Oval 139"/>
            <p:cNvSpPr>
              <a:spLocks noChangeArrowheads="1"/>
            </p:cNvSpPr>
            <p:nvPr/>
          </p:nvSpPr>
          <p:spPr bwMode="auto">
            <a:xfrm>
              <a:off x="2352"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4" name="Oval 140"/>
            <p:cNvSpPr>
              <a:spLocks noChangeArrowheads="1"/>
            </p:cNvSpPr>
            <p:nvPr/>
          </p:nvSpPr>
          <p:spPr bwMode="auto">
            <a:xfrm>
              <a:off x="196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5" name="Oval 141"/>
            <p:cNvSpPr>
              <a:spLocks noChangeArrowheads="1"/>
            </p:cNvSpPr>
            <p:nvPr/>
          </p:nvSpPr>
          <p:spPr bwMode="auto">
            <a:xfrm>
              <a:off x="254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6" name="Oval 142"/>
            <p:cNvSpPr>
              <a:spLocks noChangeArrowheads="1"/>
            </p:cNvSpPr>
            <p:nvPr/>
          </p:nvSpPr>
          <p:spPr bwMode="auto">
            <a:xfrm>
              <a:off x="2448"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7" name="Oval 143"/>
            <p:cNvSpPr>
              <a:spLocks noChangeArrowheads="1"/>
            </p:cNvSpPr>
            <p:nvPr/>
          </p:nvSpPr>
          <p:spPr bwMode="auto">
            <a:xfrm>
              <a:off x="1920"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8" name="Oval 144"/>
            <p:cNvSpPr>
              <a:spLocks noChangeArrowheads="1"/>
            </p:cNvSpPr>
            <p:nvPr/>
          </p:nvSpPr>
          <p:spPr bwMode="auto">
            <a:xfrm>
              <a:off x="1680"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69" name="Oval 145"/>
            <p:cNvSpPr>
              <a:spLocks noChangeArrowheads="1"/>
            </p:cNvSpPr>
            <p:nvPr/>
          </p:nvSpPr>
          <p:spPr bwMode="auto">
            <a:xfrm>
              <a:off x="2352"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4370" name="Oval 146"/>
            <p:cNvSpPr>
              <a:spLocks noChangeArrowheads="1"/>
            </p:cNvSpPr>
            <p:nvPr/>
          </p:nvSpPr>
          <p:spPr bwMode="auto">
            <a:xfrm>
              <a:off x="1872" y="33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Tree>
  </p:cSld>
  <p:clrMapOvr>
    <a:masterClrMapping/>
  </p:clrMapOvr>
  <p:transition>
    <p:dissolv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Fundamentals continued…</a:t>
            </a:r>
          </a:p>
        </p:txBody>
      </p:sp>
      <p:sp>
        <p:nvSpPr>
          <p:cNvPr id="4" name="Rectangle 9"/>
          <p:cNvSpPr txBox="1">
            <a:spLocks noChangeArrowheads="1"/>
          </p:cNvSpPr>
          <p:nvPr/>
        </p:nvSpPr>
        <p:spPr bwMode="auto">
          <a:xfrm>
            <a:off x="755576" y="1484784"/>
            <a:ext cx="79486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r>
              <a:rPr kumimoji="0" lang="en-US" sz="2400" b="0" i="0" u="none" strike="noStrike" kern="0" cap="none" spc="0" normalizeH="0" baseline="0" noProof="0" dirty="0">
                <a:ln>
                  <a:noFill/>
                </a:ln>
                <a:solidFill>
                  <a:srgbClr val="00279F"/>
                </a:solidFill>
                <a:effectLst/>
                <a:uLnTx/>
                <a:uFillTx/>
                <a:latin typeface="Arial"/>
                <a:ea typeface="ＭＳ Ｐゴシック"/>
                <a:cs typeface="+mn-cs"/>
              </a:rPr>
              <a:t>Where are the bugs?</a:t>
            </a:r>
            <a:endParaRPr kumimoji="0" lang="en-US" sz="2400" b="0" i="0" u="none" strike="noStrike" kern="120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p:txBody>
      </p:sp>
    </p:spTree>
    <p:extLst>
      <p:ext uri="{BB962C8B-B14F-4D97-AF65-F5344CB8AC3E}">
        <p14:creationId xmlns:p14="http://schemas.microsoft.com/office/powerpoint/2010/main" val="168818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5250" name="Rectangle 2"/>
          <p:cNvSpPr>
            <a:spLocks noGrp="1" noChangeArrowheads="1"/>
          </p:cNvSpPr>
          <p:nvPr>
            <p:ph type="title"/>
          </p:nvPr>
        </p:nvSpPr>
        <p:spPr>
          <a:noFill/>
          <a:ln/>
        </p:spPr>
        <p:txBody>
          <a:bodyPr/>
          <a:lstStyle/>
          <a:p>
            <a:pPr eaLnBrk="0" hangingPunct="0"/>
            <a:r>
              <a:rPr lang="en-GB"/>
              <a:t>Where are the bugs?</a:t>
            </a:r>
          </a:p>
        </p:txBody>
      </p:sp>
      <p:sp>
        <p:nvSpPr>
          <p:cNvPr id="3125251" name="Rectangle 3"/>
          <p:cNvSpPr>
            <a:spLocks noGrp="1" noChangeArrowheads="1"/>
          </p:cNvSpPr>
          <p:nvPr>
            <p:ph type="body" idx="1"/>
          </p:nvPr>
        </p:nvSpPr>
        <p:spPr>
          <a:noFill/>
          <a:ln/>
        </p:spPr>
        <p:txBody>
          <a:bodyPr/>
          <a:lstStyle/>
          <a:p>
            <a:pPr eaLnBrk="0" hangingPunct="0"/>
            <a:r>
              <a:rPr lang="en-GB" dirty="0"/>
              <a:t>Of course, if we knew that, we could fix them and go home!</a:t>
            </a:r>
          </a:p>
          <a:p>
            <a:pPr eaLnBrk="0" hangingPunct="0"/>
            <a:r>
              <a:rPr lang="en-GB" dirty="0"/>
              <a:t>Experience tells us</a:t>
            </a:r>
          </a:p>
          <a:p>
            <a:pPr lvl="1" eaLnBrk="0" hangingPunct="0"/>
            <a:r>
              <a:rPr lang="en-GB" dirty="0">
                <a:solidFill>
                  <a:srgbClr val="FF0000"/>
                </a:solidFill>
              </a:rPr>
              <a:t>bugs are sociable</a:t>
            </a:r>
            <a:r>
              <a:rPr lang="en-GB" dirty="0"/>
              <a:t>! - they tend to cluster</a:t>
            </a:r>
          </a:p>
          <a:p>
            <a:pPr lvl="1" eaLnBrk="0" hangingPunct="0"/>
            <a:r>
              <a:rPr lang="en-GB" dirty="0"/>
              <a:t>some parts of the system will be relatively bug-free (</a:t>
            </a:r>
            <a:r>
              <a:rPr lang="en-GB" dirty="0">
                <a:solidFill>
                  <a:srgbClr val="FF0000"/>
                </a:solidFill>
              </a:rPr>
              <a:t>bought-in or unchanged code</a:t>
            </a:r>
            <a:r>
              <a:rPr lang="en-GB" dirty="0"/>
              <a:t>)</a:t>
            </a:r>
          </a:p>
          <a:p>
            <a:pPr lvl="1" eaLnBrk="0" hangingPunct="0"/>
            <a:r>
              <a:rPr lang="en-GB" dirty="0">
                <a:solidFill>
                  <a:srgbClr val="FF0000"/>
                </a:solidFill>
              </a:rPr>
              <a:t>bug fixing and maintenance are error-prone </a:t>
            </a:r>
            <a:r>
              <a:rPr lang="en-GB" dirty="0"/>
              <a:t>– and some changes cause unintended faults.</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25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252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252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252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252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6274" name="Rectangle 2"/>
          <p:cNvSpPr>
            <a:spLocks noGrp="1" noChangeArrowheads="1"/>
          </p:cNvSpPr>
          <p:nvPr>
            <p:ph type="title"/>
          </p:nvPr>
        </p:nvSpPr>
        <p:spPr>
          <a:noFill/>
          <a:ln/>
        </p:spPr>
        <p:txBody>
          <a:bodyPr/>
          <a:lstStyle/>
          <a:p>
            <a:pPr eaLnBrk="0" hangingPunct="0"/>
            <a:r>
              <a:rPr lang="en-GB"/>
              <a:t>Testing as a fishing net</a:t>
            </a:r>
          </a:p>
        </p:txBody>
      </p:sp>
      <p:sp>
        <p:nvSpPr>
          <p:cNvPr id="3126275" name="Rectangle 3"/>
          <p:cNvSpPr>
            <a:spLocks noGrp="1" noChangeArrowheads="1"/>
          </p:cNvSpPr>
          <p:nvPr>
            <p:ph type="body" idx="1"/>
          </p:nvPr>
        </p:nvSpPr>
        <p:spPr>
          <a:noFill/>
          <a:ln/>
        </p:spPr>
        <p:txBody>
          <a:bodyPr/>
          <a:lstStyle/>
          <a:p>
            <a:pPr eaLnBrk="0" hangingPunct="0"/>
            <a:r>
              <a:rPr lang="en-GB" sz="2400" dirty="0"/>
              <a:t>Size of the net reflects size of the test</a:t>
            </a:r>
          </a:p>
          <a:p>
            <a:pPr eaLnBrk="0" hangingPunct="0"/>
            <a:r>
              <a:rPr lang="en-GB" sz="2400" dirty="0"/>
              <a:t>Density of the mesh reflects test depth or thoroughness</a:t>
            </a:r>
          </a:p>
          <a:p>
            <a:pPr eaLnBrk="0" hangingPunct="0"/>
            <a:r>
              <a:rPr lang="en-GB" sz="2400" dirty="0"/>
              <a:t>Large nets, large mesh to give overall  confidence</a:t>
            </a:r>
          </a:p>
          <a:p>
            <a:pPr eaLnBrk="0" hangingPunct="0"/>
            <a:r>
              <a:rPr lang="en-GB" sz="2400" dirty="0"/>
              <a:t>Small nets, fine mesh to find bugs</a:t>
            </a:r>
          </a:p>
          <a:p>
            <a:pPr lvl="1" eaLnBrk="0" hangingPunct="0"/>
            <a:r>
              <a:rPr lang="en-GB" sz="2000" dirty="0"/>
              <a:t>use in areas that are critical to make sure the bugs aren’t there</a:t>
            </a:r>
          </a:p>
          <a:p>
            <a:pPr lvl="1" eaLnBrk="0" hangingPunct="0"/>
            <a:r>
              <a:rPr lang="en-GB" sz="2000" dirty="0"/>
              <a:t>use in areas where we expect lots of bugs. </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26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262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262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2627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26275">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262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7298" name="Rectangle 2"/>
          <p:cNvSpPr>
            <a:spLocks noGrp="1" noChangeArrowheads="1"/>
          </p:cNvSpPr>
          <p:nvPr>
            <p:ph type="title"/>
          </p:nvPr>
        </p:nvSpPr>
        <p:spPr>
          <a:noFill/>
          <a:ln/>
        </p:spPr>
        <p:txBody>
          <a:bodyPr/>
          <a:lstStyle/>
          <a:p>
            <a:pPr eaLnBrk="0" hangingPunct="0"/>
            <a:r>
              <a:rPr lang="en-GB"/>
              <a:t>Coverage of business-oriented tests</a:t>
            </a:r>
          </a:p>
        </p:txBody>
      </p:sp>
      <p:grpSp>
        <p:nvGrpSpPr>
          <p:cNvPr id="3127299" name="Group 3"/>
          <p:cNvGrpSpPr>
            <a:grpSpLocks/>
          </p:cNvGrpSpPr>
          <p:nvPr/>
        </p:nvGrpSpPr>
        <p:grpSpPr bwMode="auto">
          <a:xfrm>
            <a:off x="709613" y="1768475"/>
            <a:ext cx="7942262" cy="4403725"/>
            <a:chOff x="484" y="1114"/>
            <a:chExt cx="5420" cy="2774"/>
          </a:xfrm>
        </p:grpSpPr>
        <p:grpSp>
          <p:nvGrpSpPr>
            <p:cNvPr id="3127300" name="Group 4"/>
            <p:cNvGrpSpPr>
              <a:grpSpLocks/>
            </p:cNvGrpSpPr>
            <p:nvPr/>
          </p:nvGrpSpPr>
          <p:grpSpPr bwMode="auto">
            <a:xfrm>
              <a:off x="484" y="1252"/>
              <a:ext cx="5224" cy="2536"/>
              <a:chOff x="484" y="1252"/>
              <a:chExt cx="5224" cy="2536"/>
            </a:xfrm>
          </p:grpSpPr>
          <p:sp>
            <p:nvSpPr>
              <p:cNvPr id="3127301" name="Oval 5"/>
              <p:cNvSpPr>
                <a:spLocks noChangeArrowheads="1"/>
              </p:cNvSpPr>
              <p:nvPr/>
            </p:nvSpPr>
            <p:spPr bwMode="auto">
              <a:xfrm>
                <a:off x="484" y="1252"/>
                <a:ext cx="5224" cy="2536"/>
              </a:xfrm>
              <a:prstGeom prst="ellipse">
                <a:avLst/>
              </a:prstGeom>
              <a:solidFill>
                <a:schemeClr val="tx1"/>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7302" name="Group 6"/>
              <p:cNvGrpSpPr>
                <a:grpSpLocks/>
              </p:cNvGrpSpPr>
              <p:nvPr/>
            </p:nvGrpSpPr>
            <p:grpSpPr bwMode="auto">
              <a:xfrm>
                <a:off x="4560" y="2016"/>
                <a:ext cx="960" cy="1104"/>
                <a:chOff x="4560" y="2016"/>
                <a:chExt cx="960" cy="1104"/>
              </a:xfrm>
            </p:grpSpPr>
            <p:sp>
              <p:nvSpPr>
                <p:cNvPr id="3127303" name="Oval 7"/>
                <p:cNvSpPr>
                  <a:spLocks noChangeArrowheads="1"/>
                </p:cNvSpPr>
                <p:nvPr/>
              </p:nvSpPr>
              <p:spPr bwMode="auto">
                <a:xfrm>
                  <a:off x="4752" y="21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04" name="Oval 8"/>
                <p:cNvSpPr>
                  <a:spLocks noChangeArrowheads="1"/>
                </p:cNvSpPr>
                <p:nvPr/>
              </p:nvSpPr>
              <p:spPr bwMode="auto">
                <a:xfrm>
                  <a:off x="4608"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05" name="Oval 9"/>
                <p:cNvSpPr>
                  <a:spLocks noChangeArrowheads="1"/>
                </p:cNvSpPr>
                <p:nvPr/>
              </p:nvSpPr>
              <p:spPr bwMode="auto">
                <a:xfrm>
                  <a:off x="4992" y="20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06" name="Oval 10"/>
                <p:cNvSpPr>
                  <a:spLocks noChangeArrowheads="1"/>
                </p:cNvSpPr>
                <p:nvPr/>
              </p:nvSpPr>
              <p:spPr bwMode="auto">
                <a:xfrm>
                  <a:off x="508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07" name="Oval 11"/>
                <p:cNvSpPr>
                  <a:spLocks noChangeArrowheads="1"/>
                </p:cNvSpPr>
                <p:nvPr/>
              </p:nvSpPr>
              <p:spPr bwMode="auto">
                <a:xfrm>
                  <a:off x="5136"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08" name="Oval 12"/>
                <p:cNvSpPr>
                  <a:spLocks noChangeArrowheads="1"/>
                </p:cNvSpPr>
                <p:nvPr/>
              </p:nvSpPr>
              <p:spPr bwMode="auto">
                <a:xfrm>
                  <a:off x="5232" y="26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09" name="Oval 13"/>
                <p:cNvSpPr>
                  <a:spLocks noChangeArrowheads="1"/>
                </p:cNvSpPr>
                <p:nvPr/>
              </p:nvSpPr>
              <p:spPr bwMode="auto">
                <a:xfrm>
                  <a:off x="4848"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10" name="Oval 14"/>
                <p:cNvSpPr>
                  <a:spLocks noChangeArrowheads="1"/>
                </p:cNvSpPr>
                <p:nvPr/>
              </p:nvSpPr>
              <p:spPr bwMode="auto">
                <a:xfrm>
                  <a:off x="5424"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11" name="Oval 15"/>
                <p:cNvSpPr>
                  <a:spLocks noChangeArrowheads="1"/>
                </p:cNvSpPr>
                <p:nvPr/>
              </p:nvSpPr>
              <p:spPr bwMode="auto">
                <a:xfrm>
                  <a:off x="53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12" name="Oval 16"/>
                <p:cNvSpPr>
                  <a:spLocks noChangeArrowheads="1"/>
                </p:cNvSpPr>
                <p:nvPr/>
              </p:nvSpPr>
              <p:spPr bwMode="auto">
                <a:xfrm>
                  <a:off x="4800"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13" name="Oval 17"/>
                <p:cNvSpPr>
                  <a:spLocks noChangeArrowheads="1"/>
                </p:cNvSpPr>
                <p:nvPr/>
              </p:nvSpPr>
              <p:spPr bwMode="auto">
                <a:xfrm>
                  <a:off x="4560"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14" name="Oval 18"/>
                <p:cNvSpPr>
                  <a:spLocks noChangeArrowheads="1"/>
                </p:cNvSpPr>
                <p:nvPr/>
              </p:nvSpPr>
              <p:spPr bwMode="auto">
                <a:xfrm>
                  <a:off x="523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15" name="Oval 19"/>
                <p:cNvSpPr>
                  <a:spLocks noChangeArrowheads="1"/>
                </p:cNvSpPr>
                <p:nvPr/>
              </p:nvSpPr>
              <p:spPr bwMode="auto">
                <a:xfrm>
                  <a:off x="4752" y="30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316" name="Group 20"/>
              <p:cNvGrpSpPr>
                <a:grpSpLocks/>
              </p:cNvGrpSpPr>
              <p:nvPr/>
            </p:nvGrpSpPr>
            <p:grpSpPr bwMode="auto">
              <a:xfrm>
                <a:off x="3552" y="1392"/>
                <a:ext cx="960" cy="1104"/>
                <a:chOff x="3552" y="1392"/>
                <a:chExt cx="960" cy="1104"/>
              </a:xfrm>
            </p:grpSpPr>
            <p:sp>
              <p:nvSpPr>
                <p:cNvPr id="3127317" name="Oval 21"/>
                <p:cNvSpPr>
                  <a:spLocks noChangeArrowheads="1"/>
                </p:cNvSpPr>
                <p:nvPr/>
              </p:nvSpPr>
              <p:spPr bwMode="auto">
                <a:xfrm>
                  <a:off x="3744" y="15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18" name="Oval 22"/>
                <p:cNvSpPr>
                  <a:spLocks noChangeArrowheads="1"/>
                </p:cNvSpPr>
                <p:nvPr/>
              </p:nvSpPr>
              <p:spPr bwMode="auto">
                <a:xfrm>
                  <a:off x="3600" y="21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19" name="Oval 23"/>
                <p:cNvSpPr>
                  <a:spLocks noChangeArrowheads="1"/>
                </p:cNvSpPr>
                <p:nvPr/>
              </p:nvSpPr>
              <p:spPr bwMode="auto">
                <a:xfrm>
                  <a:off x="3984"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0" name="Oval 24"/>
                <p:cNvSpPr>
                  <a:spLocks noChangeArrowheads="1"/>
                </p:cNvSpPr>
                <p:nvPr/>
              </p:nvSpPr>
              <p:spPr bwMode="auto">
                <a:xfrm>
                  <a:off x="4080"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1" name="Oval 25"/>
                <p:cNvSpPr>
                  <a:spLocks noChangeArrowheads="1"/>
                </p:cNvSpPr>
                <p:nvPr/>
              </p:nvSpPr>
              <p:spPr bwMode="auto">
                <a:xfrm>
                  <a:off x="41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2" name="Oval 26"/>
                <p:cNvSpPr>
                  <a:spLocks noChangeArrowheads="1"/>
                </p:cNvSpPr>
                <p:nvPr/>
              </p:nvSpPr>
              <p:spPr bwMode="auto">
                <a:xfrm>
                  <a:off x="4224" y="20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3" name="Oval 27"/>
                <p:cNvSpPr>
                  <a:spLocks noChangeArrowheads="1"/>
                </p:cNvSpPr>
                <p:nvPr/>
              </p:nvSpPr>
              <p:spPr bwMode="auto">
                <a:xfrm>
                  <a:off x="3840" y="21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4" name="Oval 28"/>
                <p:cNvSpPr>
                  <a:spLocks noChangeArrowheads="1"/>
                </p:cNvSpPr>
                <p:nvPr/>
              </p:nvSpPr>
              <p:spPr bwMode="auto">
                <a:xfrm>
                  <a:off x="4416" y="22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5" name="Oval 29"/>
                <p:cNvSpPr>
                  <a:spLocks noChangeArrowheads="1"/>
                </p:cNvSpPr>
                <p:nvPr/>
              </p:nvSpPr>
              <p:spPr bwMode="auto">
                <a:xfrm>
                  <a:off x="4320"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6" name="Oval 30"/>
                <p:cNvSpPr>
                  <a:spLocks noChangeArrowheads="1"/>
                </p:cNvSpPr>
                <p:nvPr/>
              </p:nvSpPr>
              <p:spPr bwMode="auto">
                <a:xfrm>
                  <a:off x="3792" y="17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7" name="Oval 31"/>
                <p:cNvSpPr>
                  <a:spLocks noChangeArrowheads="1"/>
                </p:cNvSpPr>
                <p:nvPr/>
              </p:nvSpPr>
              <p:spPr bwMode="auto">
                <a:xfrm>
                  <a:off x="3552" y="18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8" name="Oval 32"/>
                <p:cNvSpPr>
                  <a:spLocks noChangeArrowheads="1"/>
                </p:cNvSpPr>
                <p:nvPr/>
              </p:nvSpPr>
              <p:spPr bwMode="auto">
                <a:xfrm>
                  <a:off x="4224" y="14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29" name="Oval 33"/>
                <p:cNvSpPr>
                  <a:spLocks noChangeArrowheads="1"/>
                </p:cNvSpPr>
                <p:nvPr/>
              </p:nvSpPr>
              <p:spPr bwMode="auto">
                <a:xfrm>
                  <a:off x="3744"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330" name="Group 34"/>
              <p:cNvGrpSpPr>
                <a:grpSpLocks/>
              </p:cNvGrpSpPr>
              <p:nvPr/>
            </p:nvGrpSpPr>
            <p:grpSpPr bwMode="auto">
              <a:xfrm>
                <a:off x="1536" y="2448"/>
                <a:ext cx="960" cy="1104"/>
                <a:chOff x="1536" y="2448"/>
                <a:chExt cx="960" cy="1104"/>
              </a:xfrm>
            </p:grpSpPr>
            <p:sp>
              <p:nvSpPr>
                <p:cNvPr id="3127331" name="Oval 35"/>
                <p:cNvSpPr>
                  <a:spLocks noChangeArrowheads="1"/>
                </p:cNvSpPr>
                <p:nvPr/>
              </p:nvSpPr>
              <p:spPr bwMode="auto">
                <a:xfrm>
                  <a:off x="1728"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32" name="Oval 36"/>
                <p:cNvSpPr>
                  <a:spLocks noChangeArrowheads="1"/>
                </p:cNvSpPr>
                <p:nvPr/>
              </p:nvSpPr>
              <p:spPr bwMode="auto">
                <a:xfrm>
                  <a:off x="158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33" name="Oval 37"/>
                <p:cNvSpPr>
                  <a:spLocks noChangeArrowheads="1"/>
                </p:cNvSpPr>
                <p:nvPr/>
              </p:nvSpPr>
              <p:spPr bwMode="auto">
                <a:xfrm>
                  <a:off x="1968"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34" name="Oval 38"/>
                <p:cNvSpPr>
                  <a:spLocks noChangeArrowheads="1"/>
                </p:cNvSpPr>
                <p:nvPr/>
              </p:nvSpPr>
              <p:spPr bwMode="auto">
                <a:xfrm>
                  <a:off x="2064"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35" name="Oval 39"/>
                <p:cNvSpPr>
                  <a:spLocks noChangeArrowheads="1"/>
                </p:cNvSpPr>
                <p:nvPr/>
              </p:nvSpPr>
              <p:spPr bwMode="auto">
                <a:xfrm>
                  <a:off x="2112" y="34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36" name="Oval 40"/>
                <p:cNvSpPr>
                  <a:spLocks noChangeArrowheads="1"/>
                </p:cNvSpPr>
                <p:nvPr/>
              </p:nvSpPr>
              <p:spPr bwMode="auto">
                <a:xfrm>
                  <a:off x="220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37" name="Oval 41"/>
                <p:cNvSpPr>
                  <a:spLocks noChangeArrowheads="1"/>
                </p:cNvSpPr>
                <p:nvPr/>
              </p:nvSpPr>
              <p:spPr bwMode="auto">
                <a:xfrm>
                  <a:off x="182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38" name="Oval 42"/>
                <p:cNvSpPr>
                  <a:spLocks noChangeArrowheads="1"/>
                </p:cNvSpPr>
                <p:nvPr/>
              </p:nvSpPr>
              <p:spPr bwMode="auto">
                <a:xfrm>
                  <a:off x="2400"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39" name="Oval 43"/>
                <p:cNvSpPr>
                  <a:spLocks noChangeArrowheads="1"/>
                </p:cNvSpPr>
                <p:nvPr/>
              </p:nvSpPr>
              <p:spPr bwMode="auto">
                <a:xfrm>
                  <a:off x="2304"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40" name="Oval 44"/>
                <p:cNvSpPr>
                  <a:spLocks noChangeArrowheads="1"/>
                </p:cNvSpPr>
                <p:nvPr/>
              </p:nvSpPr>
              <p:spPr bwMode="auto">
                <a:xfrm>
                  <a:off x="1776"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41" name="Oval 45"/>
                <p:cNvSpPr>
                  <a:spLocks noChangeArrowheads="1"/>
                </p:cNvSpPr>
                <p:nvPr/>
              </p:nvSpPr>
              <p:spPr bwMode="auto">
                <a:xfrm>
                  <a:off x="153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42" name="Oval 46"/>
                <p:cNvSpPr>
                  <a:spLocks noChangeArrowheads="1"/>
                </p:cNvSpPr>
                <p:nvPr/>
              </p:nvSpPr>
              <p:spPr bwMode="auto">
                <a:xfrm>
                  <a:off x="2208"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43" name="Oval 47"/>
                <p:cNvSpPr>
                  <a:spLocks noChangeArrowheads="1"/>
                </p:cNvSpPr>
                <p:nvPr/>
              </p:nvSpPr>
              <p:spPr bwMode="auto">
                <a:xfrm>
                  <a:off x="1728" y="34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344" name="Group 48"/>
              <p:cNvGrpSpPr>
                <a:grpSpLocks/>
              </p:cNvGrpSpPr>
              <p:nvPr/>
            </p:nvGrpSpPr>
            <p:grpSpPr bwMode="auto">
              <a:xfrm>
                <a:off x="3648" y="2544"/>
                <a:ext cx="960" cy="1104"/>
                <a:chOff x="3648" y="2544"/>
                <a:chExt cx="960" cy="1104"/>
              </a:xfrm>
            </p:grpSpPr>
            <p:sp>
              <p:nvSpPr>
                <p:cNvPr id="3127345" name="Oval 49"/>
                <p:cNvSpPr>
                  <a:spLocks noChangeArrowheads="1"/>
                </p:cNvSpPr>
                <p:nvPr/>
              </p:nvSpPr>
              <p:spPr bwMode="auto">
                <a:xfrm>
                  <a:off x="3840"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46" name="Oval 50"/>
                <p:cNvSpPr>
                  <a:spLocks noChangeArrowheads="1"/>
                </p:cNvSpPr>
                <p:nvPr/>
              </p:nvSpPr>
              <p:spPr bwMode="auto">
                <a:xfrm>
                  <a:off x="3696"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47" name="Oval 51"/>
                <p:cNvSpPr>
                  <a:spLocks noChangeArrowheads="1"/>
                </p:cNvSpPr>
                <p:nvPr/>
              </p:nvSpPr>
              <p:spPr bwMode="auto">
                <a:xfrm>
                  <a:off x="4080"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48" name="Oval 52"/>
                <p:cNvSpPr>
                  <a:spLocks noChangeArrowheads="1"/>
                </p:cNvSpPr>
                <p:nvPr/>
              </p:nvSpPr>
              <p:spPr bwMode="auto">
                <a:xfrm>
                  <a:off x="417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49" name="Oval 53"/>
                <p:cNvSpPr>
                  <a:spLocks noChangeArrowheads="1"/>
                </p:cNvSpPr>
                <p:nvPr/>
              </p:nvSpPr>
              <p:spPr bwMode="auto">
                <a:xfrm>
                  <a:off x="4224" y="35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50" name="Oval 54"/>
                <p:cNvSpPr>
                  <a:spLocks noChangeArrowheads="1"/>
                </p:cNvSpPr>
                <p:nvPr/>
              </p:nvSpPr>
              <p:spPr bwMode="auto">
                <a:xfrm>
                  <a:off x="4320"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51" name="Oval 55"/>
                <p:cNvSpPr>
                  <a:spLocks noChangeArrowheads="1"/>
                </p:cNvSpPr>
                <p:nvPr/>
              </p:nvSpPr>
              <p:spPr bwMode="auto">
                <a:xfrm>
                  <a:off x="3936"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52" name="Oval 56"/>
                <p:cNvSpPr>
                  <a:spLocks noChangeArrowheads="1"/>
                </p:cNvSpPr>
                <p:nvPr/>
              </p:nvSpPr>
              <p:spPr bwMode="auto">
                <a:xfrm>
                  <a:off x="4512" y="33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53" name="Oval 57"/>
                <p:cNvSpPr>
                  <a:spLocks noChangeArrowheads="1"/>
                </p:cNvSpPr>
                <p:nvPr/>
              </p:nvSpPr>
              <p:spPr bwMode="auto">
                <a:xfrm>
                  <a:off x="441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54" name="Oval 58"/>
                <p:cNvSpPr>
                  <a:spLocks noChangeArrowheads="1"/>
                </p:cNvSpPr>
                <p:nvPr/>
              </p:nvSpPr>
              <p:spPr bwMode="auto">
                <a:xfrm>
                  <a:off x="3888"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55" name="Oval 59"/>
                <p:cNvSpPr>
                  <a:spLocks noChangeArrowheads="1"/>
                </p:cNvSpPr>
                <p:nvPr/>
              </p:nvSpPr>
              <p:spPr bwMode="auto">
                <a:xfrm>
                  <a:off x="3648"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56" name="Oval 60"/>
                <p:cNvSpPr>
                  <a:spLocks noChangeArrowheads="1"/>
                </p:cNvSpPr>
                <p:nvPr/>
              </p:nvSpPr>
              <p:spPr bwMode="auto">
                <a:xfrm>
                  <a:off x="4320"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57" name="Oval 61"/>
                <p:cNvSpPr>
                  <a:spLocks noChangeArrowheads="1"/>
                </p:cNvSpPr>
                <p:nvPr/>
              </p:nvSpPr>
              <p:spPr bwMode="auto">
                <a:xfrm>
                  <a:off x="3840" y="35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358" name="Group 62"/>
              <p:cNvGrpSpPr>
                <a:grpSpLocks/>
              </p:cNvGrpSpPr>
              <p:nvPr/>
            </p:nvGrpSpPr>
            <p:grpSpPr bwMode="auto">
              <a:xfrm>
                <a:off x="1536" y="2208"/>
                <a:ext cx="960" cy="1104"/>
                <a:chOff x="1536" y="2208"/>
                <a:chExt cx="960" cy="1104"/>
              </a:xfrm>
            </p:grpSpPr>
            <p:sp>
              <p:nvSpPr>
                <p:cNvPr id="3127359" name="Oval 63"/>
                <p:cNvSpPr>
                  <a:spLocks noChangeArrowheads="1"/>
                </p:cNvSpPr>
                <p:nvPr/>
              </p:nvSpPr>
              <p:spPr bwMode="auto">
                <a:xfrm>
                  <a:off x="17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0" name="Oval 64"/>
                <p:cNvSpPr>
                  <a:spLocks noChangeArrowheads="1"/>
                </p:cNvSpPr>
                <p:nvPr/>
              </p:nvSpPr>
              <p:spPr bwMode="auto">
                <a:xfrm>
                  <a:off x="1584"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1" name="Oval 65"/>
                <p:cNvSpPr>
                  <a:spLocks noChangeArrowheads="1"/>
                </p:cNvSpPr>
                <p:nvPr/>
              </p:nvSpPr>
              <p:spPr bwMode="auto">
                <a:xfrm>
                  <a:off x="1968" y="22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2" name="Oval 66"/>
                <p:cNvSpPr>
                  <a:spLocks noChangeArrowheads="1"/>
                </p:cNvSpPr>
                <p:nvPr/>
              </p:nvSpPr>
              <p:spPr bwMode="auto">
                <a:xfrm>
                  <a:off x="2064"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3" name="Oval 67"/>
                <p:cNvSpPr>
                  <a:spLocks noChangeArrowheads="1"/>
                </p:cNvSpPr>
                <p:nvPr/>
              </p:nvSpPr>
              <p:spPr bwMode="auto">
                <a:xfrm>
                  <a:off x="2112"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4" name="Oval 68"/>
                <p:cNvSpPr>
                  <a:spLocks noChangeArrowheads="1"/>
                </p:cNvSpPr>
                <p:nvPr/>
              </p:nvSpPr>
              <p:spPr bwMode="auto">
                <a:xfrm>
                  <a:off x="2208"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5" name="Oval 69"/>
                <p:cNvSpPr>
                  <a:spLocks noChangeArrowheads="1"/>
                </p:cNvSpPr>
                <p:nvPr/>
              </p:nvSpPr>
              <p:spPr bwMode="auto">
                <a:xfrm>
                  <a:off x="1824"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6" name="Oval 70"/>
                <p:cNvSpPr>
                  <a:spLocks noChangeArrowheads="1"/>
                </p:cNvSpPr>
                <p:nvPr/>
              </p:nvSpPr>
              <p:spPr bwMode="auto">
                <a:xfrm>
                  <a:off x="2400" y="30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7" name="Oval 71"/>
                <p:cNvSpPr>
                  <a:spLocks noChangeArrowheads="1"/>
                </p:cNvSpPr>
                <p:nvPr/>
              </p:nvSpPr>
              <p:spPr bwMode="auto">
                <a:xfrm>
                  <a:off x="2304"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8" name="Oval 72"/>
                <p:cNvSpPr>
                  <a:spLocks noChangeArrowheads="1"/>
                </p:cNvSpPr>
                <p:nvPr/>
              </p:nvSpPr>
              <p:spPr bwMode="auto">
                <a:xfrm>
                  <a:off x="1776"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69" name="Oval 73"/>
                <p:cNvSpPr>
                  <a:spLocks noChangeArrowheads="1"/>
                </p:cNvSpPr>
                <p:nvPr/>
              </p:nvSpPr>
              <p:spPr bwMode="auto">
                <a:xfrm>
                  <a:off x="1536" y="26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70" name="Oval 74"/>
                <p:cNvSpPr>
                  <a:spLocks noChangeArrowheads="1"/>
                </p:cNvSpPr>
                <p:nvPr/>
              </p:nvSpPr>
              <p:spPr bwMode="auto">
                <a:xfrm>
                  <a:off x="2208" y="22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71" name="Oval 75"/>
                <p:cNvSpPr>
                  <a:spLocks noChangeArrowheads="1"/>
                </p:cNvSpPr>
                <p:nvPr/>
              </p:nvSpPr>
              <p:spPr bwMode="auto">
                <a:xfrm>
                  <a:off x="1728" y="32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372" name="Group 76"/>
              <p:cNvGrpSpPr>
                <a:grpSpLocks/>
              </p:cNvGrpSpPr>
              <p:nvPr/>
            </p:nvGrpSpPr>
            <p:grpSpPr bwMode="auto">
              <a:xfrm>
                <a:off x="2544" y="1344"/>
                <a:ext cx="960" cy="1104"/>
                <a:chOff x="2544" y="1344"/>
                <a:chExt cx="960" cy="1104"/>
              </a:xfrm>
            </p:grpSpPr>
            <p:sp>
              <p:nvSpPr>
                <p:cNvPr id="3127373" name="Oval 77"/>
                <p:cNvSpPr>
                  <a:spLocks noChangeArrowheads="1"/>
                </p:cNvSpPr>
                <p:nvPr/>
              </p:nvSpPr>
              <p:spPr bwMode="auto">
                <a:xfrm>
                  <a:off x="2736" y="14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74" name="Oval 78"/>
                <p:cNvSpPr>
                  <a:spLocks noChangeArrowheads="1"/>
                </p:cNvSpPr>
                <p:nvPr/>
              </p:nvSpPr>
              <p:spPr bwMode="auto">
                <a:xfrm>
                  <a:off x="259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75" name="Oval 79"/>
                <p:cNvSpPr>
                  <a:spLocks noChangeArrowheads="1"/>
                </p:cNvSpPr>
                <p:nvPr/>
              </p:nvSpPr>
              <p:spPr bwMode="auto">
                <a:xfrm>
                  <a:off x="2976" y="13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76" name="Oval 80"/>
                <p:cNvSpPr>
                  <a:spLocks noChangeArrowheads="1"/>
                </p:cNvSpPr>
                <p:nvPr/>
              </p:nvSpPr>
              <p:spPr bwMode="auto">
                <a:xfrm>
                  <a:off x="3072"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77" name="Oval 81"/>
                <p:cNvSpPr>
                  <a:spLocks noChangeArrowheads="1"/>
                </p:cNvSpPr>
                <p:nvPr/>
              </p:nvSpPr>
              <p:spPr bwMode="auto">
                <a:xfrm>
                  <a:off x="3120" y="23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78" name="Oval 82"/>
                <p:cNvSpPr>
                  <a:spLocks noChangeArrowheads="1"/>
                </p:cNvSpPr>
                <p:nvPr/>
              </p:nvSpPr>
              <p:spPr bwMode="auto">
                <a:xfrm>
                  <a:off x="3216" y="19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79" name="Oval 83"/>
                <p:cNvSpPr>
                  <a:spLocks noChangeArrowheads="1"/>
                </p:cNvSpPr>
                <p:nvPr/>
              </p:nvSpPr>
              <p:spPr bwMode="auto">
                <a:xfrm>
                  <a:off x="283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80" name="Oval 84"/>
                <p:cNvSpPr>
                  <a:spLocks noChangeArrowheads="1"/>
                </p:cNvSpPr>
                <p:nvPr/>
              </p:nvSpPr>
              <p:spPr bwMode="auto">
                <a:xfrm>
                  <a:off x="3408" y="21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81" name="Oval 85"/>
                <p:cNvSpPr>
                  <a:spLocks noChangeArrowheads="1"/>
                </p:cNvSpPr>
                <p:nvPr/>
              </p:nvSpPr>
              <p:spPr bwMode="auto">
                <a:xfrm>
                  <a:off x="3312"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82" name="Oval 86"/>
                <p:cNvSpPr>
                  <a:spLocks noChangeArrowheads="1"/>
                </p:cNvSpPr>
                <p:nvPr/>
              </p:nvSpPr>
              <p:spPr bwMode="auto">
                <a:xfrm>
                  <a:off x="2784"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83" name="Oval 87"/>
                <p:cNvSpPr>
                  <a:spLocks noChangeArrowheads="1"/>
                </p:cNvSpPr>
                <p:nvPr/>
              </p:nvSpPr>
              <p:spPr bwMode="auto">
                <a:xfrm>
                  <a:off x="2544" y="17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84" name="Oval 88"/>
                <p:cNvSpPr>
                  <a:spLocks noChangeArrowheads="1"/>
                </p:cNvSpPr>
                <p:nvPr/>
              </p:nvSpPr>
              <p:spPr bwMode="auto">
                <a:xfrm>
                  <a:off x="3216"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85" name="Oval 89"/>
                <p:cNvSpPr>
                  <a:spLocks noChangeArrowheads="1"/>
                </p:cNvSpPr>
                <p:nvPr/>
              </p:nvSpPr>
              <p:spPr bwMode="auto">
                <a:xfrm>
                  <a:off x="2736"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386" name="Group 90"/>
              <p:cNvGrpSpPr>
                <a:grpSpLocks/>
              </p:cNvGrpSpPr>
              <p:nvPr/>
            </p:nvGrpSpPr>
            <p:grpSpPr bwMode="auto">
              <a:xfrm>
                <a:off x="1632" y="1704"/>
                <a:ext cx="960" cy="1104"/>
                <a:chOff x="1632" y="1704"/>
                <a:chExt cx="960" cy="1104"/>
              </a:xfrm>
            </p:grpSpPr>
            <p:sp>
              <p:nvSpPr>
                <p:cNvPr id="3127387" name="Oval 91"/>
                <p:cNvSpPr>
                  <a:spLocks noChangeArrowheads="1"/>
                </p:cNvSpPr>
                <p:nvPr/>
              </p:nvSpPr>
              <p:spPr bwMode="auto">
                <a:xfrm>
                  <a:off x="1824" y="18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88" name="Oval 92"/>
                <p:cNvSpPr>
                  <a:spLocks noChangeArrowheads="1"/>
                </p:cNvSpPr>
                <p:nvPr/>
              </p:nvSpPr>
              <p:spPr bwMode="auto">
                <a:xfrm>
                  <a:off x="1680" y="24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89" name="Oval 93"/>
                <p:cNvSpPr>
                  <a:spLocks noChangeArrowheads="1"/>
                </p:cNvSpPr>
                <p:nvPr/>
              </p:nvSpPr>
              <p:spPr bwMode="auto">
                <a:xfrm>
                  <a:off x="2064" y="17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0" name="Oval 94"/>
                <p:cNvSpPr>
                  <a:spLocks noChangeArrowheads="1"/>
                </p:cNvSpPr>
                <p:nvPr/>
              </p:nvSpPr>
              <p:spPr bwMode="auto">
                <a:xfrm>
                  <a:off x="2160" y="20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1" name="Oval 95"/>
                <p:cNvSpPr>
                  <a:spLocks noChangeArrowheads="1"/>
                </p:cNvSpPr>
                <p:nvPr/>
              </p:nvSpPr>
              <p:spPr bwMode="auto">
                <a:xfrm>
                  <a:off x="2208" y="26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2" name="Oval 96"/>
                <p:cNvSpPr>
                  <a:spLocks noChangeArrowheads="1"/>
                </p:cNvSpPr>
                <p:nvPr/>
              </p:nvSpPr>
              <p:spPr bwMode="auto">
                <a:xfrm>
                  <a:off x="2304" y="23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3" name="Oval 97"/>
                <p:cNvSpPr>
                  <a:spLocks noChangeArrowheads="1"/>
                </p:cNvSpPr>
                <p:nvPr/>
              </p:nvSpPr>
              <p:spPr bwMode="auto">
                <a:xfrm>
                  <a:off x="1920" y="24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4" name="Oval 98"/>
                <p:cNvSpPr>
                  <a:spLocks noChangeArrowheads="1"/>
                </p:cNvSpPr>
                <p:nvPr/>
              </p:nvSpPr>
              <p:spPr bwMode="auto">
                <a:xfrm>
                  <a:off x="2496" y="25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5" name="Oval 99"/>
                <p:cNvSpPr>
                  <a:spLocks noChangeArrowheads="1"/>
                </p:cNvSpPr>
                <p:nvPr/>
              </p:nvSpPr>
              <p:spPr bwMode="auto">
                <a:xfrm>
                  <a:off x="2400" y="20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6" name="Oval 100"/>
                <p:cNvSpPr>
                  <a:spLocks noChangeArrowheads="1"/>
                </p:cNvSpPr>
                <p:nvPr/>
              </p:nvSpPr>
              <p:spPr bwMode="auto">
                <a:xfrm>
                  <a:off x="1872" y="20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7" name="Oval 101"/>
                <p:cNvSpPr>
                  <a:spLocks noChangeArrowheads="1"/>
                </p:cNvSpPr>
                <p:nvPr/>
              </p:nvSpPr>
              <p:spPr bwMode="auto">
                <a:xfrm>
                  <a:off x="1632" y="21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8" name="Oval 102"/>
                <p:cNvSpPr>
                  <a:spLocks noChangeArrowheads="1"/>
                </p:cNvSpPr>
                <p:nvPr/>
              </p:nvSpPr>
              <p:spPr bwMode="auto">
                <a:xfrm>
                  <a:off x="2304" y="17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399" name="Oval 103"/>
                <p:cNvSpPr>
                  <a:spLocks noChangeArrowheads="1"/>
                </p:cNvSpPr>
                <p:nvPr/>
              </p:nvSpPr>
              <p:spPr bwMode="auto">
                <a:xfrm>
                  <a:off x="1824" y="27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7400" name="Oval 104"/>
              <p:cNvSpPr>
                <a:spLocks noChangeArrowheads="1"/>
              </p:cNvSpPr>
              <p:nvPr/>
            </p:nvSpPr>
            <p:spPr bwMode="auto">
              <a:xfrm>
                <a:off x="3504"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27401" name="Oval 105"/>
              <p:cNvSpPr>
                <a:spLocks noChangeArrowheads="1"/>
              </p:cNvSpPr>
              <p:nvPr/>
            </p:nvSpPr>
            <p:spPr bwMode="auto">
              <a:xfrm>
                <a:off x="2496"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02" name="Oval 106"/>
              <p:cNvSpPr>
                <a:spLocks noChangeArrowheads="1"/>
              </p:cNvSpPr>
              <p:nvPr/>
            </p:nvSpPr>
            <p:spPr bwMode="auto">
              <a:xfrm>
                <a:off x="110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03" name="Oval 107"/>
              <p:cNvSpPr>
                <a:spLocks noChangeArrowheads="1"/>
              </p:cNvSpPr>
              <p:nvPr/>
            </p:nvSpPr>
            <p:spPr bwMode="auto">
              <a:xfrm>
                <a:off x="1392" y="33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04" name="Oval 108"/>
              <p:cNvSpPr>
                <a:spLocks noChangeArrowheads="1"/>
              </p:cNvSpPr>
              <p:nvPr/>
            </p:nvSpPr>
            <p:spPr bwMode="auto">
              <a:xfrm>
                <a:off x="1440"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05" name="Oval 109"/>
              <p:cNvSpPr>
                <a:spLocks noChangeArrowheads="1"/>
              </p:cNvSpPr>
              <p:nvPr/>
            </p:nvSpPr>
            <p:spPr bwMode="auto">
              <a:xfrm>
                <a:off x="1152" y="18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06" name="Oval 110"/>
              <p:cNvSpPr>
                <a:spLocks noChangeArrowheads="1"/>
              </p:cNvSpPr>
              <p:nvPr/>
            </p:nvSpPr>
            <p:spPr bwMode="auto">
              <a:xfrm>
                <a:off x="912" y="19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7407" name="Group 111"/>
              <p:cNvGrpSpPr>
                <a:grpSpLocks/>
              </p:cNvGrpSpPr>
              <p:nvPr/>
            </p:nvGrpSpPr>
            <p:grpSpPr bwMode="auto">
              <a:xfrm>
                <a:off x="2400" y="3504"/>
                <a:ext cx="336" cy="144"/>
                <a:chOff x="2400" y="3504"/>
                <a:chExt cx="336" cy="144"/>
              </a:xfrm>
            </p:grpSpPr>
            <p:sp>
              <p:nvSpPr>
                <p:cNvPr id="3127408" name="Oval 112"/>
                <p:cNvSpPr>
                  <a:spLocks noChangeArrowheads="1"/>
                </p:cNvSpPr>
                <p:nvPr/>
              </p:nvSpPr>
              <p:spPr bwMode="auto">
                <a:xfrm>
                  <a:off x="2400" y="35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09" name="Oval 113"/>
                <p:cNvSpPr>
                  <a:spLocks noChangeArrowheads="1"/>
                </p:cNvSpPr>
                <p:nvPr/>
              </p:nvSpPr>
              <p:spPr bwMode="auto">
                <a:xfrm>
                  <a:off x="2640" y="35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410" name="Group 114"/>
              <p:cNvGrpSpPr>
                <a:grpSpLocks/>
              </p:cNvGrpSpPr>
              <p:nvPr/>
            </p:nvGrpSpPr>
            <p:grpSpPr bwMode="auto">
              <a:xfrm>
                <a:off x="4464" y="1632"/>
                <a:ext cx="624" cy="384"/>
                <a:chOff x="4464" y="1632"/>
                <a:chExt cx="624" cy="384"/>
              </a:xfrm>
            </p:grpSpPr>
            <p:sp>
              <p:nvSpPr>
                <p:cNvPr id="3127411" name="Oval 115"/>
                <p:cNvSpPr>
                  <a:spLocks noChangeArrowheads="1"/>
                </p:cNvSpPr>
                <p:nvPr/>
              </p:nvSpPr>
              <p:spPr bwMode="auto">
                <a:xfrm>
                  <a:off x="4464" y="16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12" name="Oval 116"/>
                <p:cNvSpPr>
                  <a:spLocks noChangeArrowheads="1"/>
                </p:cNvSpPr>
                <p:nvPr/>
              </p:nvSpPr>
              <p:spPr bwMode="auto">
                <a:xfrm>
                  <a:off x="4992" y="18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13" name="Oval 117"/>
                <p:cNvSpPr>
                  <a:spLocks noChangeArrowheads="1"/>
                </p:cNvSpPr>
                <p:nvPr/>
              </p:nvSpPr>
              <p:spPr bwMode="auto">
                <a:xfrm>
                  <a:off x="4704" y="16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14" name="Oval 118"/>
                <p:cNvSpPr>
                  <a:spLocks noChangeArrowheads="1"/>
                </p:cNvSpPr>
                <p:nvPr/>
              </p:nvSpPr>
              <p:spPr bwMode="auto">
                <a:xfrm>
                  <a:off x="4608" y="19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415" name="Group 119"/>
              <p:cNvGrpSpPr>
                <a:grpSpLocks/>
              </p:cNvGrpSpPr>
              <p:nvPr/>
            </p:nvGrpSpPr>
            <p:grpSpPr bwMode="auto">
              <a:xfrm>
                <a:off x="2640" y="2448"/>
                <a:ext cx="960" cy="1104"/>
                <a:chOff x="2640" y="2448"/>
                <a:chExt cx="960" cy="1104"/>
              </a:xfrm>
            </p:grpSpPr>
            <p:sp>
              <p:nvSpPr>
                <p:cNvPr id="3127416" name="Oval 120"/>
                <p:cNvSpPr>
                  <a:spLocks noChangeArrowheads="1"/>
                </p:cNvSpPr>
                <p:nvPr/>
              </p:nvSpPr>
              <p:spPr bwMode="auto">
                <a:xfrm>
                  <a:off x="2832"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17" name="Oval 121"/>
                <p:cNvSpPr>
                  <a:spLocks noChangeArrowheads="1"/>
                </p:cNvSpPr>
                <p:nvPr/>
              </p:nvSpPr>
              <p:spPr bwMode="auto">
                <a:xfrm>
                  <a:off x="2688"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18" name="Oval 122"/>
                <p:cNvSpPr>
                  <a:spLocks noChangeArrowheads="1"/>
                </p:cNvSpPr>
                <p:nvPr/>
              </p:nvSpPr>
              <p:spPr bwMode="auto">
                <a:xfrm>
                  <a:off x="3072"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19" name="Oval 123"/>
                <p:cNvSpPr>
                  <a:spLocks noChangeArrowheads="1"/>
                </p:cNvSpPr>
                <p:nvPr/>
              </p:nvSpPr>
              <p:spPr bwMode="auto">
                <a:xfrm>
                  <a:off x="3168"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0" name="Oval 124"/>
                <p:cNvSpPr>
                  <a:spLocks noChangeArrowheads="1"/>
                </p:cNvSpPr>
                <p:nvPr/>
              </p:nvSpPr>
              <p:spPr bwMode="auto">
                <a:xfrm>
                  <a:off x="3216" y="34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1" name="Oval 125"/>
                <p:cNvSpPr>
                  <a:spLocks noChangeArrowheads="1"/>
                </p:cNvSpPr>
                <p:nvPr/>
              </p:nvSpPr>
              <p:spPr bwMode="auto">
                <a:xfrm>
                  <a:off x="3312"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2" name="Oval 126"/>
                <p:cNvSpPr>
                  <a:spLocks noChangeArrowheads="1"/>
                </p:cNvSpPr>
                <p:nvPr/>
              </p:nvSpPr>
              <p:spPr bwMode="auto">
                <a:xfrm>
                  <a:off x="2928"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3" name="Oval 127"/>
                <p:cNvSpPr>
                  <a:spLocks noChangeArrowheads="1"/>
                </p:cNvSpPr>
                <p:nvPr/>
              </p:nvSpPr>
              <p:spPr bwMode="auto">
                <a:xfrm>
                  <a:off x="3504"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4" name="Oval 128"/>
                <p:cNvSpPr>
                  <a:spLocks noChangeArrowheads="1"/>
                </p:cNvSpPr>
                <p:nvPr/>
              </p:nvSpPr>
              <p:spPr bwMode="auto">
                <a:xfrm>
                  <a:off x="3408"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5" name="Oval 129"/>
                <p:cNvSpPr>
                  <a:spLocks noChangeArrowheads="1"/>
                </p:cNvSpPr>
                <p:nvPr/>
              </p:nvSpPr>
              <p:spPr bwMode="auto">
                <a:xfrm>
                  <a:off x="2880"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6" name="Oval 130"/>
                <p:cNvSpPr>
                  <a:spLocks noChangeArrowheads="1"/>
                </p:cNvSpPr>
                <p:nvPr/>
              </p:nvSpPr>
              <p:spPr bwMode="auto">
                <a:xfrm>
                  <a:off x="2640"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7" name="Oval 131"/>
                <p:cNvSpPr>
                  <a:spLocks noChangeArrowheads="1"/>
                </p:cNvSpPr>
                <p:nvPr/>
              </p:nvSpPr>
              <p:spPr bwMode="auto">
                <a:xfrm>
                  <a:off x="3312"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28" name="Oval 132"/>
                <p:cNvSpPr>
                  <a:spLocks noChangeArrowheads="1"/>
                </p:cNvSpPr>
                <p:nvPr/>
              </p:nvSpPr>
              <p:spPr bwMode="auto">
                <a:xfrm>
                  <a:off x="2832" y="34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7429" name="Oval 133"/>
              <p:cNvSpPr>
                <a:spLocks noChangeArrowheads="1"/>
              </p:cNvSpPr>
              <p:nvPr/>
            </p:nvSpPr>
            <p:spPr bwMode="auto">
              <a:xfrm>
                <a:off x="2544" y="14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27430" name="Oval 134"/>
              <p:cNvSpPr>
                <a:spLocks noChangeArrowheads="1"/>
              </p:cNvSpPr>
              <p:nvPr/>
            </p:nvSpPr>
            <p:spPr bwMode="auto">
              <a:xfrm>
                <a:off x="4704"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grpSp>
            <p:nvGrpSpPr>
              <p:cNvPr id="3127431" name="Group 135"/>
              <p:cNvGrpSpPr>
                <a:grpSpLocks/>
              </p:cNvGrpSpPr>
              <p:nvPr/>
            </p:nvGrpSpPr>
            <p:grpSpPr bwMode="auto">
              <a:xfrm>
                <a:off x="1680" y="2352"/>
                <a:ext cx="960" cy="1104"/>
                <a:chOff x="1680" y="2352"/>
                <a:chExt cx="960" cy="1104"/>
              </a:xfrm>
            </p:grpSpPr>
            <p:sp>
              <p:nvSpPr>
                <p:cNvPr id="3127432" name="Oval 136"/>
                <p:cNvSpPr>
                  <a:spLocks noChangeArrowheads="1"/>
                </p:cNvSpPr>
                <p:nvPr/>
              </p:nvSpPr>
              <p:spPr bwMode="auto">
                <a:xfrm>
                  <a:off x="1872"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33" name="Oval 137"/>
                <p:cNvSpPr>
                  <a:spLocks noChangeArrowheads="1"/>
                </p:cNvSpPr>
                <p:nvPr/>
              </p:nvSpPr>
              <p:spPr bwMode="auto">
                <a:xfrm>
                  <a:off x="172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34" name="Oval 138"/>
                <p:cNvSpPr>
                  <a:spLocks noChangeArrowheads="1"/>
                </p:cNvSpPr>
                <p:nvPr/>
              </p:nvSpPr>
              <p:spPr bwMode="auto">
                <a:xfrm>
                  <a:off x="2112"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35" name="Oval 139"/>
                <p:cNvSpPr>
                  <a:spLocks noChangeArrowheads="1"/>
                </p:cNvSpPr>
                <p:nvPr/>
              </p:nvSpPr>
              <p:spPr bwMode="auto">
                <a:xfrm>
                  <a:off x="2208"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36" name="Oval 140"/>
                <p:cNvSpPr>
                  <a:spLocks noChangeArrowheads="1"/>
                </p:cNvSpPr>
                <p:nvPr/>
              </p:nvSpPr>
              <p:spPr bwMode="auto">
                <a:xfrm>
                  <a:off x="2256" y="33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37" name="Oval 141"/>
                <p:cNvSpPr>
                  <a:spLocks noChangeArrowheads="1"/>
                </p:cNvSpPr>
                <p:nvPr/>
              </p:nvSpPr>
              <p:spPr bwMode="auto">
                <a:xfrm>
                  <a:off x="2352"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38" name="Oval 142"/>
                <p:cNvSpPr>
                  <a:spLocks noChangeArrowheads="1"/>
                </p:cNvSpPr>
                <p:nvPr/>
              </p:nvSpPr>
              <p:spPr bwMode="auto">
                <a:xfrm>
                  <a:off x="196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39" name="Oval 143"/>
                <p:cNvSpPr>
                  <a:spLocks noChangeArrowheads="1"/>
                </p:cNvSpPr>
                <p:nvPr/>
              </p:nvSpPr>
              <p:spPr bwMode="auto">
                <a:xfrm>
                  <a:off x="254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40" name="Oval 144"/>
                <p:cNvSpPr>
                  <a:spLocks noChangeArrowheads="1"/>
                </p:cNvSpPr>
                <p:nvPr/>
              </p:nvSpPr>
              <p:spPr bwMode="auto">
                <a:xfrm>
                  <a:off x="2448"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41" name="Oval 145"/>
                <p:cNvSpPr>
                  <a:spLocks noChangeArrowheads="1"/>
                </p:cNvSpPr>
                <p:nvPr/>
              </p:nvSpPr>
              <p:spPr bwMode="auto">
                <a:xfrm>
                  <a:off x="1920"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42" name="Oval 146"/>
                <p:cNvSpPr>
                  <a:spLocks noChangeArrowheads="1"/>
                </p:cNvSpPr>
                <p:nvPr/>
              </p:nvSpPr>
              <p:spPr bwMode="auto">
                <a:xfrm>
                  <a:off x="1680"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43" name="Oval 147"/>
                <p:cNvSpPr>
                  <a:spLocks noChangeArrowheads="1"/>
                </p:cNvSpPr>
                <p:nvPr/>
              </p:nvSpPr>
              <p:spPr bwMode="auto">
                <a:xfrm>
                  <a:off x="2352"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44" name="Oval 148"/>
                <p:cNvSpPr>
                  <a:spLocks noChangeArrowheads="1"/>
                </p:cNvSpPr>
                <p:nvPr/>
              </p:nvSpPr>
              <p:spPr bwMode="auto">
                <a:xfrm>
                  <a:off x="1872" y="33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3127445" name="Group 149"/>
            <p:cNvGrpSpPr>
              <a:grpSpLocks/>
            </p:cNvGrpSpPr>
            <p:nvPr/>
          </p:nvGrpSpPr>
          <p:grpSpPr bwMode="auto">
            <a:xfrm>
              <a:off x="538" y="1114"/>
              <a:ext cx="5318" cy="2774"/>
              <a:chOff x="538" y="1114"/>
              <a:chExt cx="5318" cy="2774"/>
            </a:xfrm>
          </p:grpSpPr>
          <p:grpSp>
            <p:nvGrpSpPr>
              <p:cNvPr id="3127446" name="Group 150"/>
              <p:cNvGrpSpPr>
                <a:grpSpLocks/>
              </p:cNvGrpSpPr>
              <p:nvPr/>
            </p:nvGrpSpPr>
            <p:grpSpPr bwMode="auto">
              <a:xfrm>
                <a:off x="538" y="1114"/>
                <a:ext cx="2966" cy="2774"/>
                <a:chOff x="538" y="1114"/>
                <a:chExt cx="2966" cy="2774"/>
              </a:xfrm>
            </p:grpSpPr>
            <p:grpSp>
              <p:nvGrpSpPr>
                <p:cNvPr id="3127447" name="Group 151"/>
                <p:cNvGrpSpPr>
                  <a:grpSpLocks/>
                </p:cNvGrpSpPr>
                <p:nvPr/>
              </p:nvGrpSpPr>
              <p:grpSpPr bwMode="auto">
                <a:xfrm>
                  <a:off x="538" y="1114"/>
                  <a:ext cx="1766" cy="2774"/>
                  <a:chOff x="538" y="1114"/>
                  <a:chExt cx="1766" cy="2774"/>
                </a:xfrm>
              </p:grpSpPr>
              <p:sp>
                <p:nvSpPr>
                  <p:cNvPr id="3127448" name="Line 152"/>
                  <p:cNvSpPr>
                    <a:spLocks noChangeShapeType="1"/>
                  </p:cNvSpPr>
                  <p:nvPr/>
                </p:nvSpPr>
                <p:spPr bwMode="auto">
                  <a:xfrm>
                    <a:off x="53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49" name="Line 153"/>
                  <p:cNvSpPr>
                    <a:spLocks noChangeShapeType="1"/>
                  </p:cNvSpPr>
                  <p:nvPr/>
                </p:nvSpPr>
                <p:spPr bwMode="auto">
                  <a:xfrm>
                    <a:off x="1402"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50" name="Line 154"/>
                  <p:cNvSpPr>
                    <a:spLocks noChangeShapeType="1"/>
                  </p:cNvSpPr>
                  <p:nvPr/>
                </p:nvSpPr>
                <p:spPr bwMode="auto">
                  <a:xfrm>
                    <a:off x="111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51" name="Line 155"/>
                  <p:cNvSpPr>
                    <a:spLocks noChangeShapeType="1"/>
                  </p:cNvSpPr>
                  <p:nvPr/>
                </p:nvSpPr>
                <p:spPr bwMode="auto">
                  <a:xfrm>
                    <a:off x="82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452" name="Group 156"/>
                <p:cNvGrpSpPr>
                  <a:grpSpLocks/>
                </p:cNvGrpSpPr>
                <p:nvPr/>
              </p:nvGrpSpPr>
              <p:grpSpPr bwMode="auto">
                <a:xfrm>
                  <a:off x="1738" y="1114"/>
                  <a:ext cx="1766" cy="2774"/>
                  <a:chOff x="1738" y="1114"/>
                  <a:chExt cx="1766" cy="2774"/>
                </a:xfrm>
              </p:grpSpPr>
              <p:sp>
                <p:nvSpPr>
                  <p:cNvPr id="3127453" name="Line 157"/>
                  <p:cNvSpPr>
                    <a:spLocks noChangeShapeType="1"/>
                  </p:cNvSpPr>
                  <p:nvPr/>
                </p:nvSpPr>
                <p:spPr bwMode="auto">
                  <a:xfrm>
                    <a:off x="173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54" name="Line 158"/>
                  <p:cNvSpPr>
                    <a:spLocks noChangeShapeType="1"/>
                  </p:cNvSpPr>
                  <p:nvPr/>
                </p:nvSpPr>
                <p:spPr bwMode="auto">
                  <a:xfrm>
                    <a:off x="2602"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55" name="Line 159"/>
                  <p:cNvSpPr>
                    <a:spLocks noChangeShapeType="1"/>
                  </p:cNvSpPr>
                  <p:nvPr/>
                </p:nvSpPr>
                <p:spPr bwMode="auto">
                  <a:xfrm>
                    <a:off x="231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56" name="Line 160"/>
                  <p:cNvSpPr>
                    <a:spLocks noChangeShapeType="1"/>
                  </p:cNvSpPr>
                  <p:nvPr/>
                </p:nvSpPr>
                <p:spPr bwMode="auto">
                  <a:xfrm>
                    <a:off x="202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3127457" name="Group 161"/>
              <p:cNvGrpSpPr>
                <a:grpSpLocks/>
              </p:cNvGrpSpPr>
              <p:nvPr/>
            </p:nvGrpSpPr>
            <p:grpSpPr bwMode="auto">
              <a:xfrm>
                <a:off x="2890" y="1114"/>
                <a:ext cx="2966" cy="2774"/>
                <a:chOff x="2890" y="1114"/>
                <a:chExt cx="2966" cy="2774"/>
              </a:xfrm>
            </p:grpSpPr>
            <p:grpSp>
              <p:nvGrpSpPr>
                <p:cNvPr id="3127458" name="Group 162"/>
                <p:cNvGrpSpPr>
                  <a:grpSpLocks/>
                </p:cNvGrpSpPr>
                <p:nvPr/>
              </p:nvGrpSpPr>
              <p:grpSpPr bwMode="auto">
                <a:xfrm>
                  <a:off x="2890" y="1114"/>
                  <a:ext cx="1766" cy="2774"/>
                  <a:chOff x="2890" y="1114"/>
                  <a:chExt cx="1766" cy="2774"/>
                </a:xfrm>
              </p:grpSpPr>
              <p:sp>
                <p:nvSpPr>
                  <p:cNvPr id="3127459" name="Line 163"/>
                  <p:cNvSpPr>
                    <a:spLocks noChangeShapeType="1"/>
                  </p:cNvSpPr>
                  <p:nvPr/>
                </p:nvSpPr>
                <p:spPr bwMode="auto">
                  <a:xfrm>
                    <a:off x="2890"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60" name="Line 164"/>
                  <p:cNvSpPr>
                    <a:spLocks noChangeShapeType="1"/>
                  </p:cNvSpPr>
                  <p:nvPr/>
                </p:nvSpPr>
                <p:spPr bwMode="auto">
                  <a:xfrm>
                    <a:off x="375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61" name="Line 165"/>
                  <p:cNvSpPr>
                    <a:spLocks noChangeShapeType="1"/>
                  </p:cNvSpPr>
                  <p:nvPr/>
                </p:nvSpPr>
                <p:spPr bwMode="auto">
                  <a:xfrm>
                    <a:off x="346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62" name="Line 166"/>
                  <p:cNvSpPr>
                    <a:spLocks noChangeShapeType="1"/>
                  </p:cNvSpPr>
                  <p:nvPr/>
                </p:nvSpPr>
                <p:spPr bwMode="auto">
                  <a:xfrm>
                    <a:off x="317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7463" name="Group 167"/>
                <p:cNvGrpSpPr>
                  <a:grpSpLocks/>
                </p:cNvGrpSpPr>
                <p:nvPr/>
              </p:nvGrpSpPr>
              <p:grpSpPr bwMode="auto">
                <a:xfrm>
                  <a:off x="4090" y="1114"/>
                  <a:ext cx="1766" cy="2774"/>
                  <a:chOff x="4090" y="1114"/>
                  <a:chExt cx="1766" cy="2774"/>
                </a:xfrm>
              </p:grpSpPr>
              <p:sp>
                <p:nvSpPr>
                  <p:cNvPr id="3127464" name="Line 168"/>
                  <p:cNvSpPr>
                    <a:spLocks noChangeShapeType="1"/>
                  </p:cNvSpPr>
                  <p:nvPr/>
                </p:nvSpPr>
                <p:spPr bwMode="auto">
                  <a:xfrm>
                    <a:off x="4090"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65" name="Line 169"/>
                  <p:cNvSpPr>
                    <a:spLocks noChangeShapeType="1"/>
                  </p:cNvSpPr>
                  <p:nvPr/>
                </p:nvSpPr>
                <p:spPr bwMode="auto">
                  <a:xfrm>
                    <a:off x="495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66" name="Line 170"/>
                  <p:cNvSpPr>
                    <a:spLocks noChangeShapeType="1"/>
                  </p:cNvSpPr>
                  <p:nvPr/>
                </p:nvSpPr>
                <p:spPr bwMode="auto">
                  <a:xfrm>
                    <a:off x="466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67" name="Line 171"/>
                  <p:cNvSpPr>
                    <a:spLocks noChangeShapeType="1"/>
                  </p:cNvSpPr>
                  <p:nvPr/>
                </p:nvSpPr>
                <p:spPr bwMode="auto">
                  <a:xfrm>
                    <a:off x="437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sp>
          <p:nvSpPr>
            <p:cNvPr id="3127468" name="Line 172"/>
            <p:cNvSpPr>
              <a:spLocks noChangeShapeType="1"/>
            </p:cNvSpPr>
            <p:nvPr/>
          </p:nvSpPr>
          <p:spPr bwMode="auto">
            <a:xfrm>
              <a:off x="490" y="1392"/>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69" name="Line 173"/>
            <p:cNvSpPr>
              <a:spLocks noChangeShapeType="1"/>
            </p:cNvSpPr>
            <p:nvPr/>
          </p:nvSpPr>
          <p:spPr bwMode="auto">
            <a:xfrm>
              <a:off x="586" y="1680"/>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70" name="Line 174"/>
            <p:cNvSpPr>
              <a:spLocks noChangeShapeType="1"/>
            </p:cNvSpPr>
            <p:nvPr/>
          </p:nvSpPr>
          <p:spPr bwMode="auto">
            <a:xfrm>
              <a:off x="490" y="1968"/>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71" name="Line 175"/>
            <p:cNvSpPr>
              <a:spLocks noChangeShapeType="1"/>
            </p:cNvSpPr>
            <p:nvPr/>
          </p:nvSpPr>
          <p:spPr bwMode="auto">
            <a:xfrm>
              <a:off x="586" y="2256"/>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72" name="Line 176"/>
            <p:cNvSpPr>
              <a:spLocks noChangeShapeType="1"/>
            </p:cNvSpPr>
            <p:nvPr/>
          </p:nvSpPr>
          <p:spPr bwMode="auto">
            <a:xfrm>
              <a:off x="490" y="2496"/>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73" name="Line 177"/>
            <p:cNvSpPr>
              <a:spLocks noChangeShapeType="1"/>
            </p:cNvSpPr>
            <p:nvPr/>
          </p:nvSpPr>
          <p:spPr bwMode="auto">
            <a:xfrm>
              <a:off x="586" y="2784"/>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74" name="Line 178"/>
            <p:cNvSpPr>
              <a:spLocks noChangeShapeType="1"/>
            </p:cNvSpPr>
            <p:nvPr/>
          </p:nvSpPr>
          <p:spPr bwMode="auto">
            <a:xfrm>
              <a:off x="490" y="3072"/>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75" name="Line 179"/>
            <p:cNvSpPr>
              <a:spLocks noChangeShapeType="1"/>
            </p:cNvSpPr>
            <p:nvPr/>
          </p:nvSpPr>
          <p:spPr bwMode="auto">
            <a:xfrm>
              <a:off x="586" y="3360"/>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7476" name="Line 180"/>
            <p:cNvSpPr>
              <a:spLocks noChangeShapeType="1"/>
            </p:cNvSpPr>
            <p:nvPr/>
          </p:nvSpPr>
          <p:spPr bwMode="auto">
            <a:xfrm>
              <a:off x="586" y="3648"/>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Tree>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8322" name="Rectangle 2"/>
          <p:cNvSpPr>
            <a:spLocks noGrp="1" noChangeArrowheads="1"/>
          </p:cNvSpPr>
          <p:nvPr>
            <p:ph type="title"/>
          </p:nvPr>
        </p:nvSpPr>
        <p:spPr>
          <a:noFill/>
          <a:ln/>
        </p:spPr>
        <p:txBody>
          <a:bodyPr/>
          <a:lstStyle/>
          <a:p>
            <a:pPr eaLnBrk="0" hangingPunct="0"/>
            <a:r>
              <a:rPr lang="en-GB"/>
              <a:t>Rigorous tests of the riskiest parts of the system</a:t>
            </a:r>
          </a:p>
        </p:txBody>
      </p:sp>
      <p:grpSp>
        <p:nvGrpSpPr>
          <p:cNvPr id="3128323" name="Group 3"/>
          <p:cNvGrpSpPr>
            <a:grpSpLocks/>
          </p:cNvGrpSpPr>
          <p:nvPr/>
        </p:nvGrpSpPr>
        <p:grpSpPr bwMode="auto">
          <a:xfrm>
            <a:off x="709613" y="1768475"/>
            <a:ext cx="7942262" cy="4403725"/>
            <a:chOff x="484" y="1114"/>
            <a:chExt cx="5420" cy="2774"/>
          </a:xfrm>
        </p:grpSpPr>
        <p:grpSp>
          <p:nvGrpSpPr>
            <p:cNvPr id="3128324" name="Group 4"/>
            <p:cNvGrpSpPr>
              <a:grpSpLocks/>
            </p:cNvGrpSpPr>
            <p:nvPr/>
          </p:nvGrpSpPr>
          <p:grpSpPr bwMode="auto">
            <a:xfrm>
              <a:off x="484" y="1252"/>
              <a:ext cx="5224" cy="2536"/>
              <a:chOff x="484" y="1252"/>
              <a:chExt cx="5224" cy="2536"/>
            </a:xfrm>
          </p:grpSpPr>
          <p:sp>
            <p:nvSpPr>
              <p:cNvPr id="3128325" name="Oval 5"/>
              <p:cNvSpPr>
                <a:spLocks noChangeArrowheads="1"/>
              </p:cNvSpPr>
              <p:nvPr/>
            </p:nvSpPr>
            <p:spPr bwMode="auto">
              <a:xfrm>
                <a:off x="484" y="1252"/>
                <a:ext cx="5224" cy="2536"/>
              </a:xfrm>
              <a:prstGeom prst="ellipse">
                <a:avLst/>
              </a:prstGeom>
              <a:solidFill>
                <a:schemeClr val="tx1"/>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8326" name="Group 6"/>
              <p:cNvGrpSpPr>
                <a:grpSpLocks/>
              </p:cNvGrpSpPr>
              <p:nvPr/>
            </p:nvGrpSpPr>
            <p:grpSpPr bwMode="auto">
              <a:xfrm>
                <a:off x="4560" y="2016"/>
                <a:ext cx="960" cy="1104"/>
                <a:chOff x="4560" y="2016"/>
                <a:chExt cx="960" cy="1104"/>
              </a:xfrm>
            </p:grpSpPr>
            <p:sp>
              <p:nvSpPr>
                <p:cNvPr id="3128327" name="Oval 7"/>
                <p:cNvSpPr>
                  <a:spLocks noChangeArrowheads="1"/>
                </p:cNvSpPr>
                <p:nvPr/>
              </p:nvSpPr>
              <p:spPr bwMode="auto">
                <a:xfrm>
                  <a:off x="4752" y="21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28" name="Oval 8"/>
                <p:cNvSpPr>
                  <a:spLocks noChangeArrowheads="1"/>
                </p:cNvSpPr>
                <p:nvPr/>
              </p:nvSpPr>
              <p:spPr bwMode="auto">
                <a:xfrm>
                  <a:off x="4608"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29" name="Oval 9"/>
                <p:cNvSpPr>
                  <a:spLocks noChangeArrowheads="1"/>
                </p:cNvSpPr>
                <p:nvPr/>
              </p:nvSpPr>
              <p:spPr bwMode="auto">
                <a:xfrm>
                  <a:off x="4992" y="20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0" name="Oval 10"/>
                <p:cNvSpPr>
                  <a:spLocks noChangeArrowheads="1"/>
                </p:cNvSpPr>
                <p:nvPr/>
              </p:nvSpPr>
              <p:spPr bwMode="auto">
                <a:xfrm>
                  <a:off x="508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1" name="Oval 11"/>
                <p:cNvSpPr>
                  <a:spLocks noChangeArrowheads="1"/>
                </p:cNvSpPr>
                <p:nvPr/>
              </p:nvSpPr>
              <p:spPr bwMode="auto">
                <a:xfrm>
                  <a:off x="5136"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2" name="Oval 12"/>
                <p:cNvSpPr>
                  <a:spLocks noChangeArrowheads="1"/>
                </p:cNvSpPr>
                <p:nvPr/>
              </p:nvSpPr>
              <p:spPr bwMode="auto">
                <a:xfrm>
                  <a:off x="5232" y="26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3" name="Oval 13"/>
                <p:cNvSpPr>
                  <a:spLocks noChangeArrowheads="1"/>
                </p:cNvSpPr>
                <p:nvPr/>
              </p:nvSpPr>
              <p:spPr bwMode="auto">
                <a:xfrm>
                  <a:off x="4848"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4" name="Oval 14"/>
                <p:cNvSpPr>
                  <a:spLocks noChangeArrowheads="1"/>
                </p:cNvSpPr>
                <p:nvPr/>
              </p:nvSpPr>
              <p:spPr bwMode="auto">
                <a:xfrm>
                  <a:off x="5424"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5" name="Oval 15"/>
                <p:cNvSpPr>
                  <a:spLocks noChangeArrowheads="1"/>
                </p:cNvSpPr>
                <p:nvPr/>
              </p:nvSpPr>
              <p:spPr bwMode="auto">
                <a:xfrm>
                  <a:off x="53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6" name="Oval 16"/>
                <p:cNvSpPr>
                  <a:spLocks noChangeArrowheads="1"/>
                </p:cNvSpPr>
                <p:nvPr/>
              </p:nvSpPr>
              <p:spPr bwMode="auto">
                <a:xfrm>
                  <a:off x="4800"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7" name="Oval 17"/>
                <p:cNvSpPr>
                  <a:spLocks noChangeArrowheads="1"/>
                </p:cNvSpPr>
                <p:nvPr/>
              </p:nvSpPr>
              <p:spPr bwMode="auto">
                <a:xfrm>
                  <a:off x="4560"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8" name="Oval 18"/>
                <p:cNvSpPr>
                  <a:spLocks noChangeArrowheads="1"/>
                </p:cNvSpPr>
                <p:nvPr/>
              </p:nvSpPr>
              <p:spPr bwMode="auto">
                <a:xfrm>
                  <a:off x="523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39" name="Oval 19"/>
                <p:cNvSpPr>
                  <a:spLocks noChangeArrowheads="1"/>
                </p:cNvSpPr>
                <p:nvPr/>
              </p:nvSpPr>
              <p:spPr bwMode="auto">
                <a:xfrm>
                  <a:off x="4752" y="30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340" name="Group 20"/>
              <p:cNvGrpSpPr>
                <a:grpSpLocks/>
              </p:cNvGrpSpPr>
              <p:nvPr/>
            </p:nvGrpSpPr>
            <p:grpSpPr bwMode="auto">
              <a:xfrm>
                <a:off x="3552" y="1392"/>
                <a:ext cx="960" cy="1104"/>
                <a:chOff x="3552" y="1392"/>
                <a:chExt cx="960" cy="1104"/>
              </a:xfrm>
            </p:grpSpPr>
            <p:sp>
              <p:nvSpPr>
                <p:cNvPr id="3128341" name="Oval 21"/>
                <p:cNvSpPr>
                  <a:spLocks noChangeArrowheads="1"/>
                </p:cNvSpPr>
                <p:nvPr/>
              </p:nvSpPr>
              <p:spPr bwMode="auto">
                <a:xfrm>
                  <a:off x="3744" y="15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42" name="Oval 22"/>
                <p:cNvSpPr>
                  <a:spLocks noChangeArrowheads="1"/>
                </p:cNvSpPr>
                <p:nvPr/>
              </p:nvSpPr>
              <p:spPr bwMode="auto">
                <a:xfrm>
                  <a:off x="3600" y="21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43" name="Oval 23"/>
                <p:cNvSpPr>
                  <a:spLocks noChangeArrowheads="1"/>
                </p:cNvSpPr>
                <p:nvPr/>
              </p:nvSpPr>
              <p:spPr bwMode="auto">
                <a:xfrm>
                  <a:off x="3984"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44" name="Oval 24"/>
                <p:cNvSpPr>
                  <a:spLocks noChangeArrowheads="1"/>
                </p:cNvSpPr>
                <p:nvPr/>
              </p:nvSpPr>
              <p:spPr bwMode="auto">
                <a:xfrm>
                  <a:off x="4080"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45" name="Oval 25"/>
                <p:cNvSpPr>
                  <a:spLocks noChangeArrowheads="1"/>
                </p:cNvSpPr>
                <p:nvPr/>
              </p:nvSpPr>
              <p:spPr bwMode="auto">
                <a:xfrm>
                  <a:off x="41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46" name="Oval 26"/>
                <p:cNvSpPr>
                  <a:spLocks noChangeArrowheads="1"/>
                </p:cNvSpPr>
                <p:nvPr/>
              </p:nvSpPr>
              <p:spPr bwMode="auto">
                <a:xfrm>
                  <a:off x="4224" y="20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47" name="Oval 27"/>
                <p:cNvSpPr>
                  <a:spLocks noChangeArrowheads="1"/>
                </p:cNvSpPr>
                <p:nvPr/>
              </p:nvSpPr>
              <p:spPr bwMode="auto">
                <a:xfrm>
                  <a:off x="3840" y="21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48" name="Oval 28"/>
                <p:cNvSpPr>
                  <a:spLocks noChangeArrowheads="1"/>
                </p:cNvSpPr>
                <p:nvPr/>
              </p:nvSpPr>
              <p:spPr bwMode="auto">
                <a:xfrm>
                  <a:off x="4416" y="22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49" name="Oval 29"/>
                <p:cNvSpPr>
                  <a:spLocks noChangeArrowheads="1"/>
                </p:cNvSpPr>
                <p:nvPr/>
              </p:nvSpPr>
              <p:spPr bwMode="auto">
                <a:xfrm>
                  <a:off x="4320"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50" name="Oval 30"/>
                <p:cNvSpPr>
                  <a:spLocks noChangeArrowheads="1"/>
                </p:cNvSpPr>
                <p:nvPr/>
              </p:nvSpPr>
              <p:spPr bwMode="auto">
                <a:xfrm>
                  <a:off x="3792" y="17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51" name="Oval 31"/>
                <p:cNvSpPr>
                  <a:spLocks noChangeArrowheads="1"/>
                </p:cNvSpPr>
                <p:nvPr/>
              </p:nvSpPr>
              <p:spPr bwMode="auto">
                <a:xfrm>
                  <a:off x="3552" y="18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52" name="Oval 32"/>
                <p:cNvSpPr>
                  <a:spLocks noChangeArrowheads="1"/>
                </p:cNvSpPr>
                <p:nvPr/>
              </p:nvSpPr>
              <p:spPr bwMode="auto">
                <a:xfrm>
                  <a:off x="4224" y="14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53" name="Oval 33"/>
                <p:cNvSpPr>
                  <a:spLocks noChangeArrowheads="1"/>
                </p:cNvSpPr>
                <p:nvPr/>
              </p:nvSpPr>
              <p:spPr bwMode="auto">
                <a:xfrm>
                  <a:off x="3744"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354" name="Group 34"/>
              <p:cNvGrpSpPr>
                <a:grpSpLocks/>
              </p:cNvGrpSpPr>
              <p:nvPr/>
            </p:nvGrpSpPr>
            <p:grpSpPr bwMode="auto">
              <a:xfrm>
                <a:off x="1536" y="2448"/>
                <a:ext cx="960" cy="1104"/>
                <a:chOff x="1536" y="2448"/>
                <a:chExt cx="960" cy="1104"/>
              </a:xfrm>
            </p:grpSpPr>
            <p:sp>
              <p:nvSpPr>
                <p:cNvPr id="3128355" name="Oval 35"/>
                <p:cNvSpPr>
                  <a:spLocks noChangeArrowheads="1"/>
                </p:cNvSpPr>
                <p:nvPr/>
              </p:nvSpPr>
              <p:spPr bwMode="auto">
                <a:xfrm>
                  <a:off x="1728"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56" name="Oval 36"/>
                <p:cNvSpPr>
                  <a:spLocks noChangeArrowheads="1"/>
                </p:cNvSpPr>
                <p:nvPr/>
              </p:nvSpPr>
              <p:spPr bwMode="auto">
                <a:xfrm>
                  <a:off x="158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57" name="Oval 37"/>
                <p:cNvSpPr>
                  <a:spLocks noChangeArrowheads="1"/>
                </p:cNvSpPr>
                <p:nvPr/>
              </p:nvSpPr>
              <p:spPr bwMode="auto">
                <a:xfrm>
                  <a:off x="1968"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58" name="Oval 38"/>
                <p:cNvSpPr>
                  <a:spLocks noChangeArrowheads="1"/>
                </p:cNvSpPr>
                <p:nvPr/>
              </p:nvSpPr>
              <p:spPr bwMode="auto">
                <a:xfrm>
                  <a:off x="2064"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59" name="Oval 39"/>
                <p:cNvSpPr>
                  <a:spLocks noChangeArrowheads="1"/>
                </p:cNvSpPr>
                <p:nvPr/>
              </p:nvSpPr>
              <p:spPr bwMode="auto">
                <a:xfrm>
                  <a:off x="2112" y="34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60" name="Oval 40"/>
                <p:cNvSpPr>
                  <a:spLocks noChangeArrowheads="1"/>
                </p:cNvSpPr>
                <p:nvPr/>
              </p:nvSpPr>
              <p:spPr bwMode="auto">
                <a:xfrm>
                  <a:off x="220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61" name="Oval 41"/>
                <p:cNvSpPr>
                  <a:spLocks noChangeArrowheads="1"/>
                </p:cNvSpPr>
                <p:nvPr/>
              </p:nvSpPr>
              <p:spPr bwMode="auto">
                <a:xfrm>
                  <a:off x="182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62" name="Oval 42"/>
                <p:cNvSpPr>
                  <a:spLocks noChangeArrowheads="1"/>
                </p:cNvSpPr>
                <p:nvPr/>
              </p:nvSpPr>
              <p:spPr bwMode="auto">
                <a:xfrm>
                  <a:off x="2400"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63" name="Oval 43"/>
                <p:cNvSpPr>
                  <a:spLocks noChangeArrowheads="1"/>
                </p:cNvSpPr>
                <p:nvPr/>
              </p:nvSpPr>
              <p:spPr bwMode="auto">
                <a:xfrm>
                  <a:off x="2304"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64" name="Oval 44"/>
                <p:cNvSpPr>
                  <a:spLocks noChangeArrowheads="1"/>
                </p:cNvSpPr>
                <p:nvPr/>
              </p:nvSpPr>
              <p:spPr bwMode="auto">
                <a:xfrm>
                  <a:off x="1776"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65" name="Oval 45"/>
                <p:cNvSpPr>
                  <a:spLocks noChangeArrowheads="1"/>
                </p:cNvSpPr>
                <p:nvPr/>
              </p:nvSpPr>
              <p:spPr bwMode="auto">
                <a:xfrm>
                  <a:off x="153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66" name="Oval 46"/>
                <p:cNvSpPr>
                  <a:spLocks noChangeArrowheads="1"/>
                </p:cNvSpPr>
                <p:nvPr/>
              </p:nvSpPr>
              <p:spPr bwMode="auto">
                <a:xfrm>
                  <a:off x="2208"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67" name="Oval 47"/>
                <p:cNvSpPr>
                  <a:spLocks noChangeArrowheads="1"/>
                </p:cNvSpPr>
                <p:nvPr/>
              </p:nvSpPr>
              <p:spPr bwMode="auto">
                <a:xfrm>
                  <a:off x="1728" y="34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368" name="Group 48"/>
              <p:cNvGrpSpPr>
                <a:grpSpLocks/>
              </p:cNvGrpSpPr>
              <p:nvPr/>
            </p:nvGrpSpPr>
            <p:grpSpPr bwMode="auto">
              <a:xfrm>
                <a:off x="3648" y="2544"/>
                <a:ext cx="960" cy="1104"/>
                <a:chOff x="3648" y="2544"/>
                <a:chExt cx="960" cy="1104"/>
              </a:xfrm>
            </p:grpSpPr>
            <p:sp>
              <p:nvSpPr>
                <p:cNvPr id="3128369" name="Oval 49"/>
                <p:cNvSpPr>
                  <a:spLocks noChangeArrowheads="1"/>
                </p:cNvSpPr>
                <p:nvPr/>
              </p:nvSpPr>
              <p:spPr bwMode="auto">
                <a:xfrm>
                  <a:off x="3840"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0" name="Oval 50"/>
                <p:cNvSpPr>
                  <a:spLocks noChangeArrowheads="1"/>
                </p:cNvSpPr>
                <p:nvPr/>
              </p:nvSpPr>
              <p:spPr bwMode="auto">
                <a:xfrm>
                  <a:off x="3696"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1" name="Oval 51"/>
                <p:cNvSpPr>
                  <a:spLocks noChangeArrowheads="1"/>
                </p:cNvSpPr>
                <p:nvPr/>
              </p:nvSpPr>
              <p:spPr bwMode="auto">
                <a:xfrm>
                  <a:off x="4080"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2" name="Oval 52"/>
                <p:cNvSpPr>
                  <a:spLocks noChangeArrowheads="1"/>
                </p:cNvSpPr>
                <p:nvPr/>
              </p:nvSpPr>
              <p:spPr bwMode="auto">
                <a:xfrm>
                  <a:off x="417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3" name="Oval 53"/>
                <p:cNvSpPr>
                  <a:spLocks noChangeArrowheads="1"/>
                </p:cNvSpPr>
                <p:nvPr/>
              </p:nvSpPr>
              <p:spPr bwMode="auto">
                <a:xfrm>
                  <a:off x="4224" y="35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4" name="Oval 54"/>
                <p:cNvSpPr>
                  <a:spLocks noChangeArrowheads="1"/>
                </p:cNvSpPr>
                <p:nvPr/>
              </p:nvSpPr>
              <p:spPr bwMode="auto">
                <a:xfrm>
                  <a:off x="4320"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5" name="Oval 55"/>
                <p:cNvSpPr>
                  <a:spLocks noChangeArrowheads="1"/>
                </p:cNvSpPr>
                <p:nvPr/>
              </p:nvSpPr>
              <p:spPr bwMode="auto">
                <a:xfrm>
                  <a:off x="3936"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6" name="Oval 56"/>
                <p:cNvSpPr>
                  <a:spLocks noChangeArrowheads="1"/>
                </p:cNvSpPr>
                <p:nvPr/>
              </p:nvSpPr>
              <p:spPr bwMode="auto">
                <a:xfrm>
                  <a:off x="4512" y="33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7" name="Oval 57"/>
                <p:cNvSpPr>
                  <a:spLocks noChangeArrowheads="1"/>
                </p:cNvSpPr>
                <p:nvPr/>
              </p:nvSpPr>
              <p:spPr bwMode="auto">
                <a:xfrm>
                  <a:off x="441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8" name="Oval 58"/>
                <p:cNvSpPr>
                  <a:spLocks noChangeArrowheads="1"/>
                </p:cNvSpPr>
                <p:nvPr/>
              </p:nvSpPr>
              <p:spPr bwMode="auto">
                <a:xfrm>
                  <a:off x="3888"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79" name="Oval 59"/>
                <p:cNvSpPr>
                  <a:spLocks noChangeArrowheads="1"/>
                </p:cNvSpPr>
                <p:nvPr/>
              </p:nvSpPr>
              <p:spPr bwMode="auto">
                <a:xfrm>
                  <a:off x="3648"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80" name="Oval 60"/>
                <p:cNvSpPr>
                  <a:spLocks noChangeArrowheads="1"/>
                </p:cNvSpPr>
                <p:nvPr/>
              </p:nvSpPr>
              <p:spPr bwMode="auto">
                <a:xfrm>
                  <a:off x="4320"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81" name="Oval 61"/>
                <p:cNvSpPr>
                  <a:spLocks noChangeArrowheads="1"/>
                </p:cNvSpPr>
                <p:nvPr/>
              </p:nvSpPr>
              <p:spPr bwMode="auto">
                <a:xfrm>
                  <a:off x="3840" y="35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382" name="Group 62"/>
              <p:cNvGrpSpPr>
                <a:grpSpLocks/>
              </p:cNvGrpSpPr>
              <p:nvPr/>
            </p:nvGrpSpPr>
            <p:grpSpPr bwMode="auto">
              <a:xfrm>
                <a:off x="1536" y="2208"/>
                <a:ext cx="960" cy="1104"/>
                <a:chOff x="1536" y="2208"/>
                <a:chExt cx="960" cy="1104"/>
              </a:xfrm>
            </p:grpSpPr>
            <p:sp>
              <p:nvSpPr>
                <p:cNvPr id="3128383" name="Oval 63"/>
                <p:cNvSpPr>
                  <a:spLocks noChangeArrowheads="1"/>
                </p:cNvSpPr>
                <p:nvPr/>
              </p:nvSpPr>
              <p:spPr bwMode="auto">
                <a:xfrm>
                  <a:off x="17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84" name="Oval 64"/>
                <p:cNvSpPr>
                  <a:spLocks noChangeArrowheads="1"/>
                </p:cNvSpPr>
                <p:nvPr/>
              </p:nvSpPr>
              <p:spPr bwMode="auto">
                <a:xfrm>
                  <a:off x="1584"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85" name="Oval 65"/>
                <p:cNvSpPr>
                  <a:spLocks noChangeArrowheads="1"/>
                </p:cNvSpPr>
                <p:nvPr/>
              </p:nvSpPr>
              <p:spPr bwMode="auto">
                <a:xfrm>
                  <a:off x="1968" y="22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86" name="Oval 66"/>
                <p:cNvSpPr>
                  <a:spLocks noChangeArrowheads="1"/>
                </p:cNvSpPr>
                <p:nvPr/>
              </p:nvSpPr>
              <p:spPr bwMode="auto">
                <a:xfrm>
                  <a:off x="2064"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87" name="Oval 67"/>
                <p:cNvSpPr>
                  <a:spLocks noChangeArrowheads="1"/>
                </p:cNvSpPr>
                <p:nvPr/>
              </p:nvSpPr>
              <p:spPr bwMode="auto">
                <a:xfrm>
                  <a:off x="2112"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88" name="Oval 68"/>
                <p:cNvSpPr>
                  <a:spLocks noChangeArrowheads="1"/>
                </p:cNvSpPr>
                <p:nvPr/>
              </p:nvSpPr>
              <p:spPr bwMode="auto">
                <a:xfrm>
                  <a:off x="2208"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89" name="Oval 69"/>
                <p:cNvSpPr>
                  <a:spLocks noChangeArrowheads="1"/>
                </p:cNvSpPr>
                <p:nvPr/>
              </p:nvSpPr>
              <p:spPr bwMode="auto">
                <a:xfrm>
                  <a:off x="1824"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90" name="Oval 70"/>
                <p:cNvSpPr>
                  <a:spLocks noChangeArrowheads="1"/>
                </p:cNvSpPr>
                <p:nvPr/>
              </p:nvSpPr>
              <p:spPr bwMode="auto">
                <a:xfrm>
                  <a:off x="2400" y="30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91" name="Oval 71"/>
                <p:cNvSpPr>
                  <a:spLocks noChangeArrowheads="1"/>
                </p:cNvSpPr>
                <p:nvPr/>
              </p:nvSpPr>
              <p:spPr bwMode="auto">
                <a:xfrm>
                  <a:off x="2304"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92" name="Oval 72"/>
                <p:cNvSpPr>
                  <a:spLocks noChangeArrowheads="1"/>
                </p:cNvSpPr>
                <p:nvPr/>
              </p:nvSpPr>
              <p:spPr bwMode="auto">
                <a:xfrm>
                  <a:off x="1776"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93" name="Oval 73"/>
                <p:cNvSpPr>
                  <a:spLocks noChangeArrowheads="1"/>
                </p:cNvSpPr>
                <p:nvPr/>
              </p:nvSpPr>
              <p:spPr bwMode="auto">
                <a:xfrm>
                  <a:off x="1536" y="26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94" name="Oval 74"/>
                <p:cNvSpPr>
                  <a:spLocks noChangeArrowheads="1"/>
                </p:cNvSpPr>
                <p:nvPr/>
              </p:nvSpPr>
              <p:spPr bwMode="auto">
                <a:xfrm>
                  <a:off x="2208" y="22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95" name="Oval 75"/>
                <p:cNvSpPr>
                  <a:spLocks noChangeArrowheads="1"/>
                </p:cNvSpPr>
                <p:nvPr/>
              </p:nvSpPr>
              <p:spPr bwMode="auto">
                <a:xfrm>
                  <a:off x="1728" y="32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396" name="Group 76"/>
              <p:cNvGrpSpPr>
                <a:grpSpLocks/>
              </p:cNvGrpSpPr>
              <p:nvPr/>
            </p:nvGrpSpPr>
            <p:grpSpPr bwMode="auto">
              <a:xfrm>
                <a:off x="2544" y="1344"/>
                <a:ext cx="960" cy="1104"/>
                <a:chOff x="2544" y="1344"/>
                <a:chExt cx="960" cy="1104"/>
              </a:xfrm>
            </p:grpSpPr>
            <p:sp>
              <p:nvSpPr>
                <p:cNvPr id="3128397" name="Oval 77"/>
                <p:cNvSpPr>
                  <a:spLocks noChangeArrowheads="1"/>
                </p:cNvSpPr>
                <p:nvPr/>
              </p:nvSpPr>
              <p:spPr bwMode="auto">
                <a:xfrm>
                  <a:off x="2736" y="14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98" name="Oval 78"/>
                <p:cNvSpPr>
                  <a:spLocks noChangeArrowheads="1"/>
                </p:cNvSpPr>
                <p:nvPr/>
              </p:nvSpPr>
              <p:spPr bwMode="auto">
                <a:xfrm>
                  <a:off x="259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399" name="Oval 79"/>
                <p:cNvSpPr>
                  <a:spLocks noChangeArrowheads="1"/>
                </p:cNvSpPr>
                <p:nvPr/>
              </p:nvSpPr>
              <p:spPr bwMode="auto">
                <a:xfrm>
                  <a:off x="2976" y="13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0" name="Oval 80"/>
                <p:cNvSpPr>
                  <a:spLocks noChangeArrowheads="1"/>
                </p:cNvSpPr>
                <p:nvPr/>
              </p:nvSpPr>
              <p:spPr bwMode="auto">
                <a:xfrm>
                  <a:off x="3072"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1" name="Oval 81"/>
                <p:cNvSpPr>
                  <a:spLocks noChangeArrowheads="1"/>
                </p:cNvSpPr>
                <p:nvPr/>
              </p:nvSpPr>
              <p:spPr bwMode="auto">
                <a:xfrm>
                  <a:off x="3120" y="23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2" name="Oval 82"/>
                <p:cNvSpPr>
                  <a:spLocks noChangeArrowheads="1"/>
                </p:cNvSpPr>
                <p:nvPr/>
              </p:nvSpPr>
              <p:spPr bwMode="auto">
                <a:xfrm>
                  <a:off x="3216" y="19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3" name="Oval 83"/>
                <p:cNvSpPr>
                  <a:spLocks noChangeArrowheads="1"/>
                </p:cNvSpPr>
                <p:nvPr/>
              </p:nvSpPr>
              <p:spPr bwMode="auto">
                <a:xfrm>
                  <a:off x="283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4" name="Oval 84"/>
                <p:cNvSpPr>
                  <a:spLocks noChangeArrowheads="1"/>
                </p:cNvSpPr>
                <p:nvPr/>
              </p:nvSpPr>
              <p:spPr bwMode="auto">
                <a:xfrm>
                  <a:off x="3408" y="21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5" name="Oval 85"/>
                <p:cNvSpPr>
                  <a:spLocks noChangeArrowheads="1"/>
                </p:cNvSpPr>
                <p:nvPr/>
              </p:nvSpPr>
              <p:spPr bwMode="auto">
                <a:xfrm>
                  <a:off x="3312"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6" name="Oval 86"/>
                <p:cNvSpPr>
                  <a:spLocks noChangeArrowheads="1"/>
                </p:cNvSpPr>
                <p:nvPr/>
              </p:nvSpPr>
              <p:spPr bwMode="auto">
                <a:xfrm>
                  <a:off x="2784"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7" name="Oval 87"/>
                <p:cNvSpPr>
                  <a:spLocks noChangeArrowheads="1"/>
                </p:cNvSpPr>
                <p:nvPr/>
              </p:nvSpPr>
              <p:spPr bwMode="auto">
                <a:xfrm>
                  <a:off x="2544" y="17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8" name="Oval 88"/>
                <p:cNvSpPr>
                  <a:spLocks noChangeArrowheads="1"/>
                </p:cNvSpPr>
                <p:nvPr/>
              </p:nvSpPr>
              <p:spPr bwMode="auto">
                <a:xfrm>
                  <a:off x="3216"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09" name="Oval 89"/>
                <p:cNvSpPr>
                  <a:spLocks noChangeArrowheads="1"/>
                </p:cNvSpPr>
                <p:nvPr/>
              </p:nvSpPr>
              <p:spPr bwMode="auto">
                <a:xfrm>
                  <a:off x="2736"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410" name="Group 90"/>
              <p:cNvGrpSpPr>
                <a:grpSpLocks/>
              </p:cNvGrpSpPr>
              <p:nvPr/>
            </p:nvGrpSpPr>
            <p:grpSpPr bwMode="auto">
              <a:xfrm>
                <a:off x="1632" y="1704"/>
                <a:ext cx="960" cy="1104"/>
                <a:chOff x="1632" y="1704"/>
                <a:chExt cx="960" cy="1104"/>
              </a:xfrm>
            </p:grpSpPr>
            <p:sp>
              <p:nvSpPr>
                <p:cNvPr id="3128411" name="Oval 91"/>
                <p:cNvSpPr>
                  <a:spLocks noChangeArrowheads="1"/>
                </p:cNvSpPr>
                <p:nvPr/>
              </p:nvSpPr>
              <p:spPr bwMode="auto">
                <a:xfrm>
                  <a:off x="1824" y="18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12" name="Oval 92"/>
                <p:cNvSpPr>
                  <a:spLocks noChangeArrowheads="1"/>
                </p:cNvSpPr>
                <p:nvPr/>
              </p:nvSpPr>
              <p:spPr bwMode="auto">
                <a:xfrm>
                  <a:off x="1680" y="24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13" name="Oval 93"/>
                <p:cNvSpPr>
                  <a:spLocks noChangeArrowheads="1"/>
                </p:cNvSpPr>
                <p:nvPr/>
              </p:nvSpPr>
              <p:spPr bwMode="auto">
                <a:xfrm>
                  <a:off x="2064" y="17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14" name="Oval 94"/>
                <p:cNvSpPr>
                  <a:spLocks noChangeArrowheads="1"/>
                </p:cNvSpPr>
                <p:nvPr/>
              </p:nvSpPr>
              <p:spPr bwMode="auto">
                <a:xfrm>
                  <a:off x="2160" y="20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15" name="Oval 95"/>
                <p:cNvSpPr>
                  <a:spLocks noChangeArrowheads="1"/>
                </p:cNvSpPr>
                <p:nvPr/>
              </p:nvSpPr>
              <p:spPr bwMode="auto">
                <a:xfrm>
                  <a:off x="2208" y="26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16" name="Oval 96"/>
                <p:cNvSpPr>
                  <a:spLocks noChangeArrowheads="1"/>
                </p:cNvSpPr>
                <p:nvPr/>
              </p:nvSpPr>
              <p:spPr bwMode="auto">
                <a:xfrm>
                  <a:off x="2304" y="23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17" name="Oval 97"/>
                <p:cNvSpPr>
                  <a:spLocks noChangeArrowheads="1"/>
                </p:cNvSpPr>
                <p:nvPr/>
              </p:nvSpPr>
              <p:spPr bwMode="auto">
                <a:xfrm>
                  <a:off x="1920" y="24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18" name="Oval 98"/>
                <p:cNvSpPr>
                  <a:spLocks noChangeArrowheads="1"/>
                </p:cNvSpPr>
                <p:nvPr/>
              </p:nvSpPr>
              <p:spPr bwMode="auto">
                <a:xfrm>
                  <a:off x="2496" y="25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19" name="Oval 99"/>
                <p:cNvSpPr>
                  <a:spLocks noChangeArrowheads="1"/>
                </p:cNvSpPr>
                <p:nvPr/>
              </p:nvSpPr>
              <p:spPr bwMode="auto">
                <a:xfrm>
                  <a:off x="2400" y="20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20" name="Oval 100"/>
                <p:cNvSpPr>
                  <a:spLocks noChangeArrowheads="1"/>
                </p:cNvSpPr>
                <p:nvPr/>
              </p:nvSpPr>
              <p:spPr bwMode="auto">
                <a:xfrm>
                  <a:off x="1872" y="20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21" name="Oval 101"/>
                <p:cNvSpPr>
                  <a:spLocks noChangeArrowheads="1"/>
                </p:cNvSpPr>
                <p:nvPr/>
              </p:nvSpPr>
              <p:spPr bwMode="auto">
                <a:xfrm>
                  <a:off x="1632" y="21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22" name="Oval 102"/>
                <p:cNvSpPr>
                  <a:spLocks noChangeArrowheads="1"/>
                </p:cNvSpPr>
                <p:nvPr/>
              </p:nvSpPr>
              <p:spPr bwMode="auto">
                <a:xfrm>
                  <a:off x="2304" y="17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23" name="Oval 103"/>
                <p:cNvSpPr>
                  <a:spLocks noChangeArrowheads="1"/>
                </p:cNvSpPr>
                <p:nvPr/>
              </p:nvSpPr>
              <p:spPr bwMode="auto">
                <a:xfrm>
                  <a:off x="1824" y="27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8424" name="Oval 104"/>
              <p:cNvSpPr>
                <a:spLocks noChangeArrowheads="1"/>
              </p:cNvSpPr>
              <p:nvPr/>
            </p:nvSpPr>
            <p:spPr bwMode="auto">
              <a:xfrm>
                <a:off x="3504"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28425" name="Oval 105"/>
              <p:cNvSpPr>
                <a:spLocks noChangeArrowheads="1"/>
              </p:cNvSpPr>
              <p:nvPr/>
            </p:nvSpPr>
            <p:spPr bwMode="auto">
              <a:xfrm>
                <a:off x="2496"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26" name="Oval 106"/>
              <p:cNvSpPr>
                <a:spLocks noChangeArrowheads="1"/>
              </p:cNvSpPr>
              <p:nvPr/>
            </p:nvSpPr>
            <p:spPr bwMode="auto">
              <a:xfrm>
                <a:off x="110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27" name="Oval 107"/>
              <p:cNvSpPr>
                <a:spLocks noChangeArrowheads="1"/>
              </p:cNvSpPr>
              <p:nvPr/>
            </p:nvSpPr>
            <p:spPr bwMode="auto">
              <a:xfrm>
                <a:off x="1392" y="33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28" name="Oval 108"/>
              <p:cNvSpPr>
                <a:spLocks noChangeArrowheads="1"/>
              </p:cNvSpPr>
              <p:nvPr/>
            </p:nvSpPr>
            <p:spPr bwMode="auto">
              <a:xfrm>
                <a:off x="1440"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29" name="Oval 109"/>
              <p:cNvSpPr>
                <a:spLocks noChangeArrowheads="1"/>
              </p:cNvSpPr>
              <p:nvPr/>
            </p:nvSpPr>
            <p:spPr bwMode="auto">
              <a:xfrm>
                <a:off x="1152" y="18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30" name="Oval 110"/>
              <p:cNvSpPr>
                <a:spLocks noChangeArrowheads="1"/>
              </p:cNvSpPr>
              <p:nvPr/>
            </p:nvSpPr>
            <p:spPr bwMode="auto">
              <a:xfrm>
                <a:off x="912" y="19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8431" name="Group 111"/>
              <p:cNvGrpSpPr>
                <a:grpSpLocks/>
              </p:cNvGrpSpPr>
              <p:nvPr/>
            </p:nvGrpSpPr>
            <p:grpSpPr bwMode="auto">
              <a:xfrm>
                <a:off x="2400" y="3504"/>
                <a:ext cx="336" cy="144"/>
                <a:chOff x="2400" y="3504"/>
                <a:chExt cx="336" cy="144"/>
              </a:xfrm>
            </p:grpSpPr>
            <p:sp>
              <p:nvSpPr>
                <p:cNvPr id="3128432" name="Oval 112"/>
                <p:cNvSpPr>
                  <a:spLocks noChangeArrowheads="1"/>
                </p:cNvSpPr>
                <p:nvPr/>
              </p:nvSpPr>
              <p:spPr bwMode="auto">
                <a:xfrm>
                  <a:off x="2400" y="35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33" name="Oval 113"/>
                <p:cNvSpPr>
                  <a:spLocks noChangeArrowheads="1"/>
                </p:cNvSpPr>
                <p:nvPr/>
              </p:nvSpPr>
              <p:spPr bwMode="auto">
                <a:xfrm>
                  <a:off x="2640" y="35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434" name="Group 114"/>
              <p:cNvGrpSpPr>
                <a:grpSpLocks/>
              </p:cNvGrpSpPr>
              <p:nvPr/>
            </p:nvGrpSpPr>
            <p:grpSpPr bwMode="auto">
              <a:xfrm>
                <a:off x="4464" y="1632"/>
                <a:ext cx="624" cy="384"/>
                <a:chOff x="4464" y="1632"/>
                <a:chExt cx="624" cy="384"/>
              </a:xfrm>
            </p:grpSpPr>
            <p:sp>
              <p:nvSpPr>
                <p:cNvPr id="3128435" name="Oval 115"/>
                <p:cNvSpPr>
                  <a:spLocks noChangeArrowheads="1"/>
                </p:cNvSpPr>
                <p:nvPr/>
              </p:nvSpPr>
              <p:spPr bwMode="auto">
                <a:xfrm>
                  <a:off x="4464" y="16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36" name="Oval 116"/>
                <p:cNvSpPr>
                  <a:spLocks noChangeArrowheads="1"/>
                </p:cNvSpPr>
                <p:nvPr/>
              </p:nvSpPr>
              <p:spPr bwMode="auto">
                <a:xfrm>
                  <a:off x="4992" y="18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37" name="Oval 117"/>
                <p:cNvSpPr>
                  <a:spLocks noChangeArrowheads="1"/>
                </p:cNvSpPr>
                <p:nvPr/>
              </p:nvSpPr>
              <p:spPr bwMode="auto">
                <a:xfrm>
                  <a:off x="4704" y="16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38" name="Oval 118"/>
                <p:cNvSpPr>
                  <a:spLocks noChangeArrowheads="1"/>
                </p:cNvSpPr>
                <p:nvPr/>
              </p:nvSpPr>
              <p:spPr bwMode="auto">
                <a:xfrm>
                  <a:off x="4608" y="19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439" name="Group 119"/>
              <p:cNvGrpSpPr>
                <a:grpSpLocks/>
              </p:cNvGrpSpPr>
              <p:nvPr/>
            </p:nvGrpSpPr>
            <p:grpSpPr bwMode="auto">
              <a:xfrm>
                <a:off x="2640" y="2448"/>
                <a:ext cx="960" cy="1104"/>
                <a:chOff x="2640" y="2448"/>
                <a:chExt cx="960" cy="1104"/>
              </a:xfrm>
            </p:grpSpPr>
            <p:sp>
              <p:nvSpPr>
                <p:cNvPr id="3128440" name="Oval 120"/>
                <p:cNvSpPr>
                  <a:spLocks noChangeArrowheads="1"/>
                </p:cNvSpPr>
                <p:nvPr/>
              </p:nvSpPr>
              <p:spPr bwMode="auto">
                <a:xfrm>
                  <a:off x="2832"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1" name="Oval 121"/>
                <p:cNvSpPr>
                  <a:spLocks noChangeArrowheads="1"/>
                </p:cNvSpPr>
                <p:nvPr/>
              </p:nvSpPr>
              <p:spPr bwMode="auto">
                <a:xfrm>
                  <a:off x="2688"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2" name="Oval 122"/>
                <p:cNvSpPr>
                  <a:spLocks noChangeArrowheads="1"/>
                </p:cNvSpPr>
                <p:nvPr/>
              </p:nvSpPr>
              <p:spPr bwMode="auto">
                <a:xfrm>
                  <a:off x="3072"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3" name="Oval 123"/>
                <p:cNvSpPr>
                  <a:spLocks noChangeArrowheads="1"/>
                </p:cNvSpPr>
                <p:nvPr/>
              </p:nvSpPr>
              <p:spPr bwMode="auto">
                <a:xfrm>
                  <a:off x="3168"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4" name="Oval 124"/>
                <p:cNvSpPr>
                  <a:spLocks noChangeArrowheads="1"/>
                </p:cNvSpPr>
                <p:nvPr/>
              </p:nvSpPr>
              <p:spPr bwMode="auto">
                <a:xfrm>
                  <a:off x="3216" y="34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5" name="Oval 125"/>
                <p:cNvSpPr>
                  <a:spLocks noChangeArrowheads="1"/>
                </p:cNvSpPr>
                <p:nvPr/>
              </p:nvSpPr>
              <p:spPr bwMode="auto">
                <a:xfrm>
                  <a:off x="3312"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6" name="Oval 126"/>
                <p:cNvSpPr>
                  <a:spLocks noChangeArrowheads="1"/>
                </p:cNvSpPr>
                <p:nvPr/>
              </p:nvSpPr>
              <p:spPr bwMode="auto">
                <a:xfrm>
                  <a:off x="2928"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7" name="Oval 127"/>
                <p:cNvSpPr>
                  <a:spLocks noChangeArrowheads="1"/>
                </p:cNvSpPr>
                <p:nvPr/>
              </p:nvSpPr>
              <p:spPr bwMode="auto">
                <a:xfrm>
                  <a:off x="3504"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8" name="Oval 128"/>
                <p:cNvSpPr>
                  <a:spLocks noChangeArrowheads="1"/>
                </p:cNvSpPr>
                <p:nvPr/>
              </p:nvSpPr>
              <p:spPr bwMode="auto">
                <a:xfrm>
                  <a:off x="3408"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49" name="Oval 129"/>
                <p:cNvSpPr>
                  <a:spLocks noChangeArrowheads="1"/>
                </p:cNvSpPr>
                <p:nvPr/>
              </p:nvSpPr>
              <p:spPr bwMode="auto">
                <a:xfrm>
                  <a:off x="2880"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50" name="Oval 130"/>
                <p:cNvSpPr>
                  <a:spLocks noChangeArrowheads="1"/>
                </p:cNvSpPr>
                <p:nvPr/>
              </p:nvSpPr>
              <p:spPr bwMode="auto">
                <a:xfrm>
                  <a:off x="2640"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51" name="Oval 131"/>
                <p:cNvSpPr>
                  <a:spLocks noChangeArrowheads="1"/>
                </p:cNvSpPr>
                <p:nvPr/>
              </p:nvSpPr>
              <p:spPr bwMode="auto">
                <a:xfrm>
                  <a:off x="3312"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52" name="Oval 132"/>
                <p:cNvSpPr>
                  <a:spLocks noChangeArrowheads="1"/>
                </p:cNvSpPr>
                <p:nvPr/>
              </p:nvSpPr>
              <p:spPr bwMode="auto">
                <a:xfrm>
                  <a:off x="2832" y="34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8453" name="Oval 133"/>
              <p:cNvSpPr>
                <a:spLocks noChangeArrowheads="1"/>
              </p:cNvSpPr>
              <p:nvPr/>
            </p:nvSpPr>
            <p:spPr bwMode="auto">
              <a:xfrm>
                <a:off x="2544" y="14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28454" name="Oval 134"/>
              <p:cNvSpPr>
                <a:spLocks noChangeArrowheads="1"/>
              </p:cNvSpPr>
              <p:nvPr/>
            </p:nvSpPr>
            <p:spPr bwMode="auto">
              <a:xfrm>
                <a:off x="4704"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grpSp>
            <p:nvGrpSpPr>
              <p:cNvPr id="3128455" name="Group 135"/>
              <p:cNvGrpSpPr>
                <a:grpSpLocks/>
              </p:cNvGrpSpPr>
              <p:nvPr/>
            </p:nvGrpSpPr>
            <p:grpSpPr bwMode="auto">
              <a:xfrm>
                <a:off x="1680" y="2352"/>
                <a:ext cx="960" cy="1104"/>
                <a:chOff x="1680" y="2352"/>
                <a:chExt cx="960" cy="1104"/>
              </a:xfrm>
            </p:grpSpPr>
            <p:sp>
              <p:nvSpPr>
                <p:cNvPr id="3128456" name="Oval 136"/>
                <p:cNvSpPr>
                  <a:spLocks noChangeArrowheads="1"/>
                </p:cNvSpPr>
                <p:nvPr/>
              </p:nvSpPr>
              <p:spPr bwMode="auto">
                <a:xfrm>
                  <a:off x="1872"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57" name="Oval 137"/>
                <p:cNvSpPr>
                  <a:spLocks noChangeArrowheads="1"/>
                </p:cNvSpPr>
                <p:nvPr/>
              </p:nvSpPr>
              <p:spPr bwMode="auto">
                <a:xfrm>
                  <a:off x="172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58" name="Oval 138"/>
                <p:cNvSpPr>
                  <a:spLocks noChangeArrowheads="1"/>
                </p:cNvSpPr>
                <p:nvPr/>
              </p:nvSpPr>
              <p:spPr bwMode="auto">
                <a:xfrm>
                  <a:off x="2112"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59" name="Oval 139"/>
                <p:cNvSpPr>
                  <a:spLocks noChangeArrowheads="1"/>
                </p:cNvSpPr>
                <p:nvPr/>
              </p:nvSpPr>
              <p:spPr bwMode="auto">
                <a:xfrm>
                  <a:off x="2208"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0" name="Oval 140"/>
                <p:cNvSpPr>
                  <a:spLocks noChangeArrowheads="1"/>
                </p:cNvSpPr>
                <p:nvPr/>
              </p:nvSpPr>
              <p:spPr bwMode="auto">
                <a:xfrm>
                  <a:off x="2256" y="33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1" name="Oval 141"/>
                <p:cNvSpPr>
                  <a:spLocks noChangeArrowheads="1"/>
                </p:cNvSpPr>
                <p:nvPr/>
              </p:nvSpPr>
              <p:spPr bwMode="auto">
                <a:xfrm>
                  <a:off x="2352"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2" name="Oval 142"/>
                <p:cNvSpPr>
                  <a:spLocks noChangeArrowheads="1"/>
                </p:cNvSpPr>
                <p:nvPr/>
              </p:nvSpPr>
              <p:spPr bwMode="auto">
                <a:xfrm>
                  <a:off x="196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3" name="Oval 143"/>
                <p:cNvSpPr>
                  <a:spLocks noChangeArrowheads="1"/>
                </p:cNvSpPr>
                <p:nvPr/>
              </p:nvSpPr>
              <p:spPr bwMode="auto">
                <a:xfrm>
                  <a:off x="254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4" name="Oval 144"/>
                <p:cNvSpPr>
                  <a:spLocks noChangeArrowheads="1"/>
                </p:cNvSpPr>
                <p:nvPr/>
              </p:nvSpPr>
              <p:spPr bwMode="auto">
                <a:xfrm>
                  <a:off x="2448"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5" name="Oval 145"/>
                <p:cNvSpPr>
                  <a:spLocks noChangeArrowheads="1"/>
                </p:cNvSpPr>
                <p:nvPr/>
              </p:nvSpPr>
              <p:spPr bwMode="auto">
                <a:xfrm>
                  <a:off x="1920"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6" name="Oval 146"/>
                <p:cNvSpPr>
                  <a:spLocks noChangeArrowheads="1"/>
                </p:cNvSpPr>
                <p:nvPr/>
              </p:nvSpPr>
              <p:spPr bwMode="auto">
                <a:xfrm>
                  <a:off x="1680"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7" name="Oval 147"/>
                <p:cNvSpPr>
                  <a:spLocks noChangeArrowheads="1"/>
                </p:cNvSpPr>
                <p:nvPr/>
              </p:nvSpPr>
              <p:spPr bwMode="auto">
                <a:xfrm>
                  <a:off x="2352"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68" name="Oval 148"/>
                <p:cNvSpPr>
                  <a:spLocks noChangeArrowheads="1"/>
                </p:cNvSpPr>
                <p:nvPr/>
              </p:nvSpPr>
              <p:spPr bwMode="auto">
                <a:xfrm>
                  <a:off x="1872" y="33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3128469" name="Group 149"/>
            <p:cNvGrpSpPr>
              <a:grpSpLocks/>
            </p:cNvGrpSpPr>
            <p:nvPr/>
          </p:nvGrpSpPr>
          <p:grpSpPr bwMode="auto">
            <a:xfrm>
              <a:off x="538" y="1114"/>
              <a:ext cx="5318" cy="2774"/>
              <a:chOff x="538" y="1114"/>
              <a:chExt cx="5318" cy="2774"/>
            </a:xfrm>
          </p:grpSpPr>
          <p:grpSp>
            <p:nvGrpSpPr>
              <p:cNvPr id="3128470" name="Group 150"/>
              <p:cNvGrpSpPr>
                <a:grpSpLocks/>
              </p:cNvGrpSpPr>
              <p:nvPr/>
            </p:nvGrpSpPr>
            <p:grpSpPr bwMode="auto">
              <a:xfrm>
                <a:off x="538" y="1114"/>
                <a:ext cx="2966" cy="2774"/>
                <a:chOff x="538" y="1114"/>
                <a:chExt cx="2966" cy="2774"/>
              </a:xfrm>
            </p:grpSpPr>
            <p:grpSp>
              <p:nvGrpSpPr>
                <p:cNvPr id="3128471" name="Group 151"/>
                <p:cNvGrpSpPr>
                  <a:grpSpLocks/>
                </p:cNvGrpSpPr>
                <p:nvPr/>
              </p:nvGrpSpPr>
              <p:grpSpPr bwMode="auto">
                <a:xfrm>
                  <a:off x="538" y="1114"/>
                  <a:ext cx="1766" cy="2774"/>
                  <a:chOff x="538" y="1114"/>
                  <a:chExt cx="1766" cy="2774"/>
                </a:xfrm>
              </p:grpSpPr>
              <p:sp>
                <p:nvSpPr>
                  <p:cNvPr id="3128472" name="Line 152"/>
                  <p:cNvSpPr>
                    <a:spLocks noChangeShapeType="1"/>
                  </p:cNvSpPr>
                  <p:nvPr/>
                </p:nvSpPr>
                <p:spPr bwMode="auto">
                  <a:xfrm>
                    <a:off x="53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73" name="Line 153"/>
                  <p:cNvSpPr>
                    <a:spLocks noChangeShapeType="1"/>
                  </p:cNvSpPr>
                  <p:nvPr/>
                </p:nvSpPr>
                <p:spPr bwMode="auto">
                  <a:xfrm>
                    <a:off x="1402"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74" name="Line 154"/>
                  <p:cNvSpPr>
                    <a:spLocks noChangeShapeType="1"/>
                  </p:cNvSpPr>
                  <p:nvPr/>
                </p:nvSpPr>
                <p:spPr bwMode="auto">
                  <a:xfrm>
                    <a:off x="111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75" name="Line 155"/>
                  <p:cNvSpPr>
                    <a:spLocks noChangeShapeType="1"/>
                  </p:cNvSpPr>
                  <p:nvPr/>
                </p:nvSpPr>
                <p:spPr bwMode="auto">
                  <a:xfrm>
                    <a:off x="82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476" name="Group 156"/>
                <p:cNvGrpSpPr>
                  <a:grpSpLocks/>
                </p:cNvGrpSpPr>
                <p:nvPr/>
              </p:nvGrpSpPr>
              <p:grpSpPr bwMode="auto">
                <a:xfrm>
                  <a:off x="1738" y="1114"/>
                  <a:ext cx="1766" cy="2774"/>
                  <a:chOff x="1738" y="1114"/>
                  <a:chExt cx="1766" cy="2774"/>
                </a:xfrm>
              </p:grpSpPr>
              <p:sp>
                <p:nvSpPr>
                  <p:cNvPr id="3128477" name="Line 157"/>
                  <p:cNvSpPr>
                    <a:spLocks noChangeShapeType="1"/>
                  </p:cNvSpPr>
                  <p:nvPr/>
                </p:nvSpPr>
                <p:spPr bwMode="auto">
                  <a:xfrm>
                    <a:off x="173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78" name="Line 158"/>
                  <p:cNvSpPr>
                    <a:spLocks noChangeShapeType="1"/>
                  </p:cNvSpPr>
                  <p:nvPr/>
                </p:nvSpPr>
                <p:spPr bwMode="auto">
                  <a:xfrm>
                    <a:off x="2602"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79" name="Line 159"/>
                  <p:cNvSpPr>
                    <a:spLocks noChangeShapeType="1"/>
                  </p:cNvSpPr>
                  <p:nvPr/>
                </p:nvSpPr>
                <p:spPr bwMode="auto">
                  <a:xfrm>
                    <a:off x="231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80" name="Line 160"/>
                  <p:cNvSpPr>
                    <a:spLocks noChangeShapeType="1"/>
                  </p:cNvSpPr>
                  <p:nvPr/>
                </p:nvSpPr>
                <p:spPr bwMode="auto">
                  <a:xfrm>
                    <a:off x="202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3128481" name="Group 161"/>
              <p:cNvGrpSpPr>
                <a:grpSpLocks/>
              </p:cNvGrpSpPr>
              <p:nvPr/>
            </p:nvGrpSpPr>
            <p:grpSpPr bwMode="auto">
              <a:xfrm>
                <a:off x="2890" y="1114"/>
                <a:ext cx="2966" cy="2774"/>
                <a:chOff x="2890" y="1114"/>
                <a:chExt cx="2966" cy="2774"/>
              </a:xfrm>
            </p:grpSpPr>
            <p:grpSp>
              <p:nvGrpSpPr>
                <p:cNvPr id="3128482" name="Group 162"/>
                <p:cNvGrpSpPr>
                  <a:grpSpLocks/>
                </p:cNvGrpSpPr>
                <p:nvPr/>
              </p:nvGrpSpPr>
              <p:grpSpPr bwMode="auto">
                <a:xfrm>
                  <a:off x="2890" y="1114"/>
                  <a:ext cx="1766" cy="2774"/>
                  <a:chOff x="2890" y="1114"/>
                  <a:chExt cx="1766" cy="2774"/>
                </a:xfrm>
              </p:grpSpPr>
              <p:sp>
                <p:nvSpPr>
                  <p:cNvPr id="3128483" name="Line 163"/>
                  <p:cNvSpPr>
                    <a:spLocks noChangeShapeType="1"/>
                  </p:cNvSpPr>
                  <p:nvPr/>
                </p:nvSpPr>
                <p:spPr bwMode="auto">
                  <a:xfrm>
                    <a:off x="2890"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84" name="Line 164"/>
                  <p:cNvSpPr>
                    <a:spLocks noChangeShapeType="1"/>
                  </p:cNvSpPr>
                  <p:nvPr/>
                </p:nvSpPr>
                <p:spPr bwMode="auto">
                  <a:xfrm>
                    <a:off x="375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85" name="Line 165"/>
                  <p:cNvSpPr>
                    <a:spLocks noChangeShapeType="1"/>
                  </p:cNvSpPr>
                  <p:nvPr/>
                </p:nvSpPr>
                <p:spPr bwMode="auto">
                  <a:xfrm>
                    <a:off x="346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86" name="Line 166"/>
                  <p:cNvSpPr>
                    <a:spLocks noChangeShapeType="1"/>
                  </p:cNvSpPr>
                  <p:nvPr/>
                </p:nvSpPr>
                <p:spPr bwMode="auto">
                  <a:xfrm>
                    <a:off x="317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8487" name="Group 167"/>
                <p:cNvGrpSpPr>
                  <a:grpSpLocks/>
                </p:cNvGrpSpPr>
                <p:nvPr/>
              </p:nvGrpSpPr>
              <p:grpSpPr bwMode="auto">
                <a:xfrm>
                  <a:off x="4090" y="1114"/>
                  <a:ext cx="1766" cy="2774"/>
                  <a:chOff x="4090" y="1114"/>
                  <a:chExt cx="1766" cy="2774"/>
                </a:xfrm>
              </p:grpSpPr>
              <p:sp>
                <p:nvSpPr>
                  <p:cNvPr id="3128488" name="Line 168"/>
                  <p:cNvSpPr>
                    <a:spLocks noChangeShapeType="1"/>
                  </p:cNvSpPr>
                  <p:nvPr/>
                </p:nvSpPr>
                <p:spPr bwMode="auto">
                  <a:xfrm>
                    <a:off x="4090"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89" name="Line 169"/>
                  <p:cNvSpPr>
                    <a:spLocks noChangeShapeType="1"/>
                  </p:cNvSpPr>
                  <p:nvPr/>
                </p:nvSpPr>
                <p:spPr bwMode="auto">
                  <a:xfrm>
                    <a:off x="495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0" name="Line 170"/>
                  <p:cNvSpPr>
                    <a:spLocks noChangeShapeType="1"/>
                  </p:cNvSpPr>
                  <p:nvPr/>
                </p:nvSpPr>
                <p:spPr bwMode="auto">
                  <a:xfrm>
                    <a:off x="466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1" name="Line 171"/>
                  <p:cNvSpPr>
                    <a:spLocks noChangeShapeType="1"/>
                  </p:cNvSpPr>
                  <p:nvPr/>
                </p:nvSpPr>
                <p:spPr bwMode="auto">
                  <a:xfrm>
                    <a:off x="437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sp>
          <p:nvSpPr>
            <p:cNvPr id="3128492" name="Line 172"/>
            <p:cNvSpPr>
              <a:spLocks noChangeShapeType="1"/>
            </p:cNvSpPr>
            <p:nvPr/>
          </p:nvSpPr>
          <p:spPr bwMode="auto">
            <a:xfrm>
              <a:off x="490" y="1392"/>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3" name="Line 173"/>
            <p:cNvSpPr>
              <a:spLocks noChangeShapeType="1"/>
            </p:cNvSpPr>
            <p:nvPr/>
          </p:nvSpPr>
          <p:spPr bwMode="auto">
            <a:xfrm>
              <a:off x="586" y="1680"/>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4" name="Line 174"/>
            <p:cNvSpPr>
              <a:spLocks noChangeShapeType="1"/>
            </p:cNvSpPr>
            <p:nvPr/>
          </p:nvSpPr>
          <p:spPr bwMode="auto">
            <a:xfrm>
              <a:off x="490" y="1968"/>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5" name="Line 175"/>
            <p:cNvSpPr>
              <a:spLocks noChangeShapeType="1"/>
            </p:cNvSpPr>
            <p:nvPr/>
          </p:nvSpPr>
          <p:spPr bwMode="auto">
            <a:xfrm>
              <a:off x="586" y="2256"/>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6" name="Line 176"/>
            <p:cNvSpPr>
              <a:spLocks noChangeShapeType="1"/>
            </p:cNvSpPr>
            <p:nvPr/>
          </p:nvSpPr>
          <p:spPr bwMode="auto">
            <a:xfrm>
              <a:off x="490" y="2496"/>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7" name="Line 177"/>
            <p:cNvSpPr>
              <a:spLocks noChangeShapeType="1"/>
            </p:cNvSpPr>
            <p:nvPr/>
          </p:nvSpPr>
          <p:spPr bwMode="auto">
            <a:xfrm>
              <a:off x="586" y="2784"/>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8" name="Line 178"/>
            <p:cNvSpPr>
              <a:spLocks noChangeShapeType="1"/>
            </p:cNvSpPr>
            <p:nvPr/>
          </p:nvSpPr>
          <p:spPr bwMode="auto">
            <a:xfrm>
              <a:off x="490" y="3072"/>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499" name="Line 179"/>
            <p:cNvSpPr>
              <a:spLocks noChangeShapeType="1"/>
            </p:cNvSpPr>
            <p:nvPr/>
          </p:nvSpPr>
          <p:spPr bwMode="auto">
            <a:xfrm>
              <a:off x="586" y="3360"/>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500" name="Line 180"/>
            <p:cNvSpPr>
              <a:spLocks noChangeShapeType="1"/>
            </p:cNvSpPr>
            <p:nvPr/>
          </p:nvSpPr>
          <p:spPr bwMode="auto">
            <a:xfrm>
              <a:off x="586" y="3648"/>
              <a:ext cx="531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8501" name="Oval 181" descr="Outlined diamond"/>
          <p:cNvSpPr>
            <a:spLocks noChangeArrowheads="1"/>
          </p:cNvSpPr>
          <p:nvPr/>
        </p:nvSpPr>
        <p:spPr bwMode="auto">
          <a:xfrm>
            <a:off x="1693863" y="4197350"/>
            <a:ext cx="1887537" cy="901700"/>
          </a:xfrm>
          <a:prstGeom prst="ellipse">
            <a:avLst/>
          </a:prstGeom>
          <a:pattFill prst="openDmnd">
            <a:fgClr>
              <a:srgbClr val="000000"/>
            </a:fgClr>
            <a:bgClr>
              <a:schemeClr val="tx1"/>
            </a:bgClr>
          </a:patt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8502" name="Oval 182" descr="Outlined diamond"/>
          <p:cNvSpPr>
            <a:spLocks noChangeArrowheads="1"/>
          </p:cNvSpPr>
          <p:nvPr/>
        </p:nvSpPr>
        <p:spPr bwMode="auto">
          <a:xfrm>
            <a:off x="2678113" y="3282950"/>
            <a:ext cx="1887537" cy="901700"/>
          </a:xfrm>
          <a:prstGeom prst="ellipse">
            <a:avLst/>
          </a:prstGeom>
          <a:pattFill prst="openDmnd">
            <a:fgClr>
              <a:srgbClr val="000000"/>
            </a:fgClr>
            <a:bgClr>
              <a:schemeClr val="tx1"/>
            </a:bgClr>
          </a:patt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cSld>
  <p:clrMapOvr>
    <a:masterClrMapping/>
  </p:clrMapOvr>
  <p:transition>
    <p:dissolv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9346" name="Rectangle 2"/>
          <p:cNvSpPr>
            <a:spLocks noGrp="1" noChangeArrowheads="1"/>
          </p:cNvSpPr>
          <p:nvPr>
            <p:ph type="title"/>
          </p:nvPr>
        </p:nvSpPr>
        <p:spPr>
          <a:noFill/>
          <a:ln/>
        </p:spPr>
        <p:txBody>
          <a:bodyPr/>
          <a:lstStyle/>
          <a:p>
            <a:pPr eaLnBrk="0" hangingPunct="0"/>
            <a:r>
              <a:rPr lang="en-GB"/>
              <a:t>More tests of the business critical parts of the system</a:t>
            </a:r>
          </a:p>
        </p:txBody>
      </p:sp>
      <p:grpSp>
        <p:nvGrpSpPr>
          <p:cNvPr id="3129347" name="Group 3"/>
          <p:cNvGrpSpPr>
            <a:grpSpLocks/>
          </p:cNvGrpSpPr>
          <p:nvPr/>
        </p:nvGrpSpPr>
        <p:grpSpPr bwMode="auto">
          <a:xfrm>
            <a:off x="709613" y="1987550"/>
            <a:ext cx="7654925" cy="4025900"/>
            <a:chOff x="484" y="1252"/>
            <a:chExt cx="5224" cy="2536"/>
          </a:xfrm>
        </p:grpSpPr>
        <p:sp>
          <p:nvSpPr>
            <p:cNvPr id="3129348" name="Oval 4"/>
            <p:cNvSpPr>
              <a:spLocks noChangeArrowheads="1"/>
            </p:cNvSpPr>
            <p:nvPr/>
          </p:nvSpPr>
          <p:spPr bwMode="auto">
            <a:xfrm>
              <a:off x="484" y="1252"/>
              <a:ext cx="5224" cy="2536"/>
            </a:xfrm>
            <a:prstGeom prst="ellipse">
              <a:avLst/>
            </a:prstGeom>
            <a:solidFill>
              <a:schemeClr val="tx1"/>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9349" name="Group 5"/>
            <p:cNvGrpSpPr>
              <a:grpSpLocks/>
            </p:cNvGrpSpPr>
            <p:nvPr/>
          </p:nvGrpSpPr>
          <p:grpSpPr bwMode="auto">
            <a:xfrm>
              <a:off x="4560" y="2016"/>
              <a:ext cx="960" cy="1104"/>
              <a:chOff x="4560" y="2016"/>
              <a:chExt cx="960" cy="1104"/>
            </a:xfrm>
          </p:grpSpPr>
          <p:sp>
            <p:nvSpPr>
              <p:cNvPr id="3129350" name="Oval 6"/>
              <p:cNvSpPr>
                <a:spLocks noChangeArrowheads="1"/>
              </p:cNvSpPr>
              <p:nvPr/>
            </p:nvSpPr>
            <p:spPr bwMode="auto">
              <a:xfrm>
                <a:off x="4752" y="21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1" name="Oval 7"/>
              <p:cNvSpPr>
                <a:spLocks noChangeArrowheads="1"/>
              </p:cNvSpPr>
              <p:nvPr/>
            </p:nvSpPr>
            <p:spPr bwMode="auto">
              <a:xfrm>
                <a:off x="4608"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2" name="Oval 8"/>
              <p:cNvSpPr>
                <a:spLocks noChangeArrowheads="1"/>
              </p:cNvSpPr>
              <p:nvPr/>
            </p:nvSpPr>
            <p:spPr bwMode="auto">
              <a:xfrm>
                <a:off x="4992" y="20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3" name="Oval 9"/>
              <p:cNvSpPr>
                <a:spLocks noChangeArrowheads="1"/>
              </p:cNvSpPr>
              <p:nvPr/>
            </p:nvSpPr>
            <p:spPr bwMode="auto">
              <a:xfrm>
                <a:off x="508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4" name="Oval 10"/>
              <p:cNvSpPr>
                <a:spLocks noChangeArrowheads="1"/>
              </p:cNvSpPr>
              <p:nvPr/>
            </p:nvSpPr>
            <p:spPr bwMode="auto">
              <a:xfrm>
                <a:off x="5136"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5" name="Oval 11"/>
              <p:cNvSpPr>
                <a:spLocks noChangeArrowheads="1"/>
              </p:cNvSpPr>
              <p:nvPr/>
            </p:nvSpPr>
            <p:spPr bwMode="auto">
              <a:xfrm>
                <a:off x="5232" y="26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6" name="Oval 12"/>
              <p:cNvSpPr>
                <a:spLocks noChangeArrowheads="1"/>
              </p:cNvSpPr>
              <p:nvPr/>
            </p:nvSpPr>
            <p:spPr bwMode="auto">
              <a:xfrm>
                <a:off x="4848"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7" name="Oval 13"/>
              <p:cNvSpPr>
                <a:spLocks noChangeArrowheads="1"/>
              </p:cNvSpPr>
              <p:nvPr/>
            </p:nvSpPr>
            <p:spPr bwMode="auto">
              <a:xfrm>
                <a:off x="5424"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8" name="Oval 14"/>
              <p:cNvSpPr>
                <a:spLocks noChangeArrowheads="1"/>
              </p:cNvSpPr>
              <p:nvPr/>
            </p:nvSpPr>
            <p:spPr bwMode="auto">
              <a:xfrm>
                <a:off x="53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59" name="Oval 15"/>
              <p:cNvSpPr>
                <a:spLocks noChangeArrowheads="1"/>
              </p:cNvSpPr>
              <p:nvPr/>
            </p:nvSpPr>
            <p:spPr bwMode="auto">
              <a:xfrm>
                <a:off x="4800"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60" name="Oval 16"/>
              <p:cNvSpPr>
                <a:spLocks noChangeArrowheads="1"/>
              </p:cNvSpPr>
              <p:nvPr/>
            </p:nvSpPr>
            <p:spPr bwMode="auto">
              <a:xfrm>
                <a:off x="4560"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61" name="Oval 17"/>
              <p:cNvSpPr>
                <a:spLocks noChangeArrowheads="1"/>
              </p:cNvSpPr>
              <p:nvPr/>
            </p:nvSpPr>
            <p:spPr bwMode="auto">
              <a:xfrm>
                <a:off x="523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62" name="Oval 18"/>
              <p:cNvSpPr>
                <a:spLocks noChangeArrowheads="1"/>
              </p:cNvSpPr>
              <p:nvPr/>
            </p:nvSpPr>
            <p:spPr bwMode="auto">
              <a:xfrm>
                <a:off x="4752" y="30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363" name="Group 19"/>
            <p:cNvGrpSpPr>
              <a:grpSpLocks/>
            </p:cNvGrpSpPr>
            <p:nvPr/>
          </p:nvGrpSpPr>
          <p:grpSpPr bwMode="auto">
            <a:xfrm>
              <a:off x="3552" y="1392"/>
              <a:ext cx="960" cy="1104"/>
              <a:chOff x="3552" y="1392"/>
              <a:chExt cx="960" cy="1104"/>
            </a:xfrm>
          </p:grpSpPr>
          <p:sp>
            <p:nvSpPr>
              <p:cNvPr id="3129364" name="Oval 20"/>
              <p:cNvSpPr>
                <a:spLocks noChangeArrowheads="1"/>
              </p:cNvSpPr>
              <p:nvPr/>
            </p:nvSpPr>
            <p:spPr bwMode="auto">
              <a:xfrm>
                <a:off x="3744" y="15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65" name="Oval 21"/>
              <p:cNvSpPr>
                <a:spLocks noChangeArrowheads="1"/>
              </p:cNvSpPr>
              <p:nvPr/>
            </p:nvSpPr>
            <p:spPr bwMode="auto">
              <a:xfrm>
                <a:off x="3600" y="21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66" name="Oval 22"/>
              <p:cNvSpPr>
                <a:spLocks noChangeArrowheads="1"/>
              </p:cNvSpPr>
              <p:nvPr/>
            </p:nvSpPr>
            <p:spPr bwMode="auto">
              <a:xfrm>
                <a:off x="3984"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67" name="Oval 23"/>
              <p:cNvSpPr>
                <a:spLocks noChangeArrowheads="1"/>
              </p:cNvSpPr>
              <p:nvPr/>
            </p:nvSpPr>
            <p:spPr bwMode="auto">
              <a:xfrm>
                <a:off x="4080"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68" name="Oval 24"/>
              <p:cNvSpPr>
                <a:spLocks noChangeArrowheads="1"/>
              </p:cNvSpPr>
              <p:nvPr/>
            </p:nvSpPr>
            <p:spPr bwMode="auto">
              <a:xfrm>
                <a:off x="41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69" name="Oval 25"/>
              <p:cNvSpPr>
                <a:spLocks noChangeArrowheads="1"/>
              </p:cNvSpPr>
              <p:nvPr/>
            </p:nvSpPr>
            <p:spPr bwMode="auto">
              <a:xfrm>
                <a:off x="4224" y="20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70" name="Oval 26"/>
              <p:cNvSpPr>
                <a:spLocks noChangeArrowheads="1"/>
              </p:cNvSpPr>
              <p:nvPr/>
            </p:nvSpPr>
            <p:spPr bwMode="auto">
              <a:xfrm>
                <a:off x="3840" y="21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71" name="Oval 27"/>
              <p:cNvSpPr>
                <a:spLocks noChangeArrowheads="1"/>
              </p:cNvSpPr>
              <p:nvPr/>
            </p:nvSpPr>
            <p:spPr bwMode="auto">
              <a:xfrm>
                <a:off x="4416" y="22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72" name="Oval 28"/>
              <p:cNvSpPr>
                <a:spLocks noChangeArrowheads="1"/>
              </p:cNvSpPr>
              <p:nvPr/>
            </p:nvSpPr>
            <p:spPr bwMode="auto">
              <a:xfrm>
                <a:off x="4320"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73" name="Oval 29"/>
              <p:cNvSpPr>
                <a:spLocks noChangeArrowheads="1"/>
              </p:cNvSpPr>
              <p:nvPr/>
            </p:nvSpPr>
            <p:spPr bwMode="auto">
              <a:xfrm>
                <a:off x="3792" y="17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74" name="Oval 30"/>
              <p:cNvSpPr>
                <a:spLocks noChangeArrowheads="1"/>
              </p:cNvSpPr>
              <p:nvPr/>
            </p:nvSpPr>
            <p:spPr bwMode="auto">
              <a:xfrm>
                <a:off x="3552" y="18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75" name="Oval 31"/>
              <p:cNvSpPr>
                <a:spLocks noChangeArrowheads="1"/>
              </p:cNvSpPr>
              <p:nvPr/>
            </p:nvSpPr>
            <p:spPr bwMode="auto">
              <a:xfrm>
                <a:off x="4224" y="14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76" name="Oval 32"/>
              <p:cNvSpPr>
                <a:spLocks noChangeArrowheads="1"/>
              </p:cNvSpPr>
              <p:nvPr/>
            </p:nvSpPr>
            <p:spPr bwMode="auto">
              <a:xfrm>
                <a:off x="3744"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377" name="Group 33"/>
            <p:cNvGrpSpPr>
              <a:grpSpLocks/>
            </p:cNvGrpSpPr>
            <p:nvPr/>
          </p:nvGrpSpPr>
          <p:grpSpPr bwMode="auto">
            <a:xfrm>
              <a:off x="1536" y="2448"/>
              <a:ext cx="960" cy="1104"/>
              <a:chOff x="1536" y="2448"/>
              <a:chExt cx="960" cy="1104"/>
            </a:xfrm>
          </p:grpSpPr>
          <p:sp>
            <p:nvSpPr>
              <p:cNvPr id="3129378" name="Oval 34"/>
              <p:cNvSpPr>
                <a:spLocks noChangeArrowheads="1"/>
              </p:cNvSpPr>
              <p:nvPr/>
            </p:nvSpPr>
            <p:spPr bwMode="auto">
              <a:xfrm>
                <a:off x="1728"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79" name="Oval 35"/>
              <p:cNvSpPr>
                <a:spLocks noChangeArrowheads="1"/>
              </p:cNvSpPr>
              <p:nvPr/>
            </p:nvSpPr>
            <p:spPr bwMode="auto">
              <a:xfrm>
                <a:off x="158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0" name="Oval 36"/>
              <p:cNvSpPr>
                <a:spLocks noChangeArrowheads="1"/>
              </p:cNvSpPr>
              <p:nvPr/>
            </p:nvSpPr>
            <p:spPr bwMode="auto">
              <a:xfrm>
                <a:off x="1968"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1" name="Oval 37"/>
              <p:cNvSpPr>
                <a:spLocks noChangeArrowheads="1"/>
              </p:cNvSpPr>
              <p:nvPr/>
            </p:nvSpPr>
            <p:spPr bwMode="auto">
              <a:xfrm>
                <a:off x="2064"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2" name="Oval 38"/>
              <p:cNvSpPr>
                <a:spLocks noChangeArrowheads="1"/>
              </p:cNvSpPr>
              <p:nvPr/>
            </p:nvSpPr>
            <p:spPr bwMode="auto">
              <a:xfrm>
                <a:off x="2112" y="34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3" name="Oval 39"/>
              <p:cNvSpPr>
                <a:spLocks noChangeArrowheads="1"/>
              </p:cNvSpPr>
              <p:nvPr/>
            </p:nvSpPr>
            <p:spPr bwMode="auto">
              <a:xfrm>
                <a:off x="220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4" name="Oval 40"/>
              <p:cNvSpPr>
                <a:spLocks noChangeArrowheads="1"/>
              </p:cNvSpPr>
              <p:nvPr/>
            </p:nvSpPr>
            <p:spPr bwMode="auto">
              <a:xfrm>
                <a:off x="182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5" name="Oval 41"/>
              <p:cNvSpPr>
                <a:spLocks noChangeArrowheads="1"/>
              </p:cNvSpPr>
              <p:nvPr/>
            </p:nvSpPr>
            <p:spPr bwMode="auto">
              <a:xfrm>
                <a:off x="2400"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6" name="Oval 42"/>
              <p:cNvSpPr>
                <a:spLocks noChangeArrowheads="1"/>
              </p:cNvSpPr>
              <p:nvPr/>
            </p:nvSpPr>
            <p:spPr bwMode="auto">
              <a:xfrm>
                <a:off x="2304"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7" name="Oval 43"/>
              <p:cNvSpPr>
                <a:spLocks noChangeArrowheads="1"/>
              </p:cNvSpPr>
              <p:nvPr/>
            </p:nvSpPr>
            <p:spPr bwMode="auto">
              <a:xfrm>
                <a:off x="1776"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8" name="Oval 44"/>
              <p:cNvSpPr>
                <a:spLocks noChangeArrowheads="1"/>
              </p:cNvSpPr>
              <p:nvPr/>
            </p:nvSpPr>
            <p:spPr bwMode="auto">
              <a:xfrm>
                <a:off x="153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89" name="Oval 45"/>
              <p:cNvSpPr>
                <a:spLocks noChangeArrowheads="1"/>
              </p:cNvSpPr>
              <p:nvPr/>
            </p:nvSpPr>
            <p:spPr bwMode="auto">
              <a:xfrm>
                <a:off x="2208"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90" name="Oval 46"/>
              <p:cNvSpPr>
                <a:spLocks noChangeArrowheads="1"/>
              </p:cNvSpPr>
              <p:nvPr/>
            </p:nvSpPr>
            <p:spPr bwMode="auto">
              <a:xfrm>
                <a:off x="1728" y="34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391" name="Group 47"/>
            <p:cNvGrpSpPr>
              <a:grpSpLocks/>
            </p:cNvGrpSpPr>
            <p:nvPr/>
          </p:nvGrpSpPr>
          <p:grpSpPr bwMode="auto">
            <a:xfrm>
              <a:off x="3648" y="2544"/>
              <a:ext cx="960" cy="1104"/>
              <a:chOff x="3648" y="2544"/>
              <a:chExt cx="960" cy="1104"/>
            </a:xfrm>
          </p:grpSpPr>
          <p:sp>
            <p:nvSpPr>
              <p:cNvPr id="3129392" name="Oval 48"/>
              <p:cNvSpPr>
                <a:spLocks noChangeArrowheads="1"/>
              </p:cNvSpPr>
              <p:nvPr/>
            </p:nvSpPr>
            <p:spPr bwMode="auto">
              <a:xfrm>
                <a:off x="3840"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93" name="Oval 49"/>
              <p:cNvSpPr>
                <a:spLocks noChangeArrowheads="1"/>
              </p:cNvSpPr>
              <p:nvPr/>
            </p:nvSpPr>
            <p:spPr bwMode="auto">
              <a:xfrm>
                <a:off x="3696"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94" name="Oval 50"/>
              <p:cNvSpPr>
                <a:spLocks noChangeArrowheads="1"/>
              </p:cNvSpPr>
              <p:nvPr/>
            </p:nvSpPr>
            <p:spPr bwMode="auto">
              <a:xfrm>
                <a:off x="4080"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95" name="Oval 51"/>
              <p:cNvSpPr>
                <a:spLocks noChangeArrowheads="1"/>
              </p:cNvSpPr>
              <p:nvPr/>
            </p:nvSpPr>
            <p:spPr bwMode="auto">
              <a:xfrm>
                <a:off x="417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96" name="Oval 52"/>
              <p:cNvSpPr>
                <a:spLocks noChangeArrowheads="1"/>
              </p:cNvSpPr>
              <p:nvPr/>
            </p:nvSpPr>
            <p:spPr bwMode="auto">
              <a:xfrm>
                <a:off x="4224" y="35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97" name="Oval 53"/>
              <p:cNvSpPr>
                <a:spLocks noChangeArrowheads="1"/>
              </p:cNvSpPr>
              <p:nvPr/>
            </p:nvSpPr>
            <p:spPr bwMode="auto">
              <a:xfrm>
                <a:off x="4320"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98" name="Oval 54"/>
              <p:cNvSpPr>
                <a:spLocks noChangeArrowheads="1"/>
              </p:cNvSpPr>
              <p:nvPr/>
            </p:nvSpPr>
            <p:spPr bwMode="auto">
              <a:xfrm>
                <a:off x="3936"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399" name="Oval 55"/>
              <p:cNvSpPr>
                <a:spLocks noChangeArrowheads="1"/>
              </p:cNvSpPr>
              <p:nvPr/>
            </p:nvSpPr>
            <p:spPr bwMode="auto">
              <a:xfrm>
                <a:off x="4512" y="33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00" name="Oval 56"/>
              <p:cNvSpPr>
                <a:spLocks noChangeArrowheads="1"/>
              </p:cNvSpPr>
              <p:nvPr/>
            </p:nvSpPr>
            <p:spPr bwMode="auto">
              <a:xfrm>
                <a:off x="4416"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01" name="Oval 57"/>
              <p:cNvSpPr>
                <a:spLocks noChangeArrowheads="1"/>
              </p:cNvSpPr>
              <p:nvPr/>
            </p:nvSpPr>
            <p:spPr bwMode="auto">
              <a:xfrm>
                <a:off x="3888"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02" name="Oval 58"/>
              <p:cNvSpPr>
                <a:spLocks noChangeArrowheads="1"/>
              </p:cNvSpPr>
              <p:nvPr/>
            </p:nvSpPr>
            <p:spPr bwMode="auto">
              <a:xfrm>
                <a:off x="3648"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03" name="Oval 59"/>
              <p:cNvSpPr>
                <a:spLocks noChangeArrowheads="1"/>
              </p:cNvSpPr>
              <p:nvPr/>
            </p:nvSpPr>
            <p:spPr bwMode="auto">
              <a:xfrm>
                <a:off x="4320"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04" name="Oval 60"/>
              <p:cNvSpPr>
                <a:spLocks noChangeArrowheads="1"/>
              </p:cNvSpPr>
              <p:nvPr/>
            </p:nvSpPr>
            <p:spPr bwMode="auto">
              <a:xfrm>
                <a:off x="3840" y="35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405" name="Group 61"/>
            <p:cNvGrpSpPr>
              <a:grpSpLocks/>
            </p:cNvGrpSpPr>
            <p:nvPr/>
          </p:nvGrpSpPr>
          <p:grpSpPr bwMode="auto">
            <a:xfrm>
              <a:off x="1536" y="2208"/>
              <a:ext cx="960" cy="1104"/>
              <a:chOff x="1536" y="2208"/>
              <a:chExt cx="960" cy="1104"/>
            </a:xfrm>
          </p:grpSpPr>
          <p:sp>
            <p:nvSpPr>
              <p:cNvPr id="3129406" name="Oval 62"/>
              <p:cNvSpPr>
                <a:spLocks noChangeArrowheads="1"/>
              </p:cNvSpPr>
              <p:nvPr/>
            </p:nvSpPr>
            <p:spPr bwMode="auto">
              <a:xfrm>
                <a:off x="1728"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07" name="Oval 63"/>
              <p:cNvSpPr>
                <a:spLocks noChangeArrowheads="1"/>
              </p:cNvSpPr>
              <p:nvPr/>
            </p:nvSpPr>
            <p:spPr bwMode="auto">
              <a:xfrm>
                <a:off x="1584"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08" name="Oval 64"/>
              <p:cNvSpPr>
                <a:spLocks noChangeArrowheads="1"/>
              </p:cNvSpPr>
              <p:nvPr/>
            </p:nvSpPr>
            <p:spPr bwMode="auto">
              <a:xfrm>
                <a:off x="1968" y="22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09" name="Oval 65"/>
              <p:cNvSpPr>
                <a:spLocks noChangeArrowheads="1"/>
              </p:cNvSpPr>
              <p:nvPr/>
            </p:nvSpPr>
            <p:spPr bwMode="auto">
              <a:xfrm>
                <a:off x="2064"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0" name="Oval 66"/>
              <p:cNvSpPr>
                <a:spLocks noChangeArrowheads="1"/>
              </p:cNvSpPr>
              <p:nvPr/>
            </p:nvSpPr>
            <p:spPr bwMode="auto">
              <a:xfrm>
                <a:off x="2112"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1" name="Oval 67"/>
              <p:cNvSpPr>
                <a:spLocks noChangeArrowheads="1"/>
              </p:cNvSpPr>
              <p:nvPr/>
            </p:nvSpPr>
            <p:spPr bwMode="auto">
              <a:xfrm>
                <a:off x="2208"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2" name="Oval 68"/>
              <p:cNvSpPr>
                <a:spLocks noChangeArrowheads="1"/>
              </p:cNvSpPr>
              <p:nvPr/>
            </p:nvSpPr>
            <p:spPr bwMode="auto">
              <a:xfrm>
                <a:off x="1824" y="29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3" name="Oval 69"/>
              <p:cNvSpPr>
                <a:spLocks noChangeArrowheads="1"/>
              </p:cNvSpPr>
              <p:nvPr/>
            </p:nvSpPr>
            <p:spPr bwMode="auto">
              <a:xfrm>
                <a:off x="2400" y="30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4" name="Oval 70"/>
              <p:cNvSpPr>
                <a:spLocks noChangeArrowheads="1"/>
              </p:cNvSpPr>
              <p:nvPr/>
            </p:nvSpPr>
            <p:spPr bwMode="auto">
              <a:xfrm>
                <a:off x="2304"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5" name="Oval 71"/>
              <p:cNvSpPr>
                <a:spLocks noChangeArrowheads="1"/>
              </p:cNvSpPr>
              <p:nvPr/>
            </p:nvSpPr>
            <p:spPr bwMode="auto">
              <a:xfrm>
                <a:off x="1776"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6" name="Oval 72"/>
              <p:cNvSpPr>
                <a:spLocks noChangeArrowheads="1"/>
              </p:cNvSpPr>
              <p:nvPr/>
            </p:nvSpPr>
            <p:spPr bwMode="auto">
              <a:xfrm>
                <a:off x="1536" y="26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7" name="Oval 73"/>
              <p:cNvSpPr>
                <a:spLocks noChangeArrowheads="1"/>
              </p:cNvSpPr>
              <p:nvPr/>
            </p:nvSpPr>
            <p:spPr bwMode="auto">
              <a:xfrm>
                <a:off x="2208" y="22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18" name="Oval 74"/>
              <p:cNvSpPr>
                <a:spLocks noChangeArrowheads="1"/>
              </p:cNvSpPr>
              <p:nvPr/>
            </p:nvSpPr>
            <p:spPr bwMode="auto">
              <a:xfrm>
                <a:off x="1728" y="321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419" name="Group 75"/>
            <p:cNvGrpSpPr>
              <a:grpSpLocks/>
            </p:cNvGrpSpPr>
            <p:nvPr/>
          </p:nvGrpSpPr>
          <p:grpSpPr bwMode="auto">
            <a:xfrm>
              <a:off x="2544" y="1344"/>
              <a:ext cx="960" cy="1104"/>
              <a:chOff x="2544" y="1344"/>
              <a:chExt cx="960" cy="1104"/>
            </a:xfrm>
          </p:grpSpPr>
          <p:sp>
            <p:nvSpPr>
              <p:cNvPr id="3129420" name="Oval 76"/>
              <p:cNvSpPr>
                <a:spLocks noChangeArrowheads="1"/>
              </p:cNvSpPr>
              <p:nvPr/>
            </p:nvSpPr>
            <p:spPr bwMode="auto">
              <a:xfrm>
                <a:off x="2736" y="14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1" name="Oval 77"/>
              <p:cNvSpPr>
                <a:spLocks noChangeArrowheads="1"/>
              </p:cNvSpPr>
              <p:nvPr/>
            </p:nvSpPr>
            <p:spPr bwMode="auto">
              <a:xfrm>
                <a:off x="259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2" name="Oval 78"/>
              <p:cNvSpPr>
                <a:spLocks noChangeArrowheads="1"/>
              </p:cNvSpPr>
              <p:nvPr/>
            </p:nvSpPr>
            <p:spPr bwMode="auto">
              <a:xfrm>
                <a:off x="2976" y="13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3" name="Oval 79"/>
              <p:cNvSpPr>
                <a:spLocks noChangeArrowheads="1"/>
              </p:cNvSpPr>
              <p:nvPr/>
            </p:nvSpPr>
            <p:spPr bwMode="auto">
              <a:xfrm>
                <a:off x="3072"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4" name="Oval 80"/>
              <p:cNvSpPr>
                <a:spLocks noChangeArrowheads="1"/>
              </p:cNvSpPr>
              <p:nvPr/>
            </p:nvSpPr>
            <p:spPr bwMode="auto">
              <a:xfrm>
                <a:off x="3120" y="23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5" name="Oval 81"/>
              <p:cNvSpPr>
                <a:spLocks noChangeArrowheads="1"/>
              </p:cNvSpPr>
              <p:nvPr/>
            </p:nvSpPr>
            <p:spPr bwMode="auto">
              <a:xfrm>
                <a:off x="3216" y="19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6" name="Oval 82"/>
              <p:cNvSpPr>
                <a:spLocks noChangeArrowheads="1"/>
              </p:cNvSpPr>
              <p:nvPr/>
            </p:nvSpPr>
            <p:spPr bwMode="auto">
              <a:xfrm>
                <a:off x="2832" y="20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7" name="Oval 83"/>
              <p:cNvSpPr>
                <a:spLocks noChangeArrowheads="1"/>
              </p:cNvSpPr>
              <p:nvPr/>
            </p:nvSpPr>
            <p:spPr bwMode="auto">
              <a:xfrm>
                <a:off x="3408" y="21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8" name="Oval 84"/>
              <p:cNvSpPr>
                <a:spLocks noChangeArrowheads="1"/>
              </p:cNvSpPr>
              <p:nvPr/>
            </p:nvSpPr>
            <p:spPr bwMode="auto">
              <a:xfrm>
                <a:off x="3312"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29" name="Oval 85"/>
              <p:cNvSpPr>
                <a:spLocks noChangeArrowheads="1"/>
              </p:cNvSpPr>
              <p:nvPr/>
            </p:nvSpPr>
            <p:spPr bwMode="auto">
              <a:xfrm>
                <a:off x="2784" y="17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30" name="Oval 86"/>
              <p:cNvSpPr>
                <a:spLocks noChangeArrowheads="1"/>
              </p:cNvSpPr>
              <p:nvPr/>
            </p:nvSpPr>
            <p:spPr bwMode="auto">
              <a:xfrm>
                <a:off x="2544" y="17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31" name="Oval 87"/>
              <p:cNvSpPr>
                <a:spLocks noChangeArrowheads="1"/>
              </p:cNvSpPr>
              <p:nvPr/>
            </p:nvSpPr>
            <p:spPr bwMode="auto">
              <a:xfrm>
                <a:off x="3216"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32" name="Oval 88"/>
              <p:cNvSpPr>
                <a:spLocks noChangeArrowheads="1"/>
              </p:cNvSpPr>
              <p:nvPr/>
            </p:nvSpPr>
            <p:spPr bwMode="auto">
              <a:xfrm>
                <a:off x="2736"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433" name="Group 89"/>
            <p:cNvGrpSpPr>
              <a:grpSpLocks/>
            </p:cNvGrpSpPr>
            <p:nvPr/>
          </p:nvGrpSpPr>
          <p:grpSpPr bwMode="auto">
            <a:xfrm>
              <a:off x="1632" y="1704"/>
              <a:ext cx="960" cy="1104"/>
              <a:chOff x="1632" y="1704"/>
              <a:chExt cx="960" cy="1104"/>
            </a:xfrm>
          </p:grpSpPr>
          <p:sp>
            <p:nvSpPr>
              <p:cNvPr id="3129434" name="Oval 90"/>
              <p:cNvSpPr>
                <a:spLocks noChangeArrowheads="1"/>
              </p:cNvSpPr>
              <p:nvPr/>
            </p:nvSpPr>
            <p:spPr bwMode="auto">
              <a:xfrm>
                <a:off x="1824" y="18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35" name="Oval 91"/>
              <p:cNvSpPr>
                <a:spLocks noChangeArrowheads="1"/>
              </p:cNvSpPr>
              <p:nvPr/>
            </p:nvSpPr>
            <p:spPr bwMode="auto">
              <a:xfrm>
                <a:off x="1680" y="24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36" name="Oval 92"/>
              <p:cNvSpPr>
                <a:spLocks noChangeArrowheads="1"/>
              </p:cNvSpPr>
              <p:nvPr/>
            </p:nvSpPr>
            <p:spPr bwMode="auto">
              <a:xfrm>
                <a:off x="2064" y="17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37" name="Oval 93"/>
              <p:cNvSpPr>
                <a:spLocks noChangeArrowheads="1"/>
              </p:cNvSpPr>
              <p:nvPr/>
            </p:nvSpPr>
            <p:spPr bwMode="auto">
              <a:xfrm>
                <a:off x="2160" y="20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38" name="Oval 94"/>
              <p:cNvSpPr>
                <a:spLocks noChangeArrowheads="1"/>
              </p:cNvSpPr>
              <p:nvPr/>
            </p:nvSpPr>
            <p:spPr bwMode="auto">
              <a:xfrm>
                <a:off x="2208" y="26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39" name="Oval 95"/>
              <p:cNvSpPr>
                <a:spLocks noChangeArrowheads="1"/>
              </p:cNvSpPr>
              <p:nvPr/>
            </p:nvSpPr>
            <p:spPr bwMode="auto">
              <a:xfrm>
                <a:off x="2304" y="232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40" name="Oval 96"/>
              <p:cNvSpPr>
                <a:spLocks noChangeArrowheads="1"/>
              </p:cNvSpPr>
              <p:nvPr/>
            </p:nvSpPr>
            <p:spPr bwMode="auto">
              <a:xfrm>
                <a:off x="1920" y="242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41" name="Oval 97"/>
              <p:cNvSpPr>
                <a:spLocks noChangeArrowheads="1"/>
              </p:cNvSpPr>
              <p:nvPr/>
            </p:nvSpPr>
            <p:spPr bwMode="auto">
              <a:xfrm>
                <a:off x="2496" y="25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42" name="Oval 98"/>
              <p:cNvSpPr>
                <a:spLocks noChangeArrowheads="1"/>
              </p:cNvSpPr>
              <p:nvPr/>
            </p:nvSpPr>
            <p:spPr bwMode="auto">
              <a:xfrm>
                <a:off x="2400" y="204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43" name="Oval 99"/>
              <p:cNvSpPr>
                <a:spLocks noChangeArrowheads="1"/>
              </p:cNvSpPr>
              <p:nvPr/>
            </p:nvSpPr>
            <p:spPr bwMode="auto">
              <a:xfrm>
                <a:off x="1872" y="20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44" name="Oval 100"/>
              <p:cNvSpPr>
                <a:spLocks noChangeArrowheads="1"/>
              </p:cNvSpPr>
              <p:nvPr/>
            </p:nvSpPr>
            <p:spPr bwMode="auto">
              <a:xfrm>
                <a:off x="1632" y="21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45" name="Oval 101"/>
              <p:cNvSpPr>
                <a:spLocks noChangeArrowheads="1"/>
              </p:cNvSpPr>
              <p:nvPr/>
            </p:nvSpPr>
            <p:spPr bwMode="auto">
              <a:xfrm>
                <a:off x="2304" y="17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46" name="Oval 102"/>
              <p:cNvSpPr>
                <a:spLocks noChangeArrowheads="1"/>
              </p:cNvSpPr>
              <p:nvPr/>
            </p:nvSpPr>
            <p:spPr bwMode="auto">
              <a:xfrm>
                <a:off x="1824" y="27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9447" name="Oval 103"/>
            <p:cNvSpPr>
              <a:spLocks noChangeArrowheads="1"/>
            </p:cNvSpPr>
            <p:nvPr/>
          </p:nvSpPr>
          <p:spPr bwMode="auto">
            <a:xfrm>
              <a:off x="3504" y="13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29448" name="Oval 104"/>
            <p:cNvSpPr>
              <a:spLocks noChangeArrowheads="1"/>
            </p:cNvSpPr>
            <p:nvPr/>
          </p:nvSpPr>
          <p:spPr bwMode="auto">
            <a:xfrm>
              <a:off x="2496" y="254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49" name="Oval 105"/>
            <p:cNvSpPr>
              <a:spLocks noChangeArrowheads="1"/>
            </p:cNvSpPr>
            <p:nvPr/>
          </p:nvSpPr>
          <p:spPr bwMode="auto">
            <a:xfrm>
              <a:off x="110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50" name="Oval 106"/>
            <p:cNvSpPr>
              <a:spLocks noChangeArrowheads="1"/>
            </p:cNvSpPr>
            <p:nvPr/>
          </p:nvSpPr>
          <p:spPr bwMode="auto">
            <a:xfrm>
              <a:off x="1392" y="33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51" name="Oval 107"/>
            <p:cNvSpPr>
              <a:spLocks noChangeArrowheads="1"/>
            </p:cNvSpPr>
            <p:nvPr/>
          </p:nvSpPr>
          <p:spPr bwMode="auto">
            <a:xfrm>
              <a:off x="1440" y="16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52" name="Oval 108"/>
            <p:cNvSpPr>
              <a:spLocks noChangeArrowheads="1"/>
            </p:cNvSpPr>
            <p:nvPr/>
          </p:nvSpPr>
          <p:spPr bwMode="auto">
            <a:xfrm>
              <a:off x="1152" y="18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53" name="Oval 109"/>
            <p:cNvSpPr>
              <a:spLocks noChangeArrowheads="1"/>
            </p:cNvSpPr>
            <p:nvPr/>
          </p:nvSpPr>
          <p:spPr bwMode="auto">
            <a:xfrm>
              <a:off x="912" y="19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9454" name="Group 110"/>
            <p:cNvGrpSpPr>
              <a:grpSpLocks/>
            </p:cNvGrpSpPr>
            <p:nvPr/>
          </p:nvGrpSpPr>
          <p:grpSpPr bwMode="auto">
            <a:xfrm>
              <a:off x="2400" y="3504"/>
              <a:ext cx="336" cy="144"/>
              <a:chOff x="2400" y="3504"/>
              <a:chExt cx="336" cy="144"/>
            </a:xfrm>
          </p:grpSpPr>
          <p:sp>
            <p:nvSpPr>
              <p:cNvPr id="3129455" name="Oval 111"/>
              <p:cNvSpPr>
                <a:spLocks noChangeArrowheads="1"/>
              </p:cNvSpPr>
              <p:nvPr/>
            </p:nvSpPr>
            <p:spPr bwMode="auto">
              <a:xfrm>
                <a:off x="2400" y="350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56" name="Oval 112"/>
              <p:cNvSpPr>
                <a:spLocks noChangeArrowheads="1"/>
              </p:cNvSpPr>
              <p:nvPr/>
            </p:nvSpPr>
            <p:spPr bwMode="auto">
              <a:xfrm>
                <a:off x="2640" y="35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457" name="Group 113"/>
            <p:cNvGrpSpPr>
              <a:grpSpLocks/>
            </p:cNvGrpSpPr>
            <p:nvPr/>
          </p:nvGrpSpPr>
          <p:grpSpPr bwMode="auto">
            <a:xfrm>
              <a:off x="4464" y="1632"/>
              <a:ext cx="624" cy="384"/>
              <a:chOff x="4464" y="1632"/>
              <a:chExt cx="624" cy="384"/>
            </a:xfrm>
          </p:grpSpPr>
          <p:sp>
            <p:nvSpPr>
              <p:cNvPr id="3129458" name="Oval 114"/>
              <p:cNvSpPr>
                <a:spLocks noChangeArrowheads="1"/>
              </p:cNvSpPr>
              <p:nvPr/>
            </p:nvSpPr>
            <p:spPr bwMode="auto">
              <a:xfrm>
                <a:off x="4464" y="16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59" name="Oval 115"/>
              <p:cNvSpPr>
                <a:spLocks noChangeArrowheads="1"/>
              </p:cNvSpPr>
              <p:nvPr/>
            </p:nvSpPr>
            <p:spPr bwMode="auto">
              <a:xfrm>
                <a:off x="4992" y="18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60" name="Oval 116"/>
              <p:cNvSpPr>
                <a:spLocks noChangeArrowheads="1"/>
              </p:cNvSpPr>
              <p:nvPr/>
            </p:nvSpPr>
            <p:spPr bwMode="auto">
              <a:xfrm>
                <a:off x="4704" y="16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61" name="Oval 117"/>
              <p:cNvSpPr>
                <a:spLocks noChangeArrowheads="1"/>
              </p:cNvSpPr>
              <p:nvPr/>
            </p:nvSpPr>
            <p:spPr bwMode="auto">
              <a:xfrm>
                <a:off x="4608" y="19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462" name="Group 118"/>
            <p:cNvGrpSpPr>
              <a:grpSpLocks/>
            </p:cNvGrpSpPr>
            <p:nvPr/>
          </p:nvGrpSpPr>
          <p:grpSpPr bwMode="auto">
            <a:xfrm>
              <a:off x="2640" y="2448"/>
              <a:ext cx="960" cy="1104"/>
              <a:chOff x="2640" y="2448"/>
              <a:chExt cx="960" cy="1104"/>
            </a:xfrm>
          </p:grpSpPr>
          <p:sp>
            <p:nvSpPr>
              <p:cNvPr id="3129463" name="Oval 119"/>
              <p:cNvSpPr>
                <a:spLocks noChangeArrowheads="1"/>
              </p:cNvSpPr>
              <p:nvPr/>
            </p:nvSpPr>
            <p:spPr bwMode="auto">
              <a:xfrm>
                <a:off x="2832" y="259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64" name="Oval 120"/>
              <p:cNvSpPr>
                <a:spLocks noChangeArrowheads="1"/>
              </p:cNvSpPr>
              <p:nvPr/>
            </p:nvSpPr>
            <p:spPr bwMode="auto">
              <a:xfrm>
                <a:off x="2688"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65" name="Oval 121"/>
              <p:cNvSpPr>
                <a:spLocks noChangeArrowheads="1"/>
              </p:cNvSpPr>
              <p:nvPr/>
            </p:nvSpPr>
            <p:spPr bwMode="auto">
              <a:xfrm>
                <a:off x="3072" y="244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66" name="Oval 122"/>
              <p:cNvSpPr>
                <a:spLocks noChangeArrowheads="1"/>
              </p:cNvSpPr>
              <p:nvPr/>
            </p:nvSpPr>
            <p:spPr bwMode="auto">
              <a:xfrm>
                <a:off x="3168"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67" name="Oval 123"/>
              <p:cNvSpPr>
                <a:spLocks noChangeArrowheads="1"/>
              </p:cNvSpPr>
              <p:nvPr/>
            </p:nvSpPr>
            <p:spPr bwMode="auto">
              <a:xfrm>
                <a:off x="3216" y="340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68" name="Oval 124"/>
              <p:cNvSpPr>
                <a:spLocks noChangeArrowheads="1"/>
              </p:cNvSpPr>
              <p:nvPr/>
            </p:nvSpPr>
            <p:spPr bwMode="auto">
              <a:xfrm>
                <a:off x="3312"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69" name="Oval 125"/>
              <p:cNvSpPr>
                <a:spLocks noChangeArrowheads="1"/>
              </p:cNvSpPr>
              <p:nvPr/>
            </p:nvSpPr>
            <p:spPr bwMode="auto">
              <a:xfrm>
                <a:off x="2928"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70" name="Oval 126"/>
              <p:cNvSpPr>
                <a:spLocks noChangeArrowheads="1"/>
              </p:cNvSpPr>
              <p:nvPr/>
            </p:nvSpPr>
            <p:spPr bwMode="auto">
              <a:xfrm>
                <a:off x="3504"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71" name="Oval 127"/>
              <p:cNvSpPr>
                <a:spLocks noChangeArrowheads="1"/>
              </p:cNvSpPr>
              <p:nvPr/>
            </p:nvSpPr>
            <p:spPr bwMode="auto">
              <a:xfrm>
                <a:off x="3408"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72" name="Oval 128"/>
              <p:cNvSpPr>
                <a:spLocks noChangeArrowheads="1"/>
              </p:cNvSpPr>
              <p:nvPr/>
            </p:nvSpPr>
            <p:spPr bwMode="auto">
              <a:xfrm>
                <a:off x="2880" y="283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73" name="Oval 129"/>
              <p:cNvSpPr>
                <a:spLocks noChangeArrowheads="1"/>
              </p:cNvSpPr>
              <p:nvPr/>
            </p:nvSpPr>
            <p:spPr bwMode="auto">
              <a:xfrm>
                <a:off x="2640" y="288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74" name="Oval 130"/>
              <p:cNvSpPr>
                <a:spLocks noChangeArrowheads="1"/>
              </p:cNvSpPr>
              <p:nvPr/>
            </p:nvSpPr>
            <p:spPr bwMode="auto">
              <a:xfrm>
                <a:off x="3312"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75" name="Oval 131"/>
              <p:cNvSpPr>
                <a:spLocks noChangeArrowheads="1"/>
              </p:cNvSpPr>
              <p:nvPr/>
            </p:nvSpPr>
            <p:spPr bwMode="auto">
              <a:xfrm>
                <a:off x="2832" y="345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29476" name="Oval 132"/>
            <p:cNvSpPr>
              <a:spLocks noChangeArrowheads="1"/>
            </p:cNvSpPr>
            <p:nvPr/>
          </p:nvSpPr>
          <p:spPr bwMode="auto">
            <a:xfrm>
              <a:off x="2544" y="14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29477" name="Oval 133"/>
            <p:cNvSpPr>
              <a:spLocks noChangeArrowheads="1"/>
            </p:cNvSpPr>
            <p:nvPr/>
          </p:nvSpPr>
          <p:spPr bwMode="auto">
            <a:xfrm>
              <a:off x="4704" y="326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grpSp>
          <p:nvGrpSpPr>
            <p:cNvPr id="3129478" name="Group 134"/>
            <p:cNvGrpSpPr>
              <a:grpSpLocks/>
            </p:cNvGrpSpPr>
            <p:nvPr/>
          </p:nvGrpSpPr>
          <p:grpSpPr bwMode="auto">
            <a:xfrm>
              <a:off x="1680" y="2352"/>
              <a:ext cx="960" cy="1104"/>
              <a:chOff x="1680" y="2352"/>
              <a:chExt cx="960" cy="1104"/>
            </a:xfrm>
          </p:grpSpPr>
          <p:sp>
            <p:nvSpPr>
              <p:cNvPr id="3129479" name="Oval 135"/>
              <p:cNvSpPr>
                <a:spLocks noChangeArrowheads="1"/>
              </p:cNvSpPr>
              <p:nvPr/>
            </p:nvSpPr>
            <p:spPr bwMode="auto">
              <a:xfrm>
                <a:off x="1872" y="249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0" name="Oval 136"/>
              <p:cNvSpPr>
                <a:spLocks noChangeArrowheads="1"/>
              </p:cNvSpPr>
              <p:nvPr/>
            </p:nvSpPr>
            <p:spPr bwMode="auto">
              <a:xfrm>
                <a:off x="172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1" name="Oval 137"/>
              <p:cNvSpPr>
                <a:spLocks noChangeArrowheads="1"/>
              </p:cNvSpPr>
              <p:nvPr/>
            </p:nvSpPr>
            <p:spPr bwMode="auto">
              <a:xfrm>
                <a:off x="2112" y="235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2" name="Oval 138"/>
              <p:cNvSpPr>
                <a:spLocks noChangeArrowheads="1"/>
              </p:cNvSpPr>
              <p:nvPr/>
            </p:nvSpPr>
            <p:spPr bwMode="auto">
              <a:xfrm>
                <a:off x="2208"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3" name="Oval 139"/>
              <p:cNvSpPr>
                <a:spLocks noChangeArrowheads="1"/>
              </p:cNvSpPr>
              <p:nvPr/>
            </p:nvSpPr>
            <p:spPr bwMode="auto">
              <a:xfrm>
                <a:off x="2256" y="331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4" name="Oval 140"/>
              <p:cNvSpPr>
                <a:spLocks noChangeArrowheads="1"/>
              </p:cNvSpPr>
              <p:nvPr/>
            </p:nvSpPr>
            <p:spPr bwMode="auto">
              <a:xfrm>
                <a:off x="2352" y="297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5" name="Oval 141"/>
              <p:cNvSpPr>
                <a:spLocks noChangeArrowheads="1"/>
              </p:cNvSpPr>
              <p:nvPr/>
            </p:nvSpPr>
            <p:spPr bwMode="auto">
              <a:xfrm>
                <a:off x="1968" y="3072"/>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6" name="Oval 142"/>
              <p:cNvSpPr>
                <a:spLocks noChangeArrowheads="1"/>
              </p:cNvSpPr>
              <p:nvPr/>
            </p:nvSpPr>
            <p:spPr bwMode="auto">
              <a:xfrm>
                <a:off x="2544"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7" name="Oval 143"/>
              <p:cNvSpPr>
                <a:spLocks noChangeArrowheads="1"/>
              </p:cNvSpPr>
              <p:nvPr/>
            </p:nvSpPr>
            <p:spPr bwMode="auto">
              <a:xfrm>
                <a:off x="2448" y="268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8" name="Oval 144"/>
              <p:cNvSpPr>
                <a:spLocks noChangeArrowheads="1"/>
              </p:cNvSpPr>
              <p:nvPr/>
            </p:nvSpPr>
            <p:spPr bwMode="auto">
              <a:xfrm>
                <a:off x="1920" y="2736"/>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89" name="Oval 145"/>
              <p:cNvSpPr>
                <a:spLocks noChangeArrowheads="1"/>
              </p:cNvSpPr>
              <p:nvPr/>
            </p:nvSpPr>
            <p:spPr bwMode="auto">
              <a:xfrm>
                <a:off x="1680" y="2784"/>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90" name="Oval 146"/>
              <p:cNvSpPr>
                <a:spLocks noChangeArrowheads="1"/>
              </p:cNvSpPr>
              <p:nvPr/>
            </p:nvSpPr>
            <p:spPr bwMode="auto">
              <a:xfrm>
                <a:off x="2352" y="240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91" name="Oval 147"/>
              <p:cNvSpPr>
                <a:spLocks noChangeArrowheads="1"/>
              </p:cNvSpPr>
              <p:nvPr/>
            </p:nvSpPr>
            <p:spPr bwMode="auto">
              <a:xfrm>
                <a:off x="1872" y="336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3129492" name="Group 148"/>
          <p:cNvGrpSpPr>
            <a:grpSpLocks/>
          </p:cNvGrpSpPr>
          <p:nvPr/>
        </p:nvGrpSpPr>
        <p:grpSpPr bwMode="auto">
          <a:xfrm>
            <a:off x="788988" y="1768475"/>
            <a:ext cx="7793037" cy="4403725"/>
            <a:chOff x="538" y="1114"/>
            <a:chExt cx="5318" cy="2774"/>
          </a:xfrm>
        </p:grpSpPr>
        <p:grpSp>
          <p:nvGrpSpPr>
            <p:cNvPr id="3129493" name="Group 149"/>
            <p:cNvGrpSpPr>
              <a:grpSpLocks/>
            </p:cNvGrpSpPr>
            <p:nvPr/>
          </p:nvGrpSpPr>
          <p:grpSpPr bwMode="auto">
            <a:xfrm>
              <a:off x="538" y="1114"/>
              <a:ext cx="2966" cy="2774"/>
              <a:chOff x="538" y="1114"/>
              <a:chExt cx="2966" cy="2774"/>
            </a:xfrm>
          </p:grpSpPr>
          <p:grpSp>
            <p:nvGrpSpPr>
              <p:cNvPr id="3129494" name="Group 150"/>
              <p:cNvGrpSpPr>
                <a:grpSpLocks/>
              </p:cNvGrpSpPr>
              <p:nvPr/>
            </p:nvGrpSpPr>
            <p:grpSpPr bwMode="auto">
              <a:xfrm>
                <a:off x="538" y="1114"/>
                <a:ext cx="1766" cy="2774"/>
                <a:chOff x="538" y="1114"/>
                <a:chExt cx="1766" cy="2774"/>
              </a:xfrm>
            </p:grpSpPr>
            <p:sp>
              <p:nvSpPr>
                <p:cNvPr id="3129495" name="Line 151"/>
                <p:cNvSpPr>
                  <a:spLocks noChangeShapeType="1"/>
                </p:cNvSpPr>
                <p:nvPr/>
              </p:nvSpPr>
              <p:spPr bwMode="auto">
                <a:xfrm>
                  <a:off x="53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96" name="Line 152"/>
                <p:cNvSpPr>
                  <a:spLocks noChangeShapeType="1"/>
                </p:cNvSpPr>
                <p:nvPr/>
              </p:nvSpPr>
              <p:spPr bwMode="auto">
                <a:xfrm>
                  <a:off x="1402"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97" name="Line 153"/>
                <p:cNvSpPr>
                  <a:spLocks noChangeShapeType="1"/>
                </p:cNvSpPr>
                <p:nvPr/>
              </p:nvSpPr>
              <p:spPr bwMode="auto">
                <a:xfrm>
                  <a:off x="111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498" name="Line 154"/>
                <p:cNvSpPr>
                  <a:spLocks noChangeShapeType="1"/>
                </p:cNvSpPr>
                <p:nvPr/>
              </p:nvSpPr>
              <p:spPr bwMode="auto">
                <a:xfrm>
                  <a:off x="82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499" name="Group 155"/>
              <p:cNvGrpSpPr>
                <a:grpSpLocks/>
              </p:cNvGrpSpPr>
              <p:nvPr/>
            </p:nvGrpSpPr>
            <p:grpSpPr bwMode="auto">
              <a:xfrm>
                <a:off x="1738" y="1114"/>
                <a:ext cx="1766" cy="2774"/>
                <a:chOff x="1738" y="1114"/>
                <a:chExt cx="1766" cy="2774"/>
              </a:xfrm>
            </p:grpSpPr>
            <p:sp>
              <p:nvSpPr>
                <p:cNvPr id="3129500" name="Line 156"/>
                <p:cNvSpPr>
                  <a:spLocks noChangeShapeType="1"/>
                </p:cNvSpPr>
                <p:nvPr/>
              </p:nvSpPr>
              <p:spPr bwMode="auto">
                <a:xfrm>
                  <a:off x="173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01" name="Line 157"/>
                <p:cNvSpPr>
                  <a:spLocks noChangeShapeType="1"/>
                </p:cNvSpPr>
                <p:nvPr/>
              </p:nvSpPr>
              <p:spPr bwMode="auto">
                <a:xfrm>
                  <a:off x="2602"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02" name="Line 158"/>
                <p:cNvSpPr>
                  <a:spLocks noChangeShapeType="1"/>
                </p:cNvSpPr>
                <p:nvPr/>
              </p:nvSpPr>
              <p:spPr bwMode="auto">
                <a:xfrm>
                  <a:off x="231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03" name="Line 159"/>
                <p:cNvSpPr>
                  <a:spLocks noChangeShapeType="1"/>
                </p:cNvSpPr>
                <p:nvPr/>
              </p:nvSpPr>
              <p:spPr bwMode="auto">
                <a:xfrm>
                  <a:off x="202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3129504" name="Group 160"/>
            <p:cNvGrpSpPr>
              <a:grpSpLocks/>
            </p:cNvGrpSpPr>
            <p:nvPr/>
          </p:nvGrpSpPr>
          <p:grpSpPr bwMode="auto">
            <a:xfrm>
              <a:off x="2890" y="1114"/>
              <a:ext cx="2966" cy="2774"/>
              <a:chOff x="2890" y="1114"/>
              <a:chExt cx="2966" cy="2774"/>
            </a:xfrm>
          </p:grpSpPr>
          <p:grpSp>
            <p:nvGrpSpPr>
              <p:cNvPr id="3129505" name="Group 161"/>
              <p:cNvGrpSpPr>
                <a:grpSpLocks/>
              </p:cNvGrpSpPr>
              <p:nvPr/>
            </p:nvGrpSpPr>
            <p:grpSpPr bwMode="auto">
              <a:xfrm>
                <a:off x="2890" y="1114"/>
                <a:ext cx="1766" cy="2774"/>
                <a:chOff x="2890" y="1114"/>
                <a:chExt cx="1766" cy="2774"/>
              </a:xfrm>
            </p:grpSpPr>
            <p:sp>
              <p:nvSpPr>
                <p:cNvPr id="3129506" name="Line 162"/>
                <p:cNvSpPr>
                  <a:spLocks noChangeShapeType="1"/>
                </p:cNvSpPr>
                <p:nvPr/>
              </p:nvSpPr>
              <p:spPr bwMode="auto">
                <a:xfrm>
                  <a:off x="2890"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07" name="Line 163"/>
                <p:cNvSpPr>
                  <a:spLocks noChangeShapeType="1"/>
                </p:cNvSpPr>
                <p:nvPr/>
              </p:nvSpPr>
              <p:spPr bwMode="auto">
                <a:xfrm>
                  <a:off x="375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08" name="Line 164"/>
                <p:cNvSpPr>
                  <a:spLocks noChangeShapeType="1"/>
                </p:cNvSpPr>
                <p:nvPr/>
              </p:nvSpPr>
              <p:spPr bwMode="auto">
                <a:xfrm>
                  <a:off x="346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09" name="Line 165"/>
                <p:cNvSpPr>
                  <a:spLocks noChangeShapeType="1"/>
                </p:cNvSpPr>
                <p:nvPr/>
              </p:nvSpPr>
              <p:spPr bwMode="auto">
                <a:xfrm>
                  <a:off x="317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510" name="Group 166"/>
              <p:cNvGrpSpPr>
                <a:grpSpLocks/>
              </p:cNvGrpSpPr>
              <p:nvPr/>
            </p:nvGrpSpPr>
            <p:grpSpPr bwMode="auto">
              <a:xfrm>
                <a:off x="4090" y="1114"/>
                <a:ext cx="1766" cy="2774"/>
                <a:chOff x="4090" y="1114"/>
                <a:chExt cx="1766" cy="2774"/>
              </a:xfrm>
            </p:grpSpPr>
            <p:sp>
              <p:nvSpPr>
                <p:cNvPr id="3129511" name="Line 167"/>
                <p:cNvSpPr>
                  <a:spLocks noChangeShapeType="1"/>
                </p:cNvSpPr>
                <p:nvPr/>
              </p:nvSpPr>
              <p:spPr bwMode="auto">
                <a:xfrm>
                  <a:off x="4090"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12" name="Line 168"/>
                <p:cNvSpPr>
                  <a:spLocks noChangeShapeType="1"/>
                </p:cNvSpPr>
                <p:nvPr/>
              </p:nvSpPr>
              <p:spPr bwMode="auto">
                <a:xfrm>
                  <a:off x="4954"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13" name="Line 169"/>
                <p:cNvSpPr>
                  <a:spLocks noChangeShapeType="1"/>
                </p:cNvSpPr>
                <p:nvPr/>
              </p:nvSpPr>
              <p:spPr bwMode="auto">
                <a:xfrm>
                  <a:off x="4666"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14" name="Line 170"/>
                <p:cNvSpPr>
                  <a:spLocks noChangeShapeType="1"/>
                </p:cNvSpPr>
                <p:nvPr/>
              </p:nvSpPr>
              <p:spPr bwMode="auto">
                <a:xfrm>
                  <a:off x="4378" y="1114"/>
                  <a:ext cx="902" cy="27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sp>
        <p:nvSpPr>
          <p:cNvPr id="3129515" name="Line 171"/>
          <p:cNvSpPr>
            <a:spLocks noChangeShapeType="1"/>
          </p:cNvSpPr>
          <p:nvPr/>
        </p:nvSpPr>
        <p:spPr bwMode="auto">
          <a:xfrm>
            <a:off x="717550" y="2209800"/>
            <a:ext cx="779303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16" name="Line 172"/>
          <p:cNvSpPr>
            <a:spLocks noChangeShapeType="1"/>
          </p:cNvSpPr>
          <p:nvPr/>
        </p:nvSpPr>
        <p:spPr bwMode="auto">
          <a:xfrm>
            <a:off x="858838" y="2667000"/>
            <a:ext cx="779303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17" name="Line 173"/>
          <p:cNvSpPr>
            <a:spLocks noChangeShapeType="1"/>
          </p:cNvSpPr>
          <p:nvPr/>
        </p:nvSpPr>
        <p:spPr bwMode="auto">
          <a:xfrm>
            <a:off x="717550" y="3124200"/>
            <a:ext cx="779303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18" name="Line 174"/>
          <p:cNvSpPr>
            <a:spLocks noChangeShapeType="1"/>
          </p:cNvSpPr>
          <p:nvPr/>
        </p:nvSpPr>
        <p:spPr bwMode="auto">
          <a:xfrm>
            <a:off x="858838" y="3581400"/>
            <a:ext cx="779303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19" name="Line 175"/>
          <p:cNvSpPr>
            <a:spLocks noChangeShapeType="1"/>
          </p:cNvSpPr>
          <p:nvPr/>
        </p:nvSpPr>
        <p:spPr bwMode="auto">
          <a:xfrm>
            <a:off x="717550" y="3962400"/>
            <a:ext cx="779303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20" name="Line 176"/>
          <p:cNvSpPr>
            <a:spLocks noChangeShapeType="1"/>
          </p:cNvSpPr>
          <p:nvPr/>
        </p:nvSpPr>
        <p:spPr bwMode="auto">
          <a:xfrm>
            <a:off x="858838" y="4419600"/>
            <a:ext cx="779303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21" name="Line 177"/>
          <p:cNvSpPr>
            <a:spLocks noChangeShapeType="1"/>
          </p:cNvSpPr>
          <p:nvPr/>
        </p:nvSpPr>
        <p:spPr bwMode="auto">
          <a:xfrm>
            <a:off x="717550" y="4876800"/>
            <a:ext cx="779303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22" name="Line 178"/>
          <p:cNvSpPr>
            <a:spLocks noChangeShapeType="1"/>
          </p:cNvSpPr>
          <p:nvPr/>
        </p:nvSpPr>
        <p:spPr bwMode="auto">
          <a:xfrm>
            <a:off x="858838" y="5334000"/>
            <a:ext cx="779303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23" name="Line 179"/>
          <p:cNvSpPr>
            <a:spLocks noChangeShapeType="1"/>
          </p:cNvSpPr>
          <p:nvPr/>
        </p:nvSpPr>
        <p:spPr bwMode="auto">
          <a:xfrm>
            <a:off x="858838" y="5791200"/>
            <a:ext cx="779303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24" name="Oval 180" descr="Outlined diamond"/>
          <p:cNvSpPr>
            <a:spLocks noChangeArrowheads="1"/>
          </p:cNvSpPr>
          <p:nvPr/>
        </p:nvSpPr>
        <p:spPr bwMode="auto">
          <a:xfrm>
            <a:off x="1693863" y="4197350"/>
            <a:ext cx="1887537" cy="901700"/>
          </a:xfrm>
          <a:prstGeom prst="ellipse">
            <a:avLst/>
          </a:prstGeom>
          <a:pattFill prst="openDmnd">
            <a:fgClr>
              <a:srgbClr val="000000"/>
            </a:fgClr>
            <a:bgClr>
              <a:schemeClr val="tx1"/>
            </a:bgClr>
          </a:patt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25" name="Oval 181" descr="Outlined diamond"/>
          <p:cNvSpPr>
            <a:spLocks noChangeArrowheads="1"/>
          </p:cNvSpPr>
          <p:nvPr/>
        </p:nvSpPr>
        <p:spPr bwMode="auto">
          <a:xfrm>
            <a:off x="2678113" y="3282950"/>
            <a:ext cx="1887537" cy="901700"/>
          </a:xfrm>
          <a:prstGeom prst="ellipse">
            <a:avLst/>
          </a:prstGeom>
          <a:pattFill prst="openDmnd">
            <a:fgClr>
              <a:srgbClr val="000000"/>
            </a:fgClr>
            <a:bgClr>
              <a:schemeClr val="tx1"/>
            </a:bgClr>
          </a:patt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29526" name="Group 182"/>
          <p:cNvGrpSpPr>
            <a:grpSpLocks/>
          </p:cNvGrpSpPr>
          <p:nvPr/>
        </p:nvGrpSpPr>
        <p:grpSpPr bwMode="auto">
          <a:xfrm>
            <a:off x="5289550" y="2606675"/>
            <a:ext cx="1533525" cy="974725"/>
            <a:chOff x="3610" y="1642"/>
            <a:chExt cx="1046" cy="614"/>
          </a:xfrm>
        </p:grpSpPr>
        <p:grpSp>
          <p:nvGrpSpPr>
            <p:cNvPr id="3129527" name="Group 183"/>
            <p:cNvGrpSpPr>
              <a:grpSpLocks/>
            </p:cNvGrpSpPr>
            <p:nvPr/>
          </p:nvGrpSpPr>
          <p:grpSpPr bwMode="auto">
            <a:xfrm>
              <a:off x="3619" y="1642"/>
              <a:ext cx="1028" cy="614"/>
              <a:chOff x="3619" y="1642"/>
              <a:chExt cx="1028" cy="614"/>
            </a:xfrm>
          </p:grpSpPr>
          <p:grpSp>
            <p:nvGrpSpPr>
              <p:cNvPr id="3129528" name="Group 184"/>
              <p:cNvGrpSpPr>
                <a:grpSpLocks/>
              </p:cNvGrpSpPr>
              <p:nvPr/>
            </p:nvGrpSpPr>
            <p:grpSpPr bwMode="auto">
              <a:xfrm>
                <a:off x="3619" y="1642"/>
                <a:ext cx="570" cy="614"/>
                <a:chOff x="3619" y="1642"/>
                <a:chExt cx="570" cy="614"/>
              </a:xfrm>
            </p:grpSpPr>
            <p:grpSp>
              <p:nvGrpSpPr>
                <p:cNvPr id="3129529" name="Group 185"/>
                <p:cNvGrpSpPr>
                  <a:grpSpLocks/>
                </p:cNvGrpSpPr>
                <p:nvPr/>
              </p:nvGrpSpPr>
              <p:grpSpPr bwMode="auto">
                <a:xfrm>
                  <a:off x="3619" y="1642"/>
                  <a:ext cx="336" cy="614"/>
                  <a:chOff x="3619" y="1642"/>
                  <a:chExt cx="336" cy="614"/>
                </a:xfrm>
              </p:grpSpPr>
              <p:sp>
                <p:nvSpPr>
                  <p:cNvPr id="3129530" name="Line 186"/>
                  <p:cNvSpPr>
                    <a:spLocks noChangeShapeType="1"/>
                  </p:cNvSpPr>
                  <p:nvPr/>
                </p:nvSpPr>
                <p:spPr bwMode="auto">
                  <a:xfrm>
                    <a:off x="3619"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31" name="Line 187"/>
                  <p:cNvSpPr>
                    <a:spLocks noChangeShapeType="1"/>
                  </p:cNvSpPr>
                  <p:nvPr/>
                </p:nvSpPr>
                <p:spPr bwMode="auto">
                  <a:xfrm>
                    <a:off x="3788" y="1642"/>
                    <a:ext cx="167"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32" name="Line 188"/>
                  <p:cNvSpPr>
                    <a:spLocks noChangeShapeType="1"/>
                  </p:cNvSpPr>
                  <p:nvPr/>
                </p:nvSpPr>
                <p:spPr bwMode="auto">
                  <a:xfrm>
                    <a:off x="3731"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33" name="Line 189"/>
                  <p:cNvSpPr>
                    <a:spLocks noChangeShapeType="1"/>
                  </p:cNvSpPr>
                  <p:nvPr/>
                </p:nvSpPr>
                <p:spPr bwMode="auto">
                  <a:xfrm>
                    <a:off x="3675"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534" name="Group 190"/>
                <p:cNvGrpSpPr>
                  <a:grpSpLocks/>
                </p:cNvGrpSpPr>
                <p:nvPr/>
              </p:nvGrpSpPr>
              <p:grpSpPr bwMode="auto">
                <a:xfrm>
                  <a:off x="3853" y="1642"/>
                  <a:ext cx="336" cy="614"/>
                  <a:chOff x="3853" y="1642"/>
                  <a:chExt cx="336" cy="614"/>
                </a:xfrm>
              </p:grpSpPr>
              <p:sp>
                <p:nvSpPr>
                  <p:cNvPr id="3129535" name="Line 191"/>
                  <p:cNvSpPr>
                    <a:spLocks noChangeShapeType="1"/>
                  </p:cNvSpPr>
                  <p:nvPr/>
                </p:nvSpPr>
                <p:spPr bwMode="auto">
                  <a:xfrm>
                    <a:off x="3853"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36" name="Line 192"/>
                  <p:cNvSpPr>
                    <a:spLocks noChangeShapeType="1"/>
                  </p:cNvSpPr>
                  <p:nvPr/>
                </p:nvSpPr>
                <p:spPr bwMode="auto">
                  <a:xfrm>
                    <a:off x="4021"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37" name="Line 193"/>
                  <p:cNvSpPr>
                    <a:spLocks noChangeShapeType="1"/>
                  </p:cNvSpPr>
                  <p:nvPr/>
                </p:nvSpPr>
                <p:spPr bwMode="auto">
                  <a:xfrm>
                    <a:off x="3965"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38" name="Line 194"/>
                  <p:cNvSpPr>
                    <a:spLocks noChangeShapeType="1"/>
                  </p:cNvSpPr>
                  <p:nvPr/>
                </p:nvSpPr>
                <p:spPr bwMode="auto">
                  <a:xfrm>
                    <a:off x="3909"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3129539" name="Group 195"/>
              <p:cNvGrpSpPr>
                <a:grpSpLocks/>
              </p:cNvGrpSpPr>
              <p:nvPr/>
            </p:nvGrpSpPr>
            <p:grpSpPr bwMode="auto">
              <a:xfrm>
                <a:off x="4077" y="1642"/>
                <a:ext cx="570" cy="614"/>
                <a:chOff x="4077" y="1642"/>
                <a:chExt cx="570" cy="614"/>
              </a:xfrm>
            </p:grpSpPr>
            <p:grpSp>
              <p:nvGrpSpPr>
                <p:cNvPr id="3129540" name="Group 196"/>
                <p:cNvGrpSpPr>
                  <a:grpSpLocks/>
                </p:cNvGrpSpPr>
                <p:nvPr/>
              </p:nvGrpSpPr>
              <p:grpSpPr bwMode="auto">
                <a:xfrm>
                  <a:off x="4077" y="1642"/>
                  <a:ext cx="336" cy="614"/>
                  <a:chOff x="4077" y="1642"/>
                  <a:chExt cx="336" cy="614"/>
                </a:xfrm>
              </p:grpSpPr>
              <p:sp>
                <p:nvSpPr>
                  <p:cNvPr id="3129541" name="Line 197"/>
                  <p:cNvSpPr>
                    <a:spLocks noChangeShapeType="1"/>
                  </p:cNvSpPr>
                  <p:nvPr/>
                </p:nvSpPr>
                <p:spPr bwMode="auto">
                  <a:xfrm>
                    <a:off x="4077"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42" name="Line 198"/>
                  <p:cNvSpPr>
                    <a:spLocks noChangeShapeType="1"/>
                  </p:cNvSpPr>
                  <p:nvPr/>
                </p:nvSpPr>
                <p:spPr bwMode="auto">
                  <a:xfrm>
                    <a:off x="4245"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43" name="Line 199"/>
                  <p:cNvSpPr>
                    <a:spLocks noChangeShapeType="1"/>
                  </p:cNvSpPr>
                  <p:nvPr/>
                </p:nvSpPr>
                <p:spPr bwMode="auto">
                  <a:xfrm>
                    <a:off x="4189"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44" name="Line 200"/>
                  <p:cNvSpPr>
                    <a:spLocks noChangeShapeType="1"/>
                  </p:cNvSpPr>
                  <p:nvPr/>
                </p:nvSpPr>
                <p:spPr bwMode="auto">
                  <a:xfrm>
                    <a:off x="4133"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545" name="Group 201"/>
                <p:cNvGrpSpPr>
                  <a:grpSpLocks/>
                </p:cNvGrpSpPr>
                <p:nvPr/>
              </p:nvGrpSpPr>
              <p:grpSpPr bwMode="auto">
                <a:xfrm>
                  <a:off x="4311" y="1642"/>
                  <a:ext cx="336" cy="614"/>
                  <a:chOff x="4311" y="1642"/>
                  <a:chExt cx="336" cy="614"/>
                </a:xfrm>
              </p:grpSpPr>
              <p:sp>
                <p:nvSpPr>
                  <p:cNvPr id="3129546" name="Line 202"/>
                  <p:cNvSpPr>
                    <a:spLocks noChangeShapeType="1"/>
                  </p:cNvSpPr>
                  <p:nvPr/>
                </p:nvSpPr>
                <p:spPr bwMode="auto">
                  <a:xfrm>
                    <a:off x="4311" y="1642"/>
                    <a:ext cx="167"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47" name="Line 203"/>
                  <p:cNvSpPr>
                    <a:spLocks noChangeShapeType="1"/>
                  </p:cNvSpPr>
                  <p:nvPr/>
                </p:nvSpPr>
                <p:spPr bwMode="auto">
                  <a:xfrm>
                    <a:off x="4479"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48" name="Line 204"/>
                  <p:cNvSpPr>
                    <a:spLocks noChangeShapeType="1"/>
                  </p:cNvSpPr>
                  <p:nvPr/>
                </p:nvSpPr>
                <p:spPr bwMode="auto">
                  <a:xfrm>
                    <a:off x="4423"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49" name="Line 205"/>
                  <p:cNvSpPr>
                    <a:spLocks noChangeShapeType="1"/>
                  </p:cNvSpPr>
                  <p:nvPr/>
                </p:nvSpPr>
                <p:spPr bwMode="auto">
                  <a:xfrm>
                    <a:off x="4367" y="1642"/>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sp>
          <p:nvSpPr>
            <p:cNvPr id="3129550" name="Line 206"/>
            <p:cNvSpPr>
              <a:spLocks noChangeShapeType="1"/>
            </p:cNvSpPr>
            <p:nvPr/>
          </p:nvSpPr>
          <p:spPr bwMode="auto">
            <a:xfrm>
              <a:off x="3610" y="1697"/>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51" name="Line 207"/>
            <p:cNvSpPr>
              <a:spLocks noChangeShapeType="1"/>
            </p:cNvSpPr>
            <p:nvPr/>
          </p:nvSpPr>
          <p:spPr bwMode="auto">
            <a:xfrm>
              <a:off x="3629" y="1761"/>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52" name="Line 208"/>
            <p:cNvSpPr>
              <a:spLocks noChangeShapeType="1"/>
            </p:cNvSpPr>
            <p:nvPr/>
          </p:nvSpPr>
          <p:spPr bwMode="auto">
            <a:xfrm>
              <a:off x="3610" y="1826"/>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53" name="Line 209"/>
            <p:cNvSpPr>
              <a:spLocks noChangeShapeType="1"/>
            </p:cNvSpPr>
            <p:nvPr/>
          </p:nvSpPr>
          <p:spPr bwMode="auto">
            <a:xfrm>
              <a:off x="3629" y="1890"/>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54" name="Line 210"/>
            <p:cNvSpPr>
              <a:spLocks noChangeShapeType="1"/>
            </p:cNvSpPr>
            <p:nvPr/>
          </p:nvSpPr>
          <p:spPr bwMode="auto">
            <a:xfrm>
              <a:off x="3610" y="1944"/>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55" name="Line 211"/>
            <p:cNvSpPr>
              <a:spLocks noChangeShapeType="1"/>
            </p:cNvSpPr>
            <p:nvPr/>
          </p:nvSpPr>
          <p:spPr bwMode="auto">
            <a:xfrm>
              <a:off x="3629" y="2009"/>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56" name="Line 212"/>
            <p:cNvSpPr>
              <a:spLocks noChangeShapeType="1"/>
            </p:cNvSpPr>
            <p:nvPr/>
          </p:nvSpPr>
          <p:spPr bwMode="auto">
            <a:xfrm>
              <a:off x="3610" y="2073"/>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57" name="Line 213"/>
            <p:cNvSpPr>
              <a:spLocks noChangeShapeType="1"/>
            </p:cNvSpPr>
            <p:nvPr/>
          </p:nvSpPr>
          <p:spPr bwMode="auto">
            <a:xfrm>
              <a:off x="3629" y="2138"/>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58" name="Line 214"/>
            <p:cNvSpPr>
              <a:spLocks noChangeShapeType="1"/>
            </p:cNvSpPr>
            <p:nvPr/>
          </p:nvSpPr>
          <p:spPr bwMode="auto">
            <a:xfrm>
              <a:off x="3629" y="2202"/>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559" name="Group 215"/>
          <p:cNvGrpSpPr>
            <a:grpSpLocks/>
          </p:cNvGrpSpPr>
          <p:nvPr/>
        </p:nvGrpSpPr>
        <p:grpSpPr bwMode="auto">
          <a:xfrm>
            <a:off x="3038475" y="4054475"/>
            <a:ext cx="1533525" cy="974725"/>
            <a:chOff x="2074" y="2554"/>
            <a:chExt cx="1046" cy="614"/>
          </a:xfrm>
        </p:grpSpPr>
        <p:grpSp>
          <p:nvGrpSpPr>
            <p:cNvPr id="3129560" name="Group 216"/>
            <p:cNvGrpSpPr>
              <a:grpSpLocks/>
            </p:cNvGrpSpPr>
            <p:nvPr/>
          </p:nvGrpSpPr>
          <p:grpSpPr bwMode="auto">
            <a:xfrm>
              <a:off x="2083" y="2554"/>
              <a:ext cx="1028" cy="614"/>
              <a:chOff x="2083" y="2554"/>
              <a:chExt cx="1028" cy="614"/>
            </a:xfrm>
          </p:grpSpPr>
          <p:grpSp>
            <p:nvGrpSpPr>
              <p:cNvPr id="3129561" name="Group 217"/>
              <p:cNvGrpSpPr>
                <a:grpSpLocks/>
              </p:cNvGrpSpPr>
              <p:nvPr/>
            </p:nvGrpSpPr>
            <p:grpSpPr bwMode="auto">
              <a:xfrm>
                <a:off x="2083" y="2554"/>
                <a:ext cx="570" cy="614"/>
                <a:chOff x="2083" y="2554"/>
                <a:chExt cx="570" cy="614"/>
              </a:xfrm>
            </p:grpSpPr>
            <p:grpSp>
              <p:nvGrpSpPr>
                <p:cNvPr id="3129562" name="Group 218"/>
                <p:cNvGrpSpPr>
                  <a:grpSpLocks/>
                </p:cNvGrpSpPr>
                <p:nvPr/>
              </p:nvGrpSpPr>
              <p:grpSpPr bwMode="auto">
                <a:xfrm>
                  <a:off x="2083" y="2554"/>
                  <a:ext cx="336" cy="614"/>
                  <a:chOff x="2083" y="2554"/>
                  <a:chExt cx="336" cy="614"/>
                </a:xfrm>
              </p:grpSpPr>
              <p:sp>
                <p:nvSpPr>
                  <p:cNvPr id="3129563" name="Line 219"/>
                  <p:cNvSpPr>
                    <a:spLocks noChangeShapeType="1"/>
                  </p:cNvSpPr>
                  <p:nvPr/>
                </p:nvSpPr>
                <p:spPr bwMode="auto">
                  <a:xfrm>
                    <a:off x="2083"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64" name="Line 220"/>
                  <p:cNvSpPr>
                    <a:spLocks noChangeShapeType="1"/>
                  </p:cNvSpPr>
                  <p:nvPr/>
                </p:nvSpPr>
                <p:spPr bwMode="auto">
                  <a:xfrm>
                    <a:off x="2252" y="2554"/>
                    <a:ext cx="167"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65" name="Line 221"/>
                  <p:cNvSpPr>
                    <a:spLocks noChangeShapeType="1"/>
                  </p:cNvSpPr>
                  <p:nvPr/>
                </p:nvSpPr>
                <p:spPr bwMode="auto">
                  <a:xfrm>
                    <a:off x="2195"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66" name="Line 222"/>
                  <p:cNvSpPr>
                    <a:spLocks noChangeShapeType="1"/>
                  </p:cNvSpPr>
                  <p:nvPr/>
                </p:nvSpPr>
                <p:spPr bwMode="auto">
                  <a:xfrm>
                    <a:off x="2139"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567" name="Group 223"/>
                <p:cNvGrpSpPr>
                  <a:grpSpLocks/>
                </p:cNvGrpSpPr>
                <p:nvPr/>
              </p:nvGrpSpPr>
              <p:grpSpPr bwMode="auto">
                <a:xfrm>
                  <a:off x="2317" y="2554"/>
                  <a:ext cx="336" cy="614"/>
                  <a:chOff x="2317" y="2554"/>
                  <a:chExt cx="336" cy="614"/>
                </a:xfrm>
              </p:grpSpPr>
              <p:sp>
                <p:nvSpPr>
                  <p:cNvPr id="3129568" name="Line 224"/>
                  <p:cNvSpPr>
                    <a:spLocks noChangeShapeType="1"/>
                  </p:cNvSpPr>
                  <p:nvPr/>
                </p:nvSpPr>
                <p:spPr bwMode="auto">
                  <a:xfrm>
                    <a:off x="2317"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69" name="Line 225"/>
                  <p:cNvSpPr>
                    <a:spLocks noChangeShapeType="1"/>
                  </p:cNvSpPr>
                  <p:nvPr/>
                </p:nvSpPr>
                <p:spPr bwMode="auto">
                  <a:xfrm>
                    <a:off x="2485"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70" name="Line 226"/>
                  <p:cNvSpPr>
                    <a:spLocks noChangeShapeType="1"/>
                  </p:cNvSpPr>
                  <p:nvPr/>
                </p:nvSpPr>
                <p:spPr bwMode="auto">
                  <a:xfrm>
                    <a:off x="2429"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71" name="Line 227"/>
                  <p:cNvSpPr>
                    <a:spLocks noChangeShapeType="1"/>
                  </p:cNvSpPr>
                  <p:nvPr/>
                </p:nvSpPr>
                <p:spPr bwMode="auto">
                  <a:xfrm>
                    <a:off x="2373"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nvGrpSpPr>
              <p:cNvPr id="3129572" name="Group 228"/>
              <p:cNvGrpSpPr>
                <a:grpSpLocks/>
              </p:cNvGrpSpPr>
              <p:nvPr/>
            </p:nvGrpSpPr>
            <p:grpSpPr bwMode="auto">
              <a:xfrm>
                <a:off x="2541" y="2554"/>
                <a:ext cx="570" cy="614"/>
                <a:chOff x="2541" y="2554"/>
                <a:chExt cx="570" cy="614"/>
              </a:xfrm>
            </p:grpSpPr>
            <p:grpSp>
              <p:nvGrpSpPr>
                <p:cNvPr id="3129573" name="Group 229"/>
                <p:cNvGrpSpPr>
                  <a:grpSpLocks/>
                </p:cNvGrpSpPr>
                <p:nvPr/>
              </p:nvGrpSpPr>
              <p:grpSpPr bwMode="auto">
                <a:xfrm>
                  <a:off x="2541" y="2554"/>
                  <a:ext cx="336" cy="614"/>
                  <a:chOff x="2541" y="2554"/>
                  <a:chExt cx="336" cy="614"/>
                </a:xfrm>
              </p:grpSpPr>
              <p:sp>
                <p:nvSpPr>
                  <p:cNvPr id="3129574" name="Line 230"/>
                  <p:cNvSpPr>
                    <a:spLocks noChangeShapeType="1"/>
                  </p:cNvSpPr>
                  <p:nvPr/>
                </p:nvSpPr>
                <p:spPr bwMode="auto">
                  <a:xfrm>
                    <a:off x="2541"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75" name="Line 231"/>
                  <p:cNvSpPr>
                    <a:spLocks noChangeShapeType="1"/>
                  </p:cNvSpPr>
                  <p:nvPr/>
                </p:nvSpPr>
                <p:spPr bwMode="auto">
                  <a:xfrm>
                    <a:off x="2709"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76" name="Line 232"/>
                  <p:cNvSpPr>
                    <a:spLocks noChangeShapeType="1"/>
                  </p:cNvSpPr>
                  <p:nvPr/>
                </p:nvSpPr>
                <p:spPr bwMode="auto">
                  <a:xfrm>
                    <a:off x="2653"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77" name="Line 233"/>
                  <p:cNvSpPr>
                    <a:spLocks noChangeShapeType="1"/>
                  </p:cNvSpPr>
                  <p:nvPr/>
                </p:nvSpPr>
                <p:spPr bwMode="auto">
                  <a:xfrm>
                    <a:off x="2597"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3129578" name="Group 234"/>
                <p:cNvGrpSpPr>
                  <a:grpSpLocks/>
                </p:cNvGrpSpPr>
                <p:nvPr/>
              </p:nvGrpSpPr>
              <p:grpSpPr bwMode="auto">
                <a:xfrm>
                  <a:off x="2775" y="2554"/>
                  <a:ext cx="336" cy="614"/>
                  <a:chOff x="2775" y="2554"/>
                  <a:chExt cx="336" cy="614"/>
                </a:xfrm>
              </p:grpSpPr>
              <p:sp>
                <p:nvSpPr>
                  <p:cNvPr id="3129579" name="Line 235"/>
                  <p:cNvSpPr>
                    <a:spLocks noChangeShapeType="1"/>
                  </p:cNvSpPr>
                  <p:nvPr/>
                </p:nvSpPr>
                <p:spPr bwMode="auto">
                  <a:xfrm>
                    <a:off x="2775" y="2554"/>
                    <a:ext cx="167"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0" name="Line 236"/>
                  <p:cNvSpPr>
                    <a:spLocks noChangeShapeType="1"/>
                  </p:cNvSpPr>
                  <p:nvPr/>
                </p:nvSpPr>
                <p:spPr bwMode="auto">
                  <a:xfrm>
                    <a:off x="2943"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1" name="Line 237"/>
                  <p:cNvSpPr>
                    <a:spLocks noChangeShapeType="1"/>
                  </p:cNvSpPr>
                  <p:nvPr/>
                </p:nvSpPr>
                <p:spPr bwMode="auto">
                  <a:xfrm>
                    <a:off x="2887"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2" name="Line 238"/>
                  <p:cNvSpPr>
                    <a:spLocks noChangeShapeType="1"/>
                  </p:cNvSpPr>
                  <p:nvPr/>
                </p:nvSpPr>
                <p:spPr bwMode="auto">
                  <a:xfrm>
                    <a:off x="2831" y="2554"/>
                    <a:ext cx="168" cy="61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sp>
          <p:nvSpPr>
            <p:cNvPr id="3129583" name="Line 239"/>
            <p:cNvSpPr>
              <a:spLocks noChangeShapeType="1"/>
            </p:cNvSpPr>
            <p:nvPr/>
          </p:nvSpPr>
          <p:spPr bwMode="auto">
            <a:xfrm>
              <a:off x="2074" y="2609"/>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4" name="Line 240"/>
            <p:cNvSpPr>
              <a:spLocks noChangeShapeType="1"/>
            </p:cNvSpPr>
            <p:nvPr/>
          </p:nvSpPr>
          <p:spPr bwMode="auto">
            <a:xfrm>
              <a:off x="2093" y="2673"/>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5" name="Line 241"/>
            <p:cNvSpPr>
              <a:spLocks noChangeShapeType="1"/>
            </p:cNvSpPr>
            <p:nvPr/>
          </p:nvSpPr>
          <p:spPr bwMode="auto">
            <a:xfrm>
              <a:off x="2074" y="2738"/>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6" name="Line 242"/>
            <p:cNvSpPr>
              <a:spLocks noChangeShapeType="1"/>
            </p:cNvSpPr>
            <p:nvPr/>
          </p:nvSpPr>
          <p:spPr bwMode="auto">
            <a:xfrm>
              <a:off x="2093" y="2802"/>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7" name="Line 243"/>
            <p:cNvSpPr>
              <a:spLocks noChangeShapeType="1"/>
            </p:cNvSpPr>
            <p:nvPr/>
          </p:nvSpPr>
          <p:spPr bwMode="auto">
            <a:xfrm>
              <a:off x="2074" y="2856"/>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8" name="Line 244"/>
            <p:cNvSpPr>
              <a:spLocks noChangeShapeType="1"/>
            </p:cNvSpPr>
            <p:nvPr/>
          </p:nvSpPr>
          <p:spPr bwMode="auto">
            <a:xfrm>
              <a:off x="2093" y="2921"/>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89" name="Line 245"/>
            <p:cNvSpPr>
              <a:spLocks noChangeShapeType="1"/>
            </p:cNvSpPr>
            <p:nvPr/>
          </p:nvSpPr>
          <p:spPr bwMode="auto">
            <a:xfrm>
              <a:off x="2074" y="2985"/>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90" name="Line 246"/>
            <p:cNvSpPr>
              <a:spLocks noChangeShapeType="1"/>
            </p:cNvSpPr>
            <p:nvPr/>
          </p:nvSpPr>
          <p:spPr bwMode="auto">
            <a:xfrm>
              <a:off x="2093" y="3050"/>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29591" name="Line 247"/>
            <p:cNvSpPr>
              <a:spLocks noChangeShapeType="1"/>
            </p:cNvSpPr>
            <p:nvPr/>
          </p:nvSpPr>
          <p:spPr bwMode="auto">
            <a:xfrm>
              <a:off x="2093" y="3114"/>
              <a:ext cx="102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Tree>
  </p:cSld>
  <p:clrMapOvr>
    <a:masterClrMapping/>
  </p:clrMapOvr>
  <p:transition>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0370" name="Rectangle 2"/>
          <p:cNvSpPr>
            <a:spLocks noGrp="1" noChangeArrowheads="1"/>
          </p:cNvSpPr>
          <p:nvPr>
            <p:ph type="title"/>
          </p:nvPr>
        </p:nvSpPr>
        <p:spPr>
          <a:noFill/>
          <a:ln/>
        </p:spPr>
        <p:txBody>
          <a:bodyPr/>
          <a:lstStyle/>
          <a:p>
            <a:pPr eaLnBrk="0" hangingPunct="0"/>
            <a:r>
              <a:rPr lang="en-GB"/>
              <a:t>What about the bugs we don’t find?</a:t>
            </a:r>
          </a:p>
        </p:txBody>
      </p:sp>
      <p:sp>
        <p:nvSpPr>
          <p:cNvPr id="3130371" name="Oval 3"/>
          <p:cNvSpPr>
            <a:spLocks noChangeArrowheads="1"/>
          </p:cNvSpPr>
          <p:nvPr/>
        </p:nvSpPr>
        <p:spPr bwMode="auto">
          <a:xfrm>
            <a:off x="709613" y="1987550"/>
            <a:ext cx="7654925" cy="4025900"/>
          </a:xfrm>
          <a:prstGeom prst="ellipse">
            <a:avLst/>
          </a:prstGeom>
          <a:solidFill>
            <a:schemeClr val="tx1"/>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30372" name="Oval 4"/>
          <p:cNvSpPr>
            <a:spLocks noChangeArrowheads="1"/>
          </p:cNvSpPr>
          <p:nvPr/>
        </p:nvSpPr>
        <p:spPr bwMode="auto">
          <a:xfrm>
            <a:off x="6119813" y="3505200"/>
            <a:ext cx="1397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
        <p:nvSpPr>
          <p:cNvPr id="3130373" name="Oval 5"/>
          <p:cNvSpPr>
            <a:spLocks noChangeArrowheads="1"/>
          </p:cNvSpPr>
          <p:nvPr/>
        </p:nvSpPr>
        <p:spPr bwMode="auto">
          <a:xfrm>
            <a:off x="3657600" y="4038600"/>
            <a:ext cx="141288"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30374" name="Oval 6"/>
          <p:cNvSpPr>
            <a:spLocks noChangeArrowheads="1"/>
          </p:cNvSpPr>
          <p:nvPr/>
        </p:nvSpPr>
        <p:spPr bwMode="auto">
          <a:xfrm>
            <a:off x="1617663" y="5029200"/>
            <a:ext cx="141287"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30375" name="Oval 7"/>
          <p:cNvSpPr>
            <a:spLocks noChangeArrowheads="1"/>
          </p:cNvSpPr>
          <p:nvPr/>
        </p:nvSpPr>
        <p:spPr bwMode="auto">
          <a:xfrm>
            <a:off x="2109788" y="2667000"/>
            <a:ext cx="141287"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30376" name="Oval 8"/>
          <p:cNvSpPr>
            <a:spLocks noChangeArrowheads="1"/>
          </p:cNvSpPr>
          <p:nvPr/>
        </p:nvSpPr>
        <p:spPr bwMode="auto">
          <a:xfrm>
            <a:off x="1336675" y="3048000"/>
            <a:ext cx="139700"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130377" name="Group 9"/>
          <p:cNvGrpSpPr>
            <a:grpSpLocks/>
          </p:cNvGrpSpPr>
          <p:nvPr/>
        </p:nvGrpSpPr>
        <p:grpSpPr bwMode="auto">
          <a:xfrm>
            <a:off x="5767388" y="4953000"/>
            <a:ext cx="492125" cy="228600"/>
            <a:chOff x="3936" y="3120"/>
            <a:chExt cx="336" cy="144"/>
          </a:xfrm>
        </p:grpSpPr>
        <p:sp>
          <p:nvSpPr>
            <p:cNvPr id="3130378" name="Oval 10"/>
            <p:cNvSpPr>
              <a:spLocks noChangeArrowheads="1"/>
            </p:cNvSpPr>
            <p:nvPr/>
          </p:nvSpPr>
          <p:spPr bwMode="auto">
            <a:xfrm>
              <a:off x="3936" y="3120"/>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30379" name="Oval 11"/>
            <p:cNvSpPr>
              <a:spLocks noChangeArrowheads="1"/>
            </p:cNvSpPr>
            <p:nvPr/>
          </p:nvSpPr>
          <p:spPr bwMode="auto">
            <a:xfrm>
              <a:off x="4176" y="3168"/>
              <a:ext cx="96" cy="9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130380" name="Oval 12"/>
          <p:cNvSpPr>
            <a:spLocks noChangeArrowheads="1"/>
          </p:cNvSpPr>
          <p:nvPr/>
        </p:nvSpPr>
        <p:spPr bwMode="auto">
          <a:xfrm>
            <a:off x="7104063" y="4495800"/>
            <a:ext cx="141287" cy="15240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2075" tIns="46038" rIns="92075" bIns="46038" anchor="ctr"/>
          <a:lstStyle/>
          <a:p>
            <a:pPr algn="ctr" eaLnBrk="0" hangingPunct="0"/>
            <a:endParaRPr lang="en-GB" sz="2400">
              <a:latin typeface="Times New Roman" charset="0"/>
            </a:endParaRPr>
          </a:p>
        </p:txBody>
      </p:sp>
    </p:spTree>
  </p:cSld>
  <p:clrMapOvr>
    <a:masterClrMapping/>
  </p:clrMapOvr>
  <p:transition>
    <p:dissolv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1394" name="Rectangle 2"/>
          <p:cNvSpPr>
            <a:spLocks noGrp="1" noChangeArrowheads="1"/>
          </p:cNvSpPr>
          <p:nvPr>
            <p:ph type="title"/>
          </p:nvPr>
        </p:nvSpPr>
        <p:spPr>
          <a:noFill/>
          <a:ln/>
        </p:spPr>
        <p:txBody>
          <a:bodyPr/>
          <a:lstStyle/>
          <a:p>
            <a:pPr eaLnBrk="0" hangingPunct="0"/>
            <a:r>
              <a:rPr lang="en-GB"/>
              <a:t>What about the bugs we don’t find?</a:t>
            </a:r>
          </a:p>
        </p:txBody>
      </p:sp>
      <p:sp>
        <p:nvSpPr>
          <p:cNvPr id="3131395" name="Rectangle 3"/>
          <p:cNvSpPr>
            <a:spLocks noGrp="1" noChangeArrowheads="1"/>
          </p:cNvSpPr>
          <p:nvPr>
            <p:ph type="body" idx="1"/>
          </p:nvPr>
        </p:nvSpPr>
        <p:spPr>
          <a:noFill/>
          <a:ln/>
        </p:spPr>
        <p:txBody>
          <a:bodyPr/>
          <a:lstStyle/>
          <a:p>
            <a:pPr eaLnBrk="0" hangingPunct="0"/>
            <a:r>
              <a:rPr lang="en-GB" dirty="0"/>
              <a:t>If not in the business critical parts of the system - would the users care?</a:t>
            </a:r>
          </a:p>
          <a:p>
            <a:pPr eaLnBrk="0" hangingPunct="0"/>
            <a:r>
              <a:rPr lang="en-GB" dirty="0"/>
              <a:t>If not in the system critical parts of the system - should be low impact</a:t>
            </a:r>
          </a:p>
          <a:p>
            <a:pPr eaLnBrk="0" hangingPunct="0"/>
            <a:r>
              <a:rPr lang="en-GB" dirty="0"/>
              <a:t>If they are in the critical parts of the system</a:t>
            </a:r>
          </a:p>
          <a:p>
            <a:pPr lvl="1" eaLnBrk="0" hangingPunct="0"/>
            <a:r>
              <a:rPr lang="en-GB" dirty="0"/>
              <a:t>should be few and far between</a:t>
            </a:r>
          </a:p>
          <a:p>
            <a:pPr lvl="1" eaLnBrk="0" hangingPunct="0"/>
            <a:r>
              <a:rPr lang="en-GB" dirty="0"/>
              <a:t>should be pushed to the domain of obscure usage.</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31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31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31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313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313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Fundamentals continued…</a:t>
            </a:r>
          </a:p>
        </p:txBody>
      </p:sp>
      <p:sp>
        <p:nvSpPr>
          <p:cNvPr id="4" name="Rectangle 9"/>
          <p:cNvSpPr txBox="1">
            <a:spLocks noChangeArrowheads="1"/>
          </p:cNvSpPr>
          <p:nvPr/>
        </p:nvSpPr>
        <p:spPr bwMode="auto">
          <a:xfrm>
            <a:off x="755576" y="1484784"/>
            <a:ext cx="79486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r>
              <a:rPr kumimoji="0" lang="en-US" sz="2400" b="0" i="0" u="none" strike="noStrike" kern="0" cap="none" spc="0" normalizeH="0" baseline="0" noProof="0" dirty="0">
                <a:ln>
                  <a:noFill/>
                </a:ln>
                <a:solidFill>
                  <a:srgbClr val="00279F"/>
                </a:solidFill>
                <a:effectLst/>
                <a:uLnTx/>
                <a:uFillTx/>
                <a:latin typeface="Arial"/>
                <a:ea typeface="ＭＳ Ｐゴシック"/>
                <a:cs typeface="+mn-cs"/>
              </a:rPr>
              <a:t>What is testing?</a:t>
            </a:r>
            <a:endParaRPr kumimoji="0" lang="en-US" sz="2400" b="0" i="0" u="none" strike="noStrike" kern="120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p:txBody>
      </p:sp>
    </p:spTree>
    <p:extLst>
      <p:ext uri="{BB962C8B-B14F-4D97-AF65-F5344CB8AC3E}">
        <p14:creationId xmlns:p14="http://schemas.microsoft.com/office/powerpoint/2010/main" val="391106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2"/>
          <p:cNvSpPr>
            <a:spLocks noGrp="1" noChangeArrowheads="1"/>
          </p:cNvSpPr>
          <p:nvPr>
            <p:ph type="title"/>
          </p:nvPr>
        </p:nvSpPr>
        <p:spPr>
          <a:xfrm>
            <a:off x="388938" y="724627"/>
            <a:ext cx="8145462" cy="646973"/>
          </a:xfrm>
        </p:spPr>
        <p:txBody>
          <a:bodyPr>
            <a:spAutoFit/>
          </a:bodyPr>
          <a:lstStyle/>
          <a:p>
            <a:pPr eaLnBrk="1" hangingPunct="1"/>
            <a:r>
              <a:rPr lang="en-GB" dirty="0">
                <a:solidFill>
                  <a:schemeClr val="bg1"/>
                </a:solidFill>
              </a:rPr>
              <a:t>What is testing?</a:t>
            </a:r>
          </a:p>
        </p:txBody>
      </p:sp>
      <p:sp>
        <p:nvSpPr>
          <p:cNvPr id="266243" name="Rectangle 3"/>
          <p:cNvSpPr>
            <a:spLocks noGrp="1" noChangeArrowheads="1"/>
          </p:cNvSpPr>
          <p:nvPr>
            <p:ph sz="half" idx="1"/>
          </p:nvPr>
        </p:nvSpPr>
        <p:spPr>
          <a:ln w="38100" cap="flat" cmpd="thinThick" algn="ctr">
            <a:solidFill>
              <a:srgbClr val="FF0000"/>
            </a:solidFill>
          </a:ln>
        </p:spPr>
        <p:txBody>
          <a:bodyPr/>
          <a:lstStyle/>
          <a:p>
            <a:pPr marL="0" indent="0" algn="ctr" eaLnBrk="1" hangingPunct="1"/>
            <a:r>
              <a:rPr lang="en-GB" b="1" dirty="0">
                <a:solidFill>
                  <a:schemeClr val="bg1"/>
                </a:solidFill>
              </a:rPr>
              <a:t>Testing</a:t>
            </a:r>
          </a:p>
          <a:p>
            <a:pPr marL="0" indent="0" algn="ctr" eaLnBrk="1" hangingPunct="1"/>
            <a:endParaRPr lang="en-GB" sz="1800" dirty="0">
              <a:solidFill>
                <a:schemeClr val="bg1"/>
              </a:solidFill>
            </a:endParaRPr>
          </a:p>
          <a:p>
            <a:pPr marL="0" indent="0" algn="ctr" eaLnBrk="1" hangingPunct="1"/>
            <a:r>
              <a:rPr lang="en-GB" sz="1800" dirty="0">
                <a:solidFill>
                  <a:schemeClr val="bg1"/>
                </a:solidFill>
              </a:rPr>
              <a:t>The systematic exploration of a component/system with the main aim </a:t>
            </a:r>
            <a:br>
              <a:rPr lang="en-GB" sz="1800" dirty="0">
                <a:solidFill>
                  <a:schemeClr val="bg1"/>
                </a:solidFill>
              </a:rPr>
            </a:br>
            <a:r>
              <a:rPr lang="en-GB" sz="1800" dirty="0">
                <a:solidFill>
                  <a:schemeClr val="bg1"/>
                </a:solidFill>
              </a:rPr>
              <a:t>of finding and reporting defects.</a:t>
            </a:r>
          </a:p>
          <a:p>
            <a:pPr marL="725488" lvl="1" indent="-277813" algn="ctr" eaLnBrk="1" hangingPunct="1"/>
            <a:endParaRPr lang="en-GB" sz="1800" dirty="0">
              <a:solidFill>
                <a:schemeClr val="bg1"/>
              </a:solidFill>
            </a:endParaRPr>
          </a:p>
          <a:p>
            <a:pPr marL="0" indent="0" algn="ctr" eaLnBrk="1" hangingPunct="1"/>
            <a:r>
              <a:rPr lang="en-GB" sz="1800" dirty="0">
                <a:solidFill>
                  <a:schemeClr val="bg1"/>
                </a:solidFill>
              </a:rPr>
              <a:t>Testing rigorously examines the component/system behaviour and reports defects found.</a:t>
            </a:r>
          </a:p>
          <a:p>
            <a:pPr marL="0" indent="0" algn="ctr" eaLnBrk="1" hangingPunct="1"/>
            <a:endParaRPr lang="en-GB" sz="1800" dirty="0">
              <a:solidFill>
                <a:schemeClr val="bg1"/>
              </a:solidFill>
            </a:endParaRPr>
          </a:p>
          <a:p>
            <a:pPr marL="0" indent="0" algn="ctr" eaLnBrk="1" hangingPunct="1"/>
            <a:r>
              <a:rPr lang="en-GB" sz="1800" dirty="0">
                <a:solidFill>
                  <a:schemeClr val="bg1"/>
                </a:solidFill>
              </a:rPr>
              <a:t>Tests are repeated to ensure that </a:t>
            </a:r>
            <a:br>
              <a:rPr lang="en-GB" sz="1800" dirty="0">
                <a:solidFill>
                  <a:schemeClr val="bg1"/>
                </a:solidFill>
              </a:rPr>
            </a:br>
            <a:r>
              <a:rPr lang="en-GB" sz="1800" dirty="0">
                <a:solidFill>
                  <a:schemeClr val="bg1"/>
                </a:solidFill>
              </a:rPr>
              <a:t>defect corrections have been effective.</a:t>
            </a:r>
          </a:p>
        </p:txBody>
      </p:sp>
      <p:sp>
        <p:nvSpPr>
          <p:cNvPr id="266244" name="Rectangle 4"/>
          <p:cNvSpPr>
            <a:spLocks noGrp="1" noChangeArrowheads="1"/>
          </p:cNvSpPr>
          <p:nvPr>
            <p:ph sz="half" idx="2"/>
          </p:nvPr>
        </p:nvSpPr>
        <p:spPr>
          <a:ln w="38100" cap="flat" cmpd="thinThick" algn="ctr">
            <a:solidFill>
              <a:srgbClr val="FF0000"/>
            </a:solidFill>
          </a:ln>
        </p:spPr>
        <p:txBody>
          <a:bodyPr/>
          <a:lstStyle/>
          <a:p>
            <a:pPr marL="0" indent="0" algn="ctr" eaLnBrk="1" hangingPunct="1"/>
            <a:r>
              <a:rPr lang="en-GB" b="1" dirty="0">
                <a:solidFill>
                  <a:schemeClr val="bg1"/>
                </a:solidFill>
              </a:rPr>
              <a:t>Debugging</a:t>
            </a:r>
          </a:p>
          <a:p>
            <a:pPr marL="0" indent="0" algn="ctr" eaLnBrk="1" hangingPunct="1"/>
            <a:endParaRPr lang="en-GB" sz="1800" dirty="0">
              <a:solidFill>
                <a:schemeClr val="bg1"/>
              </a:solidFill>
            </a:endParaRPr>
          </a:p>
          <a:p>
            <a:pPr marL="0" indent="0" algn="ctr" eaLnBrk="1" hangingPunct="1"/>
            <a:r>
              <a:rPr lang="en-GB" sz="1800" dirty="0">
                <a:solidFill>
                  <a:schemeClr val="bg1"/>
                </a:solidFill>
              </a:rPr>
              <a:t>A process undertaken by developers </a:t>
            </a:r>
            <a:br>
              <a:rPr lang="en-GB" sz="1800" dirty="0">
                <a:solidFill>
                  <a:schemeClr val="bg1"/>
                </a:solidFill>
              </a:rPr>
            </a:br>
            <a:r>
              <a:rPr lang="en-GB" sz="1800" dirty="0">
                <a:solidFill>
                  <a:schemeClr val="bg1"/>
                </a:solidFill>
              </a:rPr>
              <a:t>to identify the cause of defects in code and undertake corrections.</a:t>
            </a:r>
          </a:p>
          <a:p>
            <a:pPr marL="0" indent="0" algn="ctr" eaLnBrk="1" hangingPunct="1"/>
            <a:endParaRPr lang="en-GB" sz="1800" dirty="0">
              <a:solidFill>
                <a:schemeClr val="bg1"/>
              </a:solidFill>
            </a:endParaRPr>
          </a:p>
          <a:p>
            <a:pPr marL="0" indent="0" algn="ctr" eaLnBrk="1" hangingPunct="1"/>
            <a:r>
              <a:rPr lang="en-GB" sz="1800" dirty="0">
                <a:solidFill>
                  <a:schemeClr val="bg1"/>
                </a:solidFill>
              </a:rPr>
              <a:t>Debugging is done first to ensure that the component or system is at a level </a:t>
            </a:r>
            <a:br>
              <a:rPr lang="en-GB" sz="1800" dirty="0">
                <a:solidFill>
                  <a:schemeClr val="bg1"/>
                </a:solidFill>
              </a:rPr>
            </a:br>
            <a:r>
              <a:rPr lang="en-GB" sz="1800" dirty="0">
                <a:solidFill>
                  <a:schemeClr val="bg1"/>
                </a:solidFill>
              </a:rPr>
              <a:t>to enable rigorous testing.</a:t>
            </a:r>
          </a:p>
          <a:p>
            <a:pPr marL="0" indent="0" algn="ctr" eaLnBrk="1" hangingPunct="1"/>
            <a:endParaRPr lang="en-GB" sz="1800" dirty="0">
              <a:solidFill>
                <a:schemeClr val="bg1"/>
              </a:solidFill>
            </a:endParaRPr>
          </a:p>
          <a:p>
            <a:pPr marL="0" indent="0" algn="ctr" eaLnBrk="1" hangingPunct="1"/>
            <a:r>
              <a:rPr lang="en-GB" sz="1800" dirty="0">
                <a:solidFill>
                  <a:schemeClr val="bg1"/>
                </a:solidFill>
              </a:rPr>
              <a:t>Debugging can be used to understand the root cause of observed failures.</a:t>
            </a:r>
          </a:p>
        </p:txBody>
      </p:sp>
    </p:spTree>
    <p:extLst>
      <p:ext uri="{BB962C8B-B14F-4D97-AF65-F5344CB8AC3E}">
        <p14:creationId xmlns:p14="http://schemas.microsoft.com/office/powerpoint/2010/main" val="231692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66243">
                                            <p:bg/>
                                          </p:spTgt>
                                        </p:tgtEl>
                                        <p:attrNameLst>
                                          <p:attrName>style.visibility</p:attrName>
                                        </p:attrNameLst>
                                      </p:cBhvr>
                                      <p:to>
                                        <p:strVal val="visible"/>
                                      </p:to>
                                    </p:set>
                                    <p:anim calcmode="lin" valueType="num">
                                      <p:cBhvr>
                                        <p:cTn id="7" dur="500" fill="hold"/>
                                        <p:tgtEl>
                                          <p:spTgt spid="266243">
                                            <p:bg/>
                                          </p:spTgt>
                                        </p:tgtEl>
                                        <p:attrNameLst>
                                          <p:attrName>ppt_w</p:attrName>
                                        </p:attrNameLst>
                                      </p:cBhvr>
                                      <p:tavLst>
                                        <p:tav tm="0">
                                          <p:val>
                                            <p:fltVal val="0"/>
                                          </p:val>
                                        </p:tav>
                                        <p:tav tm="100000">
                                          <p:val>
                                            <p:strVal val="#ppt_w"/>
                                          </p:val>
                                        </p:tav>
                                      </p:tavLst>
                                    </p:anim>
                                    <p:anim calcmode="lin" valueType="num">
                                      <p:cBhvr>
                                        <p:cTn id="8" dur="500" fill="hold"/>
                                        <p:tgtEl>
                                          <p:spTgt spid="266243">
                                            <p:bg/>
                                          </p:spTgt>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266243">
                                            <p:txEl>
                                              <p:pRg st="0" end="0"/>
                                            </p:txEl>
                                          </p:spTgt>
                                        </p:tgtEl>
                                        <p:attrNameLst>
                                          <p:attrName>style.visibility</p:attrName>
                                        </p:attrNameLst>
                                      </p:cBhvr>
                                      <p:to>
                                        <p:strVal val="visible"/>
                                      </p:to>
                                    </p:set>
                                    <p:anim calcmode="lin" valueType="num">
                                      <p:cBhvr>
                                        <p:cTn id="12" dur="500" fill="hold"/>
                                        <p:tgtEl>
                                          <p:spTgt spid="266243">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266243">
                                            <p:txEl>
                                              <p:pRg st="0" end="0"/>
                                            </p:txEl>
                                          </p:spTgt>
                                        </p:tgtEl>
                                        <p:attrNameLst>
                                          <p:attrName>ppt_h</p:attrName>
                                        </p:attrNameLst>
                                      </p:cBhvr>
                                      <p:tavLst>
                                        <p:tav tm="0">
                                          <p:val>
                                            <p:strVal val="#ppt_h"/>
                                          </p:val>
                                        </p:tav>
                                        <p:tav tm="100000">
                                          <p:val>
                                            <p:strVal val="#ppt_h"/>
                                          </p:val>
                                        </p:tav>
                                      </p:tavLst>
                                    </p:anim>
                                  </p:childTnLst>
                                </p:cTn>
                              </p:par>
                            </p:childTnLst>
                          </p:cTn>
                        </p:par>
                        <p:par>
                          <p:cTn id="14" fill="hold">
                            <p:stCondLst>
                              <p:cond delay="1000"/>
                            </p:stCondLst>
                            <p:childTnLst>
                              <p:par>
                                <p:cTn id="15" presetID="17" presetClass="entr" presetSubtype="10" fill="hold" grpId="0" nodeType="afterEffect">
                                  <p:stCondLst>
                                    <p:cond delay="0"/>
                                  </p:stCondLst>
                                  <p:childTnLst>
                                    <p:set>
                                      <p:cBhvr>
                                        <p:cTn id="16" dur="1" fill="hold">
                                          <p:stCondLst>
                                            <p:cond delay="0"/>
                                          </p:stCondLst>
                                        </p:cTn>
                                        <p:tgtEl>
                                          <p:spTgt spid="266243">
                                            <p:txEl>
                                              <p:pRg st="2" end="2"/>
                                            </p:txEl>
                                          </p:spTgt>
                                        </p:tgtEl>
                                        <p:attrNameLst>
                                          <p:attrName>style.visibility</p:attrName>
                                        </p:attrNameLst>
                                      </p:cBhvr>
                                      <p:to>
                                        <p:strVal val="visible"/>
                                      </p:to>
                                    </p:set>
                                    <p:anim calcmode="lin" valueType="num">
                                      <p:cBhvr>
                                        <p:cTn id="17" dur="500" fill="hold"/>
                                        <p:tgtEl>
                                          <p:spTgt spid="26624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266243">
                                            <p:txEl>
                                              <p:pRg st="2" end="2"/>
                                            </p:txEl>
                                          </p:spTgt>
                                        </p:tgtEl>
                                        <p:attrNameLst>
                                          <p:attrName>ppt_h</p:attrName>
                                        </p:attrNameLst>
                                      </p:cBhvr>
                                      <p:tavLst>
                                        <p:tav tm="0">
                                          <p:val>
                                            <p:strVal val="#ppt_h"/>
                                          </p:val>
                                        </p:tav>
                                        <p:tav tm="100000">
                                          <p:val>
                                            <p:strVal val="#ppt_h"/>
                                          </p:val>
                                        </p:tav>
                                      </p:tavLst>
                                    </p:anim>
                                  </p:childTnLst>
                                </p:cTn>
                              </p:par>
                            </p:childTnLst>
                          </p:cTn>
                        </p:par>
                        <p:par>
                          <p:cTn id="19" fill="hold">
                            <p:stCondLst>
                              <p:cond delay="1500"/>
                            </p:stCondLst>
                            <p:childTnLst>
                              <p:par>
                                <p:cTn id="20" presetID="17" presetClass="entr" presetSubtype="10" fill="hold" grpId="0" nodeType="afterEffect">
                                  <p:stCondLst>
                                    <p:cond delay="0"/>
                                  </p:stCondLst>
                                  <p:childTnLst>
                                    <p:set>
                                      <p:cBhvr>
                                        <p:cTn id="21" dur="1" fill="hold">
                                          <p:stCondLst>
                                            <p:cond delay="0"/>
                                          </p:stCondLst>
                                        </p:cTn>
                                        <p:tgtEl>
                                          <p:spTgt spid="266243">
                                            <p:txEl>
                                              <p:pRg st="4" end="4"/>
                                            </p:txEl>
                                          </p:spTgt>
                                        </p:tgtEl>
                                        <p:attrNameLst>
                                          <p:attrName>style.visibility</p:attrName>
                                        </p:attrNameLst>
                                      </p:cBhvr>
                                      <p:to>
                                        <p:strVal val="visible"/>
                                      </p:to>
                                    </p:set>
                                    <p:anim calcmode="lin" valueType="num">
                                      <p:cBhvr>
                                        <p:cTn id="22" dur="500" fill="hold"/>
                                        <p:tgtEl>
                                          <p:spTgt spid="266243">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266243">
                                            <p:txEl>
                                              <p:pRg st="4" end="4"/>
                                            </p:txEl>
                                          </p:spTgt>
                                        </p:tgtEl>
                                        <p:attrNameLst>
                                          <p:attrName>ppt_h</p:attrName>
                                        </p:attrNameLst>
                                      </p:cBhvr>
                                      <p:tavLst>
                                        <p:tav tm="0">
                                          <p:val>
                                            <p:strVal val="#ppt_h"/>
                                          </p:val>
                                        </p:tav>
                                        <p:tav tm="100000">
                                          <p:val>
                                            <p:strVal val="#ppt_h"/>
                                          </p:val>
                                        </p:tav>
                                      </p:tavLst>
                                    </p:anim>
                                  </p:childTnLst>
                                </p:cTn>
                              </p:par>
                            </p:childTnLst>
                          </p:cTn>
                        </p:par>
                        <p:par>
                          <p:cTn id="24" fill="hold">
                            <p:stCondLst>
                              <p:cond delay="2000"/>
                            </p:stCondLst>
                            <p:childTnLst>
                              <p:par>
                                <p:cTn id="25" presetID="17" presetClass="entr" presetSubtype="10" fill="hold" grpId="0" nodeType="afterEffect">
                                  <p:stCondLst>
                                    <p:cond delay="0"/>
                                  </p:stCondLst>
                                  <p:childTnLst>
                                    <p:set>
                                      <p:cBhvr>
                                        <p:cTn id="26" dur="1" fill="hold">
                                          <p:stCondLst>
                                            <p:cond delay="0"/>
                                          </p:stCondLst>
                                        </p:cTn>
                                        <p:tgtEl>
                                          <p:spTgt spid="266243">
                                            <p:txEl>
                                              <p:pRg st="6" end="6"/>
                                            </p:txEl>
                                          </p:spTgt>
                                        </p:tgtEl>
                                        <p:attrNameLst>
                                          <p:attrName>style.visibility</p:attrName>
                                        </p:attrNameLst>
                                      </p:cBhvr>
                                      <p:to>
                                        <p:strVal val="visible"/>
                                      </p:to>
                                    </p:set>
                                    <p:anim calcmode="lin" valueType="num">
                                      <p:cBhvr>
                                        <p:cTn id="27" dur="500" fill="hold"/>
                                        <p:tgtEl>
                                          <p:spTgt spid="266243">
                                            <p:txEl>
                                              <p:pRg st="6" end="6"/>
                                            </p:txEl>
                                          </p:spTgt>
                                        </p:tgtEl>
                                        <p:attrNameLst>
                                          <p:attrName>ppt_w</p:attrName>
                                        </p:attrNameLst>
                                      </p:cBhvr>
                                      <p:tavLst>
                                        <p:tav tm="0">
                                          <p:val>
                                            <p:fltVal val="0"/>
                                          </p:val>
                                        </p:tav>
                                        <p:tav tm="100000">
                                          <p:val>
                                            <p:strVal val="#ppt_w"/>
                                          </p:val>
                                        </p:tav>
                                      </p:tavLst>
                                    </p:anim>
                                    <p:anim calcmode="lin" valueType="num">
                                      <p:cBhvr>
                                        <p:cTn id="28" dur="500" fill="hold"/>
                                        <p:tgtEl>
                                          <p:spTgt spid="266243">
                                            <p:txEl>
                                              <p:pRg st="6" end="6"/>
                                            </p:txEl>
                                          </p:spTgt>
                                        </p:tgtEl>
                                        <p:attrNameLst>
                                          <p:attrName>ppt_h</p:attrName>
                                        </p:attrNameLst>
                                      </p:cBhvr>
                                      <p:tavLst>
                                        <p:tav tm="0">
                                          <p:val>
                                            <p:strVal val="#ppt_h"/>
                                          </p:val>
                                        </p:tav>
                                        <p:tav tm="100000">
                                          <p:val>
                                            <p:strVal val="#ppt_h"/>
                                          </p:val>
                                        </p:tav>
                                      </p:tavLst>
                                    </p:anim>
                                  </p:childTnLst>
                                </p:cTn>
                              </p:par>
                              <p:par>
                                <p:cTn id="29" presetID="17" presetClass="entr" presetSubtype="10" fill="hold" grpId="0" nodeType="withEffect">
                                  <p:stCondLst>
                                    <p:cond delay="0"/>
                                  </p:stCondLst>
                                  <p:childTnLst>
                                    <p:set>
                                      <p:cBhvr>
                                        <p:cTn id="30" dur="1" fill="hold">
                                          <p:stCondLst>
                                            <p:cond delay="0"/>
                                          </p:stCondLst>
                                        </p:cTn>
                                        <p:tgtEl>
                                          <p:spTgt spid="266244">
                                            <p:bg/>
                                          </p:spTgt>
                                        </p:tgtEl>
                                        <p:attrNameLst>
                                          <p:attrName>style.visibility</p:attrName>
                                        </p:attrNameLst>
                                      </p:cBhvr>
                                      <p:to>
                                        <p:strVal val="visible"/>
                                      </p:to>
                                    </p:set>
                                    <p:anim calcmode="lin" valueType="num">
                                      <p:cBhvr>
                                        <p:cTn id="31" dur="500" fill="hold"/>
                                        <p:tgtEl>
                                          <p:spTgt spid="266244">
                                            <p:bg/>
                                          </p:spTgt>
                                        </p:tgtEl>
                                        <p:attrNameLst>
                                          <p:attrName>ppt_w</p:attrName>
                                        </p:attrNameLst>
                                      </p:cBhvr>
                                      <p:tavLst>
                                        <p:tav tm="0">
                                          <p:val>
                                            <p:fltVal val="0"/>
                                          </p:val>
                                        </p:tav>
                                        <p:tav tm="100000">
                                          <p:val>
                                            <p:strVal val="#ppt_w"/>
                                          </p:val>
                                        </p:tav>
                                      </p:tavLst>
                                    </p:anim>
                                    <p:anim calcmode="lin" valueType="num">
                                      <p:cBhvr>
                                        <p:cTn id="32" dur="500" fill="hold"/>
                                        <p:tgtEl>
                                          <p:spTgt spid="266244">
                                            <p:bg/>
                                          </p:spTgt>
                                        </p:tgtEl>
                                        <p:attrNameLst>
                                          <p:attrName>ppt_h</p:attrName>
                                        </p:attrNameLst>
                                      </p:cBhvr>
                                      <p:tavLst>
                                        <p:tav tm="0">
                                          <p:val>
                                            <p:strVal val="#ppt_h"/>
                                          </p:val>
                                        </p:tav>
                                        <p:tav tm="100000">
                                          <p:val>
                                            <p:strVal val="#ppt_h"/>
                                          </p:val>
                                        </p:tav>
                                      </p:tavLst>
                                    </p:anim>
                                  </p:childTnLst>
                                </p:cTn>
                              </p:par>
                            </p:childTnLst>
                          </p:cTn>
                        </p:par>
                        <p:par>
                          <p:cTn id="33" fill="hold">
                            <p:stCondLst>
                              <p:cond delay="2500"/>
                            </p:stCondLst>
                            <p:childTnLst>
                              <p:par>
                                <p:cTn id="34" presetID="17" presetClass="entr" presetSubtype="10" fill="hold" grpId="0" nodeType="afterEffect">
                                  <p:stCondLst>
                                    <p:cond delay="0"/>
                                  </p:stCondLst>
                                  <p:childTnLst>
                                    <p:set>
                                      <p:cBhvr>
                                        <p:cTn id="35" dur="1" fill="hold">
                                          <p:stCondLst>
                                            <p:cond delay="0"/>
                                          </p:stCondLst>
                                        </p:cTn>
                                        <p:tgtEl>
                                          <p:spTgt spid="266244">
                                            <p:txEl>
                                              <p:pRg st="0" end="0"/>
                                            </p:txEl>
                                          </p:spTgt>
                                        </p:tgtEl>
                                        <p:attrNameLst>
                                          <p:attrName>style.visibility</p:attrName>
                                        </p:attrNameLst>
                                      </p:cBhvr>
                                      <p:to>
                                        <p:strVal val="visible"/>
                                      </p:to>
                                    </p:set>
                                    <p:anim calcmode="lin" valueType="num">
                                      <p:cBhvr>
                                        <p:cTn id="36" dur="500" fill="hold"/>
                                        <p:tgtEl>
                                          <p:spTgt spid="266244">
                                            <p:txEl>
                                              <p:pRg st="0" end="0"/>
                                            </p:txEl>
                                          </p:spTgt>
                                        </p:tgtEl>
                                        <p:attrNameLst>
                                          <p:attrName>ppt_w</p:attrName>
                                        </p:attrNameLst>
                                      </p:cBhvr>
                                      <p:tavLst>
                                        <p:tav tm="0">
                                          <p:val>
                                            <p:fltVal val="0"/>
                                          </p:val>
                                        </p:tav>
                                        <p:tav tm="100000">
                                          <p:val>
                                            <p:strVal val="#ppt_w"/>
                                          </p:val>
                                        </p:tav>
                                      </p:tavLst>
                                    </p:anim>
                                    <p:anim calcmode="lin" valueType="num">
                                      <p:cBhvr>
                                        <p:cTn id="37" dur="500" fill="hold"/>
                                        <p:tgtEl>
                                          <p:spTgt spid="266244">
                                            <p:txEl>
                                              <p:pRg st="0" end="0"/>
                                            </p:txEl>
                                          </p:spTgt>
                                        </p:tgtEl>
                                        <p:attrNameLst>
                                          <p:attrName>ppt_h</p:attrName>
                                        </p:attrNameLst>
                                      </p:cBhvr>
                                      <p:tavLst>
                                        <p:tav tm="0">
                                          <p:val>
                                            <p:strVal val="#ppt_h"/>
                                          </p:val>
                                        </p:tav>
                                        <p:tav tm="100000">
                                          <p:val>
                                            <p:strVal val="#ppt_h"/>
                                          </p:val>
                                        </p:tav>
                                      </p:tavLst>
                                    </p:anim>
                                  </p:childTnLst>
                                </p:cTn>
                              </p:par>
                            </p:childTnLst>
                          </p:cTn>
                        </p:par>
                        <p:par>
                          <p:cTn id="38" fill="hold">
                            <p:stCondLst>
                              <p:cond delay="3000"/>
                            </p:stCondLst>
                            <p:childTnLst>
                              <p:par>
                                <p:cTn id="39" presetID="17" presetClass="entr" presetSubtype="10" fill="hold" grpId="0" nodeType="afterEffect">
                                  <p:stCondLst>
                                    <p:cond delay="0"/>
                                  </p:stCondLst>
                                  <p:childTnLst>
                                    <p:set>
                                      <p:cBhvr>
                                        <p:cTn id="40" dur="1" fill="hold">
                                          <p:stCondLst>
                                            <p:cond delay="0"/>
                                          </p:stCondLst>
                                        </p:cTn>
                                        <p:tgtEl>
                                          <p:spTgt spid="266244">
                                            <p:txEl>
                                              <p:pRg st="2" end="2"/>
                                            </p:txEl>
                                          </p:spTgt>
                                        </p:tgtEl>
                                        <p:attrNameLst>
                                          <p:attrName>style.visibility</p:attrName>
                                        </p:attrNameLst>
                                      </p:cBhvr>
                                      <p:to>
                                        <p:strVal val="visible"/>
                                      </p:to>
                                    </p:set>
                                    <p:anim calcmode="lin" valueType="num">
                                      <p:cBhvr>
                                        <p:cTn id="41" dur="500" fill="hold"/>
                                        <p:tgtEl>
                                          <p:spTgt spid="266244">
                                            <p:txEl>
                                              <p:pRg st="2" end="2"/>
                                            </p:txEl>
                                          </p:spTgt>
                                        </p:tgtEl>
                                        <p:attrNameLst>
                                          <p:attrName>ppt_w</p:attrName>
                                        </p:attrNameLst>
                                      </p:cBhvr>
                                      <p:tavLst>
                                        <p:tav tm="0">
                                          <p:val>
                                            <p:fltVal val="0"/>
                                          </p:val>
                                        </p:tav>
                                        <p:tav tm="100000">
                                          <p:val>
                                            <p:strVal val="#ppt_w"/>
                                          </p:val>
                                        </p:tav>
                                      </p:tavLst>
                                    </p:anim>
                                    <p:anim calcmode="lin" valueType="num">
                                      <p:cBhvr>
                                        <p:cTn id="42" dur="500" fill="hold"/>
                                        <p:tgtEl>
                                          <p:spTgt spid="266244">
                                            <p:txEl>
                                              <p:pRg st="2" end="2"/>
                                            </p:txEl>
                                          </p:spTgt>
                                        </p:tgtEl>
                                        <p:attrNameLst>
                                          <p:attrName>ppt_h</p:attrName>
                                        </p:attrNameLst>
                                      </p:cBhvr>
                                      <p:tavLst>
                                        <p:tav tm="0">
                                          <p:val>
                                            <p:strVal val="#ppt_h"/>
                                          </p:val>
                                        </p:tav>
                                        <p:tav tm="100000">
                                          <p:val>
                                            <p:strVal val="#ppt_h"/>
                                          </p:val>
                                        </p:tav>
                                      </p:tavLst>
                                    </p:anim>
                                  </p:childTnLst>
                                </p:cTn>
                              </p:par>
                            </p:childTnLst>
                          </p:cTn>
                        </p:par>
                        <p:par>
                          <p:cTn id="43" fill="hold">
                            <p:stCondLst>
                              <p:cond delay="3500"/>
                            </p:stCondLst>
                            <p:childTnLst>
                              <p:par>
                                <p:cTn id="44" presetID="17" presetClass="entr" presetSubtype="10" fill="hold" grpId="0" nodeType="afterEffect">
                                  <p:stCondLst>
                                    <p:cond delay="0"/>
                                  </p:stCondLst>
                                  <p:childTnLst>
                                    <p:set>
                                      <p:cBhvr>
                                        <p:cTn id="45" dur="1" fill="hold">
                                          <p:stCondLst>
                                            <p:cond delay="0"/>
                                          </p:stCondLst>
                                        </p:cTn>
                                        <p:tgtEl>
                                          <p:spTgt spid="266244">
                                            <p:txEl>
                                              <p:pRg st="4" end="4"/>
                                            </p:txEl>
                                          </p:spTgt>
                                        </p:tgtEl>
                                        <p:attrNameLst>
                                          <p:attrName>style.visibility</p:attrName>
                                        </p:attrNameLst>
                                      </p:cBhvr>
                                      <p:to>
                                        <p:strVal val="visible"/>
                                      </p:to>
                                    </p:set>
                                    <p:anim calcmode="lin" valueType="num">
                                      <p:cBhvr>
                                        <p:cTn id="46" dur="500" fill="hold"/>
                                        <p:tgtEl>
                                          <p:spTgt spid="266244">
                                            <p:txEl>
                                              <p:pRg st="4" end="4"/>
                                            </p:txEl>
                                          </p:spTgt>
                                        </p:tgtEl>
                                        <p:attrNameLst>
                                          <p:attrName>ppt_w</p:attrName>
                                        </p:attrNameLst>
                                      </p:cBhvr>
                                      <p:tavLst>
                                        <p:tav tm="0">
                                          <p:val>
                                            <p:fltVal val="0"/>
                                          </p:val>
                                        </p:tav>
                                        <p:tav tm="100000">
                                          <p:val>
                                            <p:strVal val="#ppt_w"/>
                                          </p:val>
                                        </p:tav>
                                      </p:tavLst>
                                    </p:anim>
                                    <p:anim calcmode="lin" valueType="num">
                                      <p:cBhvr>
                                        <p:cTn id="47" dur="500" fill="hold"/>
                                        <p:tgtEl>
                                          <p:spTgt spid="266244">
                                            <p:txEl>
                                              <p:pRg st="4" end="4"/>
                                            </p:txEl>
                                          </p:spTgt>
                                        </p:tgtEl>
                                        <p:attrNameLst>
                                          <p:attrName>ppt_h</p:attrName>
                                        </p:attrNameLst>
                                      </p:cBhvr>
                                      <p:tavLst>
                                        <p:tav tm="0">
                                          <p:val>
                                            <p:strVal val="#ppt_h"/>
                                          </p:val>
                                        </p:tav>
                                        <p:tav tm="100000">
                                          <p:val>
                                            <p:strVal val="#ppt_h"/>
                                          </p:val>
                                        </p:tav>
                                      </p:tavLst>
                                    </p:anim>
                                  </p:childTnLst>
                                </p:cTn>
                              </p:par>
                            </p:childTnLst>
                          </p:cTn>
                        </p:par>
                        <p:par>
                          <p:cTn id="48" fill="hold">
                            <p:stCondLst>
                              <p:cond delay="4000"/>
                            </p:stCondLst>
                            <p:childTnLst>
                              <p:par>
                                <p:cTn id="49" presetID="17" presetClass="entr" presetSubtype="10" fill="hold" grpId="0" nodeType="afterEffect">
                                  <p:stCondLst>
                                    <p:cond delay="0"/>
                                  </p:stCondLst>
                                  <p:childTnLst>
                                    <p:set>
                                      <p:cBhvr>
                                        <p:cTn id="50" dur="1" fill="hold">
                                          <p:stCondLst>
                                            <p:cond delay="0"/>
                                          </p:stCondLst>
                                        </p:cTn>
                                        <p:tgtEl>
                                          <p:spTgt spid="266244">
                                            <p:txEl>
                                              <p:pRg st="6" end="6"/>
                                            </p:txEl>
                                          </p:spTgt>
                                        </p:tgtEl>
                                        <p:attrNameLst>
                                          <p:attrName>style.visibility</p:attrName>
                                        </p:attrNameLst>
                                      </p:cBhvr>
                                      <p:to>
                                        <p:strVal val="visible"/>
                                      </p:to>
                                    </p:set>
                                    <p:anim calcmode="lin" valueType="num">
                                      <p:cBhvr>
                                        <p:cTn id="51" dur="500" fill="hold"/>
                                        <p:tgtEl>
                                          <p:spTgt spid="266244">
                                            <p:txEl>
                                              <p:pRg st="6" end="6"/>
                                            </p:txEl>
                                          </p:spTgt>
                                        </p:tgtEl>
                                        <p:attrNameLst>
                                          <p:attrName>ppt_w</p:attrName>
                                        </p:attrNameLst>
                                      </p:cBhvr>
                                      <p:tavLst>
                                        <p:tav tm="0">
                                          <p:val>
                                            <p:fltVal val="0"/>
                                          </p:val>
                                        </p:tav>
                                        <p:tav tm="100000">
                                          <p:val>
                                            <p:strVal val="#ppt_w"/>
                                          </p:val>
                                        </p:tav>
                                      </p:tavLst>
                                    </p:anim>
                                    <p:anim calcmode="lin" valueType="num">
                                      <p:cBhvr>
                                        <p:cTn id="52" dur="500" fill="hold"/>
                                        <p:tgtEl>
                                          <p:spTgt spid="266244">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build="p" animBg="1"/>
      <p:bldP spid="266244" grpId="0" build="p"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1" name="Rectangle 2"/>
          <p:cNvSpPr>
            <a:spLocks noGrp="1" noChangeArrowheads="1"/>
          </p:cNvSpPr>
          <p:nvPr>
            <p:ph type="title"/>
          </p:nvPr>
        </p:nvSpPr>
        <p:spPr>
          <a:xfrm>
            <a:off x="388938" y="724627"/>
            <a:ext cx="8145462" cy="646973"/>
          </a:xfrm>
        </p:spPr>
        <p:txBody>
          <a:bodyPr>
            <a:spAutoFit/>
          </a:bodyPr>
          <a:lstStyle/>
          <a:p>
            <a:pPr eaLnBrk="1" hangingPunct="1"/>
            <a:r>
              <a:rPr lang="en-GB">
                <a:solidFill>
                  <a:schemeClr val="bg1"/>
                </a:solidFill>
              </a:rPr>
              <a:t>What is testing?</a:t>
            </a:r>
          </a:p>
        </p:txBody>
      </p:sp>
      <p:sp>
        <p:nvSpPr>
          <p:cNvPr id="264195" name="Rectangle 3"/>
          <p:cNvSpPr>
            <a:spLocks noGrp="1" noChangeArrowheads="1"/>
          </p:cNvSpPr>
          <p:nvPr>
            <p:ph idx="1"/>
          </p:nvPr>
        </p:nvSpPr>
        <p:spPr/>
        <p:txBody>
          <a:bodyPr/>
          <a:lstStyle/>
          <a:p>
            <a:pPr marL="268288" indent="-268288" eaLnBrk="1" hangingPunct="1">
              <a:buFont typeface="Arial" charset="0"/>
              <a:buChar char="•"/>
            </a:pPr>
            <a:r>
              <a:rPr lang="en-GB" dirty="0">
                <a:solidFill>
                  <a:schemeClr val="bg1"/>
                </a:solidFill>
              </a:rPr>
              <a:t>What is a Test?</a:t>
            </a:r>
          </a:p>
          <a:p>
            <a:pPr marL="725488" lvl="1" indent="-277813" eaLnBrk="1" hangingPunct="1">
              <a:spcAft>
                <a:spcPct val="37000"/>
              </a:spcAft>
              <a:buNone/>
            </a:pPr>
            <a:endParaRPr lang="en-GB" dirty="0">
              <a:solidFill>
                <a:schemeClr val="bg1"/>
              </a:solidFill>
            </a:endParaRPr>
          </a:p>
          <a:p>
            <a:pPr marL="268288" indent="-268288" eaLnBrk="1" hangingPunct="1">
              <a:buFont typeface="Arial" charset="0"/>
              <a:buChar char="•"/>
            </a:pPr>
            <a:endParaRPr lang="en-GB" dirty="0">
              <a:solidFill>
                <a:schemeClr val="bg1"/>
              </a:solidFill>
            </a:endParaRPr>
          </a:p>
          <a:p>
            <a:pPr marL="268288" indent="-268288" eaLnBrk="1" hangingPunct="1">
              <a:buFont typeface="Arial" charset="0"/>
              <a:buChar char="•"/>
            </a:pPr>
            <a:endParaRPr lang="en-GB" dirty="0">
              <a:solidFill>
                <a:schemeClr val="bg1"/>
              </a:solidFill>
            </a:endParaRPr>
          </a:p>
          <a:p>
            <a:pPr marL="268288" indent="-268288" eaLnBrk="1" hangingPunct="1">
              <a:buFont typeface="Arial" charset="0"/>
              <a:buChar char="•"/>
            </a:pPr>
            <a:endParaRPr lang="en-GB" dirty="0">
              <a:solidFill>
                <a:schemeClr val="bg1"/>
              </a:solidFill>
            </a:endParaRPr>
          </a:p>
          <a:p>
            <a:pPr marL="268288" indent="-268288" eaLnBrk="1" hangingPunct="1">
              <a:buFont typeface="Arial" charset="0"/>
              <a:buChar char="•"/>
            </a:pPr>
            <a:endParaRPr lang="en-GB" dirty="0">
              <a:solidFill>
                <a:schemeClr val="bg1"/>
              </a:solidFill>
            </a:endParaRPr>
          </a:p>
          <a:p>
            <a:pPr marL="268288" indent="-268288" eaLnBrk="1" hangingPunct="1">
              <a:buFont typeface="Arial" charset="0"/>
              <a:buChar char="•"/>
            </a:pPr>
            <a:r>
              <a:rPr lang="en-GB" dirty="0">
                <a:solidFill>
                  <a:schemeClr val="bg1"/>
                </a:solidFill>
              </a:rPr>
              <a:t>Thus once a Test is run, you’ll get</a:t>
            </a:r>
          </a:p>
          <a:p>
            <a:pPr marL="725488" lvl="1" indent="-277813" eaLnBrk="1" hangingPunct="1">
              <a:spcAft>
                <a:spcPct val="37000"/>
              </a:spcAft>
              <a:buFontTx/>
              <a:buChar char="•"/>
            </a:pPr>
            <a:r>
              <a:rPr lang="en-GB" dirty="0">
                <a:solidFill>
                  <a:schemeClr val="bg1"/>
                </a:solidFill>
              </a:rPr>
              <a:t>An actual result / output</a:t>
            </a:r>
          </a:p>
          <a:p>
            <a:pPr marL="725488" lvl="1" indent="-277813" eaLnBrk="1" hangingPunct="1">
              <a:spcAft>
                <a:spcPct val="37000"/>
              </a:spcAft>
              <a:buFontTx/>
              <a:buChar char="•"/>
            </a:pPr>
            <a:r>
              <a:rPr lang="en-GB" dirty="0">
                <a:solidFill>
                  <a:schemeClr val="bg1"/>
                </a:solidFill>
              </a:rPr>
              <a:t>A decision on its success</a:t>
            </a:r>
          </a:p>
        </p:txBody>
      </p:sp>
      <p:graphicFrame>
        <p:nvGraphicFramePr>
          <p:cNvPr id="6" name="Diagram 5"/>
          <p:cNvGraphicFramePr/>
          <p:nvPr>
            <p:extLst>
              <p:ext uri="{D42A27DB-BD31-4B8C-83A1-F6EECF244321}">
                <p14:modId xmlns:p14="http://schemas.microsoft.com/office/powerpoint/2010/main" val="3618055806"/>
              </p:ext>
            </p:extLst>
          </p:nvPr>
        </p:nvGraphicFramePr>
        <p:xfrm>
          <a:off x="971600" y="2348880"/>
          <a:ext cx="5762171" cy="22497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4680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264195">
                                            <p:txEl>
                                              <p:pRg st="0" end="0"/>
                                            </p:txEl>
                                          </p:spTgt>
                                        </p:tgtEl>
                                        <p:attrNameLst>
                                          <p:attrName>style.visibility</p:attrName>
                                        </p:attrNameLst>
                                      </p:cBhvr>
                                      <p:to>
                                        <p:strVal val="visible"/>
                                      </p:to>
                                    </p:set>
                                    <p:anim calcmode="lin" valueType="num">
                                      <p:cBhvr>
                                        <p:cTn id="7" dur="500" fill="hold"/>
                                        <p:tgtEl>
                                          <p:spTgt spid="26419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6419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64195">
                                            <p:txEl>
                                              <p:pRg st="0" end="0"/>
                                            </p:txEl>
                                          </p:spTgt>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childTnLst>
                          </p:cTn>
                        </p:par>
                        <p:par>
                          <p:cTn id="14" fill="hold">
                            <p:stCondLst>
                              <p:cond delay="1500"/>
                            </p:stCondLst>
                            <p:childTnLst>
                              <p:par>
                                <p:cTn id="15" presetID="53" presetClass="entr" presetSubtype="0" fill="hold" nodeType="afterEffect">
                                  <p:stCondLst>
                                    <p:cond delay="0"/>
                                  </p:stCondLst>
                                  <p:childTnLst>
                                    <p:set>
                                      <p:cBhvr>
                                        <p:cTn id="16" dur="1" fill="hold">
                                          <p:stCondLst>
                                            <p:cond delay="0"/>
                                          </p:stCondLst>
                                        </p:cTn>
                                        <p:tgtEl>
                                          <p:spTgt spid="264195">
                                            <p:txEl>
                                              <p:pRg st="6" end="6"/>
                                            </p:txEl>
                                          </p:spTgt>
                                        </p:tgtEl>
                                        <p:attrNameLst>
                                          <p:attrName>style.visibility</p:attrName>
                                        </p:attrNameLst>
                                      </p:cBhvr>
                                      <p:to>
                                        <p:strVal val="visible"/>
                                      </p:to>
                                    </p:set>
                                    <p:anim calcmode="lin" valueType="num">
                                      <p:cBhvr>
                                        <p:cTn id="17" dur="500" fill="hold"/>
                                        <p:tgtEl>
                                          <p:spTgt spid="264195">
                                            <p:txEl>
                                              <p:pRg st="6" end="6"/>
                                            </p:txEl>
                                          </p:spTgt>
                                        </p:tgtEl>
                                        <p:attrNameLst>
                                          <p:attrName>ppt_w</p:attrName>
                                        </p:attrNameLst>
                                      </p:cBhvr>
                                      <p:tavLst>
                                        <p:tav tm="0">
                                          <p:val>
                                            <p:fltVal val="0"/>
                                          </p:val>
                                        </p:tav>
                                        <p:tav tm="100000">
                                          <p:val>
                                            <p:strVal val="#ppt_w"/>
                                          </p:val>
                                        </p:tav>
                                      </p:tavLst>
                                    </p:anim>
                                    <p:anim calcmode="lin" valueType="num">
                                      <p:cBhvr>
                                        <p:cTn id="18" dur="500" fill="hold"/>
                                        <p:tgtEl>
                                          <p:spTgt spid="264195">
                                            <p:txEl>
                                              <p:pRg st="6" end="6"/>
                                            </p:txEl>
                                          </p:spTgt>
                                        </p:tgtEl>
                                        <p:attrNameLst>
                                          <p:attrName>ppt_h</p:attrName>
                                        </p:attrNameLst>
                                      </p:cBhvr>
                                      <p:tavLst>
                                        <p:tav tm="0">
                                          <p:val>
                                            <p:fltVal val="0"/>
                                          </p:val>
                                        </p:tav>
                                        <p:tav tm="100000">
                                          <p:val>
                                            <p:strVal val="#ppt_h"/>
                                          </p:val>
                                        </p:tav>
                                      </p:tavLst>
                                    </p:anim>
                                    <p:animEffect transition="in" filter="fade">
                                      <p:cBhvr>
                                        <p:cTn id="19" dur="500"/>
                                        <p:tgtEl>
                                          <p:spTgt spid="264195">
                                            <p:txEl>
                                              <p:pRg st="6" end="6"/>
                                            </p:txEl>
                                          </p:spTgt>
                                        </p:tgtEl>
                                      </p:cBhvr>
                                    </p:animEffect>
                                  </p:childTnLst>
                                </p:cTn>
                              </p:par>
                            </p:childTnLst>
                          </p:cTn>
                        </p:par>
                        <p:par>
                          <p:cTn id="20" fill="hold">
                            <p:stCondLst>
                              <p:cond delay="2000"/>
                            </p:stCondLst>
                            <p:childTnLst>
                              <p:par>
                                <p:cTn id="21" presetID="53" presetClass="entr" presetSubtype="0" fill="hold" nodeType="afterEffect">
                                  <p:stCondLst>
                                    <p:cond delay="0"/>
                                  </p:stCondLst>
                                  <p:childTnLst>
                                    <p:set>
                                      <p:cBhvr>
                                        <p:cTn id="22" dur="1" fill="hold">
                                          <p:stCondLst>
                                            <p:cond delay="0"/>
                                          </p:stCondLst>
                                        </p:cTn>
                                        <p:tgtEl>
                                          <p:spTgt spid="264195">
                                            <p:txEl>
                                              <p:pRg st="7" end="7"/>
                                            </p:txEl>
                                          </p:spTgt>
                                        </p:tgtEl>
                                        <p:attrNameLst>
                                          <p:attrName>style.visibility</p:attrName>
                                        </p:attrNameLst>
                                      </p:cBhvr>
                                      <p:to>
                                        <p:strVal val="visible"/>
                                      </p:to>
                                    </p:set>
                                    <p:anim calcmode="lin" valueType="num">
                                      <p:cBhvr>
                                        <p:cTn id="23" dur="500" fill="hold"/>
                                        <p:tgtEl>
                                          <p:spTgt spid="264195">
                                            <p:txEl>
                                              <p:pRg st="7" end="7"/>
                                            </p:txEl>
                                          </p:spTgt>
                                        </p:tgtEl>
                                        <p:attrNameLst>
                                          <p:attrName>ppt_w</p:attrName>
                                        </p:attrNameLst>
                                      </p:cBhvr>
                                      <p:tavLst>
                                        <p:tav tm="0">
                                          <p:val>
                                            <p:fltVal val="0"/>
                                          </p:val>
                                        </p:tav>
                                        <p:tav tm="100000">
                                          <p:val>
                                            <p:strVal val="#ppt_w"/>
                                          </p:val>
                                        </p:tav>
                                      </p:tavLst>
                                    </p:anim>
                                    <p:anim calcmode="lin" valueType="num">
                                      <p:cBhvr>
                                        <p:cTn id="24" dur="500" fill="hold"/>
                                        <p:tgtEl>
                                          <p:spTgt spid="264195">
                                            <p:txEl>
                                              <p:pRg st="7" end="7"/>
                                            </p:txEl>
                                          </p:spTgt>
                                        </p:tgtEl>
                                        <p:attrNameLst>
                                          <p:attrName>ppt_h</p:attrName>
                                        </p:attrNameLst>
                                      </p:cBhvr>
                                      <p:tavLst>
                                        <p:tav tm="0">
                                          <p:val>
                                            <p:fltVal val="0"/>
                                          </p:val>
                                        </p:tav>
                                        <p:tav tm="100000">
                                          <p:val>
                                            <p:strVal val="#ppt_h"/>
                                          </p:val>
                                        </p:tav>
                                      </p:tavLst>
                                    </p:anim>
                                    <p:animEffect transition="in" filter="fade">
                                      <p:cBhvr>
                                        <p:cTn id="25" dur="500"/>
                                        <p:tgtEl>
                                          <p:spTgt spid="264195">
                                            <p:txEl>
                                              <p:pRg st="7" end="7"/>
                                            </p:txEl>
                                          </p:spTgt>
                                        </p:tgtEl>
                                      </p:cBhvr>
                                    </p:animEffect>
                                  </p:childTnLst>
                                </p:cTn>
                              </p:par>
                            </p:childTnLst>
                          </p:cTn>
                        </p:par>
                        <p:par>
                          <p:cTn id="26" fill="hold">
                            <p:stCondLst>
                              <p:cond delay="2500"/>
                            </p:stCondLst>
                            <p:childTnLst>
                              <p:par>
                                <p:cTn id="27" presetID="53" presetClass="entr" presetSubtype="0" fill="hold" nodeType="afterEffect">
                                  <p:stCondLst>
                                    <p:cond delay="0"/>
                                  </p:stCondLst>
                                  <p:childTnLst>
                                    <p:set>
                                      <p:cBhvr>
                                        <p:cTn id="28" dur="1" fill="hold">
                                          <p:stCondLst>
                                            <p:cond delay="0"/>
                                          </p:stCondLst>
                                        </p:cTn>
                                        <p:tgtEl>
                                          <p:spTgt spid="264195">
                                            <p:txEl>
                                              <p:pRg st="8" end="8"/>
                                            </p:txEl>
                                          </p:spTgt>
                                        </p:tgtEl>
                                        <p:attrNameLst>
                                          <p:attrName>style.visibility</p:attrName>
                                        </p:attrNameLst>
                                      </p:cBhvr>
                                      <p:to>
                                        <p:strVal val="visible"/>
                                      </p:to>
                                    </p:set>
                                    <p:anim calcmode="lin" valueType="num">
                                      <p:cBhvr>
                                        <p:cTn id="29" dur="500" fill="hold"/>
                                        <p:tgtEl>
                                          <p:spTgt spid="264195">
                                            <p:txEl>
                                              <p:pRg st="8" end="8"/>
                                            </p:txEl>
                                          </p:spTgt>
                                        </p:tgtEl>
                                        <p:attrNameLst>
                                          <p:attrName>ppt_w</p:attrName>
                                        </p:attrNameLst>
                                      </p:cBhvr>
                                      <p:tavLst>
                                        <p:tav tm="0">
                                          <p:val>
                                            <p:fltVal val="0"/>
                                          </p:val>
                                        </p:tav>
                                        <p:tav tm="100000">
                                          <p:val>
                                            <p:strVal val="#ppt_w"/>
                                          </p:val>
                                        </p:tav>
                                      </p:tavLst>
                                    </p:anim>
                                    <p:anim calcmode="lin" valueType="num">
                                      <p:cBhvr>
                                        <p:cTn id="30" dur="500" fill="hold"/>
                                        <p:tgtEl>
                                          <p:spTgt spid="264195">
                                            <p:txEl>
                                              <p:pRg st="8" end="8"/>
                                            </p:txEl>
                                          </p:spTgt>
                                        </p:tgtEl>
                                        <p:attrNameLst>
                                          <p:attrName>ppt_h</p:attrName>
                                        </p:attrNameLst>
                                      </p:cBhvr>
                                      <p:tavLst>
                                        <p:tav tm="0">
                                          <p:val>
                                            <p:fltVal val="0"/>
                                          </p:val>
                                        </p:tav>
                                        <p:tav tm="100000">
                                          <p:val>
                                            <p:strVal val="#ppt_h"/>
                                          </p:val>
                                        </p:tav>
                                      </p:tavLst>
                                    </p:anim>
                                    <p:animEffect transition="in" filter="fade">
                                      <p:cBhvr>
                                        <p:cTn id="31" dur="500"/>
                                        <p:tgtEl>
                                          <p:spTgt spid="2641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5572" name="Rectangle 4"/>
          <p:cNvSpPr>
            <a:spLocks noGrp="1" noChangeArrowheads="1"/>
          </p:cNvSpPr>
          <p:nvPr>
            <p:ph type="title"/>
          </p:nvPr>
        </p:nvSpPr>
        <p:spPr/>
        <p:txBody>
          <a:bodyPr/>
          <a:lstStyle/>
          <a:p>
            <a:r>
              <a:rPr lang="en-US"/>
              <a:t>Testing isn't just running tests</a:t>
            </a:r>
          </a:p>
        </p:txBody>
      </p:sp>
      <p:sp>
        <p:nvSpPr>
          <p:cNvPr id="2285573" name="Rectangle 5"/>
          <p:cNvSpPr>
            <a:spLocks noGrp="1" noChangeArrowheads="1"/>
          </p:cNvSpPr>
          <p:nvPr>
            <p:ph type="body" idx="1"/>
          </p:nvPr>
        </p:nvSpPr>
        <p:spPr/>
        <p:txBody>
          <a:bodyPr/>
          <a:lstStyle/>
          <a:p>
            <a:r>
              <a:rPr lang="en-US" dirty="0"/>
              <a:t>planning and control</a:t>
            </a:r>
          </a:p>
          <a:p>
            <a:r>
              <a:rPr lang="en-US" dirty="0"/>
              <a:t>choosing test conditions</a:t>
            </a:r>
          </a:p>
          <a:p>
            <a:r>
              <a:rPr lang="en-US" dirty="0"/>
              <a:t>designing test cases</a:t>
            </a:r>
          </a:p>
          <a:p>
            <a:r>
              <a:rPr lang="en-US" dirty="0"/>
              <a:t>preparing expected results</a:t>
            </a:r>
          </a:p>
          <a:p>
            <a:r>
              <a:rPr lang="en-US" dirty="0"/>
              <a:t>checking actual results against expected results</a:t>
            </a:r>
          </a:p>
          <a:p>
            <a:r>
              <a:rPr lang="en-US" dirty="0"/>
              <a:t>evaluating completion criteria</a:t>
            </a:r>
          </a:p>
          <a:p>
            <a:r>
              <a:rPr lang="en-US" dirty="0"/>
              <a:t>reporting on the testing process and system under test</a:t>
            </a:r>
          </a:p>
          <a:p>
            <a:r>
              <a:rPr lang="en-US" dirty="0"/>
              <a:t>and closing the test phase.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55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55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855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855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8557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8557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8557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8557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6596" name="Rectangle 4"/>
          <p:cNvSpPr>
            <a:spLocks noGrp="1" noChangeArrowheads="1"/>
          </p:cNvSpPr>
          <p:nvPr>
            <p:ph type="title"/>
          </p:nvPr>
        </p:nvSpPr>
        <p:spPr/>
        <p:txBody>
          <a:bodyPr/>
          <a:lstStyle/>
          <a:p>
            <a:r>
              <a:rPr lang="en-US"/>
              <a:t>Test Objectives</a:t>
            </a:r>
          </a:p>
        </p:txBody>
      </p:sp>
      <p:sp>
        <p:nvSpPr>
          <p:cNvPr id="2286597" name="Rectangle 5"/>
          <p:cNvSpPr>
            <a:spLocks noGrp="1" noChangeArrowheads="1"/>
          </p:cNvSpPr>
          <p:nvPr>
            <p:ph type="body" idx="1"/>
          </p:nvPr>
        </p:nvSpPr>
        <p:spPr/>
        <p:txBody>
          <a:bodyPr/>
          <a:lstStyle/>
          <a:p>
            <a:r>
              <a:rPr lang="en-US" dirty="0"/>
              <a:t>There can be different test objectives:</a:t>
            </a:r>
          </a:p>
          <a:p>
            <a:pPr lvl="1"/>
            <a:r>
              <a:rPr lang="en-US" dirty="0">
                <a:solidFill>
                  <a:srgbClr val="FF0000"/>
                </a:solidFill>
              </a:rPr>
              <a:t>finding defects</a:t>
            </a:r>
          </a:p>
          <a:p>
            <a:pPr lvl="1"/>
            <a:r>
              <a:rPr lang="en-US" dirty="0">
                <a:solidFill>
                  <a:srgbClr val="FF0000"/>
                </a:solidFill>
              </a:rPr>
              <a:t>gaining confidence </a:t>
            </a:r>
            <a:r>
              <a:rPr lang="en-US" dirty="0"/>
              <a:t>about the </a:t>
            </a:r>
            <a:r>
              <a:rPr lang="en-US" dirty="0">
                <a:solidFill>
                  <a:srgbClr val="FF0000"/>
                </a:solidFill>
              </a:rPr>
              <a:t>level of quality </a:t>
            </a:r>
            <a:r>
              <a:rPr lang="en-US" dirty="0"/>
              <a:t>and </a:t>
            </a:r>
            <a:r>
              <a:rPr lang="en-US" dirty="0">
                <a:solidFill>
                  <a:srgbClr val="FF0000"/>
                </a:solidFill>
              </a:rPr>
              <a:t>providing information</a:t>
            </a:r>
          </a:p>
          <a:p>
            <a:pPr lvl="1"/>
            <a:r>
              <a:rPr lang="en-US" dirty="0">
                <a:solidFill>
                  <a:srgbClr val="FF0000"/>
                </a:solidFill>
              </a:rPr>
              <a:t>preventing defects</a:t>
            </a:r>
          </a:p>
          <a:p>
            <a:r>
              <a:rPr lang="en-US" dirty="0"/>
              <a:t>In acceptance testing, the main objective may be to confirm that the system works as expected, to gain confidence that it has met the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65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65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865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865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8659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Fundamentals continued…</a:t>
            </a:r>
          </a:p>
        </p:txBody>
      </p:sp>
      <p:sp>
        <p:nvSpPr>
          <p:cNvPr id="4" name="Rectangle 9"/>
          <p:cNvSpPr txBox="1">
            <a:spLocks noChangeArrowheads="1"/>
          </p:cNvSpPr>
          <p:nvPr/>
        </p:nvSpPr>
        <p:spPr bwMode="auto">
          <a:xfrm>
            <a:off x="755576" y="1484784"/>
            <a:ext cx="79486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r>
              <a:rPr kumimoji="0" lang="en-US" sz="2400" b="0" i="0" u="none" strike="noStrike" kern="0" cap="none" spc="0" normalizeH="0" baseline="0" noProof="0" dirty="0">
                <a:ln>
                  <a:noFill/>
                </a:ln>
                <a:solidFill>
                  <a:srgbClr val="00279F"/>
                </a:solidFill>
                <a:effectLst/>
                <a:uLnTx/>
                <a:uFillTx/>
                <a:latin typeface="Arial"/>
                <a:ea typeface="ＭＳ Ｐゴシック"/>
                <a:cs typeface="+mn-cs"/>
              </a:rPr>
              <a:t>Static and Dynamic Testing</a:t>
            </a:r>
            <a:endParaRPr kumimoji="0" lang="en-US" sz="2400" b="0" i="0" u="none" strike="noStrike" kern="120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p:txBody>
      </p:sp>
    </p:spTree>
    <p:extLst>
      <p:ext uri="{BB962C8B-B14F-4D97-AF65-F5344CB8AC3E}">
        <p14:creationId xmlns:p14="http://schemas.microsoft.com/office/powerpoint/2010/main" val="429171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0667" name="Rectangle 11"/>
          <p:cNvSpPr>
            <a:spLocks noGrp="1" noChangeArrowheads="1"/>
          </p:cNvSpPr>
          <p:nvPr>
            <p:ph type="title"/>
          </p:nvPr>
        </p:nvSpPr>
        <p:spPr/>
        <p:txBody>
          <a:bodyPr/>
          <a:lstStyle/>
          <a:p>
            <a:r>
              <a:rPr lang="en-US"/>
              <a:t>Static and Dynamic Testing</a:t>
            </a:r>
          </a:p>
        </p:txBody>
      </p:sp>
      <p:sp>
        <p:nvSpPr>
          <p:cNvPr id="3270668" name="Rectangle 12"/>
          <p:cNvSpPr>
            <a:spLocks noGrp="1" noChangeArrowheads="1"/>
          </p:cNvSpPr>
          <p:nvPr>
            <p:ph type="body" idx="1"/>
          </p:nvPr>
        </p:nvSpPr>
        <p:spPr/>
        <p:txBody>
          <a:bodyPr/>
          <a:lstStyle/>
          <a:p>
            <a:r>
              <a:rPr lang="en-US" b="1" dirty="0"/>
              <a:t>Static Testing</a:t>
            </a:r>
          </a:p>
          <a:p>
            <a:pPr lvl="1"/>
            <a:r>
              <a:rPr lang="en-US" dirty="0">
                <a:solidFill>
                  <a:srgbClr val="FF0000"/>
                </a:solidFill>
              </a:rPr>
              <a:t>Testing without executing the program</a:t>
            </a:r>
          </a:p>
          <a:p>
            <a:pPr lvl="2"/>
            <a:r>
              <a:rPr lang="en-US" dirty="0"/>
              <a:t>This include software inspections and some forms of analyses</a:t>
            </a:r>
          </a:p>
          <a:p>
            <a:pPr lvl="2"/>
            <a:r>
              <a:rPr lang="en-US" dirty="0"/>
              <a:t>Very effective at finding certain kinds of problems – especially </a:t>
            </a:r>
            <a:r>
              <a:rPr lang="ja-JP" altLang="en-US" dirty="0">
                <a:latin typeface="Arial"/>
              </a:rPr>
              <a:t>“</a:t>
            </a:r>
            <a:r>
              <a:rPr lang="en-US" dirty="0"/>
              <a:t>potential</a:t>
            </a:r>
            <a:r>
              <a:rPr lang="ja-JP" altLang="en-US" dirty="0">
                <a:latin typeface="Arial"/>
              </a:rPr>
              <a:t>”</a:t>
            </a:r>
            <a:r>
              <a:rPr lang="en-US" dirty="0"/>
              <a:t> faults, that is, problems that could lead to faults when the program is modified</a:t>
            </a:r>
          </a:p>
          <a:p>
            <a:endParaRPr lang="en-US" dirty="0"/>
          </a:p>
          <a:p>
            <a:r>
              <a:rPr lang="en-US" b="1" dirty="0"/>
              <a:t>Dynamic Testing</a:t>
            </a:r>
          </a:p>
          <a:p>
            <a:pPr lvl="1"/>
            <a:r>
              <a:rPr lang="en-US" dirty="0">
                <a:solidFill>
                  <a:srgbClr val="FF0000"/>
                </a:solidFill>
              </a:rPr>
              <a:t>Testing by executing the program with real inputs</a:t>
            </a:r>
          </a:p>
          <a:p>
            <a:pPr lvl="2"/>
            <a:r>
              <a:rPr lang="en-US" dirty="0"/>
              <a:t>Includes various techniques but requires the coding stage to be completed.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06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06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066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066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7066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7066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27066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7620" name="Rectangle 4"/>
          <p:cNvSpPr>
            <a:spLocks noGrp="1" noChangeArrowheads="1"/>
          </p:cNvSpPr>
          <p:nvPr>
            <p:ph type="title"/>
          </p:nvPr>
        </p:nvSpPr>
        <p:spPr/>
        <p:txBody>
          <a:bodyPr/>
          <a:lstStyle/>
          <a:p>
            <a:r>
              <a:rPr lang="en-US"/>
              <a:t>Dynamic and Static Testing</a:t>
            </a:r>
          </a:p>
        </p:txBody>
      </p:sp>
      <p:sp>
        <p:nvSpPr>
          <p:cNvPr id="2287621" name="Rectangle 5"/>
          <p:cNvSpPr>
            <a:spLocks noGrp="1" noChangeArrowheads="1"/>
          </p:cNvSpPr>
          <p:nvPr>
            <p:ph type="body" idx="1"/>
          </p:nvPr>
        </p:nvSpPr>
        <p:spPr/>
        <p:txBody>
          <a:bodyPr/>
          <a:lstStyle/>
          <a:p>
            <a:r>
              <a:rPr lang="en-US" dirty="0"/>
              <a:t>Testing also includes </a:t>
            </a:r>
            <a:r>
              <a:rPr lang="en-US" dirty="0">
                <a:solidFill>
                  <a:srgbClr val="FF0000"/>
                </a:solidFill>
              </a:rPr>
              <a:t>reviewing of documents </a:t>
            </a:r>
            <a:r>
              <a:rPr lang="en-US" dirty="0"/>
              <a:t>(including source code).</a:t>
            </a:r>
          </a:p>
          <a:p>
            <a:r>
              <a:rPr lang="en-US" dirty="0"/>
              <a:t>Both dynamic testing and static testing can be used as a means for achieving similar objectives, and will provide information in order to improve both the system</a:t>
            </a:r>
          </a:p>
          <a:p>
            <a:r>
              <a:rPr lang="en-US" dirty="0"/>
              <a:t>Reviews of documents (e.g. requirements) also help to prevent defects appearing in the code.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76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76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876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8644" name="Rectangle 4"/>
          <p:cNvSpPr>
            <a:spLocks noGrp="1" noChangeArrowheads="1"/>
          </p:cNvSpPr>
          <p:nvPr>
            <p:ph type="title"/>
          </p:nvPr>
        </p:nvSpPr>
        <p:spPr/>
        <p:txBody>
          <a:bodyPr/>
          <a:lstStyle/>
          <a:p>
            <a:r>
              <a:rPr lang="en-US"/>
              <a:t>Static testing in the lifecycle</a:t>
            </a:r>
          </a:p>
        </p:txBody>
      </p:sp>
      <p:sp>
        <p:nvSpPr>
          <p:cNvPr id="2288645" name="Rectangle 5"/>
          <p:cNvSpPr>
            <a:spLocks noGrp="1" noChangeArrowheads="1"/>
          </p:cNvSpPr>
          <p:nvPr>
            <p:ph type="body" idx="1"/>
          </p:nvPr>
        </p:nvSpPr>
        <p:spPr/>
        <p:txBody>
          <a:bodyPr/>
          <a:lstStyle/>
          <a:p>
            <a:r>
              <a:rPr lang="en-US" dirty="0"/>
              <a:t>Static tests are tests that do not involve executing software</a:t>
            </a:r>
          </a:p>
          <a:p>
            <a:r>
              <a:rPr lang="en-US" dirty="0"/>
              <a:t>Reviews, walkthroughs, inspections of (primarily) documentation</a:t>
            </a:r>
          </a:p>
          <a:p>
            <a:r>
              <a:rPr lang="en-US" dirty="0"/>
              <a:t>Requirements</a:t>
            </a:r>
          </a:p>
          <a:p>
            <a:r>
              <a:rPr lang="en-US" dirty="0"/>
              <a:t>Designs</a:t>
            </a:r>
          </a:p>
          <a:p>
            <a:r>
              <a:rPr lang="en-US" dirty="0"/>
              <a:t>Code</a:t>
            </a:r>
          </a:p>
          <a:p>
            <a:r>
              <a:rPr lang="en-US" dirty="0"/>
              <a:t>Test plans.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86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86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8864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8864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8864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8864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9668" name="Rectangle 4"/>
          <p:cNvSpPr>
            <a:spLocks noGrp="1" noChangeArrowheads="1"/>
          </p:cNvSpPr>
          <p:nvPr>
            <p:ph type="title"/>
          </p:nvPr>
        </p:nvSpPr>
        <p:spPr/>
        <p:txBody>
          <a:bodyPr/>
          <a:lstStyle/>
          <a:p>
            <a:r>
              <a:rPr lang="en-US"/>
              <a:t>Dynamic testing in the lifecycle</a:t>
            </a:r>
          </a:p>
        </p:txBody>
      </p:sp>
      <p:sp>
        <p:nvSpPr>
          <p:cNvPr id="2289669" name="Rectangle 5"/>
          <p:cNvSpPr>
            <a:spLocks noGrp="1" noChangeArrowheads="1"/>
          </p:cNvSpPr>
          <p:nvPr>
            <p:ph type="body" idx="1"/>
          </p:nvPr>
        </p:nvSpPr>
        <p:spPr/>
        <p:txBody>
          <a:bodyPr/>
          <a:lstStyle/>
          <a:p>
            <a:r>
              <a:rPr lang="en-US" dirty="0"/>
              <a:t>Program (unit, component)</a:t>
            </a:r>
          </a:p>
          <a:p>
            <a:r>
              <a:rPr lang="en-US" dirty="0"/>
              <a:t>Integration or Component Integration testing</a:t>
            </a:r>
          </a:p>
          <a:p>
            <a:r>
              <a:rPr lang="en-US" dirty="0"/>
              <a:t>System testing</a:t>
            </a:r>
          </a:p>
          <a:p>
            <a:pPr lvl="1"/>
            <a:r>
              <a:rPr lang="en-US" dirty="0"/>
              <a:t>non-functional (e.g. performance, security, backup and recovery, stress)</a:t>
            </a:r>
          </a:p>
          <a:p>
            <a:pPr lvl="1"/>
            <a:r>
              <a:rPr lang="en-US" dirty="0"/>
              <a:t>functional where functionality as a whole is evaluated</a:t>
            </a:r>
          </a:p>
          <a:p>
            <a:r>
              <a:rPr lang="en-US" dirty="0"/>
              <a:t>User acceptance testing.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96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96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8966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8966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8966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8966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0692" name="Rectangle 4"/>
          <p:cNvSpPr>
            <a:spLocks noGrp="1" noChangeArrowheads="1"/>
          </p:cNvSpPr>
          <p:nvPr>
            <p:ph type="title"/>
          </p:nvPr>
        </p:nvSpPr>
        <p:spPr/>
        <p:txBody>
          <a:bodyPr/>
          <a:lstStyle/>
          <a:p>
            <a:r>
              <a:rPr lang="en-US"/>
              <a:t>Early test case preparation</a:t>
            </a:r>
          </a:p>
        </p:txBody>
      </p:sp>
      <p:pic>
        <p:nvPicPr>
          <p:cNvPr id="2290696" name="Picture 8" descr="vmodelearl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704975"/>
            <a:ext cx="8497888" cy="43449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Fundamentals continued…</a:t>
            </a:r>
          </a:p>
        </p:txBody>
      </p:sp>
      <p:sp>
        <p:nvSpPr>
          <p:cNvPr id="4" name="Rectangle 9"/>
          <p:cNvSpPr txBox="1">
            <a:spLocks noChangeArrowheads="1"/>
          </p:cNvSpPr>
          <p:nvPr/>
        </p:nvSpPr>
        <p:spPr bwMode="auto">
          <a:xfrm>
            <a:off x="755576" y="1484784"/>
            <a:ext cx="79486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r>
              <a:rPr kumimoji="0" lang="en-US" sz="2400" b="0" i="0" u="none" strike="noStrike" kern="0" cap="none" spc="0" normalizeH="0" baseline="0" noProof="0" dirty="0">
                <a:ln>
                  <a:noFill/>
                </a:ln>
                <a:solidFill>
                  <a:srgbClr val="00279F"/>
                </a:solidFill>
                <a:effectLst/>
                <a:uLnTx/>
                <a:uFillTx/>
                <a:latin typeface="Arial"/>
                <a:ea typeface="ＭＳ Ｐゴシック"/>
                <a:cs typeface="+mn-cs"/>
              </a:rPr>
              <a:t>Types of Testing</a:t>
            </a:r>
            <a:endParaRPr kumimoji="0" lang="en-US" sz="2400" b="0" i="0" u="none" strike="noStrike" kern="120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p:txBody>
      </p:sp>
    </p:spTree>
    <p:extLst>
      <p:ext uri="{BB962C8B-B14F-4D97-AF65-F5344CB8AC3E}">
        <p14:creationId xmlns:p14="http://schemas.microsoft.com/office/powerpoint/2010/main" val="199197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2740" name="Rectangle 4"/>
          <p:cNvSpPr>
            <a:spLocks noGrp="1" noChangeArrowheads="1"/>
          </p:cNvSpPr>
          <p:nvPr>
            <p:ph type="title"/>
          </p:nvPr>
        </p:nvSpPr>
        <p:spPr/>
        <p:txBody>
          <a:bodyPr/>
          <a:lstStyle/>
          <a:p>
            <a:r>
              <a:rPr lang="en-US"/>
              <a:t>Types of Testing</a:t>
            </a:r>
          </a:p>
        </p:txBody>
      </p:sp>
      <p:sp>
        <p:nvSpPr>
          <p:cNvPr id="2292741" name="Rectangle 5"/>
          <p:cNvSpPr>
            <a:spLocks noGrp="1" noChangeArrowheads="1"/>
          </p:cNvSpPr>
          <p:nvPr>
            <p:ph type="body" idx="1"/>
          </p:nvPr>
        </p:nvSpPr>
        <p:spPr/>
        <p:txBody>
          <a:bodyPr/>
          <a:lstStyle/>
          <a:p>
            <a:r>
              <a:rPr lang="en-US" dirty="0"/>
              <a:t>In some cases the main objective of testing may be to assess the quality of the software (with no intention of fixing defects), to give information to stakeholders</a:t>
            </a:r>
          </a:p>
          <a:p>
            <a:r>
              <a:rPr lang="en-US" dirty="0">
                <a:solidFill>
                  <a:srgbClr val="FF0000"/>
                </a:solidFill>
              </a:rPr>
              <a:t>Regression/Maintenance testing </a:t>
            </a:r>
            <a:r>
              <a:rPr lang="en-US" dirty="0"/>
              <a:t>often includes testing that no new errors have been introduced during development of the changes.</a:t>
            </a:r>
          </a:p>
          <a:p>
            <a:r>
              <a:rPr lang="en-US" dirty="0"/>
              <a:t>During operational testing, the main objective may be to assess system characteristics such as reliability or availability.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927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927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927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66" name="Rectangle 6"/>
          <p:cNvSpPr>
            <a:spLocks noGrp="1" noChangeArrowheads="1"/>
          </p:cNvSpPr>
          <p:nvPr>
            <p:ph type="title"/>
          </p:nvPr>
        </p:nvSpPr>
        <p:spPr/>
        <p:txBody>
          <a:bodyPr/>
          <a:lstStyle/>
          <a:p>
            <a:r>
              <a:rPr lang="en-US" dirty="0"/>
              <a:t>Types of Dynamic Testing</a:t>
            </a:r>
          </a:p>
        </p:txBody>
      </p:sp>
      <p:sp>
        <p:nvSpPr>
          <p:cNvPr id="3" name="TextBox 2"/>
          <p:cNvSpPr txBox="1"/>
          <p:nvPr/>
        </p:nvSpPr>
        <p:spPr>
          <a:xfrm>
            <a:off x="2724559" y="4466307"/>
            <a:ext cx="720069" cy="338554"/>
          </a:xfrm>
          <a:prstGeom prst="rect">
            <a:avLst/>
          </a:prstGeom>
          <a:noFill/>
          <a:ln>
            <a:solidFill>
              <a:schemeClr val="accent1"/>
            </a:solidFill>
          </a:ln>
        </p:spPr>
        <p:txBody>
          <a:bodyPr wrap="none" rtlCol="0">
            <a:spAutoFit/>
          </a:bodyPr>
          <a:lstStyle/>
          <a:p>
            <a:r>
              <a:rPr lang="en-US" dirty="0">
                <a:solidFill>
                  <a:srgbClr val="000000"/>
                </a:solidFill>
              </a:rPr>
              <a:t>Unit 1</a:t>
            </a:r>
            <a:endParaRPr lang="en-IE" dirty="0">
              <a:solidFill>
                <a:srgbClr val="000000"/>
              </a:solidFill>
            </a:endParaRPr>
          </a:p>
        </p:txBody>
      </p:sp>
      <p:sp>
        <p:nvSpPr>
          <p:cNvPr id="6" name="TextBox 5"/>
          <p:cNvSpPr txBox="1"/>
          <p:nvPr/>
        </p:nvSpPr>
        <p:spPr>
          <a:xfrm>
            <a:off x="3344570" y="3338003"/>
            <a:ext cx="1415772" cy="338554"/>
          </a:xfrm>
          <a:prstGeom prst="rect">
            <a:avLst/>
          </a:prstGeom>
          <a:noFill/>
          <a:ln>
            <a:solidFill>
              <a:schemeClr val="accent1"/>
            </a:solidFill>
          </a:ln>
        </p:spPr>
        <p:txBody>
          <a:bodyPr wrap="none" rtlCol="0">
            <a:spAutoFit/>
          </a:bodyPr>
          <a:lstStyle/>
          <a:p>
            <a:r>
              <a:rPr lang="en-US" dirty="0">
                <a:solidFill>
                  <a:srgbClr val="000000"/>
                </a:solidFill>
              </a:rPr>
              <a:t>Component 1</a:t>
            </a:r>
            <a:endParaRPr lang="en-IE" dirty="0">
              <a:solidFill>
                <a:srgbClr val="000000"/>
              </a:solidFill>
            </a:endParaRPr>
          </a:p>
        </p:txBody>
      </p:sp>
      <p:sp>
        <p:nvSpPr>
          <p:cNvPr id="7" name="TextBox 6"/>
          <p:cNvSpPr txBox="1"/>
          <p:nvPr/>
        </p:nvSpPr>
        <p:spPr>
          <a:xfrm>
            <a:off x="4620226" y="2660895"/>
            <a:ext cx="869149" cy="338554"/>
          </a:xfrm>
          <a:prstGeom prst="rect">
            <a:avLst/>
          </a:prstGeom>
          <a:noFill/>
          <a:ln>
            <a:solidFill>
              <a:schemeClr val="accent1"/>
            </a:solidFill>
          </a:ln>
        </p:spPr>
        <p:txBody>
          <a:bodyPr wrap="none" rtlCol="0">
            <a:spAutoFit/>
          </a:bodyPr>
          <a:lstStyle/>
          <a:p>
            <a:r>
              <a:rPr lang="en-US" dirty="0">
                <a:solidFill>
                  <a:srgbClr val="000000"/>
                </a:solidFill>
              </a:rPr>
              <a:t>System</a:t>
            </a:r>
            <a:endParaRPr lang="en-IE" dirty="0">
              <a:solidFill>
                <a:srgbClr val="000000"/>
              </a:solidFill>
            </a:endParaRPr>
          </a:p>
        </p:txBody>
      </p:sp>
      <p:sp>
        <p:nvSpPr>
          <p:cNvPr id="8" name="TextBox 7"/>
          <p:cNvSpPr txBox="1"/>
          <p:nvPr/>
        </p:nvSpPr>
        <p:spPr>
          <a:xfrm>
            <a:off x="595237" y="3393287"/>
            <a:ext cx="1816523" cy="338554"/>
          </a:xfrm>
          <a:prstGeom prst="rect">
            <a:avLst/>
          </a:prstGeom>
          <a:noFill/>
          <a:ln>
            <a:noFill/>
          </a:ln>
        </p:spPr>
        <p:txBody>
          <a:bodyPr wrap="none" rtlCol="0">
            <a:spAutoFit/>
          </a:bodyPr>
          <a:lstStyle/>
          <a:p>
            <a:r>
              <a:rPr lang="en-US" dirty="0">
                <a:solidFill>
                  <a:srgbClr val="FF0000"/>
                </a:solidFill>
              </a:rPr>
              <a:t>Integration testing</a:t>
            </a:r>
            <a:endParaRPr lang="en-IE" dirty="0">
              <a:solidFill>
                <a:srgbClr val="FF0000"/>
              </a:solidFill>
            </a:endParaRPr>
          </a:p>
        </p:txBody>
      </p:sp>
      <p:sp>
        <p:nvSpPr>
          <p:cNvPr id="10" name="TextBox 9"/>
          <p:cNvSpPr txBox="1"/>
          <p:nvPr/>
        </p:nvSpPr>
        <p:spPr>
          <a:xfrm rot="16200000">
            <a:off x="-786873" y="4190807"/>
            <a:ext cx="1882247" cy="338554"/>
          </a:xfrm>
          <a:prstGeom prst="rect">
            <a:avLst/>
          </a:prstGeom>
          <a:noFill/>
          <a:ln>
            <a:noFill/>
          </a:ln>
        </p:spPr>
        <p:txBody>
          <a:bodyPr wrap="none" rtlCol="0">
            <a:spAutoFit/>
          </a:bodyPr>
          <a:lstStyle/>
          <a:p>
            <a:r>
              <a:rPr lang="en-US" dirty="0">
                <a:solidFill>
                  <a:srgbClr val="FF0000"/>
                </a:solidFill>
              </a:rPr>
              <a:t>Regression testing</a:t>
            </a:r>
            <a:endParaRPr lang="en-IE" dirty="0">
              <a:solidFill>
                <a:srgbClr val="FF0000"/>
              </a:solidFill>
            </a:endParaRPr>
          </a:p>
        </p:txBody>
      </p:sp>
      <p:sp>
        <p:nvSpPr>
          <p:cNvPr id="21" name="TextBox 20"/>
          <p:cNvSpPr txBox="1"/>
          <p:nvPr/>
        </p:nvSpPr>
        <p:spPr>
          <a:xfrm>
            <a:off x="3585398" y="4454748"/>
            <a:ext cx="1167307" cy="338554"/>
          </a:xfrm>
          <a:prstGeom prst="rect">
            <a:avLst/>
          </a:prstGeom>
          <a:noFill/>
          <a:ln>
            <a:solidFill>
              <a:schemeClr val="accent1"/>
            </a:solidFill>
          </a:ln>
        </p:spPr>
        <p:txBody>
          <a:bodyPr wrap="none" rtlCol="0">
            <a:spAutoFit/>
          </a:bodyPr>
          <a:lstStyle/>
          <a:p>
            <a:r>
              <a:rPr lang="en-US" dirty="0">
                <a:solidFill>
                  <a:srgbClr val="000000"/>
                </a:solidFill>
              </a:rPr>
              <a:t>Unit 2, etc.</a:t>
            </a:r>
            <a:endParaRPr lang="en-IE" dirty="0">
              <a:solidFill>
                <a:srgbClr val="000000"/>
              </a:solidFill>
            </a:endParaRPr>
          </a:p>
        </p:txBody>
      </p:sp>
      <p:sp>
        <p:nvSpPr>
          <p:cNvPr id="22" name="TextBox 21"/>
          <p:cNvSpPr txBox="1"/>
          <p:nvPr/>
        </p:nvSpPr>
        <p:spPr>
          <a:xfrm>
            <a:off x="5253341" y="3338003"/>
            <a:ext cx="1407757" cy="338554"/>
          </a:xfrm>
          <a:prstGeom prst="rect">
            <a:avLst/>
          </a:prstGeom>
          <a:noFill/>
          <a:ln>
            <a:solidFill>
              <a:schemeClr val="accent1"/>
            </a:solidFill>
          </a:ln>
        </p:spPr>
        <p:txBody>
          <a:bodyPr wrap="none" rtlCol="0">
            <a:spAutoFit/>
          </a:bodyPr>
          <a:lstStyle/>
          <a:p>
            <a:r>
              <a:rPr lang="en-US" dirty="0">
                <a:solidFill>
                  <a:srgbClr val="000000"/>
                </a:solidFill>
              </a:rPr>
              <a:t>Comp. n, etc.</a:t>
            </a:r>
            <a:endParaRPr lang="en-IE" dirty="0">
              <a:solidFill>
                <a:srgbClr val="000000"/>
              </a:solidFill>
            </a:endParaRPr>
          </a:p>
        </p:txBody>
      </p:sp>
      <p:sp>
        <p:nvSpPr>
          <p:cNvPr id="23" name="TextBox 22"/>
          <p:cNvSpPr txBox="1"/>
          <p:nvPr/>
        </p:nvSpPr>
        <p:spPr>
          <a:xfrm>
            <a:off x="4866746" y="4477866"/>
            <a:ext cx="720069" cy="338554"/>
          </a:xfrm>
          <a:prstGeom prst="rect">
            <a:avLst/>
          </a:prstGeom>
          <a:noFill/>
          <a:ln>
            <a:solidFill>
              <a:schemeClr val="accent1"/>
            </a:solidFill>
          </a:ln>
        </p:spPr>
        <p:txBody>
          <a:bodyPr wrap="none" rtlCol="0">
            <a:spAutoFit/>
          </a:bodyPr>
          <a:lstStyle/>
          <a:p>
            <a:r>
              <a:rPr lang="en-US" dirty="0">
                <a:solidFill>
                  <a:srgbClr val="000000"/>
                </a:solidFill>
              </a:rPr>
              <a:t>Unit 3</a:t>
            </a:r>
            <a:endParaRPr lang="en-IE" dirty="0">
              <a:solidFill>
                <a:srgbClr val="000000"/>
              </a:solidFill>
            </a:endParaRPr>
          </a:p>
        </p:txBody>
      </p:sp>
      <p:sp>
        <p:nvSpPr>
          <p:cNvPr id="24" name="TextBox 23"/>
          <p:cNvSpPr txBox="1"/>
          <p:nvPr/>
        </p:nvSpPr>
        <p:spPr>
          <a:xfrm>
            <a:off x="5911500" y="4454748"/>
            <a:ext cx="1167307" cy="338554"/>
          </a:xfrm>
          <a:prstGeom prst="rect">
            <a:avLst/>
          </a:prstGeom>
          <a:noFill/>
          <a:ln>
            <a:solidFill>
              <a:schemeClr val="accent1"/>
            </a:solidFill>
          </a:ln>
        </p:spPr>
        <p:txBody>
          <a:bodyPr wrap="none" rtlCol="0">
            <a:spAutoFit/>
          </a:bodyPr>
          <a:lstStyle/>
          <a:p>
            <a:r>
              <a:rPr lang="en-US" dirty="0">
                <a:solidFill>
                  <a:srgbClr val="000000"/>
                </a:solidFill>
              </a:rPr>
              <a:t>Unit 4, etc.</a:t>
            </a:r>
            <a:endParaRPr lang="en-IE" dirty="0">
              <a:solidFill>
                <a:srgbClr val="000000"/>
              </a:solidFill>
            </a:endParaRPr>
          </a:p>
        </p:txBody>
      </p:sp>
      <p:cxnSp>
        <p:nvCxnSpPr>
          <p:cNvPr id="5" name="Straight Connector 4"/>
          <p:cNvCxnSpPr>
            <a:stCxn id="3" idx="0"/>
            <a:endCxn id="6" idx="2"/>
          </p:cNvCxnSpPr>
          <p:nvPr/>
        </p:nvCxnSpPr>
        <p:spPr bwMode="auto">
          <a:xfrm flipV="1">
            <a:off x="3084594" y="3676557"/>
            <a:ext cx="967862" cy="78975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7" name="Straight Connector 26"/>
          <p:cNvCxnSpPr>
            <a:stCxn id="21" idx="0"/>
            <a:endCxn id="6" idx="2"/>
          </p:cNvCxnSpPr>
          <p:nvPr/>
        </p:nvCxnSpPr>
        <p:spPr bwMode="auto">
          <a:xfrm flipH="1" flipV="1">
            <a:off x="4052456" y="3676557"/>
            <a:ext cx="116596" cy="778191"/>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0" name="Straight Connector 29"/>
          <p:cNvCxnSpPr>
            <a:stCxn id="24" idx="0"/>
            <a:endCxn id="22" idx="2"/>
          </p:cNvCxnSpPr>
          <p:nvPr/>
        </p:nvCxnSpPr>
        <p:spPr bwMode="auto">
          <a:xfrm flipH="1" flipV="1">
            <a:off x="5957220" y="3676557"/>
            <a:ext cx="537934" cy="778191"/>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3" name="Straight Connector 32"/>
          <p:cNvCxnSpPr>
            <a:stCxn id="23" idx="0"/>
            <a:endCxn id="22" idx="2"/>
          </p:cNvCxnSpPr>
          <p:nvPr/>
        </p:nvCxnSpPr>
        <p:spPr bwMode="auto">
          <a:xfrm flipV="1">
            <a:off x="5226781" y="3676557"/>
            <a:ext cx="730439" cy="801309"/>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6" name="Straight Connector 35"/>
          <p:cNvCxnSpPr>
            <a:stCxn id="6" idx="0"/>
            <a:endCxn id="7" idx="2"/>
          </p:cNvCxnSpPr>
          <p:nvPr/>
        </p:nvCxnSpPr>
        <p:spPr bwMode="auto">
          <a:xfrm flipV="1">
            <a:off x="4052456" y="2999449"/>
            <a:ext cx="1002345" cy="338554"/>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9" name="Straight Connector 38"/>
          <p:cNvCxnSpPr>
            <a:stCxn id="22" idx="0"/>
            <a:endCxn id="7" idx="2"/>
          </p:cNvCxnSpPr>
          <p:nvPr/>
        </p:nvCxnSpPr>
        <p:spPr bwMode="auto">
          <a:xfrm flipH="1" flipV="1">
            <a:off x="5054801" y="2999449"/>
            <a:ext cx="902419" cy="338554"/>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0" name="TextBox 39"/>
          <p:cNvSpPr txBox="1"/>
          <p:nvPr/>
        </p:nvSpPr>
        <p:spPr>
          <a:xfrm>
            <a:off x="827584" y="5152256"/>
            <a:ext cx="1116909" cy="307777"/>
          </a:xfrm>
          <a:prstGeom prst="rect">
            <a:avLst/>
          </a:prstGeom>
          <a:noFill/>
          <a:ln>
            <a:noFill/>
          </a:ln>
        </p:spPr>
        <p:txBody>
          <a:bodyPr wrap="none" rtlCol="0">
            <a:spAutoFit/>
          </a:bodyPr>
          <a:lstStyle/>
          <a:p>
            <a:r>
              <a:rPr lang="en-US" sz="1400" dirty="0">
                <a:solidFill>
                  <a:srgbClr val="FF0000"/>
                </a:solidFill>
              </a:rPr>
              <a:t>Unit Testing</a:t>
            </a:r>
            <a:endParaRPr lang="en-IE" dirty="0">
              <a:solidFill>
                <a:srgbClr val="FF0000"/>
              </a:solidFill>
            </a:endParaRPr>
          </a:p>
        </p:txBody>
      </p:sp>
      <p:sp>
        <p:nvSpPr>
          <p:cNvPr id="43" name="TextBox 42"/>
          <p:cNvSpPr txBox="1"/>
          <p:nvPr/>
        </p:nvSpPr>
        <p:spPr>
          <a:xfrm>
            <a:off x="2195736" y="5485978"/>
            <a:ext cx="1040670" cy="338554"/>
          </a:xfrm>
          <a:prstGeom prst="rect">
            <a:avLst/>
          </a:prstGeom>
          <a:noFill/>
          <a:ln>
            <a:solidFill>
              <a:schemeClr val="accent1"/>
            </a:solidFill>
          </a:ln>
        </p:spPr>
        <p:txBody>
          <a:bodyPr wrap="none" rtlCol="0">
            <a:spAutoFit/>
          </a:bodyPr>
          <a:lstStyle/>
          <a:p>
            <a:r>
              <a:rPr lang="en-US" dirty="0">
                <a:solidFill>
                  <a:srgbClr val="000000"/>
                </a:solidFill>
              </a:rPr>
              <a:t>Method 1</a:t>
            </a:r>
            <a:endParaRPr lang="en-IE" dirty="0">
              <a:solidFill>
                <a:srgbClr val="000000"/>
              </a:solidFill>
            </a:endParaRPr>
          </a:p>
        </p:txBody>
      </p:sp>
      <p:sp>
        <p:nvSpPr>
          <p:cNvPr id="44" name="TextBox 43"/>
          <p:cNvSpPr txBox="1"/>
          <p:nvPr/>
        </p:nvSpPr>
        <p:spPr>
          <a:xfrm>
            <a:off x="3399110" y="5485978"/>
            <a:ext cx="1257125" cy="338554"/>
          </a:xfrm>
          <a:prstGeom prst="rect">
            <a:avLst/>
          </a:prstGeom>
          <a:noFill/>
          <a:ln>
            <a:solidFill>
              <a:schemeClr val="accent1"/>
            </a:solidFill>
          </a:ln>
        </p:spPr>
        <p:txBody>
          <a:bodyPr wrap="square" rtlCol="0">
            <a:spAutoFit/>
          </a:bodyPr>
          <a:lstStyle/>
          <a:p>
            <a:r>
              <a:rPr lang="en-US" dirty="0" err="1">
                <a:solidFill>
                  <a:srgbClr val="000000"/>
                </a:solidFill>
              </a:rPr>
              <a:t>Mthd</a:t>
            </a:r>
            <a:r>
              <a:rPr lang="en-US" dirty="0">
                <a:solidFill>
                  <a:srgbClr val="000000"/>
                </a:solidFill>
              </a:rPr>
              <a:t> 2, etc.</a:t>
            </a:r>
            <a:endParaRPr lang="en-IE" dirty="0">
              <a:solidFill>
                <a:srgbClr val="000000"/>
              </a:solidFill>
            </a:endParaRPr>
          </a:p>
        </p:txBody>
      </p:sp>
      <p:cxnSp>
        <p:nvCxnSpPr>
          <p:cNvPr id="45" name="Straight Connector 44"/>
          <p:cNvCxnSpPr>
            <a:stCxn id="43" idx="0"/>
            <a:endCxn id="3" idx="2"/>
          </p:cNvCxnSpPr>
          <p:nvPr/>
        </p:nvCxnSpPr>
        <p:spPr bwMode="auto">
          <a:xfrm flipV="1">
            <a:off x="2716071" y="4804861"/>
            <a:ext cx="368523" cy="68111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8" name="Straight Connector 47"/>
          <p:cNvCxnSpPr>
            <a:stCxn id="44" idx="0"/>
            <a:endCxn id="3" idx="2"/>
          </p:cNvCxnSpPr>
          <p:nvPr/>
        </p:nvCxnSpPr>
        <p:spPr bwMode="auto">
          <a:xfrm flipH="1" flipV="1">
            <a:off x="3084594" y="4804861"/>
            <a:ext cx="943079" cy="68111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1" name="TextBox 50"/>
          <p:cNvSpPr txBox="1"/>
          <p:nvPr/>
        </p:nvSpPr>
        <p:spPr>
          <a:xfrm>
            <a:off x="3107290" y="1844824"/>
            <a:ext cx="3518912" cy="369332"/>
          </a:xfrm>
          <a:prstGeom prst="rect">
            <a:avLst/>
          </a:prstGeom>
          <a:noFill/>
        </p:spPr>
        <p:txBody>
          <a:bodyPr wrap="none" rtlCol="0">
            <a:spAutoFit/>
          </a:bodyPr>
          <a:lstStyle/>
          <a:p>
            <a:r>
              <a:rPr lang="en-US" sz="1800" u="sng" dirty="0">
                <a:solidFill>
                  <a:srgbClr val="000000"/>
                </a:solidFill>
              </a:rPr>
              <a:t>Software System Decomposition</a:t>
            </a:r>
            <a:endParaRPr lang="en-IE" sz="1800" u="sng" dirty="0">
              <a:solidFill>
                <a:srgbClr val="000000"/>
              </a:solidFill>
            </a:endParaRPr>
          </a:p>
        </p:txBody>
      </p:sp>
      <p:sp>
        <p:nvSpPr>
          <p:cNvPr id="52" name="TextBox 51"/>
          <p:cNvSpPr txBox="1"/>
          <p:nvPr/>
        </p:nvSpPr>
        <p:spPr>
          <a:xfrm>
            <a:off x="4816911" y="5494266"/>
            <a:ext cx="1141659" cy="338554"/>
          </a:xfrm>
          <a:prstGeom prst="rect">
            <a:avLst/>
          </a:prstGeom>
          <a:noFill/>
          <a:ln>
            <a:solidFill>
              <a:schemeClr val="accent1"/>
            </a:solidFill>
          </a:ln>
        </p:spPr>
        <p:txBody>
          <a:bodyPr wrap="none" rtlCol="0">
            <a:spAutoFit/>
          </a:bodyPr>
          <a:lstStyle/>
          <a:p>
            <a:r>
              <a:rPr lang="en-US" dirty="0">
                <a:solidFill>
                  <a:srgbClr val="000000"/>
                </a:solidFill>
              </a:rPr>
              <a:t>Function 1</a:t>
            </a:r>
            <a:endParaRPr lang="en-IE" dirty="0">
              <a:solidFill>
                <a:srgbClr val="000000"/>
              </a:solidFill>
            </a:endParaRPr>
          </a:p>
        </p:txBody>
      </p:sp>
      <p:sp>
        <p:nvSpPr>
          <p:cNvPr id="53" name="TextBox 52"/>
          <p:cNvSpPr txBox="1"/>
          <p:nvPr/>
        </p:nvSpPr>
        <p:spPr>
          <a:xfrm>
            <a:off x="6121274" y="5494266"/>
            <a:ext cx="1691086" cy="338554"/>
          </a:xfrm>
          <a:prstGeom prst="rect">
            <a:avLst/>
          </a:prstGeom>
          <a:noFill/>
          <a:ln>
            <a:solidFill>
              <a:schemeClr val="accent1"/>
            </a:solidFill>
          </a:ln>
        </p:spPr>
        <p:txBody>
          <a:bodyPr wrap="square" rtlCol="0">
            <a:spAutoFit/>
          </a:bodyPr>
          <a:lstStyle/>
          <a:p>
            <a:r>
              <a:rPr lang="en-US" dirty="0">
                <a:solidFill>
                  <a:srgbClr val="000000"/>
                </a:solidFill>
              </a:rPr>
              <a:t>Function 2, etc.</a:t>
            </a:r>
            <a:endParaRPr lang="en-IE" dirty="0">
              <a:solidFill>
                <a:srgbClr val="000000"/>
              </a:solidFill>
            </a:endParaRPr>
          </a:p>
        </p:txBody>
      </p:sp>
      <p:cxnSp>
        <p:nvCxnSpPr>
          <p:cNvPr id="54" name="Straight Connector 53"/>
          <p:cNvCxnSpPr>
            <a:stCxn id="52" idx="0"/>
            <a:endCxn id="21" idx="2"/>
          </p:cNvCxnSpPr>
          <p:nvPr/>
        </p:nvCxnSpPr>
        <p:spPr bwMode="auto">
          <a:xfrm flipH="1" flipV="1">
            <a:off x="4169052" y="4793302"/>
            <a:ext cx="1218689" cy="700964"/>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5" name="Straight Connector 54"/>
          <p:cNvCxnSpPr>
            <a:cxnSpLocks/>
            <a:stCxn id="53" idx="0"/>
            <a:endCxn id="21" idx="2"/>
          </p:cNvCxnSpPr>
          <p:nvPr/>
        </p:nvCxnSpPr>
        <p:spPr bwMode="auto">
          <a:xfrm flipH="1" flipV="1">
            <a:off x="4169052" y="4793302"/>
            <a:ext cx="2797765" cy="700964"/>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3" name="TextBox 62"/>
          <p:cNvSpPr txBox="1"/>
          <p:nvPr/>
        </p:nvSpPr>
        <p:spPr>
          <a:xfrm>
            <a:off x="5812410" y="2616297"/>
            <a:ext cx="3368102" cy="338554"/>
          </a:xfrm>
          <a:prstGeom prst="rect">
            <a:avLst/>
          </a:prstGeom>
          <a:noFill/>
          <a:ln>
            <a:noFill/>
          </a:ln>
        </p:spPr>
        <p:txBody>
          <a:bodyPr wrap="none" rtlCol="0">
            <a:spAutoFit/>
          </a:bodyPr>
          <a:lstStyle/>
          <a:p>
            <a:r>
              <a:rPr lang="en-US" dirty="0">
                <a:solidFill>
                  <a:srgbClr val="FF0000"/>
                </a:solidFill>
              </a:rPr>
              <a:t>System testing, Acceptance testing</a:t>
            </a:r>
            <a:endParaRPr lang="en-IE" dirty="0">
              <a:solidFill>
                <a:srgbClr val="FF0000"/>
              </a:solidFill>
            </a:endParaRPr>
          </a:p>
        </p:txBody>
      </p:sp>
      <p:sp>
        <p:nvSpPr>
          <p:cNvPr id="60" name="Left Brace 59"/>
          <p:cNvSpPr/>
          <p:nvPr/>
        </p:nvSpPr>
        <p:spPr bwMode="auto">
          <a:xfrm>
            <a:off x="1896201" y="4539603"/>
            <a:ext cx="299535" cy="1496494"/>
          </a:xfrm>
          <a:prstGeom prst="leftBrac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IE" sz="1600" b="0" i="0" u="none" strike="noStrike" cap="none" normalizeH="0" baseline="0">
              <a:ln>
                <a:noFill/>
              </a:ln>
              <a:solidFill>
                <a:schemeClr val="tx1"/>
              </a:solidFill>
              <a:effectLst/>
              <a:latin typeface="Arial" charset="0"/>
              <a:ea typeface="ＭＳ Ｐゴシック" charset="0"/>
            </a:endParaRPr>
          </a:p>
        </p:txBody>
      </p:sp>
      <p:sp>
        <p:nvSpPr>
          <p:cNvPr id="65" name="Left Brace 64"/>
          <p:cNvSpPr/>
          <p:nvPr/>
        </p:nvSpPr>
        <p:spPr bwMode="auto">
          <a:xfrm>
            <a:off x="2389837" y="2762026"/>
            <a:ext cx="299535" cy="1617888"/>
          </a:xfrm>
          <a:prstGeom prst="leftBrac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IE" sz="1600" b="0" i="0" u="none" strike="noStrike" cap="none" normalizeH="0" baseline="0">
              <a:ln>
                <a:noFill/>
              </a:ln>
              <a:solidFill>
                <a:schemeClr val="tx1"/>
              </a:solidFill>
              <a:effectLst/>
              <a:latin typeface="Arial" charset="0"/>
              <a:ea typeface="ＭＳ Ｐゴシック" charset="0"/>
            </a:endParaRPr>
          </a:p>
        </p:txBody>
      </p:sp>
      <p:sp>
        <p:nvSpPr>
          <p:cNvPr id="61" name="Right Brace 60"/>
          <p:cNvSpPr/>
          <p:nvPr/>
        </p:nvSpPr>
        <p:spPr bwMode="auto">
          <a:xfrm>
            <a:off x="5724128" y="2533546"/>
            <a:ext cx="145645" cy="504056"/>
          </a:xfrm>
          <a:prstGeom prst="rightBrac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IE" sz="1600" b="0" i="0" u="none" strike="noStrike" cap="none" normalizeH="0" baseline="0">
              <a:ln>
                <a:noFill/>
              </a:ln>
              <a:solidFill>
                <a:schemeClr val="tx1"/>
              </a:solidFill>
              <a:effectLst/>
              <a:latin typeface="Arial" charset="0"/>
              <a:ea typeface="ＭＳ Ｐゴシック" charset="0"/>
            </a:endParaRPr>
          </a:p>
        </p:txBody>
      </p:sp>
      <p:sp>
        <p:nvSpPr>
          <p:cNvPr id="68" name="Left Brace 67"/>
          <p:cNvSpPr/>
          <p:nvPr/>
        </p:nvSpPr>
        <p:spPr bwMode="auto">
          <a:xfrm>
            <a:off x="320251" y="2774978"/>
            <a:ext cx="178364" cy="3174301"/>
          </a:xfrm>
          <a:prstGeom prst="leftBrac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IE" sz="1600" b="0" i="0" u="none" strike="noStrike" cap="none" normalizeH="0" baseline="0">
              <a:ln>
                <a:noFill/>
              </a:ln>
              <a:solidFill>
                <a:schemeClr val="tx1"/>
              </a:solidFill>
              <a:effectLst/>
              <a:latin typeface="Arial" charset="0"/>
              <a:ea typeface="ＭＳ Ｐゴシック"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500"/>
                                        <p:tgtEl>
                                          <p:spTgt spid="5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fade">
                                      <p:cBhvr>
                                        <p:cTn id="21" dur="500"/>
                                        <p:tgtEl>
                                          <p:spTgt spid="5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500"/>
                                        <p:tgtEl>
                                          <p:spTgt spid="48"/>
                                        </p:tgtEl>
                                      </p:cBhvr>
                                    </p:animEffect>
                                  </p:childTnLst>
                                </p:cTn>
                              </p:par>
                              <p:par>
                                <p:cTn id="42" presetID="10" presetClass="entr" presetSubtype="0" fill="hold" nodeType="with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childTnLst>
                                </p:cTn>
                              </p:par>
                              <p:par>
                                <p:cTn id="45" presetID="10" presetClass="entr" presetSubtype="0" fill="hold" nodeType="with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fade">
                                      <p:cBhvr>
                                        <p:cTn id="47" dur="500"/>
                                        <p:tgtEl>
                                          <p:spTgt spid="5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fade">
                                      <p:cBhvr>
                                        <p:cTn id="58" dur="500"/>
                                        <p:tgtEl>
                                          <p:spTgt spid="5"/>
                                        </p:tgtEl>
                                      </p:cBhvr>
                                    </p:animEffect>
                                  </p:childTnLst>
                                </p:cTn>
                              </p:par>
                              <p:par>
                                <p:cTn id="59" presetID="10"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fade">
                                      <p:cBhvr>
                                        <p:cTn id="72" dur="500"/>
                                        <p:tgtEl>
                                          <p:spTgt spid="7"/>
                                        </p:tgtEl>
                                      </p:cBhvr>
                                    </p:animEffect>
                                  </p:childTnLst>
                                </p:cTn>
                              </p:par>
                              <p:par>
                                <p:cTn id="73" presetID="10" presetClass="entr" presetSubtype="0" fill="hold"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par>
                                <p:cTn id="76" presetID="10" presetClass="entr" presetSubtype="0" fill="hold"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500"/>
                                        <p:tgtEl>
                                          <p:spTgt spid="3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60"/>
                                        </p:tgtEl>
                                        <p:attrNameLst>
                                          <p:attrName>style.visibility</p:attrName>
                                        </p:attrNameLst>
                                      </p:cBhvr>
                                      <p:to>
                                        <p:strVal val="visible"/>
                                      </p:to>
                                    </p:set>
                                    <p:animEffect transition="in" filter="fade">
                                      <p:cBhvr>
                                        <p:cTn id="83" dur="500"/>
                                        <p:tgtEl>
                                          <p:spTgt spid="6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500"/>
                                        <p:tgtEl>
                                          <p:spTgt spid="4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8"/>
                                        </p:tgtEl>
                                        <p:attrNameLst>
                                          <p:attrName>style.visibility</p:attrName>
                                        </p:attrNameLst>
                                      </p:cBhvr>
                                      <p:to>
                                        <p:strVal val="visible"/>
                                      </p:to>
                                    </p:set>
                                    <p:animEffect transition="in" filter="fade">
                                      <p:cBhvr>
                                        <p:cTn id="91" dur="500"/>
                                        <p:tgtEl>
                                          <p:spTgt spid="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5"/>
                                        </p:tgtEl>
                                        <p:attrNameLst>
                                          <p:attrName>style.visibility</p:attrName>
                                        </p:attrNameLst>
                                      </p:cBhvr>
                                      <p:to>
                                        <p:strVal val="visible"/>
                                      </p:to>
                                    </p:set>
                                    <p:animEffect transition="in" filter="fade">
                                      <p:cBhvr>
                                        <p:cTn id="94" dur="500"/>
                                        <p:tgtEl>
                                          <p:spTgt spid="65"/>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63"/>
                                        </p:tgtEl>
                                        <p:attrNameLst>
                                          <p:attrName>style.visibility</p:attrName>
                                        </p:attrNameLst>
                                      </p:cBhvr>
                                      <p:to>
                                        <p:strVal val="visible"/>
                                      </p:to>
                                    </p:set>
                                    <p:animEffect transition="in" filter="fade">
                                      <p:cBhvr>
                                        <p:cTn id="99" dur="500"/>
                                        <p:tgtEl>
                                          <p:spTgt spid="6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61"/>
                                        </p:tgtEl>
                                        <p:attrNameLst>
                                          <p:attrName>style.visibility</p:attrName>
                                        </p:attrNameLst>
                                      </p:cBhvr>
                                      <p:to>
                                        <p:strVal val="visible"/>
                                      </p:to>
                                    </p:set>
                                    <p:animEffect transition="in" filter="fade">
                                      <p:cBhvr>
                                        <p:cTn id="102" dur="500"/>
                                        <p:tgtEl>
                                          <p:spTgt spid="61"/>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68"/>
                                        </p:tgtEl>
                                        <p:attrNameLst>
                                          <p:attrName>style.visibility</p:attrName>
                                        </p:attrNameLst>
                                      </p:cBhvr>
                                      <p:to>
                                        <p:strVal val="visible"/>
                                      </p:to>
                                    </p:set>
                                    <p:animEffect transition="in" filter="fade">
                                      <p:cBhvr>
                                        <p:cTn id="107" dur="500"/>
                                        <p:tgtEl>
                                          <p:spTgt spid="6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10"/>
                                        </p:tgtEl>
                                        <p:attrNameLst>
                                          <p:attrName>style.visibility</p:attrName>
                                        </p:attrNameLst>
                                      </p:cBhvr>
                                      <p:to>
                                        <p:strVal val="visible"/>
                                      </p:to>
                                    </p:set>
                                    <p:animEffect transition="in" filter="fade">
                                      <p:cBhvr>
                                        <p:cTn id="1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p:bldP spid="10" grpId="0"/>
      <p:bldP spid="21" grpId="0" animBg="1"/>
      <p:bldP spid="22" grpId="0" animBg="1"/>
      <p:bldP spid="23" grpId="0" animBg="1"/>
      <p:bldP spid="24" grpId="0" animBg="1"/>
      <p:bldP spid="40" grpId="0"/>
      <p:bldP spid="43" grpId="0" animBg="1"/>
      <p:bldP spid="44" grpId="0" animBg="1"/>
      <p:bldP spid="51" grpId="0"/>
      <p:bldP spid="52" grpId="0" animBg="1"/>
      <p:bldP spid="53" grpId="0" animBg="1"/>
      <p:bldP spid="63" grpId="0"/>
      <p:bldP spid="60" grpId="0" animBg="1"/>
      <p:bldP spid="65" grpId="0" animBg="1"/>
      <p:bldP spid="61" grpId="0" animBg="1"/>
      <p:bldP spid="6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66" name="Rectangle 6"/>
          <p:cNvSpPr>
            <a:spLocks noGrp="1" noChangeArrowheads="1"/>
          </p:cNvSpPr>
          <p:nvPr>
            <p:ph type="title"/>
          </p:nvPr>
        </p:nvSpPr>
        <p:spPr/>
        <p:txBody>
          <a:bodyPr/>
          <a:lstStyle/>
          <a:p>
            <a:r>
              <a:rPr lang="en-US" dirty="0"/>
              <a:t>Each Type Of Testing</a:t>
            </a:r>
          </a:p>
        </p:txBody>
      </p:sp>
      <p:sp>
        <p:nvSpPr>
          <p:cNvPr id="34" name="Rectangle 7">
            <a:extLst>
              <a:ext uri="{FF2B5EF4-FFF2-40B4-BE49-F238E27FC236}">
                <a16:creationId xmlns:a16="http://schemas.microsoft.com/office/drawing/2014/main" id="{F4CB62FC-5E62-4B7D-A51E-EA6B3174D6FF}"/>
              </a:ext>
            </a:extLst>
          </p:cNvPr>
          <p:cNvSpPr txBox="1">
            <a:spLocks noChangeArrowheads="1"/>
          </p:cNvSpPr>
          <p:nvPr/>
        </p:nvSpPr>
        <p:spPr bwMode="auto">
          <a:xfrm>
            <a:off x="703263" y="1676400"/>
            <a:ext cx="7948612"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2400" kern="0" dirty="0"/>
              <a:t>Each type of testing addresses a specific concern:</a:t>
            </a:r>
          </a:p>
          <a:p>
            <a:r>
              <a:rPr lang="en-US" sz="2400" kern="0" dirty="0"/>
              <a:t>Unit Testing: addresses the quality of individual units (e.g. methods, functions)</a:t>
            </a:r>
          </a:p>
          <a:p>
            <a:r>
              <a:rPr lang="en-US" sz="2400" kern="0" dirty="0"/>
              <a:t>Integration Testing: checks if individual components (which are a combination of two or more individual units) operate together</a:t>
            </a:r>
          </a:p>
          <a:p>
            <a:r>
              <a:rPr lang="en-US" sz="2400" kern="0" dirty="0"/>
              <a:t>System Testing: checks if the system as a whole delivers the desired functionality.</a:t>
            </a:r>
          </a:p>
          <a:p>
            <a:endParaRPr lang="en-US" sz="2400" kern="0" dirty="0"/>
          </a:p>
          <a:p>
            <a:r>
              <a:rPr lang="en-US" sz="2400" kern="0" dirty="0"/>
              <a:t>Other types of testing also exist that address other concerns, e.g. acceptance testing allows users or a designated user representative to establish if the system is acceptable to the users.  </a:t>
            </a:r>
          </a:p>
        </p:txBody>
      </p:sp>
    </p:spTree>
    <p:extLst>
      <p:ext uri="{BB962C8B-B14F-4D97-AF65-F5344CB8AC3E}">
        <p14:creationId xmlns:p14="http://schemas.microsoft.com/office/powerpoint/2010/main" val="47270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US" dirty="0"/>
              <a:t>Types of Static Testing</a:t>
            </a:r>
            <a:endParaRPr lang="en-GB" dirty="0"/>
          </a:p>
        </p:txBody>
      </p:sp>
      <p:sp>
        <p:nvSpPr>
          <p:cNvPr id="3" name="Oval 2"/>
          <p:cNvSpPr/>
          <p:nvPr/>
        </p:nvSpPr>
        <p:spPr bwMode="auto">
          <a:xfrm>
            <a:off x="4860032" y="2780928"/>
            <a:ext cx="1440160"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Requirements</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0" name="Oval 9"/>
          <p:cNvSpPr/>
          <p:nvPr/>
        </p:nvSpPr>
        <p:spPr bwMode="auto">
          <a:xfrm>
            <a:off x="6431869" y="3380421"/>
            <a:ext cx="1440160"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Design</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1" name="Oval 10"/>
          <p:cNvSpPr/>
          <p:nvPr/>
        </p:nvSpPr>
        <p:spPr bwMode="auto">
          <a:xfrm>
            <a:off x="6444208" y="428422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Coding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2" name="Oval 11"/>
          <p:cNvSpPr/>
          <p:nvPr/>
        </p:nvSpPr>
        <p:spPr bwMode="auto">
          <a:xfrm>
            <a:off x="6084168" y="513775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rgbClr val="FF0000"/>
                </a:solidFill>
                <a:effectLst/>
                <a:latin typeface="Arial" charset="0"/>
                <a:ea typeface="ＭＳ Ｐゴシック" charset="0"/>
              </a:rPr>
              <a:t>Testing</a:t>
            </a:r>
            <a:endParaRPr kumimoji="0" lang="en-IE" sz="1000" b="0" i="0" u="none" strike="noStrike" cap="none" normalizeH="0" baseline="0" dirty="0">
              <a:ln>
                <a:noFill/>
              </a:ln>
              <a:solidFill>
                <a:srgbClr val="FF0000"/>
              </a:solidFill>
              <a:effectLst/>
              <a:latin typeface="Arial" charset="0"/>
              <a:ea typeface="ＭＳ Ｐゴシック" charset="0"/>
            </a:endParaRPr>
          </a:p>
        </p:txBody>
      </p:sp>
      <p:sp>
        <p:nvSpPr>
          <p:cNvPr id="13" name="Oval 12"/>
          <p:cNvSpPr/>
          <p:nvPr/>
        </p:nvSpPr>
        <p:spPr bwMode="auto">
          <a:xfrm>
            <a:off x="4067944" y="5200125"/>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Fixing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4" name="Oval 13"/>
          <p:cNvSpPr/>
          <p:nvPr/>
        </p:nvSpPr>
        <p:spPr bwMode="auto">
          <a:xfrm>
            <a:off x="3275856" y="4300743"/>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Shipping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sp>
        <p:nvSpPr>
          <p:cNvPr id="15" name="Oval 14"/>
          <p:cNvSpPr/>
          <p:nvPr/>
        </p:nvSpPr>
        <p:spPr bwMode="auto">
          <a:xfrm>
            <a:off x="3291634" y="3394980"/>
            <a:ext cx="1512168" cy="432048"/>
          </a:xfrm>
          <a:prstGeom prst="ellipse">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0" dirty="0">
                <a:ln>
                  <a:noFill/>
                </a:ln>
                <a:solidFill>
                  <a:schemeClr val="tx1"/>
                </a:solidFill>
                <a:effectLst/>
                <a:latin typeface="Arial" charset="0"/>
                <a:ea typeface="ＭＳ Ｐゴシック" charset="0"/>
              </a:rPr>
              <a:t>Maintaining</a:t>
            </a:r>
            <a:endParaRPr kumimoji="0" lang="en-IE" sz="1000" b="0" i="0" u="none" strike="noStrike" cap="none" normalizeH="0" baseline="0" dirty="0">
              <a:ln>
                <a:noFill/>
              </a:ln>
              <a:solidFill>
                <a:schemeClr val="tx1"/>
              </a:solidFill>
              <a:effectLst/>
              <a:latin typeface="Arial" charset="0"/>
              <a:ea typeface="ＭＳ Ｐゴシック" charset="0"/>
            </a:endParaRPr>
          </a:p>
        </p:txBody>
      </p:sp>
      <p:cxnSp>
        <p:nvCxnSpPr>
          <p:cNvPr id="18" name="Straight Arrow Connector 17"/>
          <p:cNvCxnSpPr>
            <a:stCxn id="3" idx="6"/>
            <a:endCxn id="10" idx="0"/>
          </p:cNvCxnSpPr>
          <p:nvPr/>
        </p:nvCxnSpPr>
        <p:spPr bwMode="auto">
          <a:xfrm>
            <a:off x="6300192" y="2996952"/>
            <a:ext cx="851757" cy="383469"/>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5" name="Straight Arrow Connector 24"/>
          <p:cNvCxnSpPr>
            <a:stCxn id="10" idx="4"/>
            <a:endCxn id="11" idx="0"/>
          </p:cNvCxnSpPr>
          <p:nvPr/>
        </p:nvCxnSpPr>
        <p:spPr bwMode="auto">
          <a:xfrm>
            <a:off x="7151949" y="3812469"/>
            <a:ext cx="48343" cy="471754"/>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8" name="Straight Arrow Connector 27"/>
          <p:cNvCxnSpPr>
            <a:stCxn id="11" idx="4"/>
            <a:endCxn id="12" idx="0"/>
          </p:cNvCxnSpPr>
          <p:nvPr/>
        </p:nvCxnSpPr>
        <p:spPr bwMode="auto">
          <a:xfrm flipH="1">
            <a:off x="6840252" y="4716271"/>
            <a:ext cx="360040" cy="421482"/>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Straight Arrow Connector 30"/>
          <p:cNvCxnSpPr>
            <a:stCxn id="12" idx="2"/>
            <a:endCxn id="13" idx="6"/>
          </p:cNvCxnSpPr>
          <p:nvPr/>
        </p:nvCxnSpPr>
        <p:spPr bwMode="auto">
          <a:xfrm flipH="1">
            <a:off x="5580112" y="5353777"/>
            <a:ext cx="504056" cy="62372"/>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4" name="Straight Arrow Connector 33"/>
          <p:cNvCxnSpPr>
            <a:stCxn id="13" idx="0"/>
          </p:cNvCxnSpPr>
          <p:nvPr/>
        </p:nvCxnSpPr>
        <p:spPr bwMode="auto">
          <a:xfrm flipH="1" flipV="1">
            <a:off x="4115292" y="4732791"/>
            <a:ext cx="708736" cy="467334"/>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7" name="Straight Arrow Connector 36"/>
          <p:cNvCxnSpPr>
            <a:stCxn id="14" idx="0"/>
            <a:endCxn id="15" idx="4"/>
          </p:cNvCxnSpPr>
          <p:nvPr/>
        </p:nvCxnSpPr>
        <p:spPr bwMode="auto">
          <a:xfrm flipV="1">
            <a:off x="4031940" y="3827028"/>
            <a:ext cx="15778" cy="473715"/>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0" name="Straight Arrow Connector 39"/>
          <p:cNvCxnSpPr>
            <a:stCxn id="15" idx="0"/>
            <a:endCxn id="3" idx="2"/>
          </p:cNvCxnSpPr>
          <p:nvPr/>
        </p:nvCxnSpPr>
        <p:spPr bwMode="auto">
          <a:xfrm flipV="1">
            <a:off x="4047718" y="2996952"/>
            <a:ext cx="812314" cy="398028"/>
          </a:xfrm>
          <a:prstGeom prst="straightConnector1">
            <a:avLst/>
          </a:prstGeom>
          <a:solidFill>
            <a:schemeClr val="accent1"/>
          </a:solidFill>
          <a:ln w="9525" cap="flat" cmpd="sng" algn="ctr">
            <a:solidFill>
              <a:schemeClr val="bg1"/>
            </a:solidFill>
            <a:prstDash val="solid"/>
            <a:round/>
            <a:headEnd type="none" w="med" len="med"/>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nvGrpSpPr>
          <p:cNvPr id="26" name="Group 25"/>
          <p:cNvGrpSpPr/>
          <p:nvPr/>
        </p:nvGrpSpPr>
        <p:grpSpPr>
          <a:xfrm>
            <a:off x="4974205" y="2132869"/>
            <a:ext cx="1211814" cy="717681"/>
            <a:chOff x="4974205" y="2132869"/>
            <a:chExt cx="1211814" cy="717681"/>
          </a:xfrm>
        </p:grpSpPr>
        <p:cxnSp>
          <p:nvCxnSpPr>
            <p:cNvPr id="4" name="Curved Connector 3"/>
            <p:cNvCxnSpPr>
              <a:stCxn id="3" idx="7"/>
              <a:endCxn id="3" idx="1"/>
            </p:cNvCxnSpPr>
            <p:nvPr/>
          </p:nvCxnSpPr>
          <p:spPr bwMode="auto">
            <a:xfrm rot="16200000" flipV="1">
              <a:off x="5580112" y="2335027"/>
              <a:ext cx="12700" cy="1018346"/>
            </a:xfrm>
            <a:prstGeom prst="curvedConnector3">
              <a:avLst>
                <a:gd name="adj1" fmla="val 2298205"/>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5" name="Rectangle 7"/>
            <p:cNvSpPr txBox="1">
              <a:spLocks noChangeArrowheads="1"/>
            </p:cNvSpPr>
            <p:nvPr/>
          </p:nvSpPr>
          <p:spPr bwMode="auto">
            <a:xfrm>
              <a:off x="4974205" y="2132869"/>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Requirements Testing</a:t>
              </a:r>
              <a:endParaRPr lang="en-US" sz="1100" kern="0" dirty="0">
                <a:solidFill>
                  <a:srgbClr val="FF0000"/>
                </a:solidFill>
              </a:endParaRPr>
            </a:p>
          </p:txBody>
        </p:sp>
      </p:grpSp>
      <p:grpSp>
        <p:nvGrpSpPr>
          <p:cNvPr id="27" name="Group 26"/>
          <p:cNvGrpSpPr/>
          <p:nvPr/>
        </p:nvGrpSpPr>
        <p:grpSpPr>
          <a:xfrm>
            <a:off x="7522217" y="2734938"/>
            <a:ext cx="1211814" cy="861507"/>
            <a:chOff x="7522217" y="2734938"/>
            <a:chExt cx="1211814" cy="861507"/>
          </a:xfrm>
        </p:grpSpPr>
        <p:cxnSp>
          <p:nvCxnSpPr>
            <p:cNvPr id="32" name="Curved Connector 31"/>
            <p:cNvCxnSpPr>
              <a:stCxn id="10" idx="6"/>
              <a:endCxn id="10" idx="7"/>
            </p:cNvCxnSpPr>
            <p:nvPr/>
          </p:nvCxnSpPr>
          <p:spPr bwMode="auto">
            <a:xfrm flipH="1" flipV="1">
              <a:off x="7661122" y="3443693"/>
              <a:ext cx="210907" cy="152752"/>
            </a:xfrm>
            <a:prstGeom prst="curvedConnector4">
              <a:avLst>
                <a:gd name="adj1" fmla="val -108389"/>
                <a:gd name="adj2" fmla="val 291076"/>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6" name="Rectangle 7"/>
            <p:cNvSpPr txBox="1">
              <a:spLocks noChangeArrowheads="1"/>
            </p:cNvSpPr>
            <p:nvPr/>
          </p:nvSpPr>
          <p:spPr bwMode="auto">
            <a:xfrm>
              <a:off x="7522217" y="2734938"/>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Design  Testing</a:t>
              </a:r>
              <a:endParaRPr lang="en-US" sz="1100" kern="0" dirty="0">
                <a:solidFill>
                  <a:srgbClr val="FF0000"/>
                </a:solidFill>
              </a:endParaRPr>
            </a:p>
          </p:txBody>
        </p:sp>
      </p:grpSp>
      <p:grpSp>
        <p:nvGrpSpPr>
          <p:cNvPr id="29" name="Group 28"/>
          <p:cNvGrpSpPr/>
          <p:nvPr/>
        </p:nvGrpSpPr>
        <p:grpSpPr>
          <a:xfrm>
            <a:off x="7734924" y="3769542"/>
            <a:ext cx="1245608" cy="730705"/>
            <a:chOff x="7734924" y="3769542"/>
            <a:chExt cx="1245608" cy="730705"/>
          </a:xfrm>
        </p:grpSpPr>
        <p:cxnSp>
          <p:nvCxnSpPr>
            <p:cNvPr id="35" name="Curved Connector 34"/>
            <p:cNvCxnSpPr>
              <a:stCxn id="11" idx="6"/>
              <a:endCxn id="11" idx="7"/>
            </p:cNvCxnSpPr>
            <p:nvPr/>
          </p:nvCxnSpPr>
          <p:spPr bwMode="auto">
            <a:xfrm flipH="1" flipV="1">
              <a:off x="7734924" y="4347495"/>
              <a:ext cx="221452" cy="152752"/>
            </a:xfrm>
            <a:prstGeom prst="curvedConnector4">
              <a:avLst>
                <a:gd name="adj1" fmla="val -103228"/>
                <a:gd name="adj2" fmla="val 291076"/>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8" name="Rectangle 7"/>
            <p:cNvSpPr txBox="1">
              <a:spLocks noChangeArrowheads="1"/>
            </p:cNvSpPr>
            <p:nvPr/>
          </p:nvSpPr>
          <p:spPr bwMode="auto">
            <a:xfrm>
              <a:off x="7768718" y="3769542"/>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Code    Testing</a:t>
              </a:r>
              <a:endParaRPr lang="en-US" sz="1100" kern="0" dirty="0">
                <a:solidFill>
                  <a:srgbClr val="FF0000"/>
                </a:solidFill>
              </a:endParaRPr>
            </a:p>
          </p:txBody>
        </p:sp>
      </p:grpSp>
      <p:grpSp>
        <p:nvGrpSpPr>
          <p:cNvPr id="33" name="Group 32"/>
          <p:cNvGrpSpPr/>
          <p:nvPr/>
        </p:nvGrpSpPr>
        <p:grpSpPr>
          <a:xfrm>
            <a:off x="1907704" y="3874116"/>
            <a:ext cx="1589604" cy="642651"/>
            <a:chOff x="1907704" y="3874116"/>
            <a:chExt cx="1589604" cy="642651"/>
          </a:xfrm>
        </p:grpSpPr>
        <p:cxnSp>
          <p:nvCxnSpPr>
            <p:cNvPr id="41" name="Curved Connector 40"/>
            <p:cNvCxnSpPr>
              <a:stCxn id="14" idx="2"/>
              <a:endCxn id="14" idx="1"/>
            </p:cNvCxnSpPr>
            <p:nvPr/>
          </p:nvCxnSpPr>
          <p:spPr bwMode="auto">
            <a:xfrm rot="10800000" flipH="1">
              <a:off x="3275856" y="4364015"/>
              <a:ext cx="221452" cy="152752"/>
            </a:xfrm>
            <a:prstGeom prst="curvedConnector4">
              <a:avLst>
                <a:gd name="adj1" fmla="val -103228"/>
                <a:gd name="adj2" fmla="val 291076"/>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9" name="Rectangle 7"/>
            <p:cNvSpPr txBox="1">
              <a:spLocks noChangeArrowheads="1"/>
            </p:cNvSpPr>
            <p:nvPr/>
          </p:nvSpPr>
          <p:spPr bwMode="auto">
            <a:xfrm>
              <a:off x="1907704" y="3874116"/>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Acceptance Testing</a:t>
              </a:r>
              <a:endParaRPr lang="en-US" sz="1100" kern="0" dirty="0">
                <a:solidFill>
                  <a:srgbClr val="FF0000"/>
                </a:solidFill>
              </a:endParaRPr>
            </a:p>
          </p:txBody>
        </p:sp>
      </p:grpSp>
      <p:grpSp>
        <p:nvGrpSpPr>
          <p:cNvPr id="36" name="Group 35"/>
          <p:cNvGrpSpPr/>
          <p:nvPr/>
        </p:nvGrpSpPr>
        <p:grpSpPr>
          <a:xfrm>
            <a:off x="2227296" y="2807183"/>
            <a:ext cx="1285790" cy="803821"/>
            <a:chOff x="2227296" y="2807183"/>
            <a:chExt cx="1285790" cy="803821"/>
          </a:xfrm>
        </p:grpSpPr>
        <p:cxnSp>
          <p:nvCxnSpPr>
            <p:cNvPr id="42" name="Curved Connector 41"/>
            <p:cNvCxnSpPr>
              <a:stCxn id="15" idx="2"/>
              <a:endCxn id="15" idx="1"/>
            </p:cNvCxnSpPr>
            <p:nvPr/>
          </p:nvCxnSpPr>
          <p:spPr bwMode="auto">
            <a:xfrm rot="10800000" flipH="1">
              <a:off x="3291634" y="3458252"/>
              <a:ext cx="221452" cy="152752"/>
            </a:xfrm>
            <a:prstGeom prst="curvedConnector4">
              <a:avLst>
                <a:gd name="adj1" fmla="val -103228"/>
                <a:gd name="adj2" fmla="val 291076"/>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1" name="Rectangle 7"/>
            <p:cNvSpPr txBox="1">
              <a:spLocks noChangeArrowheads="1"/>
            </p:cNvSpPr>
            <p:nvPr/>
          </p:nvSpPr>
          <p:spPr bwMode="auto">
            <a:xfrm>
              <a:off x="2227296" y="2807183"/>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Maintenance Testing</a:t>
              </a:r>
              <a:endParaRPr lang="en-US" sz="1100" kern="0" dirty="0">
                <a:solidFill>
                  <a:srgbClr val="FF0000"/>
                </a:solidFill>
              </a:endParaRPr>
            </a:p>
          </p:txBody>
        </p:sp>
      </p:grpSp>
      <p:grpSp>
        <p:nvGrpSpPr>
          <p:cNvPr id="30" name="Group 29"/>
          <p:cNvGrpSpPr/>
          <p:nvPr/>
        </p:nvGrpSpPr>
        <p:grpSpPr>
          <a:xfrm>
            <a:off x="6840252" y="5506529"/>
            <a:ext cx="1426777" cy="678273"/>
            <a:chOff x="6840252" y="5506529"/>
            <a:chExt cx="1426777" cy="678273"/>
          </a:xfrm>
        </p:grpSpPr>
        <p:sp>
          <p:nvSpPr>
            <p:cNvPr id="52" name="Rectangle 7"/>
            <p:cNvSpPr txBox="1">
              <a:spLocks noChangeArrowheads="1"/>
            </p:cNvSpPr>
            <p:nvPr/>
          </p:nvSpPr>
          <p:spPr bwMode="auto">
            <a:xfrm>
              <a:off x="7055215" y="5805264"/>
              <a:ext cx="1211814" cy="37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GB" sz="1200" kern="0" dirty="0">
                  <a:solidFill>
                    <a:srgbClr val="FF0000"/>
                  </a:solidFill>
                </a:rPr>
                <a:t>Application / Product Testing</a:t>
              </a:r>
              <a:endParaRPr lang="en-US" sz="1100" kern="0" dirty="0">
                <a:solidFill>
                  <a:srgbClr val="FF0000"/>
                </a:solidFill>
              </a:endParaRPr>
            </a:p>
          </p:txBody>
        </p:sp>
        <p:cxnSp>
          <p:nvCxnSpPr>
            <p:cNvPr id="54" name="Curved Connector 53"/>
            <p:cNvCxnSpPr>
              <a:stCxn id="12" idx="4"/>
              <a:endCxn id="12" idx="5"/>
            </p:cNvCxnSpPr>
            <p:nvPr/>
          </p:nvCxnSpPr>
          <p:spPr bwMode="auto">
            <a:xfrm rot="5400000" flipH="1" flipV="1">
              <a:off x="7075932" y="5270849"/>
              <a:ext cx="63272" cy="534632"/>
            </a:xfrm>
            <a:prstGeom prst="curvedConnector3">
              <a:avLst>
                <a:gd name="adj1" fmla="val -361297"/>
              </a:avLst>
            </a:prstGeom>
            <a:solidFill>
              <a:schemeClr val="accent1"/>
            </a:solidFill>
            <a:ln w="9525" cap="flat" cmpd="sng" algn="ctr">
              <a:solidFill>
                <a:srgbClr val="FF0000"/>
              </a:solidFill>
              <a:prstDash val="solid"/>
              <a:round/>
              <a:headEnd type="none"/>
              <a:tailEnd type="arrow"/>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grpSp>
      <p:sp>
        <p:nvSpPr>
          <p:cNvPr id="44" name="TextBox 43"/>
          <p:cNvSpPr txBox="1"/>
          <p:nvPr/>
        </p:nvSpPr>
        <p:spPr>
          <a:xfrm>
            <a:off x="4531251" y="1700808"/>
            <a:ext cx="2056973" cy="369332"/>
          </a:xfrm>
          <a:prstGeom prst="rect">
            <a:avLst/>
          </a:prstGeom>
          <a:noFill/>
        </p:spPr>
        <p:txBody>
          <a:bodyPr wrap="none" rtlCol="0">
            <a:spAutoFit/>
          </a:bodyPr>
          <a:lstStyle/>
          <a:p>
            <a:r>
              <a:rPr lang="en-US" sz="1800" u="sng" dirty="0">
                <a:solidFill>
                  <a:srgbClr val="000000"/>
                </a:solidFill>
              </a:rPr>
              <a:t>Software Lifecycle</a:t>
            </a:r>
            <a:endParaRPr lang="en-IE" sz="1800" u="sng" dirty="0">
              <a:solidFill>
                <a:srgbClr val="000000"/>
              </a:solidFill>
            </a:endParaRPr>
          </a:p>
        </p:txBody>
      </p:sp>
      <p:sp>
        <p:nvSpPr>
          <p:cNvPr id="47" name="TextBox 46"/>
          <p:cNvSpPr txBox="1"/>
          <p:nvPr/>
        </p:nvSpPr>
        <p:spPr>
          <a:xfrm>
            <a:off x="452939" y="5611306"/>
            <a:ext cx="2441695" cy="276999"/>
          </a:xfrm>
          <a:prstGeom prst="rect">
            <a:avLst/>
          </a:prstGeom>
          <a:noFill/>
        </p:spPr>
        <p:txBody>
          <a:bodyPr wrap="none" rtlCol="0">
            <a:spAutoFit/>
          </a:bodyPr>
          <a:lstStyle/>
          <a:p>
            <a:r>
              <a:rPr lang="en-US" sz="1200" dirty="0">
                <a:solidFill>
                  <a:srgbClr val="FF0000"/>
                </a:solidFill>
              </a:rPr>
              <a:t>Testing plans, including Test Plan</a:t>
            </a:r>
            <a:endParaRPr lang="en-IE" sz="1200" dirty="0">
              <a:solidFill>
                <a:srgbClr val="FF0000"/>
              </a:solidFill>
            </a:endParaRPr>
          </a:p>
        </p:txBody>
      </p:sp>
      <p:sp>
        <p:nvSpPr>
          <p:cNvPr id="50" name="TextBox 49"/>
          <p:cNvSpPr txBox="1"/>
          <p:nvPr/>
        </p:nvSpPr>
        <p:spPr>
          <a:xfrm>
            <a:off x="479790" y="5888305"/>
            <a:ext cx="1406732" cy="276999"/>
          </a:xfrm>
          <a:prstGeom prst="rect">
            <a:avLst/>
          </a:prstGeom>
          <a:noFill/>
        </p:spPr>
        <p:txBody>
          <a:bodyPr wrap="none" rtlCol="0">
            <a:spAutoFit/>
          </a:bodyPr>
          <a:lstStyle/>
          <a:p>
            <a:r>
              <a:rPr lang="en-US" sz="1200" dirty="0">
                <a:solidFill>
                  <a:srgbClr val="FF0000"/>
                </a:solidFill>
              </a:rPr>
              <a:t>Testing test cases</a:t>
            </a:r>
            <a:endParaRPr lang="en-IE" sz="1200" dirty="0">
              <a:solidFill>
                <a:srgbClr val="FF0000"/>
              </a:solidFill>
            </a:endParaRPr>
          </a:p>
        </p:txBody>
      </p:sp>
      <p:sp>
        <p:nvSpPr>
          <p:cNvPr id="53" name="TextBox 52"/>
          <p:cNvSpPr txBox="1"/>
          <p:nvPr/>
        </p:nvSpPr>
        <p:spPr>
          <a:xfrm>
            <a:off x="446362" y="6176337"/>
            <a:ext cx="3024161" cy="276999"/>
          </a:xfrm>
          <a:prstGeom prst="rect">
            <a:avLst/>
          </a:prstGeom>
          <a:noFill/>
        </p:spPr>
        <p:txBody>
          <a:bodyPr wrap="none" rtlCol="0">
            <a:spAutoFit/>
          </a:bodyPr>
          <a:lstStyle/>
          <a:p>
            <a:r>
              <a:rPr lang="en-US" sz="1200" dirty="0">
                <a:solidFill>
                  <a:srgbClr val="FF0000"/>
                </a:solidFill>
              </a:rPr>
              <a:t>Testing documentation, </a:t>
            </a:r>
            <a:r>
              <a:rPr lang="en-US" sz="1200" dirty="0" err="1">
                <a:solidFill>
                  <a:srgbClr val="FF0000"/>
                </a:solidFill>
              </a:rPr>
              <a:t>incl</a:t>
            </a:r>
            <a:r>
              <a:rPr lang="en-US" sz="1200" dirty="0">
                <a:solidFill>
                  <a:srgbClr val="FF0000"/>
                </a:solidFill>
              </a:rPr>
              <a:t> User Manuals</a:t>
            </a:r>
            <a:endParaRPr lang="en-IE" sz="1200" dirty="0">
              <a:solidFill>
                <a:srgbClr val="FF0000"/>
              </a:solidFill>
            </a:endParaRPr>
          </a:p>
        </p:txBody>
      </p:sp>
      <p:sp>
        <p:nvSpPr>
          <p:cNvPr id="55" name="TextBox 54"/>
          <p:cNvSpPr txBox="1"/>
          <p:nvPr/>
        </p:nvSpPr>
        <p:spPr>
          <a:xfrm>
            <a:off x="251520" y="5312081"/>
            <a:ext cx="1418978" cy="338554"/>
          </a:xfrm>
          <a:prstGeom prst="rect">
            <a:avLst/>
          </a:prstGeom>
          <a:noFill/>
        </p:spPr>
        <p:txBody>
          <a:bodyPr wrap="none" rtlCol="0">
            <a:spAutoFit/>
          </a:bodyPr>
          <a:lstStyle/>
          <a:p>
            <a:r>
              <a:rPr lang="en-US" dirty="0">
                <a:solidFill>
                  <a:srgbClr val="000000"/>
                </a:solidFill>
              </a:rPr>
              <a:t>Other testing:</a:t>
            </a:r>
            <a:endParaRPr lang="en-IE" dirty="0">
              <a:solidFill>
                <a:srgbClr val="000000"/>
              </a:solidFill>
            </a:endParaRPr>
          </a:p>
        </p:txBody>
      </p:sp>
      <p:sp>
        <p:nvSpPr>
          <p:cNvPr id="56" name="TextBox 55"/>
          <p:cNvSpPr txBox="1"/>
          <p:nvPr/>
        </p:nvSpPr>
        <p:spPr>
          <a:xfrm>
            <a:off x="255750" y="2110822"/>
            <a:ext cx="1127233" cy="338554"/>
          </a:xfrm>
          <a:prstGeom prst="rect">
            <a:avLst/>
          </a:prstGeom>
          <a:noFill/>
        </p:spPr>
        <p:txBody>
          <a:bodyPr wrap="none" rtlCol="0">
            <a:spAutoFit/>
          </a:bodyPr>
          <a:lstStyle/>
          <a:p>
            <a:r>
              <a:rPr lang="en-US" dirty="0">
                <a:solidFill>
                  <a:srgbClr val="00B050"/>
                </a:solidFill>
              </a:rPr>
              <a:t>Reviewing</a:t>
            </a:r>
            <a:endParaRPr lang="en-IE" dirty="0">
              <a:solidFill>
                <a:srgbClr val="00B050"/>
              </a:solidFill>
            </a:endParaRPr>
          </a:p>
        </p:txBody>
      </p:sp>
      <p:sp>
        <p:nvSpPr>
          <p:cNvPr id="57" name="TextBox 56"/>
          <p:cNvSpPr txBox="1"/>
          <p:nvPr/>
        </p:nvSpPr>
        <p:spPr>
          <a:xfrm>
            <a:off x="263766" y="2425544"/>
            <a:ext cx="1119217" cy="338554"/>
          </a:xfrm>
          <a:prstGeom prst="rect">
            <a:avLst/>
          </a:prstGeom>
          <a:noFill/>
        </p:spPr>
        <p:txBody>
          <a:bodyPr wrap="none" rtlCol="0">
            <a:spAutoFit/>
          </a:bodyPr>
          <a:lstStyle/>
          <a:p>
            <a:r>
              <a:rPr lang="en-US" dirty="0">
                <a:solidFill>
                  <a:srgbClr val="00B050"/>
                </a:solidFill>
              </a:rPr>
              <a:t>Inspecting</a:t>
            </a:r>
            <a:endParaRPr lang="en-IE" dirty="0">
              <a:solidFill>
                <a:srgbClr val="00B050"/>
              </a:solidFill>
            </a:endParaRPr>
          </a:p>
        </p:txBody>
      </p:sp>
      <p:sp>
        <p:nvSpPr>
          <p:cNvPr id="58" name="TextBox 57"/>
          <p:cNvSpPr txBox="1"/>
          <p:nvPr/>
        </p:nvSpPr>
        <p:spPr>
          <a:xfrm>
            <a:off x="35496" y="1754290"/>
            <a:ext cx="2481770" cy="338554"/>
          </a:xfrm>
          <a:prstGeom prst="rect">
            <a:avLst/>
          </a:prstGeom>
          <a:noFill/>
        </p:spPr>
        <p:txBody>
          <a:bodyPr wrap="none" rtlCol="0">
            <a:spAutoFit/>
          </a:bodyPr>
          <a:lstStyle/>
          <a:p>
            <a:r>
              <a:rPr lang="en-US" dirty="0">
                <a:solidFill>
                  <a:srgbClr val="000000"/>
                </a:solidFill>
              </a:rPr>
              <a:t>Mostly taking the form of:</a:t>
            </a:r>
            <a:endParaRPr lang="en-IE" dirty="0">
              <a:solidFill>
                <a:srgbClr val="000000"/>
              </a:solidFill>
            </a:endParaRPr>
          </a:p>
        </p:txBody>
      </p:sp>
    </p:spTree>
    <p:extLst>
      <p:ext uri="{BB962C8B-B14F-4D97-AF65-F5344CB8AC3E}">
        <p14:creationId xmlns:p14="http://schemas.microsoft.com/office/powerpoint/2010/main" val="427037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up)">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up)">
                                      <p:cBhvr>
                                        <p:cTn id="29" dur="5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right)">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right)">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wipe(right)">
                                      <p:cBhvr>
                                        <p:cTn id="48" dur="50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down)">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500"/>
                                        <p:tgtEl>
                                          <p:spTgt spid="4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7"/>
                                        </p:tgtEl>
                                        <p:attrNameLst>
                                          <p:attrName>style.visibility</p:attrName>
                                        </p:attrNameLst>
                                      </p:cBhvr>
                                      <p:to>
                                        <p:strVal val="visible"/>
                                      </p:to>
                                    </p:set>
                                    <p:animEffect transition="in" filter="fade">
                                      <p:cBhvr>
                                        <p:cTn id="101" dur="500"/>
                                        <p:tgtEl>
                                          <p:spTgt spid="4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5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fade">
                                      <p:cBhvr>
                                        <p:cTn id="107" dur="500"/>
                                        <p:tgtEl>
                                          <p:spTgt spid="5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fade">
                                      <p:cBhvr>
                                        <p:cTn id="110" dur="500"/>
                                        <p:tgtEl>
                                          <p:spTgt spid="5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8"/>
                                        </p:tgtEl>
                                        <p:attrNameLst>
                                          <p:attrName>style.visibility</p:attrName>
                                        </p:attrNameLst>
                                      </p:cBhvr>
                                      <p:to>
                                        <p:strVal val="visible"/>
                                      </p:to>
                                    </p:set>
                                    <p:animEffect transition="in" filter="fade">
                                      <p:cBhvr>
                                        <p:cTn id="113" dur="500"/>
                                        <p:tgtEl>
                                          <p:spTgt spid="58"/>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57"/>
                                        </p:tgtEl>
                                        <p:attrNameLst>
                                          <p:attrName>style.visibility</p:attrName>
                                        </p:attrNameLst>
                                      </p:cBhvr>
                                      <p:to>
                                        <p:strVal val="visible"/>
                                      </p:to>
                                    </p:set>
                                    <p:animEffect transition="in" filter="fade">
                                      <p:cBhvr>
                                        <p:cTn id="118" dur="500"/>
                                        <p:tgtEl>
                                          <p:spTgt spid="57"/>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6"/>
                                        </p:tgtEl>
                                        <p:attrNameLst>
                                          <p:attrName>style.visibility</p:attrName>
                                        </p:attrNameLst>
                                      </p:cBhvr>
                                      <p:to>
                                        <p:strVal val="visible"/>
                                      </p:to>
                                    </p:set>
                                    <p:animEffect transition="in" filter="fade">
                                      <p:cBhvr>
                                        <p:cTn id="121"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3" grpId="0" animBg="1"/>
      <p:bldP spid="14" grpId="0" animBg="1"/>
      <p:bldP spid="15" grpId="0" animBg="1"/>
      <p:bldP spid="47" grpId="0"/>
      <p:bldP spid="50" grpId="0"/>
      <p:bldP spid="53" grpId="0"/>
      <p:bldP spid="55" grpId="0"/>
      <p:bldP spid="56" grpId="0"/>
      <p:bldP spid="57" grpId="0"/>
      <p:bldP spid="5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66" name="Rectangle 6"/>
          <p:cNvSpPr>
            <a:spLocks noGrp="1" noChangeArrowheads="1"/>
          </p:cNvSpPr>
          <p:nvPr>
            <p:ph type="title"/>
          </p:nvPr>
        </p:nvSpPr>
        <p:spPr/>
        <p:txBody>
          <a:bodyPr/>
          <a:lstStyle/>
          <a:p>
            <a:r>
              <a:rPr lang="en-US" dirty="0"/>
              <a:t>Remember: Debugging and Testing</a:t>
            </a:r>
          </a:p>
        </p:txBody>
      </p:sp>
      <p:sp>
        <p:nvSpPr>
          <p:cNvPr id="2293767" name="Rectangle 7"/>
          <p:cNvSpPr>
            <a:spLocks noGrp="1" noChangeArrowheads="1"/>
          </p:cNvSpPr>
          <p:nvPr>
            <p:ph type="body" idx="1"/>
          </p:nvPr>
        </p:nvSpPr>
        <p:spPr/>
        <p:txBody>
          <a:bodyPr/>
          <a:lstStyle/>
          <a:p>
            <a:r>
              <a:rPr lang="en-US" sz="2400" dirty="0"/>
              <a:t>Debugging and testing are different</a:t>
            </a:r>
          </a:p>
          <a:p>
            <a:r>
              <a:rPr lang="en-US" sz="2400" dirty="0"/>
              <a:t>Testing can show failures that are caused by defects</a:t>
            </a:r>
          </a:p>
          <a:p>
            <a:r>
              <a:rPr lang="en-US" sz="2400" dirty="0"/>
              <a:t>Debugging is the programmer activity that identifies the cause of a defect, repairs the code and checks that the defect has been fixed correctly</a:t>
            </a:r>
          </a:p>
          <a:p>
            <a:r>
              <a:rPr lang="en-US" sz="2400" dirty="0"/>
              <a:t>Subsequent confirmation testing by a tester ensures that the fix does indeed resolve the failure</a:t>
            </a:r>
          </a:p>
          <a:p>
            <a:r>
              <a:rPr lang="en-US" sz="2400" dirty="0"/>
              <a:t>The responsibility for each activity is very different, i.e. </a:t>
            </a:r>
            <a:r>
              <a:rPr lang="en-US" sz="2400" dirty="0">
                <a:solidFill>
                  <a:srgbClr val="FF0000"/>
                </a:solidFill>
              </a:rPr>
              <a:t>testers test and developers debug</a:t>
            </a:r>
            <a:r>
              <a:rPr lang="en-US" sz="2400" dirty="0"/>
              <a:t>.</a:t>
            </a:r>
          </a:p>
        </p:txBody>
      </p:sp>
    </p:spTree>
    <p:extLst>
      <p:ext uri="{BB962C8B-B14F-4D97-AF65-F5344CB8AC3E}">
        <p14:creationId xmlns:p14="http://schemas.microsoft.com/office/powerpoint/2010/main" val="228291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937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937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937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937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937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6120" name="Rectangle 8"/>
          <p:cNvSpPr>
            <a:spLocks noGrp="1" noChangeArrowheads="1"/>
          </p:cNvSpPr>
          <p:nvPr>
            <p:ph type="title"/>
          </p:nvPr>
        </p:nvSpPr>
        <p:spPr/>
        <p:txBody>
          <a:bodyPr/>
          <a:lstStyle/>
          <a:p>
            <a:r>
              <a:rPr lang="en-US" dirty="0"/>
              <a:t>Fundamentals continued…</a:t>
            </a:r>
          </a:p>
        </p:txBody>
      </p:sp>
      <p:sp>
        <p:nvSpPr>
          <p:cNvPr id="4" name="Rectangle 9"/>
          <p:cNvSpPr txBox="1">
            <a:spLocks noChangeArrowheads="1"/>
          </p:cNvSpPr>
          <p:nvPr/>
        </p:nvSpPr>
        <p:spPr bwMode="auto">
          <a:xfrm>
            <a:off x="755576" y="1484784"/>
            <a:ext cx="7948612"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r>
              <a:rPr kumimoji="0" lang="en-US" sz="2400" b="0" i="0" u="none" strike="noStrike" kern="0" cap="none" spc="0" normalizeH="0" baseline="0" noProof="0" dirty="0">
                <a:ln>
                  <a:noFill/>
                </a:ln>
                <a:solidFill>
                  <a:srgbClr val="00279F"/>
                </a:solidFill>
                <a:effectLst/>
                <a:uLnTx/>
                <a:uFillTx/>
                <a:latin typeface="Arial"/>
                <a:ea typeface="ＭＳ Ｐゴシック"/>
                <a:cs typeface="+mn-cs"/>
              </a:rPr>
              <a:t>End</a:t>
            </a:r>
            <a:r>
              <a:rPr kumimoji="0" lang="en-US" sz="2400" b="0" i="0" u="none" strike="noStrike" kern="0" cap="none" spc="0" normalizeH="0" noProof="0" dirty="0">
                <a:ln>
                  <a:noFill/>
                </a:ln>
                <a:solidFill>
                  <a:srgbClr val="00279F"/>
                </a:solidFill>
                <a:effectLst/>
                <a:uLnTx/>
                <a:uFillTx/>
                <a:latin typeface="Arial"/>
                <a:ea typeface="ＭＳ Ｐゴシック"/>
                <a:cs typeface="+mn-cs"/>
              </a:rPr>
              <a:t> of Week 2 Materials</a:t>
            </a:r>
            <a:endParaRPr kumimoji="0" lang="en-US" sz="2400" b="0" i="0" u="none" strike="noStrike" kern="120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a:p>
            <a:pPr marL="342900" marR="0" lvl="0" indent="-342900" algn="l" defTabSz="914400" rtl="0" eaLnBrk="1" fontAlgn="base" latinLnBrk="0" hangingPunct="1">
              <a:lnSpc>
                <a:spcPct val="100000"/>
              </a:lnSpc>
              <a:spcBef>
                <a:spcPct val="20000"/>
              </a:spcBef>
              <a:spcAft>
                <a:spcPct val="0"/>
              </a:spcAft>
              <a:buClr>
                <a:srgbClr val="0000FF"/>
              </a:buClr>
              <a:buSzTx/>
              <a:buFont typeface="Arial" panose="020B0604020202020204" pitchFamily="34" charset="0"/>
              <a:buChar char="•"/>
              <a:tabLst/>
              <a:defRPr/>
            </a:pPr>
            <a:endParaRPr kumimoji="0" lang="en-US" sz="2400" b="0" i="0" u="none" strike="noStrike" kern="0" cap="none" spc="0" normalizeH="0" baseline="0" noProof="0" dirty="0">
              <a:ln>
                <a:noFill/>
              </a:ln>
              <a:solidFill>
                <a:srgbClr val="00279F"/>
              </a:solidFill>
              <a:effectLst/>
              <a:uLnTx/>
              <a:uFillTx/>
              <a:latin typeface="Arial"/>
              <a:ea typeface="ＭＳ Ｐゴシック"/>
              <a:cs typeface="+mn-cs"/>
            </a:endParaRPr>
          </a:p>
        </p:txBody>
      </p:sp>
    </p:spTree>
    <p:extLst>
      <p:ext uri="{BB962C8B-B14F-4D97-AF65-F5344CB8AC3E}">
        <p14:creationId xmlns:p14="http://schemas.microsoft.com/office/powerpoint/2010/main" val="3511671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EvolutifStandard">
  <a:themeElements>
    <a:clrScheme name="">
      <a:dk1>
        <a:srgbClr val="00279F"/>
      </a:dk1>
      <a:lt1>
        <a:srgbClr val="FFFFFF"/>
      </a:lt1>
      <a:dk2>
        <a:srgbClr val="0000FF"/>
      </a:dk2>
      <a:lt2>
        <a:srgbClr val="FFFF00"/>
      </a:lt2>
      <a:accent1>
        <a:srgbClr val="F57B49"/>
      </a:accent1>
      <a:accent2>
        <a:srgbClr val="FF00FF"/>
      </a:accent2>
      <a:accent3>
        <a:srgbClr val="AAAAFF"/>
      </a:accent3>
      <a:accent4>
        <a:srgbClr val="DADADA"/>
      </a:accent4>
      <a:accent5>
        <a:srgbClr val="F9BFB1"/>
      </a:accent5>
      <a:accent6>
        <a:srgbClr val="E700E7"/>
      </a:accent6>
      <a:hlink>
        <a:srgbClr val="FF0000"/>
      </a:hlink>
      <a:folHlink>
        <a:srgbClr val="919191"/>
      </a:folHlink>
    </a:clrScheme>
    <a:fontScheme name="EvolutifStandard">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EvolutifStandar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volutif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volutifStandar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volutifStandar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volutifStandar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volutifStandar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volutifStandar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EvolutifStandard</Template>
  <TotalTime>0</TotalTime>
  <Words>4031</Words>
  <Application>Microsoft Office PowerPoint</Application>
  <PresentationFormat>On-screen Show (4:3)</PresentationFormat>
  <Paragraphs>397</Paragraphs>
  <Slides>60</Slides>
  <Notes>57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Arial</vt:lpstr>
      <vt:lpstr>Gill Sans</vt:lpstr>
      <vt:lpstr>Kristen ITC</vt:lpstr>
      <vt:lpstr>Monotype Sorts</vt:lpstr>
      <vt:lpstr>Times New Roman</vt:lpstr>
      <vt:lpstr>Verdana</vt:lpstr>
      <vt:lpstr>EvolutifStandard</vt:lpstr>
      <vt:lpstr>Fundamentals of Testing</vt:lpstr>
      <vt:lpstr>What is the scope of software testing?</vt:lpstr>
      <vt:lpstr>How does testing fit in?</vt:lpstr>
      <vt:lpstr>How does testing fit in?</vt:lpstr>
      <vt:lpstr>Why is testing necessary?</vt:lpstr>
      <vt:lpstr>Why testing is important?</vt:lpstr>
      <vt:lpstr>Certain test activities are one of the final activities.</vt:lpstr>
      <vt:lpstr>Software is a Skin that Surrounds Our Civilization</vt:lpstr>
      <vt:lpstr>Trivia Quiz: Lines of code</vt:lpstr>
      <vt:lpstr>Think about what is really inside a car</vt:lpstr>
      <vt:lpstr>Failures in Production Software</vt:lpstr>
      <vt:lpstr>Types of failure</vt:lpstr>
      <vt:lpstr>Why Does Testing Matter?</vt:lpstr>
      <vt:lpstr>Smaller scale – defects not publicised</vt:lpstr>
      <vt:lpstr>Causes of software defects</vt:lpstr>
      <vt:lpstr>Errors, defects and failures</vt:lpstr>
      <vt:lpstr>A failure is…</vt:lpstr>
      <vt:lpstr>Terminology…</vt:lpstr>
      <vt:lpstr>A defect is…</vt:lpstr>
      <vt:lpstr>Terminology…</vt:lpstr>
      <vt:lpstr>An error is…</vt:lpstr>
      <vt:lpstr>Fundamentals continued…</vt:lpstr>
      <vt:lpstr>How complex is software development?</vt:lpstr>
      <vt:lpstr>Role of testing in development, maintenance and operations</vt:lpstr>
      <vt:lpstr>Testing and confidence</vt:lpstr>
      <vt:lpstr>Testing and contractual requirements</vt:lpstr>
      <vt:lpstr>Testing and other requirements</vt:lpstr>
      <vt:lpstr>Testing and quality</vt:lpstr>
      <vt:lpstr>Fundamentals continued…</vt:lpstr>
      <vt:lpstr>How much testing is enough?</vt:lpstr>
      <vt:lpstr>How much testing is enough?</vt:lpstr>
      <vt:lpstr>Complete Testing is not practically feasible (1)</vt:lpstr>
      <vt:lpstr>Complete Testing is not practically feasible (2)</vt:lpstr>
      <vt:lpstr>The bugs that lurk in our systems</vt:lpstr>
      <vt:lpstr>Fundamentals continued…</vt:lpstr>
      <vt:lpstr>Where are the bugs?</vt:lpstr>
      <vt:lpstr>Testing as a fishing net</vt:lpstr>
      <vt:lpstr>Coverage of business-oriented tests</vt:lpstr>
      <vt:lpstr>Rigorous tests of the riskiest parts of the system</vt:lpstr>
      <vt:lpstr>More tests of the business critical parts of the system</vt:lpstr>
      <vt:lpstr>What about the bugs we don’t find?</vt:lpstr>
      <vt:lpstr>What about the bugs we don’t find?</vt:lpstr>
      <vt:lpstr>Fundamentals continued…</vt:lpstr>
      <vt:lpstr>What is testing?</vt:lpstr>
      <vt:lpstr>What is testing?</vt:lpstr>
      <vt:lpstr>Testing isn't just running tests</vt:lpstr>
      <vt:lpstr>Test Objectives</vt:lpstr>
      <vt:lpstr>Fundamentals continued…</vt:lpstr>
      <vt:lpstr>Static and Dynamic Testing</vt:lpstr>
      <vt:lpstr>Dynamic and Static Testing</vt:lpstr>
      <vt:lpstr>Static testing in the lifecycle</vt:lpstr>
      <vt:lpstr>Dynamic testing in the lifecycle</vt:lpstr>
      <vt:lpstr>Early test case preparation</vt:lpstr>
      <vt:lpstr>Fundamentals continued…</vt:lpstr>
      <vt:lpstr>Types of Testing</vt:lpstr>
      <vt:lpstr>Types of Dynamic Testing</vt:lpstr>
      <vt:lpstr>Each Type Of Testing</vt:lpstr>
      <vt:lpstr>Types of Static Testing</vt:lpstr>
      <vt:lpstr>Remember: Debugging and Testing</vt:lpstr>
      <vt:lpstr>Fundamentals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2016-09-19T14:46:57Z</dcterms:created>
  <dcterms:modified xsi:type="dcterms:W3CDTF">2025-01-14T11:45:41Z</dcterms:modified>
</cp:coreProperties>
</file>