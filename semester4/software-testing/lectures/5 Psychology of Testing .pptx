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9" r:id="rId1"/>
  </p:sldMasterIdLst>
  <p:notesMasterIdLst>
    <p:notesMasterId r:id="rId12"/>
  </p:notesMasterIdLst>
  <p:handoutMasterIdLst>
    <p:handoutMasterId r:id="rId13"/>
  </p:handoutMasterIdLst>
  <p:sldIdLst>
    <p:sldId id="715" r:id="rId2"/>
    <p:sldId id="754" r:id="rId3"/>
    <p:sldId id="755" r:id="rId4"/>
    <p:sldId id="724" r:id="rId5"/>
    <p:sldId id="721" r:id="rId6"/>
    <p:sldId id="722" r:id="rId7"/>
    <p:sldId id="716" r:id="rId8"/>
    <p:sldId id="756" r:id="rId9"/>
    <p:sldId id="757" r:id="rId10"/>
    <p:sldId id="759" r:id="rId11"/>
  </p:sldIdLst>
  <p:sldSz cx="9144000" cy="6858000" type="screen4x3"/>
  <p:notesSz cx="7315200" cy="9601200"/>
  <p:defaultTextStyle>
    <a:defPPr>
      <a:defRPr lang="en-US"/>
    </a:defPPr>
    <a:lvl1pPr algn="r" rtl="0" fontAlgn="base">
      <a:spcBef>
        <a:spcPct val="0"/>
      </a:spcBef>
      <a:spcAft>
        <a:spcPct val="0"/>
      </a:spcAft>
      <a:defRPr sz="1600" kern="1200">
        <a:solidFill>
          <a:schemeClr val="tx1"/>
        </a:solidFill>
        <a:latin typeface="Arial" charset="0"/>
        <a:ea typeface="ＭＳ Ｐゴシック" charset="0"/>
        <a:cs typeface="+mn-cs"/>
      </a:defRPr>
    </a:lvl1pPr>
    <a:lvl2pPr marL="457200" algn="r" rtl="0" fontAlgn="base">
      <a:spcBef>
        <a:spcPct val="0"/>
      </a:spcBef>
      <a:spcAft>
        <a:spcPct val="0"/>
      </a:spcAft>
      <a:defRPr sz="1600" kern="1200">
        <a:solidFill>
          <a:schemeClr val="tx1"/>
        </a:solidFill>
        <a:latin typeface="Arial" charset="0"/>
        <a:ea typeface="ＭＳ Ｐゴシック" charset="0"/>
        <a:cs typeface="+mn-cs"/>
      </a:defRPr>
    </a:lvl2pPr>
    <a:lvl3pPr marL="914400" algn="r" rtl="0" fontAlgn="base">
      <a:spcBef>
        <a:spcPct val="0"/>
      </a:spcBef>
      <a:spcAft>
        <a:spcPct val="0"/>
      </a:spcAft>
      <a:defRPr sz="1600" kern="1200">
        <a:solidFill>
          <a:schemeClr val="tx1"/>
        </a:solidFill>
        <a:latin typeface="Arial" charset="0"/>
        <a:ea typeface="ＭＳ Ｐゴシック" charset="0"/>
        <a:cs typeface="+mn-cs"/>
      </a:defRPr>
    </a:lvl3pPr>
    <a:lvl4pPr marL="1371600" algn="r" rtl="0" fontAlgn="base">
      <a:spcBef>
        <a:spcPct val="0"/>
      </a:spcBef>
      <a:spcAft>
        <a:spcPct val="0"/>
      </a:spcAft>
      <a:defRPr sz="1600" kern="1200">
        <a:solidFill>
          <a:schemeClr val="tx1"/>
        </a:solidFill>
        <a:latin typeface="Arial" charset="0"/>
        <a:ea typeface="ＭＳ Ｐゴシック" charset="0"/>
        <a:cs typeface="+mn-cs"/>
      </a:defRPr>
    </a:lvl4pPr>
    <a:lvl5pPr marL="1828800" algn="r" rtl="0" fontAlgn="base">
      <a:spcBef>
        <a:spcPct val="0"/>
      </a:spcBef>
      <a:spcAft>
        <a:spcPct val="0"/>
      </a:spcAft>
      <a:defRPr sz="1600" kern="1200">
        <a:solidFill>
          <a:schemeClr val="tx1"/>
        </a:solidFill>
        <a:latin typeface="Arial" charset="0"/>
        <a:ea typeface="ＭＳ Ｐゴシック" charset="0"/>
        <a:cs typeface="+mn-cs"/>
      </a:defRPr>
    </a:lvl5pPr>
    <a:lvl6pPr marL="2286000" algn="l" defTabSz="457200" rtl="0" eaLnBrk="1" latinLnBrk="0" hangingPunct="1">
      <a:defRPr sz="1600" kern="1200">
        <a:solidFill>
          <a:schemeClr val="tx1"/>
        </a:solidFill>
        <a:latin typeface="Arial" charset="0"/>
        <a:ea typeface="ＭＳ Ｐゴシック" charset="0"/>
        <a:cs typeface="+mn-cs"/>
      </a:defRPr>
    </a:lvl6pPr>
    <a:lvl7pPr marL="2743200" algn="l" defTabSz="457200" rtl="0" eaLnBrk="1" latinLnBrk="0" hangingPunct="1">
      <a:defRPr sz="1600" kern="1200">
        <a:solidFill>
          <a:schemeClr val="tx1"/>
        </a:solidFill>
        <a:latin typeface="Arial" charset="0"/>
        <a:ea typeface="ＭＳ Ｐゴシック" charset="0"/>
        <a:cs typeface="+mn-cs"/>
      </a:defRPr>
    </a:lvl7pPr>
    <a:lvl8pPr marL="3200400" algn="l" defTabSz="457200" rtl="0" eaLnBrk="1" latinLnBrk="0" hangingPunct="1">
      <a:defRPr sz="1600" kern="1200">
        <a:solidFill>
          <a:schemeClr val="tx1"/>
        </a:solidFill>
        <a:latin typeface="Arial" charset="0"/>
        <a:ea typeface="ＭＳ Ｐゴシック" charset="0"/>
        <a:cs typeface="+mn-cs"/>
      </a:defRPr>
    </a:lvl8pPr>
    <a:lvl9pPr marL="3657600" algn="l" defTabSz="457200" rtl="0" eaLnBrk="1" latinLnBrk="0" hangingPunct="1">
      <a:defRPr sz="1600" kern="1200">
        <a:solidFill>
          <a:schemeClr val="tx1"/>
        </a:solidFill>
        <a:latin typeface="Arial" charset="0"/>
        <a:ea typeface="ＭＳ Ｐゴシック"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5"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84" autoAdjust="0"/>
    <p:restoredTop sz="94660"/>
  </p:normalViewPr>
  <p:slideViewPr>
    <p:cSldViewPr>
      <p:cViewPr varScale="1">
        <p:scale>
          <a:sx n="69" d="100"/>
          <a:sy n="69" d="100"/>
        </p:scale>
        <p:origin x="1638" y="72"/>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984"/>
    </p:cViewPr>
  </p:sorterViewPr>
  <p:notesViewPr>
    <p:cSldViewPr>
      <p:cViewPr varScale="1">
        <p:scale>
          <a:sx n="88" d="100"/>
          <a:sy n="88" d="100"/>
        </p:scale>
        <p:origin x="2682" y="96"/>
      </p:cViewPr>
      <p:guideLst>
        <p:guide orient="horz" pos="3025"/>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2098" name="Rectangle 2"/>
          <p:cNvSpPr>
            <a:spLocks noGrp="1" noChangeArrowheads="1"/>
          </p:cNvSpPr>
          <p:nvPr>
            <p:ph type="hdr" sz="quarter"/>
          </p:nvPr>
        </p:nvSpPr>
        <p:spPr bwMode="auto">
          <a:xfrm>
            <a:off x="1" y="1"/>
            <a:ext cx="3169578" cy="480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531" tIns="45766" rIns="91531" bIns="45766" numCol="1" anchor="t" anchorCtr="0" compatLnSpc="1">
            <a:prstTxWarp prst="textNoShape">
              <a:avLst/>
            </a:prstTxWarp>
          </a:bodyPr>
          <a:lstStyle>
            <a:lvl1pPr algn="l">
              <a:defRPr sz="1200">
                <a:latin typeface="Gill Sans" charset="0"/>
              </a:defRPr>
            </a:lvl1pPr>
          </a:lstStyle>
          <a:p>
            <a:endParaRPr lang="en-GB" dirty="0"/>
          </a:p>
        </p:txBody>
      </p:sp>
      <p:sp>
        <p:nvSpPr>
          <p:cNvPr id="1412099" name="Rectangle 3"/>
          <p:cNvSpPr>
            <a:spLocks noGrp="1" noChangeArrowheads="1"/>
          </p:cNvSpPr>
          <p:nvPr>
            <p:ph type="dt" sz="quarter" idx="1"/>
          </p:nvPr>
        </p:nvSpPr>
        <p:spPr bwMode="auto">
          <a:xfrm>
            <a:off x="4143912" y="1"/>
            <a:ext cx="3169578" cy="480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531" tIns="45766" rIns="91531" bIns="45766" numCol="1" anchor="t" anchorCtr="0" compatLnSpc="1">
            <a:prstTxWarp prst="textNoShape">
              <a:avLst/>
            </a:prstTxWarp>
          </a:bodyPr>
          <a:lstStyle>
            <a:lvl1pPr>
              <a:defRPr sz="1200">
                <a:latin typeface="Gill Sans" charset="0"/>
              </a:defRPr>
            </a:lvl1pPr>
          </a:lstStyle>
          <a:p>
            <a:endParaRPr lang="en-GB"/>
          </a:p>
        </p:txBody>
      </p:sp>
      <p:sp>
        <p:nvSpPr>
          <p:cNvPr id="1412100" name="Rectangle 4"/>
          <p:cNvSpPr>
            <a:spLocks noGrp="1" noChangeArrowheads="1"/>
          </p:cNvSpPr>
          <p:nvPr>
            <p:ph type="ftr" sz="quarter" idx="2"/>
          </p:nvPr>
        </p:nvSpPr>
        <p:spPr bwMode="auto">
          <a:xfrm>
            <a:off x="1" y="9119068"/>
            <a:ext cx="3169578" cy="480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531" tIns="45766" rIns="91531" bIns="45766" numCol="1" anchor="b" anchorCtr="0" compatLnSpc="1">
            <a:prstTxWarp prst="textNoShape">
              <a:avLst/>
            </a:prstTxWarp>
          </a:bodyPr>
          <a:lstStyle>
            <a:lvl1pPr algn="l">
              <a:defRPr sz="1200">
                <a:latin typeface="Gill Sans" charset="0"/>
              </a:defRPr>
            </a:lvl1pPr>
          </a:lstStyle>
          <a:p>
            <a:endParaRPr lang="en-GB" dirty="0"/>
          </a:p>
        </p:txBody>
      </p:sp>
      <p:sp>
        <p:nvSpPr>
          <p:cNvPr id="1412101" name="Rectangle 5"/>
          <p:cNvSpPr>
            <a:spLocks noGrp="1" noChangeArrowheads="1"/>
          </p:cNvSpPr>
          <p:nvPr>
            <p:ph type="sldNum" sz="quarter" idx="3"/>
          </p:nvPr>
        </p:nvSpPr>
        <p:spPr bwMode="auto">
          <a:xfrm>
            <a:off x="4143912" y="9119068"/>
            <a:ext cx="3169578" cy="480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531" tIns="45766" rIns="91531" bIns="45766" numCol="1" anchor="b" anchorCtr="0" compatLnSpc="1">
            <a:prstTxWarp prst="textNoShape">
              <a:avLst/>
            </a:prstTxWarp>
          </a:bodyPr>
          <a:lstStyle>
            <a:lvl1pPr>
              <a:defRPr sz="1200">
                <a:latin typeface="Gill Sans" charset="0"/>
              </a:defRPr>
            </a:lvl1pPr>
          </a:lstStyle>
          <a:p>
            <a:r>
              <a:rPr lang="en-GB"/>
              <a:t>Page </a:t>
            </a:r>
            <a:fld id="{EA5D38E3-B9B2-4441-826C-C6BD30AADF56}" type="slidenum">
              <a:rPr lang="en-GB"/>
              <a:pPr/>
              <a:t>‹#›</a:t>
            </a:fld>
            <a:endParaRPr lang="en-GB"/>
          </a:p>
        </p:txBody>
      </p:sp>
    </p:spTree>
    <p:extLst>
      <p:ext uri="{BB962C8B-B14F-4D97-AF65-F5344CB8AC3E}">
        <p14:creationId xmlns:p14="http://schemas.microsoft.com/office/powerpoint/2010/main" val="428023481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3122" name="Rectangle 2"/>
          <p:cNvSpPr>
            <a:spLocks noGrp="1" noChangeArrowheads="1"/>
          </p:cNvSpPr>
          <p:nvPr>
            <p:ph type="hdr" sz="quarter"/>
          </p:nvPr>
        </p:nvSpPr>
        <p:spPr bwMode="auto">
          <a:xfrm>
            <a:off x="1" y="1"/>
            <a:ext cx="3169578" cy="480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531" tIns="45766" rIns="91531" bIns="45766" numCol="1" anchor="t" anchorCtr="0" compatLnSpc="1">
            <a:prstTxWarp prst="textNoShape">
              <a:avLst/>
            </a:prstTxWarp>
          </a:bodyPr>
          <a:lstStyle>
            <a:lvl1pPr algn="l">
              <a:defRPr sz="1200"/>
            </a:lvl1pPr>
          </a:lstStyle>
          <a:p>
            <a:endParaRPr lang="en-GB" dirty="0"/>
          </a:p>
        </p:txBody>
      </p:sp>
      <p:sp>
        <p:nvSpPr>
          <p:cNvPr id="1413123" name="Rectangle 3"/>
          <p:cNvSpPr>
            <a:spLocks noGrp="1" noChangeArrowheads="1"/>
          </p:cNvSpPr>
          <p:nvPr>
            <p:ph type="dt" idx="1"/>
          </p:nvPr>
        </p:nvSpPr>
        <p:spPr bwMode="auto">
          <a:xfrm>
            <a:off x="4143912" y="1"/>
            <a:ext cx="3169578" cy="480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531" tIns="45766" rIns="91531" bIns="45766" numCol="1" anchor="t" anchorCtr="0" compatLnSpc="1">
            <a:prstTxWarp prst="textNoShape">
              <a:avLst/>
            </a:prstTxWarp>
          </a:bodyPr>
          <a:lstStyle>
            <a:lvl1pPr>
              <a:defRPr sz="1200"/>
            </a:lvl1pPr>
          </a:lstStyle>
          <a:p>
            <a:endParaRPr lang="en-GB"/>
          </a:p>
        </p:txBody>
      </p:sp>
      <p:sp>
        <p:nvSpPr>
          <p:cNvPr id="1413124" name="Rectangle 4"/>
          <p:cNvSpPr>
            <a:spLocks noGrp="1" noRot="1" noChangeAspect="1" noChangeArrowheads="1" noTextEdit="1"/>
          </p:cNvSpPr>
          <p:nvPr>
            <p:ph type="sldImg" idx="2"/>
          </p:nvPr>
        </p:nvSpPr>
        <p:spPr bwMode="auto">
          <a:xfrm>
            <a:off x="1258888" y="720725"/>
            <a:ext cx="4799012" cy="3598863"/>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
        <p:nvSpPr>
          <p:cNvPr id="1413125" name="Rectangle 5"/>
          <p:cNvSpPr>
            <a:spLocks noGrp="1" noChangeArrowheads="1"/>
          </p:cNvSpPr>
          <p:nvPr>
            <p:ph type="body" sz="quarter" idx="3"/>
          </p:nvPr>
        </p:nvSpPr>
        <p:spPr bwMode="auto">
          <a:xfrm>
            <a:off x="731180" y="4560302"/>
            <a:ext cx="5852844" cy="4320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531" tIns="45766" rIns="91531" bIns="45766"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13126" name="Rectangle 6"/>
          <p:cNvSpPr>
            <a:spLocks noGrp="1" noChangeArrowheads="1"/>
          </p:cNvSpPr>
          <p:nvPr>
            <p:ph type="ftr" sz="quarter" idx="4"/>
          </p:nvPr>
        </p:nvSpPr>
        <p:spPr bwMode="auto">
          <a:xfrm>
            <a:off x="1" y="9119068"/>
            <a:ext cx="3169578" cy="480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531" tIns="45766" rIns="91531" bIns="45766" numCol="1" anchor="b" anchorCtr="0" compatLnSpc="1">
            <a:prstTxWarp prst="textNoShape">
              <a:avLst/>
            </a:prstTxWarp>
          </a:bodyPr>
          <a:lstStyle>
            <a:lvl1pPr algn="l">
              <a:defRPr sz="1200"/>
            </a:lvl1pPr>
          </a:lstStyle>
          <a:p>
            <a:endParaRPr lang="en-GB" dirty="0"/>
          </a:p>
        </p:txBody>
      </p:sp>
      <p:sp>
        <p:nvSpPr>
          <p:cNvPr id="1413127" name="Rectangle 7"/>
          <p:cNvSpPr>
            <a:spLocks noGrp="1" noChangeArrowheads="1"/>
          </p:cNvSpPr>
          <p:nvPr>
            <p:ph type="sldNum" sz="quarter" idx="5"/>
          </p:nvPr>
        </p:nvSpPr>
        <p:spPr bwMode="auto">
          <a:xfrm>
            <a:off x="4143912" y="9119068"/>
            <a:ext cx="3169578" cy="480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531" tIns="45766" rIns="91531" bIns="45766" numCol="1" anchor="b" anchorCtr="0" compatLnSpc="1">
            <a:prstTxWarp prst="textNoShape">
              <a:avLst/>
            </a:prstTxWarp>
          </a:bodyPr>
          <a:lstStyle>
            <a:lvl1pPr>
              <a:defRPr sz="1200"/>
            </a:lvl1pPr>
          </a:lstStyle>
          <a:p>
            <a:fld id="{2D1B6875-EB0E-AC4C-95B7-0367583F6CD8}" type="slidenum">
              <a:rPr lang="en-GB"/>
              <a:pPr/>
              <a:t>‹#›</a:t>
            </a:fld>
            <a:endParaRPr lang="en-GB"/>
          </a:p>
        </p:txBody>
      </p:sp>
    </p:spTree>
    <p:extLst>
      <p:ext uri="{BB962C8B-B14F-4D97-AF65-F5344CB8AC3E}">
        <p14:creationId xmlns:p14="http://schemas.microsoft.com/office/powerpoint/2010/main" val="439751571"/>
      </p:ext>
    </p:extLst>
  </p:cSld>
  <p:clrMap bg1="lt1" tx1="dk1" bg2="lt2" tx2="dk2" accent1="accent1" accent2="accent2" accent3="accent3" accent4="accent4" accent5="accent5" accent6="accent6" hlink="hlink" folHlink="folHlink"/>
  <p:hf sldNum="0"/>
  <p:notesStyle>
    <a:lvl1pPr algn="l" rtl="0" fontAlgn="base">
      <a:spcBef>
        <a:spcPct val="30000"/>
      </a:spcBef>
      <a:spcAft>
        <a:spcPct val="0"/>
      </a:spcAft>
      <a:defRPr sz="1200" kern="1200">
        <a:solidFill>
          <a:schemeClr val="tx1"/>
        </a:solidFill>
        <a:latin typeface="Arial" charset="0"/>
        <a:ea typeface="ＭＳ Ｐゴシック" charset="0"/>
        <a:cs typeface="+mn-cs"/>
      </a:defRPr>
    </a:lvl1pPr>
    <a:lvl2pPr marL="457200" algn="l" rtl="0" fontAlgn="base">
      <a:spcBef>
        <a:spcPct val="30000"/>
      </a:spcBef>
      <a:spcAft>
        <a:spcPct val="0"/>
      </a:spcAft>
      <a:defRPr sz="1200" kern="1200">
        <a:solidFill>
          <a:schemeClr val="tx1"/>
        </a:solidFill>
        <a:latin typeface="Arial" charset="0"/>
        <a:ea typeface="ＭＳ Ｐゴシック" charset="0"/>
        <a:cs typeface="+mn-cs"/>
      </a:defRPr>
    </a:lvl2pPr>
    <a:lvl3pPr marL="914400" algn="l" rtl="0" fontAlgn="base">
      <a:spcBef>
        <a:spcPct val="30000"/>
      </a:spcBef>
      <a:spcAft>
        <a:spcPct val="0"/>
      </a:spcAft>
      <a:defRPr sz="1200" kern="1200">
        <a:solidFill>
          <a:schemeClr val="tx1"/>
        </a:solidFill>
        <a:latin typeface="Arial" charset="0"/>
        <a:ea typeface="ＭＳ Ｐゴシック" charset="0"/>
        <a:cs typeface="+mn-cs"/>
      </a:defRPr>
    </a:lvl3pPr>
    <a:lvl4pPr marL="1371600" algn="l" rtl="0" fontAlgn="base">
      <a:spcBef>
        <a:spcPct val="30000"/>
      </a:spcBef>
      <a:spcAft>
        <a:spcPct val="0"/>
      </a:spcAft>
      <a:defRPr sz="1200" kern="1200">
        <a:solidFill>
          <a:schemeClr val="tx1"/>
        </a:solidFill>
        <a:latin typeface="Arial" charset="0"/>
        <a:ea typeface="ＭＳ Ｐゴシック" charset="0"/>
        <a:cs typeface="+mn-cs"/>
      </a:defRPr>
    </a:lvl4pPr>
    <a:lvl5pPr marL="1828800" algn="l" rtl="0" fontAlgn="base">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endParaRPr lang="en-GB" dirty="0"/>
          </a:p>
        </p:txBody>
      </p:sp>
      <p:sp>
        <p:nvSpPr>
          <p:cNvPr id="5" name="Rectangle 3"/>
          <p:cNvSpPr>
            <a:spLocks noGrp="1" noChangeArrowheads="1"/>
          </p:cNvSpPr>
          <p:nvPr>
            <p:ph type="dt" idx="1"/>
          </p:nvPr>
        </p:nvSpPr>
        <p:spPr>
          <a:ln/>
        </p:spPr>
        <p:txBody>
          <a:bodyPr/>
          <a:lstStyle/>
          <a:p>
            <a:endParaRPr lang="en-GB"/>
          </a:p>
        </p:txBody>
      </p:sp>
      <p:sp>
        <p:nvSpPr>
          <p:cNvPr id="6" name="Rectangle 6"/>
          <p:cNvSpPr>
            <a:spLocks noGrp="1" noChangeArrowheads="1"/>
          </p:cNvSpPr>
          <p:nvPr>
            <p:ph type="ftr" sz="quarter" idx="4"/>
          </p:nvPr>
        </p:nvSpPr>
        <p:spPr>
          <a:ln/>
        </p:spPr>
        <p:txBody>
          <a:bodyPr/>
          <a:lstStyle/>
          <a:p>
            <a:endParaRPr lang="en-GB" dirty="0"/>
          </a:p>
        </p:txBody>
      </p:sp>
      <p:sp>
        <p:nvSpPr>
          <p:cNvPr id="32491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49155"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3158653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Rot="1" noChangeAspect="1" noChangeArrowheads="1" noTextEdit="1"/>
          </p:cNvSpPr>
          <p:nvPr>
            <p:ph type="sldImg"/>
          </p:nvPr>
        </p:nvSpPr>
        <p:spPr>
          <a:ln/>
        </p:spPr>
      </p:sp>
      <p:sp>
        <p:nvSpPr>
          <p:cNvPr id="300035" name="Rectangle 3"/>
          <p:cNvSpPr>
            <a:spLocks noGrp="1" noChangeArrowheads="1"/>
          </p:cNvSpPr>
          <p:nvPr>
            <p:ph type="body" idx="1"/>
          </p:nvPr>
        </p:nvSpPr>
        <p:spPr bwMode="auto">
          <a:xfrm>
            <a:off x="974490" y="4562284"/>
            <a:ext cx="5366224" cy="4318007"/>
          </a:xfrm>
          <a:prstGeom prst="rect">
            <a:avLst/>
          </a:prstGeom>
          <a:solidFill>
            <a:srgbClr val="FFFFFF"/>
          </a:solidFill>
          <a:ln>
            <a:solidFill>
              <a:srgbClr val="000000"/>
            </a:solidFill>
            <a:miter lim="800000"/>
            <a:headEnd/>
            <a:tailEnd/>
          </a:ln>
        </p:spPr>
        <p:txBody>
          <a:bodyPr lIns="91571" tIns="45786" rIns="91571" bIns="45786"/>
          <a:lstStyle/>
          <a:p>
            <a:pPr eaLnBrk="1" hangingPunct="1"/>
            <a:r>
              <a:rPr lang="en-US" altLang="ja-JP"/>
              <a:t>Discuss the characteristics of a tester. Examine the difference between the tester mindset (find defects) and that of the developer (protect their own). A tester aims to break it while a developer’s job is to prove the solution does work. Testers are supposed to unbiased. However, too much familiarity with a test object can cause testers to identify with the product and unconsciously try to pass the test object as suitable. Testers do not make assumptions and only are concerned with what is presented to them.</a:t>
            </a:r>
            <a:r>
              <a:rPr lang="en-GB" altLang="ja-JP"/>
              <a:t> </a:t>
            </a:r>
            <a:endParaRPr lang="en-GB"/>
          </a:p>
        </p:txBody>
      </p:sp>
    </p:spTree>
    <p:extLst>
      <p:ext uri="{BB962C8B-B14F-4D97-AF65-F5344CB8AC3E}">
        <p14:creationId xmlns:p14="http://schemas.microsoft.com/office/powerpoint/2010/main" val="315788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Rot="1" noChangeAspect="1" noChangeArrowheads="1" noTextEdit="1"/>
          </p:cNvSpPr>
          <p:nvPr>
            <p:ph type="sldImg"/>
          </p:nvPr>
        </p:nvSpPr>
        <p:spPr>
          <a:ln/>
        </p:spPr>
      </p:sp>
      <p:sp>
        <p:nvSpPr>
          <p:cNvPr id="302083" name="Rectangle 3"/>
          <p:cNvSpPr>
            <a:spLocks noGrp="1" noChangeArrowheads="1"/>
          </p:cNvSpPr>
          <p:nvPr>
            <p:ph type="body" idx="1"/>
          </p:nvPr>
        </p:nvSpPr>
        <p:spPr bwMode="auto">
          <a:xfrm>
            <a:off x="974490" y="4562284"/>
            <a:ext cx="5366224" cy="4318007"/>
          </a:xfrm>
          <a:prstGeom prst="rect">
            <a:avLst/>
          </a:prstGeom>
          <a:solidFill>
            <a:srgbClr val="FFFFFF"/>
          </a:solidFill>
          <a:ln>
            <a:solidFill>
              <a:srgbClr val="000000"/>
            </a:solidFill>
            <a:miter lim="800000"/>
            <a:headEnd/>
            <a:tailEnd/>
          </a:ln>
        </p:spPr>
        <p:txBody>
          <a:bodyPr lIns="91571" tIns="45786" rIns="91571" bIns="45786"/>
          <a:lstStyle/>
          <a:p>
            <a:pPr eaLnBrk="1" hangingPunct="1"/>
            <a:r>
              <a:rPr lang="en-US" altLang="ja-JP"/>
              <a:t>Testing requires a good relationship between testers and developers. It is important that defects found are not communicated in a manner that may be perceived as a personal attack to the developer. It is important that messages are:</a:t>
            </a:r>
          </a:p>
          <a:p>
            <a:pPr lvl="1" eaLnBrk="1" hangingPunct="1"/>
            <a:r>
              <a:rPr lang="en-US" altLang="ja-JP"/>
              <a:t>Non-confrontational</a:t>
            </a:r>
          </a:p>
          <a:p>
            <a:pPr lvl="1" eaLnBrk="1" hangingPunct="1"/>
            <a:r>
              <a:rPr lang="en-US" altLang="ja-JP"/>
              <a:t>Direct</a:t>
            </a:r>
          </a:p>
          <a:p>
            <a:pPr lvl="1" eaLnBrk="1" hangingPunct="1"/>
            <a:r>
              <a:rPr lang="en-US" altLang="ja-JP"/>
              <a:t>Succinct</a:t>
            </a:r>
          </a:p>
          <a:p>
            <a:pPr eaLnBrk="1" hangingPunct="1"/>
            <a:r>
              <a:rPr lang="en-US" altLang="ja-JP"/>
              <a:t>It is important that there is clear, non-confrontational communication between developers and testers.</a:t>
            </a:r>
            <a:endParaRPr lang="en-GB"/>
          </a:p>
        </p:txBody>
      </p:sp>
    </p:spTree>
    <p:extLst>
      <p:ext uri="{BB962C8B-B14F-4D97-AF65-F5344CB8AC3E}">
        <p14:creationId xmlns:p14="http://schemas.microsoft.com/office/powerpoint/2010/main" val="3576160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endParaRPr lang="en-GB" dirty="0"/>
          </a:p>
        </p:txBody>
      </p:sp>
      <p:sp>
        <p:nvSpPr>
          <p:cNvPr id="5" name="Rectangle 3"/>
          <p:cNvSpPr>
            <a:spLocks noGrp="1" noChangeArrowheads="1"/>
          </p:cNvSpPr>
          <p:nvPr>
            <p:ph type="dt" idx="1"/>
          </p:nvPr>
        </p:nvSpPr>
        <p:spPr>
          <a:ln/>
        </p:spPr>
        <p:txBody>
          <a:bodyPr/>
          <a:lstStyle/>
          <a:p>
            <a:endParaRPr lang="en-GB"/>
          </a:p>
        </p:txBody>
      </p:sp>
      <p:sp>
        <p:nvSpPr>
          <p:cNvPr id="6" name="Rectangle 6"/>
          <p:cNvSpPr>
            <a:spLocks noGrp="1" noChangeArrowheads="1"/>
          </p:cNvSpPr>
          <p:nvPr>
            <p:ph type="ftr" sz="quarter" idx="4"/>
          </p:nvPr>
        </p:nvSpPr>
        <p:spPr>
          <a:ln/>
        </p:spPr>
        <p:txBody>
          <a:bodyPr/>
          <a:lstStyle/>
          <a:p>
            <a:endParaRPr lang="en-GB" dirty="0"/>
          </a:p>
        </p:txBody>
      </p:sp>
      <p:sp>
        <p:nvSpPr>
          <p:cNvPr id="32675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67587"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734601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endParaRPr lang="en-GB" dirty="0"/>
          </a:p>
        </p:txBody>
      </p:sp>
      <p:sp>
        <p:nvSpPr>
          <p:cNvPr id="5" name="Rectangle 3"/>
          <p:cNvSpPr>
            <a:spLocks noGrp="1" noChangeArrowheads="1"/>
          </p:cNvSpPr>
          <p:nvPr>
            <p:ph type="dt" idx="1"/>
          </p:nvPr>
        </p:nvSpPr>
        <p:spPr>
          <a:ln/>
        </p:spPr>
        <p:txBody>
          <a:bodyPr/>
          <a:lstStyle/>
          <a:p>
            <a:endParaRPr lang="en-GB"/>
          </a:p>
        </p:txBody>
      </p:sp>
      <p:sp>
        <p:nvSpPr>
          <p:cNvPr id="6" name="Rectangle 6"/>
          <p:cNvSpPr>
            <a:spLocks noGrp="1" noChangeArrowheads="1"/>
          </p:cNvSpPr>
          <p:nvPr>
            <p:ph type="ftr" sz="quarter" idx="4"/>
          </p:nvPr>
        </p:nvSpPr>
        <p:spPr>
          <a:ln/>
        </p:spPr>
        <p:txBody>
          <a:bodyPr/>
          <a:lstStyle/>
          <a:p>
            <a:endParaRPr lang="en-GB" dirty="0"/>
          </a:p>
        </p:txBody>
      </p:sp>
      <p:sp>
        <p:nvSpPr>
          <p:cNvPr id="32614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61443"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1163173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endParaRPr lang="en-GB" dirty="0"/>
          </a:p>
        </p:txBody>
      </p:sp>
      <p:sp>
        <p:nvSpPr>
          <p:cNvPr id="5" name="Rectangle 3"/>
          <p:cNvSpPr>
            <a:spLocks noGrp="1" noChangeArrowheads="1"/>
          </p:cNvSpPr>
          <p:nvPr>
            <p:ph type="dt" idx="1"/>
          </p:nvPr>
        </p:nvSpPr>
        <p:spPr>
          <a:ln/>
        </p:spPr>
        <p:txBody>
          <a:bodyPr/>
          <a:lstStyle/>
          <a:p>
            <a:endParaRPr lang="en-GB"/>
          </a:p>
        </p:txBody>
      </p:sp>
      <p:sp>
        <p:nvSpPr>
          <p:cNvPr id="6" name="Rectangle 6"/>
          <p:cNvSpPr>
            <a:spLocks noGrp="1" noChangeArrowheads="1"/>
          </p:cNvSpPr>
          <p:nvPr>
            <p:ph type="ftr" sz="quarter" idx="4"/>
          </p:nvPr>
        </p:nvSpPr>
        <p:spPr>
          <a:ln/>
        </p:spPr>
        <p:txBody>
          <a:bodyPr/>
          <a:lstStyle/>
          <a:p>
            <a:endParaRPr lang="en-GB" dirty="0"/>
          </a:p>
        </p:txBody>
      </p:sp>
      <p:sp>
        <p:nvSpPr>
          <p:cNvPr id="32634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63491"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151290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endParaRPr lang="en-GB" dirty="0"/>
          </a:p>
        </p:txBody>
      </p:sp>
      <p:sp>
        <p:nvSpPr>
          <p:cNvPr id="5" name="Rectangle 3"/>
          <p:cNvSpPr>
            <a:spLocks noGrp="1" noChangeArrowheads="1"/>
          </p:cNvSpPr>
          <p:nvPr>
            <p:ph type="dt" idx="1"/>
          </p:nvPr>
        </p:nvSpPr>
        <p:spPr>
          <a:ln/>
        </p:spPr>
        <p:txBody>
          <a:bodyPr/>
          <a:lstStyle/>
          <a:p>
            <a:endParaRPr lang="en-GB"/>
          </a:p>
        </p:txBody>
      </p:sp>
      <p:sp>
        <p:nvSpPr>
          <p:cNvPr id="6" name="Rectangle 6"/>
          <p:cNvSpPr>
            <a:spLocks noGrp="1" noChangeArrowheads="1"/>
          </p:cNvSpPr>
          <p:nvPr>
            <p:ph type="ftr" sz="quarter" idx="4"/>
          </p:nvPr>
        </p:nvSpPr>
        <p:spPr>
          <a:ln/>
        </p:spPr>
        <p:txBody>
          <a:bodyPr/>
          <a:lstStyle/>
          <a:p>
            <a:endParaRPr lang="en-GB" dirty="0"/>
          </a:p>
        </p:txBody>
      </p:sp>
      <p:sp>
        <p:nvSpPr>
          <p:cNvPr id="32512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51203"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4085433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Rot="1" noChangeAspect="1" noChangeArrowheads="1" noTextEdit="1"/>
          </p:cNvSpPr>
          <p:nvPr>
            <p:ph type="sldImg"/>
          </p:nvPr>
        </p:nvSpPr>
        <p:spPr>
          <a:ln/>
        </p:spPr>
      </p:sp>
      <p:sp>
        <p:nvSpPr>
          <p:cNvPr id="306179" name="Rectangle 3"/>
          <p:cNvSpPr>
            <a:spLocks noGrp="1" noChangeArrowheads="1"/>
          </p:cNvSpPr>
          <p:nvPr>
            <p:ph type="body" idx="1"/>
          </p:nvPr>
        </p:nvSpPr>
        <p:spPr bwMode="auto">
          <a:xfrm>
            <a:off x="974490" y="4562284"/>
            <a:ext cx="5366224" cy="4318007"/>
          </a:xfrm>
          <a:prstGeom prst="rect">
            <a:avLst/>
          </a:prstGeom>
          <a:solidFill>
            <a:srgbClr val="FFFFFF"/>
          </a:solidFill>
          <a:ln>
            <a:solidFill>
              <a:srgbClr val="000000"/>
            </a:solidFill>
            <a:miter lim="800000"/>
            <a:headEnd/>
            <a:tailEnd/>
          </a:ln>
        </p:spPr>
        <p:txBody>
          <a:bodyPr lIns="91571" tIns="45786" rIns="91571" bIns="45786"/>
          <a:lstStyle/>
          <a:p>
            <a:pPr eaLnBrk="1" hangingPunct="1"/>
            <a:r>
              <a:rPr lang="en-US" altLang="ja-JP" dirty="0"/>
              <a:t>Independence is an important concept for software testing. As discussed previously, the mindset of the tester is different from that of the developer. However, developers can still perform some testing to ensure that the code is suitable for the next stage of rigorous testing. Developers are encouraged to unit test their code before passing it to the test team. The diagram</a:t>
            </a:r>
            <a:r>
              <a:rPr lang="en-US" altLang="ja-JP" baseline="0" dirty="0"/>
              <a:t> </a:t>
            </a:r>
            <a:r>
              <a:rPr lang="en-US" altLang="ja-JP" dirty="0"/>
              <a:t>demonstrates the different levels of independence that can be achieved. Deloitte testing services can achieve specialist testers and as an outsourced test team.</a:t>
            </a:r>
            <a:endParaRPr lang="en-GB" dirty="0"/>
          </a:p>
        </p:txBody>
      </p:sp>
    </p:spTree>
    <p:extLst>
      <p:ext uri="{BB962C8B-B14F-4D97-AF65-F5344CB8AC3E}">
        <p14:creationId xmlns:p14="http://schemas.microsoft.com/office/powerpoint/2010/main" val="681085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Rot="1" noChangeAspect="1" noChangeArrowheads="1" noTextEdit="1"/>
          </p:cNvSpPr>
          <p:nvPr>
            <p:ph type="sldImg"/>
          </p:nvPr>
        </p:nvSpPr>
        <p:spPr>
          <a:ln/>
        </p:spPr>
      </p:sp>
      <p:sp>
        <p:nvSpPr>
          <p:cNvPr id="312323" name="Rectangle 3"/>
          <p:cNvSpPr>
            <a:spLocks noGrp="1" noChangeArrowheads="1"/>
          </p:cNvSpPr>
          <p:nvPr>
            <p:ph type="body" idx="1"/>
          </p:nvPr>
        </p:nvSpPr>
        <p:spPr bwMode="auto">
          <a:xfrm>
            <a:off x="974490" y="4561502"/>
            <a:ext cx="5366224" cy="4318678"/>
          </a:xfrm>
          <a:prstGeom prst="rect">
            <a:avLst/>
          </a:prstGeom>
          <a:solidFill>
            <a:srgbClr val="FFFFFF"/>
          </a:solidFill>
          <a:ln>
            <a:solidFill>
              <a:srgbClr val="000000"/>
            </a:solidFill>
            <a:miter lim="800000"/>
            <a:headEnd/>
            <a:tailEnd/>
          </a:ln>
        </p:spPr>
        <p:txBody>
          <a:bodyPr lIns="91571" tIns="45786" rIns="91571" bIns="45786"/>
          <a:lstStyle/>
          <a:p>
            <a:pPr marL="220568" indent="-220568"/>
            <a:r>
              <a:rPr lang="en-US" altLang="ja-JP"/>
              <a:t>Ask participants to arrange the list from the least independent to the most independent.</a:t>
            </a:r>
            <a:endParaRPr lang="en-GB"/>
          </a:p>
        </p:txBody>
      </p:sp>
    </p:spTree>
    <p:extLst>
      <p:ext uri="{BB962C8B-B14F-4D97-AF65-F5344CB8AC3E}">
        <p14:creationId xmlns:p14="http://schemas.microsoft.com/office/powerpoint/2010/main" val="4246936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Rot="1" noChangeAspect="1" noChangeArrowheads="1" noTextEdit="1"/>
          </p:cNvSpPr>
          <p:nvPr>
            <p:ph type="sldImg"/>
          </p:nvPr>
        </p:nvSpPr>
        <p:spPr>
          <a:xfrm>
            <a:off x="1260475" y="720725"/>
            <a:ext cx="4797425" cy="3598863"/>
          </a:xfrm>
          <a:ln/>
        </p:spPr>
      </p:sp>
      <p:sp>
        <p:nvSpPr>
          <p:cNvPr id="314371" name="Rectangle 3"/>
          <p:cNvSpPr>
            <a:spLocks noGrp="1" noChangeArrowheads="1"/>
          </p:cNvSpPr>
          <p:nvPr>
            <p:ph type="body" idx="1"/>
          </p:nvPr>
        </p:nvSpPr>
        <p:spPr bwMode="auto">
          <a:xfrm>
            <a:off x="974490" y="4561502"/>
            <a:ext cx="5366224" cy="4318678"/>
          </a:xfrm>
          <a:prstGeom prst="rect">
            <a:avLst/>
          </a:prstGeom>
          <a:solidFill>
            <a:srgbClr val="FFFFFF"/>
          </a:solidFill>
          <a:ln>
            <a:solidFill>
              <a:srgbClr val="000000"/>
            </a:solidFill>
            <a:miter lim="800000"/>
            <a:headEnd/>
            <a:tailEnd/>
          </a:ln>
        </p:spPr>
        <p:txBody>
          <a:bodyPr lIns="91571" tIns="45786" rIns="91571" bIns="45786"/>
          <a:lstStyle/>
          <a:p>
            <a:pPr marL="220568" indent="-220568"/>
            <a:r>
              <a:rPr lang="en-US" altLang="ja-JP"/>
              <a:t>Compare group’s answers to those on the slide</a:t>
            </a:r>
          </a:p>
          <a:p>
            <a:pPr marL="220568" indent="-220568"/>
            <a:endParaRPr lang="en-US" altLang="ja-JP"/>
          </a:p>
          <a:p>
            <a:pPr marL="220568" indent="-220568"/>
            <a:r>
              <a:rPr lang="en-US" altLang="ja-JP"/>
              <a:t>Ask delegates if they have any questions about the section</a:t>
            </a:r>
            <a:endParaRPr lang="en-GB"/>
          </a:p>
        </p:txBody>
      </p:sp>
    </p:spTree>
    <p:extLst>
      <p:ext uri="{BB962C8B-B14F-4D97-AF65-F5344CB8AC3E}">
        <p14:creationId xmlns:p14="http://schemas.microsoft.com/office/powerpoint/2010/main" val="771504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ga-IE"/>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ga-IE"/>
              <a:t>Click to edit Master subtitle style</a:t>
            </a:r>
            <a:endParaRPr lang="en-US"/>
          </a:p>
        </p:txBody>
      </p:sp>
    </p:spTree>
    <p:extLst>
      <p:ext uri="{BB962C8B-B14F-4D97-AF65-F5344CB8AC3E}">
        <p14:creationId xmlns:p14="http://schemas.microsoft.com/office/powerpoint/2010/main" val="2460016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idx="1"/>
          </p:nvPr>
        </p:nvSpPr>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2325392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ga-IE"/>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ga-IE"/>
              <a:t>Click to edit Master text styles</a:t>
            </a:r>
          </a:p>
        </p:txBody>
      </p:sp>
    </p:spTree>
    <p:extLst>
      <p:ext uri="{BB962C8B-B14F-4D97-AF65-F5344CB8AC3E}">
        <p14:creationId xmlns:p14="http://schemas.microsoft.com/office/powerpoint/2010/main" val="2788411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sz="half" idx="1"/>
          </p:nvPr>
        </p:nvSpPr>
        <p:spPr>
          <a:xfrm>
            <a:off x="703263" y="1676400"/>
            <a:ext cx="3897312" cy="470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4752975" y="1676400"/>
            <a:ext cx="3898900" cy="470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2812294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ga-IE"/>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197231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Tree>
    <p:extLst>
      <p:ext uri="{BB962C8B-B14F-4D97-AF65-F5344CB8AC3E}">
        <p14:creationId xmlns:p14="http://schemas.microsoft.com/office/powerpoint/2010/main" val="2736085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123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ga-IE"/>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Tree>
    <p:extLst>
      <p:ext uri="{BB962C8B-B14F-4D97-AF65-F5344CB8AC3E}">
        <p14:creationId xmlns:p14="http://schemas.microsoft.com/office/powerpoint/2010/main" val="1680804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ga-IE"/>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Tree>
    <p:extLst>
      <p:ext uri="{BB962C8B-B14F-4D97-AF65-F5344CB8AC3E}">
        <p14:creationId xmlns:p14="http://schemas.microsoft.com/office/powerpoint/2010/main" val="1664000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2557128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6538" y="266700"/>
            <a:ext cx="2065337" cy="6115050"/>
          </a:xfrm>
        </p:spPr>
        <p:txBody>
          <a:bodyPr vert="eaVert"/>
          <a:lstStyle/>
          <a:p>
            <a:r>
              <a:rPr lang="ga-IE"/>
              <a:t>Click to edit Master title style</a:t>
            </a:r>
            <a:endParaRPr lang="en-US"/>
          </a:p>
        </p:txBody>
      </p:sp>
      <p:sp>
        <p:nvSpPr>
          <p:cNvPr id="3" name="Vertical Text Placeholder 2"/>
          <p:cNvSpPr>
            <a:spLocks noGrp="1"/>
          </p:cNvSpPr>
          <p:nvPr>
            <p:ph type="body" orient="vert" idx="1"/>
          </p:nvPr>
        </p:nvSpPr>
        <p:spPr>
          <a:xfrm>
            <a:off x="388938" y="266700"/>
            <a:ext cx="6045200" cy="6115050"/>
          </a:xfrm>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1590174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8938" y="266700"/>
            <a:ext cx="8145462" cy="1104900"/>
          </a:xfrm>
        </p:spPr>
        <p:txBody>
          <a:bodyPr/>
          <a:lstStyle/>
          <a:p>
            <a:r>
              <a:rPr lang="ga-IE"/>
              <a:t>Click to edit Master title style</a:t>
            </a:r>
            <a:endParaRPr lang="en-US"/>
          </a:p>
        </p:txBody>
      </p:sp>
      <p:sp>
        <p:nvSpPr>
          <p:cNvPr id="3" name="Text Placeholder 2"/>
          <p:cNvSpPr>
            <a:spLocks noGrp="1"/>
          </p:cNvSpPr>
          <p:nvPr>
            <p:ph type="body" sz="half" idx="1"/>
          </p:nvPr>
        </p:nvSpPr>
        <p:spPr>
          <a:xfrm>
            <a:off x="703263" y="1676400"/>
            <a:ext cx="3897312"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4752975" y="1676400"/>
            <a:ext cx="3898900"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3179591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88938" y="266700"/>
            <a:ext cx="8145462" cy="1104900"/>
          </a:xfrm>
        </p:spPr>
        <p:txBody>
          <a:bodyPr/>
          <a:lstStyle/>
          <a:p>
            <a:r>
              <a:rPr lang="ga-IE"/>
              <a:t>Click to edit Master title style</a:t>
            </a:r>
            <a:endParaRPr lang="en-US"/>
          </a:p>
        </p:txBody>
      </p:sp>
      <p:sp>
        <p:nvSpPr>
          <p:cNvPr id="3" name="Text Placeholder 2"/>
          <p:cNvSpPr>
            <a:spLocks noGrp="1"/>
          </p:cNvSpPr>
          <p:nvPr>
            <p:ph type="body" sz="half" idx="1"/>
          </p:nvPr>
        </p:nvSpPr>
        <p:spPr>
          <a:xfrm>
            <a:off x="703263" y="1676400"/>
            <a:ext cx="3897312"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quarter" idx="2"/>
          </p:nvPr>
        </p:nvSpPr>
        <p:spPr>
          <a:xfrm>
            <a:off x="4752975" y="1676400"/>
            <a:ext cx="3898900" cy="2276475"/>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Content Placeholder 4"/>
          <p:cNvSpPr>
            <a:spLocks noGrp="1"/>
          </p:cNvSpPr>
          <p:nvPr>
            <p:ph sz="quarter" idx="3"/>
          </p:nvPr>
        </p:nvSpPr>
        <p:spPr>
          <a:xfrm>
            <a:off x="4752975" y="4105275"/>
            <a:ext cx="3898900" cy="2276475"/>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82553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07988" y="350838"/>
            <a:ext cx="8423275" cy="630237"/>
          </a:xfrm>
        </p:spPr>
        <p:txBody>
          <a:bodyPr/>
          <a:lstStyle/>
          <a:p>
            <a:r>
              <a:rPr lang="en-US"/>
              <a:t>Click to edit Master title style</a:t>
            </a:r>
          </a:p>
        </p:txBody>
      </p:sp>
      <p:sp>
        <p:nvSpPr>
          <p:cNvPr id="3" name="Content Placeholder 2"/>
          <p:cNvSpPr>
            <a:spLocks noGrp="1"/>
          </p:cNvSpPr>
          <p:nvPr>
            <p:ph sz="half" idx="1"/>
          </p:nvPr>
        </p:nvSpPr>
        <p:spPr>
          <a:xfrm>
            <a:off x="404813" y="1190625"/>
            <a:ext cx="4135437" cy="5219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92650" y="1190625"/>
            <a:ext cx="4135438" cy="5219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9"/>
          <p:cNvSpPr>
            <a:spLocks noGrp="1"/>
          </p:cNvSpPr>
          <p:nvPr>
            <p:ph type="sldNum" sz="quarter" idx="10"/>
          </p:nvPr>
        </p:nvSpPr>
        <p:spPr>
          <a:xfrm>
            <a:off x="8861425" y="0"/>
            <a:ext cx="282575" cy="142875"/>
          </a:xfrm>
          <a:prstGeom prst="rect">
            <a:avLst/>
          </a:prstGeom>
        </p:spPr>
        <p:txBody>
          <a:bodyPr/>
          <a:lstStyle>
            <a:lvl1pPr>
              <a:defRPr/>
            </a:lvl1pPr>
          </a:lstStyle>
          <a:p>
            <a:pPr>
              <a:defRPr/>
            </a:pPr>
            <a:fld id="{ADF6390F-1603-4606-96BE-11F29AAF5AE2}" type="slidenum">
              <a:rPr lang="en-GB"/>
              <a:pPr>
                <a:defRPr/>
              </a:pPr>
              <a:t>‹#›</a:t>
            </a:fld>
            <a:endParaRPr lang="en-GB"/>
          </a:p>
        </p:txBody>
      </p:sp>
    </p:spTree>
    <p:extLst>
      <p:ext uri="{BB962C8B-B14F-4D97-AF65-F5344CB8AC3E}">
        <p14:creationId xmlns:p14="http://schemas.microsoft.com/office/powerpoint/2010/main" val="2699238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06978" name="Line 2"/>
          <p:cNvSpPr>
            <a:spLocks noChangeShapeType="1"/>
          </p:cNvSpPr>
          <p:nvPr/>
        </p:nvSpPr>
        <p:spPr bwMode="auto">
          <a:xfrm>
            <a:off x="1588" y="1484313"/>
            <a:ext cx="9066212" cy="0"/>
          </a:xfrm>
          <a:prstGeom prst="line">
            <a:avLst/>
          </a:prstGeom>
          <a:noFill/>
          <a:ln w="508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6979" name="Rectangle 3"/>
          <p:cNvSpPr>
            <a:spLocks noGrp="1" noChangeArrowheads="1"/>
          </p:cNvSpPr>
          <p:nvPr>
            <p:ph type="title"/>
          </p:nvPr>
        </p:nvSpPr>
        <p:spPr bwMode="auto">
          <a:xfrm>
            <a:off x="388938" y="266700"/>
            <a:ext cx="8145462"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2075" tIns="46038" rIns="92075" bIns="46038" numCol="1" anchor="b" anchorCtr="0" compatLnSpc="1">
            <a:prstTxWarp prst="textNoShape">
              <a:avLst/>
            </a:prstTxWarp>
          </a:bodyPr>
          <a:lstStyle/>
          <a:p>
            <a:pPr lvl="0"/>
            <a:r>
              <a:rPr lang="en-US"/>
              <a:t>Click to edit Master title style</a:t>
            </a:r>
          </a:p>
        </p:txBody>
      </p:sp>
      <p:sp>
        <p:nvSpPr>
          <p:cNvPr id="1406980" name="Rectangle 4"/>
          <p:cNvSpPr>
            <a:spLocks noGrp="1" noChangeArrowheads="1"/>
          </p:cNvSpPr>
          <p:nvPr>
            <p:ph type="body" idx="1"/>
          </p:nvPr>
        </p:nvSpPr>
        <p:spPr bwMode="auto">
          <a:xfrm>
            <a:off x="703263" y="1676400"/>
            <a:ext cx="7948612" cy="470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06982" name="Rectangle 6"/>
          <p:cNvSpPr>
            <a:spLocks noChangeArrowheads="1"/>
          </p:cNvSpPr>
          <p:nvPr/>
        </p:nvSpPr>
        <p:spPr bwMode="auto">
          <a:xfrm>
            <a:off x="8172450" y="6400800"/>
            <a:ext cx="4508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eaLnBrk="0" hangingPunct="0"/>
            <a:fld id="{F04697A2-D443-9B46-B76B-C17EBA70E809}" type="slidenum">
              <a:rPr lang="en-US" sz="1000">
                <a:solidFill>
                  <a:schemeClr val="bg2"/>
                </a:solidFill>
              </a:rPr>
              <a:pPr eaLnBrk="0" hangingPunct="0"/>
              <a:t>‹#›</a:t>
            </a:fld>
            <a:endParaRPr lang="en-US" sz="1000">
              <a:solidFill>
                <a:schemeClr val="bg2"/>
              </a:solidFill>
            </a:endParaRPr>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txStyles>
    <p:titleStyle>
      <a:lvl1pPr algn="l" rtl="0" fontAlgn="base">
        <a:spcBef>
          <a:spcPct val="0"/>
        </a:spcBef>
        <a:spcAft>
          <a:spcPct val="0"/>
        </a:spcAft>
        <a:defRPr sz="3600" b="1">
          <a:solidFill>
            <a:schemeClr val="bg2"/>
          </a:solidFill>
          <a:latin typeface="+mj-lt"/>
          <a:ea typeface="+mj-ea"/>
          <a:cs typeface="+mj-cs"/>
        </a:defRPr>
      </a:lvl1pPr>
      <a:lvl2pPr algn="l" rtl="0" fontAlgn="base">
        <a:spcBef>
          <a:spcPct val="0"/>
        </a:spcBef>
        <a:spcAft>
          <a:spcPct val="0"/>
        </a:spcAft>
        <a:defRPr sz="3600" b="1">
          <a:solidFill>
            <a:schemeClr val="bg2"/>
          </a:solidFill>
          <a:latin typeface="Arial" charset="0"/>
          <a:ea typeface="ＭＳ Ｐゴシック" charset="0"/>
        </a:defRPr>
      </a:lvl2pPr>
      <a:lvl3pPr algn="l" rtl="0" fontAlgn="base">
        <a:spcBef>
          <a:spcPct val="0"/>
        </a:spcBef>
        <a:spcAft>
          <a:spcPct val="0"/>
        </a:spcAft>
        <a:defRPr sz="3600" b="1">
          <a:solidFill>
            <a:schemeClr val="bg2"/>
          </a:solidFill>
          <a:latin typeface="Arial" charset="0"/>
          <a:ea typeface="ＭＳ Ｐゴシック" charset="0"/>
        </a:defRPr>
      </a:lvl3pPr>
      <a:lvl4pPr algn="l" rtl="0" fontAlgn="base">
        <a:spcBef>
          <a:spcPct val="0"/>
        </a:spcBef>
        <a:spcAft>
          <a:spcPct val="0"/>
        </a:spcAft>
        <a:defRPr sz="3600" b="1">
          <a:solidFill>
            <a:schemeClr val="bg2"/>
          </a:solidFill>
          <a:latin typeface="Arial" charset="0"/>
          <a:ea typeface="ＭＳ Ｐゴシック" charset="0"/>
        </a:defRPr>
      </a:lvl4pPr>
      <a:lvl5pPr algn="l" rtl="0" fontAlgn="base">
        <a:spcBef>
          <a:spcPct val="0"/>
        </a:spcBef>
        <a:spcAft>
          <a:spcPct val="0"/>
        </a:spcAft>
        <a:defRPr sz="3600" b="1">
          <a:solidFill>
            <a:schemeClr val="bg2"/>
          </a:solidFill>
          <a:latin typeface="Arial" charset="0"/>
          <a:ea typeface="ＭＳ Ｐゴシック" charset="0"/>
        </a:defRPr>
      </a:lvl5pPr>
      <a:lvl6pPr marL="457200" algn="l" rtl="0" fontAlgn="base">
        <a:spcBef>
          <a:spcPct val="0"/>
        </a:spcBef>
        <a:spcAft>
          <a:spcPct val="0"/>
        </a:spcAft>
        <a:defRPr sz="3600" b="1">
          <a:solidFill>
            <a:schemeClr val="bg2"/>
          </a:solidFill>
          <a:latin typeface="Arial" charset="0"/>
          <a:ea typeface="ＭＳ Ｐゴシック" charset="0"/>
        </a:defRPr>
      </a:lvl6pPr>
      <a:lvl7pPr marL="914400" algn="l" rtl="0" fontAlgn="base">
        <a:spcBef>
          <a:spcPct val="0"/>
        </a:spcBef>
        <a:spcAft>
          <a:spcPct val="0"/>
        </a:spcAft>
        <a:defRPr sz="3600" b="1">
          <a:solidFill>
            <a:schemeClr val="bg2"/>
          </a:solidFill>
          <a:latin typeface="Arial" charset="0"/>
          <a:ea typeface="ＭＳ Ｐゴシック" charset="0"/>
        </a:defRPr>
      </a:lvl7pPr>
      <a:lvl8pPr marL="1371600" algn="l" rtl="0" fontAlgn="base">
        <a:spcBef>
          <a:spcPct val="0"/>
        </a:spcBef>
        <a:spcAft>
          <a:spcPct val="0"/>
        </a:spcAft>
        <a:defRPr sz="3600" b="1">
          <a:solidFill>
            <a:schemeClr val="bg2"/>
          </a:solidFill>
          <a:latin typeface="Arial" charset="0"/>
          <a:ea typeface="ＭＳ Ｐゴシック" charset="0"/>
        </a:defRPr>
      </a:lvl8pPr>
      <a:lvl9pPr marL="1828800" algn="l" rtl="0" fontAlgn="base">
        <a:spcBef>
          <a:spcPct val="0"/>
        </a:spcBef>
        <a:spcAft>
          <a:spcPct val="0"/>
        </a:spcAft>
        <a:defRPr sz="3600" b="1">
          <a:solidFill>
            <a:schemeClr val="bg2"/>
          </a:solidFill>
          <a:latin typeface="Arial" charset="0"/>
          <a:ea typeface="ＭＳ Ｐゴシック" charset="0"/>
        </a:defRPr>
      </a:lvl9pPr>
    </p:titleStyle>
    <p:body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8133" name="Rectangle 5"/>
          <p:cNvSpPr>
            <a:spLocks noGrp="1" noChangeArrowheads="1"/>
          </p:cNvSpPr>
          <p:nvPr>
            <p:ph type="title"/>
          </p:nvPr>
        </p:nvSpPr>
        <p:spPr/>
        <p:txBody>
          <a:bodyPr/>
          <a:lstStyle/>
          <a:p>
            <a:r>
              <a:rPr lang="en-US"/>
              <a:t>The Psychology of Testing</a:t>
            </a:r>
          </a:p>
        </p:txBody>
      </p:sp>
      <p:sp>
        <p:nvSpPr>
          <p:cNvPr id="3248134" name="Rectangle 6"/>
          <p:cNvSpPr>
            <a:spLocks noGrp="1" noChangeArrowheads="1"/>
          </p:cNvSpPr>
          <p:nvPr>
            <p:ph type="body" idx="1"/>
          </p:nvPr>
        </p:nvSpPr>
        <p:spPr/>
        <p:txBody>
          <a:bodyPr/>
          <a:lstStyle/>
          <a:p>
            <a:endParaRPr lang="en-GB"/>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2" name="Rectangle 2"/>
          <p:cNvSpPr>
            <a:spLocks noGrp="1" noChangeArrowheads="1"/>
          </p:cNvSpPr>
          <p:nvPr>
            <p:ph type="title"/>
          </p:nvPr>
        </p:nvSpPr>
        <p:spPr/>
        <p:txBody>
          <a:bodyPr>
            <a:spAutoFit/>
          </a:bodyPr>
          <a:lstStyle/>
          <a:p>
            <a:pPr eaLnBrk="1" hangingPunct="1"/>
            <a:r>
              <a:rPr lang="en-GB" dirty="0"/>
              <a:t>Psychology of testing</a:t>
            </a:r>
          </a:p>
        </p:txBody>
      </p:sp>
      <p:sp>
        <p:nvSpPr>
          <p:cNvPr id="285699" name="Rectangle 3"/>
          <p:cNvSpPr>
            <a:spLocks noGrp="1" noChangeArrowheads="1"/>
          </p:cNvSpPr>
          <p:nvPr>
            <p:ph sz="half" idx="1"/>
          </p:nvPr>
        </p:nvSpPr>
        <p:spPr/>
        <p:txBody>
          <a:bodyPr/>
          <a:lstStyle/>
          <a:p>
            <a:pPr marL="268288" indent="-268288" eaLnBrk="1" hangingPunct="1"/>
            <a:r>
              <a:rPr lang="en-GB" sz="2400" dirty="0"/>
              <a:t>A tester:</a:t>
            </a:r>
          </a:p>
          <a:p>
            <a:pPr marL="725488" lvl="1" indent="-277813" eaLnBrk="1" hangingPunct="1"/>
            <a:r>
              <a:rPr lang="en-GB" sz="2000" dirty="0"/>
              <a:t>Employs professional cynicism.</a:t>
            </a:r>
          </a:p>
          <a:p>
            <a:pPr marL="725488" lvl="1" indent="-277813" eaLnBrk="1" hangingPunct="1"/>
            <a:r>
              <a:rPr lang="en-GB" sz="2000" dirty="0"/>
              <a:t>Tries to prove that the solution does not work (they are detached from the ‘ownership’ and inherent protection Developers have for their code). </a:t>
            </a:r>
          </a:p>
          <a:p>
            <a:pPr marL="725488" lvl="1" indent="-277813" eaLnBrk="1" hangingPunct="1"/>
            <a:endParaRPr lang="en-GB" sz="2000" dirty="0"/>
          </a:p>
          <a:p>
            <a:pPr marL="725488" lvl="1" indent="-277813" eaLnBrk="1" hangingPunct="1"/>
            <a:r>
              <a:rPr lang="en-GB" sz="2000" dirty="0"/>
              <a:t>A Developer’s job is to prove the solutions does work.</a:t>
            </a:r>
          </a:p>
        </p:txBody>
      </p:sp>
      <p:sp>
        <p:nvSpPr>
          <p:cNvPr id="285701" name="Rectangle 5"/>
          <p:cNvSpPr>
            <a:spLocks noGrp="1" noChangeArrowheads="1"/>
          </p:cNvSpPr>
          <p:nvPr>
            <p:ph sz="half" idx="2"/>
          </p:nvPr>
        </p:nvSpPr>
        <p:spPr/>
        <p:txBody>
          <a:bodyPr/>
          <a:lstStyle/>
          <a:p>
            <a:pPr marL="0" indent="0" eaLnBrk="1" hangingPunct="1"/>
            <a:r>
              <a:rPr lang="en-GB" sz="2400" dirty="0"/>
              <a:t>Testers see other and different defects to the author/developer.</a:t>
            </a:r>
          </a:p>
          <a:p>
            <a:pPr marL="0" indent="0" eaLnBrk="1" hangingPunct="1"/>
            <a:r>
              <a:rPr lang="en-GB" sz="2400" dirty="0"/>
              <a:t>Testers are unbiased.</a:t>
            </a:r>
          </a:p>
          <a:p>
            <a:pPr marL="0" indent="0" eaLnBrk="1" hangingPunct="1"/>
            <a:r>
              <a:rPr lang="en-GB" sz="2400" dirty="0"/>
              <a:t>Testers do not make assumptions.</a:t>
            </a:r>
          </a:p>
          <a:p>
            <a:pPr marL="0" indent="0" eaLnBrk="1" hangingPunct="1"/>
            <a:endParaRPr lang="en-GB" sz="2400" dirty="0"/>
          </a:p>
        </p:txBody>
      </p:sp>
      <p:pic>
        <p:nvPicPr>
          <p:cNvPr id="2" name="Picture 1"/>
          <p:cNvPicPr>
            <a:picLocks noChangeAspect="1"/>
          </p:cNvPicPr>
          <p:nvPr/>
        </p:nvPicPr>
        <p:blipFill>
          <a:blip r:embed="rId3"/>
          <a:stretch>
            <a:fillRect/>
          </a:stretch>
        </p:blipFill>
        <p:spPr>
          <a:xfrm>
            <a:off x="5004048" y="4077072"/>
            <a:ext cx="2664296" cy="2664296"/>
          </a:xfrm>
          <a:prstGeom prst="rect">
            <a:avLst/>
          </a:prstGeom>
        </p:spPr>
      </p:pic>
    </p:spTree>
    <p:extLst>
      <p:ext uri="{BB962C8B-B14F-4D97-AF65-F5344CB8AC3E}">
        <p14:creationId xmlns:p14="http://schemas.microsoft.com/office/powerpoint/2010/main" val="2517407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285699">
                                            <p:txEl>
                                              <p:pRg st="0" end="0"/>
                                            </p:txEl>
                                          </p:spTgt>
                                        </p:tgtEl>
                                        <p:attrNameLst>
                                          <p:attrName>style.visibility</p:attrName>
                                        </p:attrNameLst>
                                      </p:cBhvr>
                                      <p:to>
                                        <p:strVal val="visible"/>
                                      </p:to>
                                    </p:set>
                                    <p:anim calcmode="lin" valueType="num">
                                      <p:cBhvr>
                                        <p:cTn id="7" dur="1000" fill="hold"/>
                                        <p:tgtEl>
                                          <p:spTgt spid="28569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8569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85699">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285699">
                                            <p:txEl>
                                              <p:pRg st="1" end="1"/>
                                            </p:txEl>
                                          </p:spTgt>
                                        </p:tgtEl>
                                        <p:attrNameLst>
                                          <p:attrName>style.visibility</p:attrName>
                                        </p:attrNameLst>
                                      </p:cBhvr>
                                      <p:to>
                                        <p:strVal val="visible"/>
                                      </p:to>
                                    </p:set>
                                    <p:anim calcmode="lin" valueType="num">
                                      <p:cBhvr>
                                        <p:cTn id="12" dur="1000" fill="hold"/>
                                        <p:tgtEl>
                                          <p:spTgt spid="285699">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285699">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285699">
                                            <p:txEl>
                                              <p:pRg st="1" end="1"/>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285699">
                                            <p:txEl>
                                              <p:pRg st="2" end="2"/>
                                            </p:txEl>
                                          </p:spTgt>
                                        </p:tgtEl>
                                        <p:attrNameLst>
                                          <p:attrName>style.visibility</p:attrName>
                                        </p:attrNameLst>
                                      </p:cBhvr>
                                      <p:to>
                                        <p:strVal val="visible"/>
                                      </p:to>
                                    </p:set>
                                    <p:anim calcmode="lin" valueType="num">
                                      <p:cBhvr>
                                        <p:cTn id="17" dur="1000" fill="hold"/>
                                        <p:tgtEl>
                                          <p:spTgt spid="285699">
                                            <p:txEl>
                                              <p:pRg st="2" end="2"/>
                                            </p:txEl>
                                          </p:spTgt>
                                        </p:tgtEl>
                                        <p:attrNameLst>
                                          <p:attrName>ppt_w</p:attrName>
                                        </p:attrNameLst>
                                      </p:cBhvr>
                                      <p:tavLst>
                                        <p:tav tm="0">
                                          <p:val>
                                            <p:strVal val="#ppt_w*0.70"/>
                                          </p:val>
                                        </p:tav>
                                        <p:tav tm="100000">
                                          <p:val>
                                            <p:strVal val="#ppt_w"/>
                                          </p:val>
                                        </p:tav>
                                      </p:tavLst>
                                    </p:anim>
                                    <p:anim calcmode="lin" valueType="num">
                                      <p:cBhvr>
                                        <p:cTn id="18" dur="1000" fill="hold"/>
                                        <p:tgtEl>
                                          <p:spTgt spid="285699">
                                            <p:txEl>
                                              <p:pRg st="2" end="2"/>
                                            </p:txEl>
                                          </p:spTgt>
                                        </p:tgtEl>
                                        <p:attrNameLst>
                                          <p:attrName>ppt_h</p:attrName>
                                        </p:attrNameLst>
                                      </p:cBhvr>
                                      <p:tavLst>
                                        <p:tav tm="0">
                                          <p:val>
                                            <p:strVal val="#ppt_h"/>
                                          </p:val>
                                        </p:tav>
                                        <p:tav tm="100000">
                                          <p:val>
                                            <p:strVal val="#ppt_h"/>
                                          </p:val>
                                        </p:tav>
                                      </p:tavLst>
                                    </p:anim>
                                    <p:animEffect transition="in" filter="fade">
                                      <p:cBhvr>
                                        <p:cTn id="19" dur="1000"/>
                                        <p:tgtEl>
                                          <p:spTgt spid="285699">
                                            <p:txEl>
                                              <p:pRg st="2" end="2"/>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285699">
                                            <p:txEl>
                                              <p:pRg st="4" end="4"/>
                                            </p:txEl>
                                          </p:spTgt>
                                        </p:tgtEl>
                                        <p:attrNameLst>
                                          <p:attrName>style.visibility</p:attrName>
                                        </p:attrNameLst>
                                      </p:cBhvr>
                                      <p:to>
                                        <p:strVal val="visible"/>
                                      </p:to>
                                    </p:set>
                                    <p:anim calcmode="lin" valueType="num">
                                      <p:cBhvr>
                                        <p:cTn id="22" dur="1000" fill="hold"/>
                                        <p:tgtEl>
                                          <p:spTgt spid="285699">
                                            <p:txEl>
                                              <p:pRg st="4" end="4"/>
                                            </p:txEl>
                                          </p:spTgt>
                                        </p:tgtEl>
                                        <p:attrNameLst>
                                          <p:attrName>ppt_w</p:attrName>
                                        </p:attrNameLst>
                                      </p:cBhvr>
                                      <p:tavLst>
                                        <p:tav tm="0">
                                          <p:val>
                                            <p:strVal val="#ppt_w*0.70"/>
                                          </p:val>
                                        </p:tav>
                                        <p:tav tm="100000">
                                          <p:val>
                                            <p:strVal val="#ppt_w"/>
                                          </p:val>
                                        </p:tav>
                                      </p:tavLst>
                                    </p:anim>
                                    <p:anim calcmode="lin" valueType="num">
                                      <p:cBhvr>
                                        <p:cTn id="23" dur="1000" fill="hold"/>
                                        <p:tgtEl>
                                          <p:spTgt spid="285699">
                                            <p:txEl>
                                              <p:pRg st="4" end="4"/>
                                            </p:txEl>
                                          </p:spTgt>
                                        </p:tgtEl>
                                        <p:attrNameLst>
                                          <p:attrName>ppt_h</p:attrName>
                                        </p:attrNameLst>
                                      </p:cBhvr>
                                      <p:tavLst>
                                        <p:tav tm="0">
                                          <p:val>
                                            <p:strVal val="#ppt_h"/>
                                          </p:val>
                                        </p:tav>
                                        <p:tav tm="100000">
                                          <p:val>
                                            <p:strVal val="#ppt_h"/>
                                          </p:val>
                                        </p:tav>
                                      </p:tavLst>
                                    </p:anim>
                                    <p:animEffect transition="in" filter="fade">
                                      <p:cBhvr>
                                        <p:cTn id="24" dur="1000"/>
                                        <p:tgtEl>
                                          <p:spTgt spid="285699">
                                            <p:txEl>
                                              <p:pRg st="4" end="4"/>
                                            </p:txEl>
                                          </p:spTgt>
                                        </p:tgtEl>
                                      </p:cBhvr>
                                    </p:animEffect>
                                  </p:childTnLst>
                                </p:cTn>
                              </p:par>
                            </p:childTnLst>
                          </p:cTn>
                        </p:par>
                        <p:par>
                          <p:cTn id="25" fill="hold">
                            <p:stCondLst>
                              <p:cond delay="1000"/>
                            </p:stCondLst>
                            <p:childTnLst>
                              <p:par>
                                <p:cTn id="26" presetID="17" presetClass="entr" presetSubtype="10" fill="hold" nodeType="afterEffect">
                                  <p:stCondLst>
                                    <p:cond delay="0"/>
                                  </p:stCondLst>
                                  <p:childTnLst>
                                    <p:set>
                                      <p:cBhvr>
                                        <p:cTn id="27" dur="1" fill="hold">
                                          <p:stCondLst>
                                            <p:cond delay="0"/>
                                          </p:stCondLst>
                                        </p:cTn>
                                        <p:tgtEl>
                                          <p:spTgt spid="285701">
                                            <p:txEl>
                                              <p:pRg st="0" end="0"/>
                                            </p:txEl>
                                          </p:spTgt>
                                        </p:tgtEl>
                                        <p:attrNameLst>
                                          <p:attrName>style.visibility</p:attrName>
                                        </p:attrNameLst>
                                      </p:cBhvr>
                                      <p:to>
                                        <p:strVal val="visible"/>
                                      </p:to>
                                    </p:set>
                                    <p:anim calcmode="lin" valueType="num">
                                      <p:cBhvr>
                                        <p:cTn id="28" dur="500" fill="hold"/>
                                        <p:tgtEl>
                                          <p:spTgt spid="285701">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285701">
                                            <p:txEl>
                                              <p:pRg st="0" end="0"/>
                                            </p:txEl>
                                          </p:spTgt>
                                        </p:tgtEl>
                                        <p:attrNameLst>
                                          <p:attrName>ppt_h</p:attrName>
                                        </p:attrNameLst>
                                      </p:cBhvr>
                                      <p:tavLst>
                                        <p:tav tm="0">
                                          <p:val>
                                            <p:strVal val="#ppt_h"/>
                                          </p:val>
                                        </p:tav>
                                        <p:tav tm="100000">
                                          <p:val>
                                            <p:strVal val="#ppt_h"/>
                                          </p:val>
                                        </p:tav>
                                      </p:tavLst>
                                    </p:anim>
                                  </p:childTnLst>
                                </p:cTn>
                              </p:par>
                              <p:par>
                                <p:cTn id="30" presetID="17" presetClass="entr" presetSubtype="10" fill="hold" nodeType="withEffect">
                                  <p:stCondLst>
                                    <p:cond delay="0"/>
                                  </p:stCondLst>
                                  <p:childTnLst>
                                    <p:set>
                                      <p:cBhvr>
                                        <p:cTn id="31" dur="1" fill="hold">
                                          <p:stCondLst>
                                            <p:cond delay="0"/>
                                          </p:stCondLst>
                                        </p:cTn>
                                        <p:tgtEl>
                                          <p:spTgt spid="285701">
                                            <p:txEl>
                                              <p:pRg st="1" end="1"/>
                                            </p:txEl>
                                          </p:spTgt>
                                        </p:tgtEl>
                                        <p:attrNameLst>
                                          <p:attrName>style.visibility</p:attrName>
                                        </p:attrNameLst>
                                      </p:cBhvr>
                                      <p:to>
                                        <p:strVal val="visible"/>
                                      </p:to>
                                    </p:set>
                                    <p:anim calcmode="lin" valueType="num">
                                      <p:cBhvr>
                                        <p:cTn id="32" dur="500" fill="hold"/>
                                        <p:tgtEl>
                                          <p:spTgt spid="285701">
                                            <p:txEl>
                                              <p:pRg st="1" end="1"/>
                                            </p:txEl>
                                          </p:spTgt>
                                        </p:tgtEl>
                                        <p:attrNameLst>
                                          <p:attrName>ppt_w</p:attrName>
                                        </p:attrNameLst>
                                      </p:cBhvr>
                                      <p:tavLst>
                                        <p:tav tm="0">
                                          <p:val>
                                            <p:fltVal val="0"/>
                                          </p:val>
                                        </p:tav>
                                        <p:tav tm="100000">
                                          <p:val>
                                            <p:strVal val="#ppt_w"/>
                                          </p:val>
                                        </p:tav>
                                      </p:tavLst>
                                    </p:anim>
                                    <p:anim calcmode="lin" valueType="num">
                                      <p:cBhvr>
                                        <p:cTn id="33" dur="500" fill="hold"/>
                                        <p:tgtEl>
                                          <p:spTgt spid="285701">
                                            <p:txEl>
                                              <p:pRg st="1" end="1"/>
                                            </p:txEl>
                                          </p:spTgt>
                                        </p:tgtEl>
                                        <p:attrNameLst>
                                          <p:attrName>ppt_h</p:attrName>
                                        </p:attrNameLst>
                                      </p:cBhvr>
                                      <p:tavLst>
                                        <p:tav tm="0">
                                          <p:val>
                                            <p:strVal val="#ppt_h"/>
                                          </p:val>
                                        </p:tav>
                                        <p:tav tm="100000">
                                          <p:val>
                                            <p:strVal val="#ppt_h"/>
                                          </p:val>
                                        </p:tav>
                                      </p:tavLst>
                                    </p:anim>
                                  </p:childTnLst>
                                </p:cTn>
                              </p:par>
                              <p:par>
                                <p:cTn id="34" presetID="17" presetClass="entr" presetSubtype="10" fill="hold" nodeType="withEffect">
                                  <p:stCondLst>
                                    <p:cond delay="0"/>
                                  </p:stCondLst>
                                  <p:childTnLst>
                                    <p:set>
                                      <p:cBhvr>
                                        <p:cTn id="35" dur="1" fill="hold">
                                          <p:stCondLst>
                                            <p:cond delay="0"/>
                                          </p:stCondLst>
                                        </p:cTn>
                                        <p:tgtEl>
                                          <p:spTgt spid="285701">
                                            <p:txEl>
                                              <p:pRg st="2" end="2"/>
                                            </p:txEl>
                                          </p:spTgt>
                                        </p:tgtEl>
                                        <p:attrNameLst>
                                          <p:attrName>style.visibility</p:attrName>
                                        </p:attrNameLst>
                                      </p:cBhvr>
                                      <p:to>
                                        <p:strVal val="visible"/>
                                      </p:to>
                                    </p:set>
                                    <p:anim calcmode="lin" valueType="num">
                                      <p:cBhvr>
                                        <p:cTn id="36" dur="500" fill="hold"/>
                                        <p:tgtEl>
                                          <p:spTgt spid="285701">
                                            <p:txEl>
                                              <p:pRg st="2" end="2"/>
                                            </p:txEl>
                                          </p:spTgt>
                                        </p:tgtEl>
                                        <p:attrNameLst>
                                          <p:attrName>ppt_w</p:attrName>
                                        </p:attrNameLst>
                                      </p:cBhvr>
                                      <p:tavLst>
                                        <p:tav tm="0">
                                          <p:val>
                                            <p:fltVal val="0"/>
                                          </p:val>
                                        </p:tav>
                                        <p:tav tm="100000">
                                          <p:val>
                                            <p:strVal val="#ppt_w"/>
                                          </p:val>
                                        </p:tav>
                                      </p:tavLst>
                                    </p:anim>
                                    <p:anim calcmode="lin" valueType="num">
                                      <p:cBhvr>
                                        <p:cTn id="37" dur="500" fill="hold"/>
                                        <p:tgtEl>
                                          <p:spTgt spid="285701">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69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9" name="Rectangle 2"/>
          <p:cNvSpPr>
            <a:spLocks noGrp="1" noChangeArrowheads="1"/>
          </p:cNvSpPr>
          <p:nvPr>
            <p:ph type="title"/>
          </p:nvPr>
        </p:nvSpPr>
        <p:spPr/>
        <p:txBody>
          <a:bodyPr>
            <a:spAutoFit/>
          </a:bodyPr>
          <a:lstStyle/>
          <a:p>
            <a:pPr eaLnBrk="1" hangingPunct="1"/>
            <a:r>
              <a:rPr lang="en-GB"/>
              <a:t>Psychology of testing</a:t>
            </a:r>
          </a:p>
        </p:txBody>
      </p:sp>
      <p:sp>
        <p:nvSpPr>
          <p:cNvPr id="287747" name="Rectangle 3"/>
          <p:cNvSpPr>
            <a:spLocks noGrp="1" noChangeArrowheads="1"/>
          </p:cNvSpPr>
          <p:nvPr>
            <p:ph idx="1"/>
          </p:nvPr>
        </p:nvSpPr>
        <p:spPr/>
        <p:txBody>
          <a:bodyPr/>
          <a:lstStyle/>
          <a:p>
            <a:pPr marL="0" indent="0" eaLnBrk="1" hangingPunct="1"/>
            <a:r>
              <a:rPr lang="en-GB" dirty="0"/>
              <a:t>Need to focus on effective communication</a:t>
            </a:r>
          </a:p>
          <a:p>
            <a:pPr marL="447675" lvl="1" indent="0" eaLnBrk="1" hangingPunct="1"/>
            <a:r>
              <a:rPr lang="en-GB" dirty="0"/>
              <a:t>Constructive rather than confrontational.</a:t>
            </a:r>
          </a:p>
          <a:p>
            <a:pPr marL="447675" lvl="1" indent="0" eaLnBrk="1" hangingPunct="1"/>
            <a:r>
              <a:rPr lang="en-GB" dirty="0"/>
              <a:t>Present in a non-personal way.</a:t>
            </a:r>
          </a:p>
          <a:p>
            <a:pPr marL="447675" lvl="1" indent="0" eaLnBrk="1" hangingPunct="1"/>
            <a:r>
              <a:rPr lang="en-GB" dirty="0"/>
              <a:t>Empathy.</a:t>
            </a:r>
          </a:p>
          <a:p>
            <a:pPr marL="447675" lvl="1" indent="0" eaLnBrk="1" hangingPunct="1"/>
            <a:r>
              <a:rPr lang="en-GB" dirty="0"/>
              <a:t>Clarification.</a:t>
            </a:r>
          </a:p>
          <a:p>
            <a:pPr marL="0" indent="0" eaLnBrk="1" hangingPunct="1"/>
            <a:endParaRPr lang="en-GB" dirty="0"/>
          </a:p>
          <a:p>
            <a:pPr marL="0" indent="0" eaLnBrk="1" hangingPunct="1"/>
            <a:r>
              <a:rPr lang="en-GB" dirty="0"/>
              <a:t>Testers should be pedantic and sceptical, but also impartial and constructive.</a:t>
            </a:r>
          </a:p>
        </p:txBody>
      </p:sp>
      <p:sp>
        <p:nvSpPr>
          <p:cNvPr id="301057" name="Slide Number Placeholder 1"/>
          <p:cNvSpPr>
            <a:spLocks noGrp="1"/>
          </p:cNvSpPr>
          <p:nvPr>
            <p:ph type="sldNum" sz="quarter" idx="4294967295"/>
          </p:nvPr>
        </p:nvSpPr>
        <p:spPr bwMode="auto">
          <a:xfrm>
            <a:off x="8861425" y="0"/>
            <a:ext cx="282575" cy="142875"/>
          </a:xfrm>
          <a:prstGeom prst="rect">
            <a:avLst/>
          </a:prstGeom>
          <a:noFill/>
          <a:ln>
            <a:miter lim="800000"/>
            <a:headEnd/>
            <a:tailEnd/>
          </a:ln>
        </p:spPr>
        <p:txBody>
          <a:bodyPr/>
          <a:lstStyle/>
          <a:p>
            <a:fld id="{BE207CED-45B9-4F1E-B574-9ACC35FAFAD9}" type="slidenum">
              <a:rPr lang="en-GB" smtClean="0"/>
              <a:pPr/>
              <a:t>3</a:t>
            </a:fld>
            <a:endParaRPr lang="en-GB"/>
          </a:p>
        </p:txBody>
      </p:sp>
    </p:spTree>
    <p:extLst>
      <p:ext uri="{BB962C8B-B14F-4D97-AF65-F5344CB8AC3E}">
        <p14:creationId xmlns:p14="http://schemas.microsoft.com/office/powerpoint/2010/main" val="3693142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287747">
                                            <p:txEl>
                                              <p:pRg st="1" end="1"/>
                                            </p:txEl>
                                          </p:spTgt>
                                        </p:tgtEl>
                                        <p:attrNameLst>
                                          <p:attrName>style.visibility</p:attrName>
                                        </p:attrNameLst>
                                      </p:cBhvr>
                                      <p:to>
                                        <p:strVal val="visible"/>
                                      </p:to>
                                    </p:set>
                                    <p:anim calcmode="lin" valueType="num">
                                      <p:cBhvr>
                                        <p:cTn id="7" dur="500" fill="hold"/>
                                        <p:tgtEl>
                                          <p:spTgt spid="28774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287747">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287747">
                                            <p:txEl>
                                              <p:pRg st="1" end="1"/>
                                            </p:txEl>
                                          </p:spTgt>
                                        </p:tgtEl>
                                      </p:cBhvr>
                                    </p:animEffect>
                                  </p:childTnLst>
                                </p:cTn>
                              </p:par>
                            </p:childTnLst>
                          </p:cTn>
                        </p:par>
                        <p:par>
                          <p:cTn id="10" fill="hold">
                            <p:stCondLst>
                              <p:cond delay="500"/>
                            </p:stCondLst>
                            <p:childTnLst>
                              <p:par>
                                <p:cTn id="11" presetID="53" presetClass="entr" presetSubtype="0" fill="hold" nodeType="afterEffect">
                                  <p:stCondLst>
                                    <p:cond delay="0"/>
                                  </p:stCondLst>
                                  <p:childTnLst>
                                    <p:set>
                                      <p:cBhvr>
                                        <p:cTn id="12" dur="1" fill="hold">
                                          <p:stCondLst>
                                            <p:cond delay="0"/>
                                          </p:stCondLst>
                                        </p:cTn>
                                        <p:tgtEl>
                                          <p:spTgt spid="287747">
                                            <p:txEl>
                                              <p:pRg st="2" end="2"/>
                                            </p:txEl>
                                          </p:spTgt>
                                        </p:tgtEl>
                                        <p:attrNameLst>
                                          <p:attrName>style.visibility</p:attrName>
                                        </p:attrNameLst>
                                      </p:cBhvr>
                                      <p:to>
                                        <p:strVal val="visible"/>
                                      </p:to>
                                    </p:set>
                                    <p:anim calcmode="lin" valueType="num">
                                      <p:cBhvr>
                                        <p:cTn id="13" dur="500" fill="hold"/>
                                        <p:tgtEl>
                                          <p:spTgt spid="287747">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287747">
                                            <p:txEl>
                                              <p:pRg st="2" end="2"/>
                                            </p:txEl>
                                          </p:spTgt>
                                        </p:tgtEl>
                                        <p:attrNameLst>
                                          <p:attrName>ppt_h</p:attrName>
                                        </p:attrNameLst>
                                      </p:cBhvr>
                                      <p:tavLst>
                                        <p:tav tm="0">
                                          <p:val>
                                            <p:fltVal val="0"/>
                                          </p:val>
                                        </p:tav>
                                        <p:tav tm="100000">
                                          <p:val>
                                            <p:strVal val="#ppt_h"/>
                                          </p:val>
                                        </p:tav>
                                      </p:tavLst>
                                    </p:anim>
                                    <p:animEffect transition="in" filter="fade">
                                      <p:cBhvr>
                                        <p:cTn id="15" dur="500"/>
                                        <p:tgtEl>
                                          <p:spTgt spid="287747">
                                            <p:txEl>
                                              <p:pRg st="2" end="2"/>
                                            </p:txEl>
                                          </p:spTgt>
                                        </p:tgtEl>
                                      </p:cBhvr>
                                    </p:animEffect>
                                  </p:childTnLst>
                                </p:cTn>
                              </p:par>
                            </p:childTnLst>
                          </p:cTn>
                        </p:par>
                        <p:par>
                          <p:cTn id="16" fill="hold">
                            <p:stCondLst>
                              <p:cond delay="1000"/>
                            </p:stCondLst>
                            <p:childTnLst>
                              <p:par>
                                <p:cTn id="17" presetID="53" presetClass="entr" presetSubtype="0" fill="hold" nodeType="afterEffect">
                                  <p:stCondLst>
                                    <p:cond delay="0"/>
                                  </p:stCondLst>
                                  <p:childTnLst>
                                    <p:set>
                                      <p:cBhvr>
                                        <p:cTn id="18" dur="1" fill="hold">
                                          <p:stCondLst>
                                            <p:cond delay="0"/>
                                          </p:stCondLst>
                                        </p:cTn>
                                        <p:tgtEl>
                                          <p:spTgt spid="287747">
                                            <p:txEl>
                                              <p:pRg st="3" end="3"/>
                                            </p:txEl>
                                          </p:spTgt>
                                        </p:tgtEl>
                                        <p:attrNameLst>
                                          <p:attrName>style.visibility</p:attrName>
                                        </p:attrNameLst>
                                      </p:cBhvr>
                                      <p:to>
                                        <p:strVal val="visible"/>
                                      </p:to>
                                    </p:set>
                                    <p:anim calcmode="lin" valueType="num">
                                      <p:cBhvr>
                                        <p:cTn id="19" dur="500" fill="hold"/>
                                        <p:tgtEl>
                                          <p:spTgt spid="287747">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287747">
                                            <p:txEl>
                                              <p:pRg st="3" end="3"/>
                                            </p:txEl>
                                          </p:spTgt>
                                        </p:tgtEl>
                                        <p:attrNameLst>
                                          <p:attrName>ppt_h</p:attrName>
                                        </p:attrNameLst>
                                      </p:cBhvr>
                                      <p:tavLst>
                                        <p:tav tm="0">
                                          <p:val>
                                            <p:fltVal val="0"/>
                                          </p:val>
                                        </p:tav>
                                        <p:tav tm="100000">
                                          <p:val>
                                            <p:strVal val="#ppt_h"/>
                                          </p:val>
                                        </p:tav>
                                      </p:tavLst>
                                    </p:anim>
                                    <p:animEffect transition="in" filter="fade">
                                      <p:cBhvr>
                                        <p:cTn id="21" dur="500"/>
                                        <p:tgtEl>
                                          <p:spTgt spid="287747">
                                            <p:txEl>
                                              <p:pRg st="3" end="3"/>
                                            </p:txEl>
                                          </p:spTgt>
                                        </p:tgtEl>
                                      </p:cBhvr>
                                    </p:animEffect>
                                  </p:childTnLst>
                                </p:cTn>
                              </p:par>
                            </p:childTnLst>
                          </p:cTn>
                        </p:par>
                        <p:par>
                          <p:cTn id="22" fill="hold">
                            <p:stCondLst>
                              <p:cond delay="1500"/>
                            </p:stCondLst>
                            <p:childTnLst>
                              <p:par>
                                <p:cTn id="23" presetID="53" presetClass="entr" presetSubtype="0" fill="hold" nodeType="afterEffect">
                                  <p:stCondLst>
                                    <p:cond delay="0"/>
                                  </p:stCondLst>
                                  <p:childTnLst>
                                    <p:set>
                                      <p:cBhvr>
                                        <p:cTn id="24" dur="1" fill="hold">
                                          <p:stCondLst>
                                            <p:cond delay="0"/>
                                          </p:stCondLst>
                                        </p:cTn>
                                        <p:tgtEl>
                                          <p:spTgt spid="287747">
                                            <p:txEl>
                                              <p:pRg st="4" end="4"/>
                                            </p:txEl>
                                          </p:spTgt>
                                        </p:tgtEl>
                                        <p:attrNameLst>
                                          <p:attrName>style.visibility</p:attrName>
                                        </p:attrNameLst>
                                      </p:cBhvr>
                                      <p:to>
                                        <p:strVal val="visible"/>
                                      </p:to>
                                    </p:set>
                                    <p:anim calcmode="lin" valueType="num">
                                      <p:cBhvr>
                                        <p:cTn id="25" dur="500" fill="hold"/>
                                        <p:tgtEl>
                                          <p:spTgt spid="287747">
                                            <p:txEl>
                                              <p:pRg st="4" end="4"/>
                                            </p:txEl>
                                          </p:spTgt>
                                        </p:tgtEl>
                                        <p:attrNameLst>
                                          <p:attrName>ppt_w</p:attrName>
                                        </p:attrNameLst>
                                      </p:cBhvr>
                                      <p:tavLst>
                                        <p:tav tm="0">
                                          <p:val>
                                            <p:fltVal val="0"/>
                                          </p:val>
                                        </p:tav>
                                        <p:tav tm="100000">
                                          <p:val>
                                            <p:strVal val="#ppt_w"/>
                                          </p:val>
                                        </p:tav>
                                      </p:tavLst>
                                    </p:anim>
                                    <p:anim calcmode="lin" valueType="num">
                                      <p:cBhvr>
                                        <p:cTn id="26" dur="500" fill="hold"/>
                                        <p:tgtEl>
                                          <p:spTgt spid="287747">
                                            <p:txEl>
                                              <p:pRg st="4" end="4"/>
                                            </p:txEl>
                                          </p:spTgt>
                                        </p:tgtEl>
                                        <p:attrNameLst>
                                          <p:attrName>ppt_h</p:attrName>
                                        </p:attrNameLst>
                                      </p:cBhvr>
                                      <p:tavLst>
                                        <p:tav tm="0">
                                          <p:val>
                                            <p:fltVal val="0"/>
                                          </p:val>
                                        </p:tav>
                                        <p:tav tm="100000">
                                          <p:val>
                                            <p:strVal val="#ppt_h"/>
                                          </p:val>
                                        </p:tav>
                                      </p:tavLst>
                                    </p:anim>
                                    <p:animEffect transition="in" filter="fade">
                                      <p:cBhvr>
                                        <p:cTn id="27" dur="500"/>
                                        <p:tgtEl>
                                          <p:spTgt spid="287747">
                                            <p:txEl>
                                              <p:pRg st="4" end="4"/>
                                            </p:txEl>
                                          </p:spTgt>
                                        </p:tgtEl>
                                      </p:cBhvr>
                                    </p:animEffect>
                                  </p:childTnLst>
                                </p:cTn>
                              </p:par>
                            </p:childTnLst>
                          </p:cTn>
                        </p:par>
                        <p:par>
                          <p:cTn id="28" fill="hold">
                            <p:stCondLst>
                              <p:cond delay="2000"/>
                            </p:stCondLst>
                            <p:childTnLst>
                              <p:par>
                                <p:cTn id="29" presetID="53" presetClass="entr" presetSubtype="0" fill="hold" nodeType="afterEffect">
                                  <p:stCondLst>
                                    <p:cond delay="1000"/>
                                  </p:stCondLst>
                                  <p:childTnLst>
                                    <p:set>
                                      <p:cBhvr>
                                        <p:cTn id="30" dur="1" fill="hold">
                                          <p:stCondLst>
                                            <p:cond delay="0"/>
                                          </p:stCondLst>
                                        </p:cTn>
                                        <p:tgtEl>
                                          <p:spTgt spid="287747">
                                            <p:txEl>
                                              <p:pRg st="6" end="6"/>
                                            </p:txEl>
                                          </p:spTgt>
                                        </p:tgtEl>
                                        <p:attrNameLst>
                                          <p:attrName>style.visibility</p:attrName>
                                        </p:attrNameLst>
                                      </p:cBhvr>
                                      <p:to>
                                        <p:strVal val="visible"/>
                                      </p:to>
                                    </p:set>
                                    <p:anim calcmode="lin" valueType="num">
                                      <p:cBhvr>
                                        <p:cTn id="31" dur="500" fill="hold"/>
                                        <p:tgtEl>
                                          <p:spTgt spid="287747">
                                            <p:txEl>
                                              <p:pRg st="6" end="6"/>
                                            </p:txEl>
                                          </p:spTgt>
                                        </p:tgtEl>
                                        <p:attrNameLst>
                                          <p:attrName>ppt_w</p:attrName>
                                        </p:attrNameLst>
                                      </p:cBhvr>
                                      <p:tavLst>
                                        <p:tav tm="0">
                                          <p:val>
                                            <p:fltVal val="0"/>
                                          </p:val>
                                        </p:tav>
                                        <p:tav tm="100000">
                                          <p:val>
                                            <p:strVal val="#ppt_w"/>
                                          </p:val>
                                        </p:tav>
                                      </p:tavLst>
                                    </p:anim>
                                    <p:anim calcmode="lin" valueType="num">
                                      <p:cBhvr>
                                        <p:cTn id="32" dur="500" fill="hold"/>
                                        <p:tgtEl>
                                          <p:spTgt spid="287747">
                                            <p:txEl>
                                              <p:pRg st="6" end="6"/>
                                            </p:txEl>
                                          </p:spTgt>
                                        </p:tgtEl>
                                        <p:attrNameLst>
                                          <p:attrName>ppt_h</p:attrName>
                                        </p:attrNameLst>
                                      </p:cBhvr>
                                      <p:tavLst>
                                        <p:tav tm="0">
                                          <p:val>
                                            <p:fltVal val="0"/>
                                          </p:val>
                                        </p:tav>
                                        <p:tav tm="100000">
                                          <p:val>
                                            <p:strVal val="#ppt_h"/>
                                          </p:val>
                                        </p:tav>
                                      </p:tavLst>
                                    </p:anim>
                                    <p:animEffect transition="in" filter="fade">
                                      <p:cBhvr>
                                        <p:cTn id="33" dur="500"/>
                                        <p:tgtEl>
                                          <p:spTgt spid="2877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64" name="Rectangle 4"/>
          <p:cNvSpPr>
            <a:spLocks noGrp="1" noChangeArrowheads="1"/>
          </p:cNvSpPr>
          <p:nvPr>
            <p:ph type="title"/>
          </p:nvPr>
        </p:nvSpPr>
        <p:spPr/>
        <p:txBody>
          <a:bodyPr/>
          <a:lstStyle/>
          <a:p>
            <a:r>
              <a:rPr lang="en-US"/>
              <a:t>Communications with developers</a:t>
            </a:r>
          </a:p>
        </p:txBody>
      </p:sp>
      <p:sp>
        <p:nvSpPr>
          <p:cNvPr id="3266565" name="Rectangle 5"/>
          <p:cNvSpPr>
            <a:spLocks noGrp="1" noChangeArrowheads="1"/>
          </p:cNvSpPr>
          <p:nvPr>
            <p:ph type="body" idx="1"/>
          </p:nvPr>
        </p:nvSpPr>
        <p:spPr/>
        <p:txBody>
          <a:bodyPr/>
          <a:lstStyle/>
          <a:p>
            <a:r>
              <a:rPr lang="en-US"/>
              <a:t>Communication problems may occur, particularly if testers are seen only as messengers of unwanted news about defects</a:t>
            </a:r>
          </a:p>
          <a:p>
            <a:r>
              <a:rPr lang="en-US"/>
              <a:t>Ways to improve relationships with others:</a:t>
            </a:r>
          </a:p>
          <a:p>
            <a:pPr lvl="1"/>
            <a:r>
              <a:rPr lang="en-US"/>
              <a:t>Collaboration, not battles</a:t>
            </a:r>
          </a:p>
          <a:p>
            <a:pPr lvl="1"/>
            <a:r>
              <a:rPr lang="en-US"/>
              <a:t>Neutral, objective, avoiding personalities</a:t>
            </a:r>
          </a:p>
          <a:p>
            <a:pPr lvl="1"/>
            <a:r>
              <a:rPr lang="en-US"/>
              <a:t>Understand how the other person feels and why they react as they do</a:t>
            </a:r>
          </a:p>
          <a:p>
            <a:pPr lvl="1"/>
            <a:r>
              <a:rPr lang="en-US"/>
              <a:t>Confirm that the other person has understood what you have said and vice versa.</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0420" name="Rectangle 4"/>
          <p:cNvSpPr>
            <a:spLocks noGrp="1" noChangeArrowheads="1"/>
          </p:cNvSpPr>
          <p:nvPr>
            <p:ph type="title"/>
          </p:nvPr>
        </p:nvSpPr>
        <p:spPr/>
        <p:txBody>
          <a:bodyPr/>
          <a:lstStyle/>
          <a:p>
            <a:r>
              <a:rPr lang="en-US"/>
              <a:t>Goal: locate defects</a:t>
            </a:r>
          </a:p>
        </p:txBody>
      </p:sp>
      <p:sp>
        <p:nvSpPr>
          <p:cNvPr id="3260421" name="Rectangle 5"/>
          <p:cNvSpPr>
            <a:spLocks noGrp="1" noChangeArrowheads="1"/>
          </p:cNvSpPr>
          <p:nvPr>
            <p:ph type="body" idx="1"/>
          </p:nvPr>
        </p:nvSpPr>
        <p:spPr/>
        <p:txBody>
          <a:bodyPr/>
          <a:lstStyle/>
          <a:p>
            <a:r>
              <a:rPr lang="en-US"/>
              <a:t>A successful test is one that locates a defect</a:t>
            </a:r>
          </a:p>
          <a:p>
            <a:r>
              <a:rPr lang="en-US"/>
              <a:t>If finding defects is the testers' aim:</a:t>
            </a:r>
          </a:p>
          <a:p>
            <a:pPr lvl="1"/>
            <a:r>
              <a:rPr lang="en-US"/>
              <a:t>positive motivation - finding defects is good</a:t>
            </a:r>
          </a:p>
          <a:p>
            <a:pPr lvl="1"/>
            <a:r>
              <a:rPr lang="en-US"/>
              <a:t>constructive - perceived as improving quality</a:t>
            </a:r>
          </a:p>
          <a:p>
            <a:pPr lvl="1"/>
            <a:r>
              <a:rPr lang="en-US"/>
              <a:t>testers create 'tough' tests, not easy ones</a:t>
            </a:r>
          </a:p>
          <a:p>
            <a:r>
              <a:rPr lang="en-US"/>
              <a:t>If we are effective at finding defects, and then can't find any, we can be confident the system works.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2470" name="Rectangle 6"/>
          <p:cNvSpPr>
            <a:spLocks noGrp="1" noChangeArrowheads="1"/>
          </p:cNvSpPr>
          <p:nvPr>
            <p:ph type="title"/>
          </p:nvPr>
        </p:nvSpPr>
        <p:spPr/>
        <p:txBody>
          <a:bodyPr/>
          <a:lstStyle/>
          <a:p>
            <a:r>
              <a:rPr lang="en-US"/>
              <a:t>Tester mindset</a:t>
            </a:r>
          </a:p>
        </p:txBody>
      </p:sp>
      <p:sp>
        <p:nvSpPr>
          <p:cNvPr id="3262471" name="Rectangle 7"/>
          <p:cNvSpPr>
            <a:spLocks noGrp="1" noChangeArrowheads="1"/>
          </p:cNvSpPr>
          <p:nvPr>
            <p:ph type="body" idx="1"/>
          </p:nvPr>
        </p:nvSpPr>
        <p:spPr/>
        <p:txBody>
          <a:bodyPr/>
          <a:lstStyle/>
          <a:p>
            <a:pPr>
              <a:lnSpc>
                <a:spcPct val="90000"/>
              </a:lnSpc>
            </a:pPr>
            <a:r>
              <a:rPr lang="en-US" sz="2400" dirty="0"/>
              <a:t>A destructive activity, requiring keen skills and tenacity</a:t>
            </a:r>
          </a:p>
          <a:p>
            <a:pPr>
              <a:lnSpc>
                <a:spcPct val="90000"/>
              </a:lnSpc>
            </a:pPr>
            <a:r>
              <a:rPr lang="en-US" sz="2400" dirty="0"/>
              <a:t>But also requires excellent communication skills</a:t>
            </a:r>
          </a:p>
          <a:p>
            <a:pPr>
              <a:lnSpc>
                <a:spcPct val="90000"/>
              </a:lnSpc>
            </a:pPr>
            <a:r>
              <a:rPr lang="en-US" sz="2400" dirty="0"/>
              <a:t>Destructive to products but constructive to authors and developers</a:t>
            </a:r>
          </a:p>
          <a:p>
            <a:pPr>
              <a:lnSpc>
                <a:spcPct val="90000"/>
              </a:lnSpc>
            </a:pPr>
            <a:r>
              <a:rPr lang="en-US" sz="2400" dirty="0"/>
              <a:t>Testers may benefit from a split personality?</a:t>
            </a:r>
          </a:p>
          <a:p>
            <a:pPr>
              <a:lnSpc>
                <a:spcPct val="90000"/>
              </a:lnSpc>
            </a:pPr>
            <a:r>
              <a:rPr lang="en-US" sz="2400" dirty="0"/>
              <a:t>Pedantic, skeptical, nit-picking to software</a:t>
            </a:r>
          </a:p>
          <a:p>
            <a:pPr lvl="1">
              <a:lnSpc>
                <a:spcPct val="90000"/>
              </a:lnSpc>
            </a:pPr>
            <a:r>
              <a:rPr lang="en-US" sz="2000" dirty="0"/>
              <a:t>trust developers, but doubt the product</a:t>
            </a:r>
          </a:p>
          <a:p>
            <a:pPr lvl="1">
              <a:lnSpc>
                <a:spcPct val="90000"/>
              </a:lnSpc>
            </a:pPr>
            <a:r>
              <a:rPr lang="en-US" sz="2000" dirty="0"/>
              <a:t>nothing 'works', until you've tested it</a:t>
            </a:r>
          </a:p>
          <a:p>
            <a:pPr>
              <a:lnSpc>
                <a:spcPct val="90000"/>
              </a:lnSpc>
            </a:pPr>
            <a:r>
              <a:rPr lang="en-US" sz="2400" dirty="0"/>
              <a:t>Impartial, advisory, constructive to developers:</a:t>
            </a:r>
          </a:p>
          <a:p>
            <a:pPr lvl="1">
              <a:lnSpc>
                <a:spcPct val="90000"/>
              </a:lnSpc>
            </a:pPr>
            <a:r>
              <a:rPr lang="en-US" sz="2000" dirty="0"/>
              <a:t>'tread lightly, as you tread on their dreams'</a:t>
            </a:r>
          </a:p>
          <a:p>
            <a:pPr lvl="1">
              <a:lnSpc>
                <a:spcPct val="90000"/>
              </a:lnSpc>
            </a:pPr>
            <a:r>
              <a:rPr lang="en-US" sz="2000" dirty="0"/>
              <a:t>diplomatic, but firm: the defects were there to be found, you didn't put them there.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0182" name="Rectangle 6"/>
          <p:cNvSpPr>
            <a:spLocks noGrp="1" noChangeArrowheads="1"/>
          </p:cNvSpPr>
          <p:nvPr>
            <p:ph type="title"/>
          </p:nvPr>
        </p:nvSpPr>
        <p:spPr/>
        <p:txBody>
          <a:bodyPr/>
          <a:lstStyle/>
          <a:p>
            <a:r>
              <a:rPr lang="en-US"/>
              <a:t>Independence</a:t>
            </a:r>
          </a:p>
        </p:txBody>
      </p:sp>
      <p:sp>
        <p:nvSpPr>
          <p:cNvPr id="3250183" name="Rectangle 7"/>
          <p:cNvSpPr>
            <a:spLocks noGrp="1" noChangeArrowheads="1"/>
          </p:cNvSpPr>
          <p:nvPr>
            <p:ph type="body" idx="1"/>
          </p:nvPr>
        </p:nvSpPr>
        <p:spPr/>
        <p:txBody>
          <a:bodyPr/>
          <a:lstStyle/>
          <a:p>
            <a:pPr>
              <a:lnSpc>
                <a:spcPct val="90000"/>
              </a:lnSpc>
            </a:pPr>
            <a:r>
              <a:rPr lang="en-US"/>
              <a:t>The mindset to be used while testing and reviewing is different to that used while analyzing or developing</a:t>
            </a:r>
          </a:p>
          <a:p>
            <a:pPr>
              <a:lnSpc>
                <a:spcPct val="90000"/>
              </a:lnSpc>
            </a:pPr>
            <a:r>
              <a:rPr lang="en-US"/>
              <a:t>Independent testing may be carried out at any level of testing</a:t>
            </a:r>
          </a:p>
          <a:p>
            <a:pPr>
              <a:lnSpc>
                <a:spcPct val="90000"/>
              </a:lnSpc>
            </a:pPr>
            <a:r>
              <a:rPr lang="en-US"/>
              <a:t>A certain degree of independence (avoiding the author bias) is often more effective at finding defects and failures</a:t>
            </a:r>
          </a:p>
          <a:p>
            <a:pPr>
              <a:lnSpc>
                <a:spcPct val="90000"/>
              </a:lnSpc>
            </a:pPr>
            <a:r>
              <a:rPr lang="en-US"/>
              <a:t>Independence is not, however, a replacement for familiarity, and developers can efficiently find many defects in their own code</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5" name="Rectangle 2"/>
          <p:cNvSpPr>
            <a:spLocks noGrp="1" noChangeArrowheads="1"/>
          </p:cNvSpPr>
          <p:nvPr>
            <p:ph type="title"/>
          </p:nvPr>
        </p:nvSpPr>
        <p:spPr/>
        <p:txBody>
          <a:bodyPr>
            <a:spAutoFit/>
          </a:bodyPr>
          <a:lstStyle/>
          <a:p>
            <a:pPr eaLnBrk="1" hangingPunct="1"/>
            <a:r>
              <a:rPr lang="en-GB"/>
              <a:t>Degrees of independence</a:t>
            </a:r>
          </a:p>
        </p:txBody>
      </p:sp>
      <p:sp>
        <p:nvSpPr>
          <p:cNvPr id="305153" name="Slide Number Placeholder 1"/>
          <p:cNvSpPr>
            <a:spLocks noGrp="1"/>
          </p:cNvSpPr>
          <p:nvPr>
            <p:ph type="sldNum" sz="quarter" idx="4294967295"/>
          </p:nvPr>
        </p:nvSpPr>
        <p:spPr bwMode="auto">
          <a:xfrm>
            <a:off x="8861425" y="0"/>
            <a:ext cx="282575" cy="142875"/>
          </a:xfrm>
          <a:prstGeom prst="rect">
            <a:avLst/>
          </a:prstGeom>
          <a:noFill/>
          <a:ln>
            <a:miter lim="800000"/>
            <a:headEnd/>
            <a:tailEnd/>
          </a:ln>
        </p:spPr>
        <p:txBody>
          <a:bodyPr/>
          <a:lstStyle/>
          <a:p>
            <a:fld id="{601C3275-7BE7-4D51-928C-163CF9D191E0}" type="slidenum">
              <a:rPr lang="en-GB" smtClean="0"/>
              <a:pPr/>
              <a:t>8</a:t>
            </a:fld>
            <a:endParaRPr lang="en-GB"/>
          </a:p>
        </p:txBody>
      </p:sp>
      <p:sp>
        <p:nvSpPr>
          <p:cNvPr id="305157" name="Text Box 4"/>
          <p:cNvSpPr txBox="1">
            <a:spLocks noChangeArrowheads="1"/>
          </p:cNvSpPr>
          <p:nvPr/>
        </p:nvSpPr>
        <p:spPr bwMode="auto">
          <a:xfrm>
            <a:off x="7813902" y="4603070"/>
            <a:ext cx="427037" cy="285750"/>
          </a:xfrm>
          <a:prstGeom prst="rect">
            <a:avLst/>
          </a:prstGeom>
          <a:noFill/>
          <a:ln w="9525" algn="ctr">
            <a:noFill/>
            <a:miter lim="800000"/>
            <a:headEnd/>
            <a:tailEnd/>
          </a:ln>
        </p:spPr>
        <p:txBody>
          <a:bodyPr wrap="none" lIns="35994" tIns="35994" rIns="35994" bIns="35994">
            <a:spAutoFit/>
          </a:bodyPr>
          <a:lstStyle/>
          <a:p>
            <a:pPr algn="ctr">
              <a:lnSpc>
                <a:spcPct val="100000"/>
              </a:lnSpc>
              <a:spcAft>
                <a:spcPct val="0"/>
              </a:spcAft>
              <a:buFontTx/>
              <a:buNone/>
            </a:pPr>
            <a:r>
              <a:rPr lang="en-GB" sz="1400" dirty="0">
                <a:solidFill>
                  <a:srgbClr val="0C2678"/>
                </a:solidFill>
              </a:rPr>
              <a:t>Low</a:t>
            </a:r>
          </a:p>
        </p:txBody>
      </p:sp>
      <p:sp>
        <p:nvSpPr>
          <p:cNvPr id="305158" name="Text Box 5"/>
          <p:cNvSpPr txBox="1">
            <a:spLocks noChangeArrowheads="1"/>
          </p:cNvSpPr>
          <p:nvPr/>
        </p:nvSpPr>
        <p:spPr bwMode="auto">
          <a:xfrm>
            <a:off x="7966981" y="1845355"/>
            <a:ext cx="466725" cy="285750"/>
          </a:xfrm>
          <a:prstGeom prst="rect">
            <a:avLst/>
          </a:prstGeom>
          <a:noFill/>
          <a:ln w="9525" algn="ctr">
            <a:noFill/>
            <a:miter lim="800000"/>
            <a:headEnd/>
            <a:tailEnd/>
          </a:ln>
        </p:spPr>
        <p:txBody>
          <a:bodyPr wrap="none" lIns="35994" tIns="35994" rIns="35994" bIns="35994">
            <a:spAutoFit/>
          </a:bodyPr>
          <a:lstStyle/>
          <a:p>
            <a:pPr algn="ctr">
              <a:lnSpc>
                <a:spcPct val="100000"/>
              </a:lnSpc>
              <a:spcAft>
                <a:spcPct val="0"/>
              </a:spcAft>
              <a:buFontTx/>
              <a:buNone/>
            </a:pPr>
            <a:r>
              <a:rPr lang="en-GB" sz="1400" dirty="0">
                <a:solidFill>
                  <a:srgbClr val="0C2678"/>
                </a:solidFill>
              </a:rPr>
              <a:t>High</a:t>
            </a:r>
          </a:p>
        </p:txBody>
      </p:sp>
      <p:sp>
        <p:nvSpPr>
          <p:cNvPr id="289799" name="Text Box 7"/>
          <p:cNvSpPr txBox="1">
            <a:spLocks noChangeArrowheads="1"/>
          </p:cNvSpPr>
          <p:nvPr/>
        </p:nvSpPr>
        <p:spPr bwMode="auto">
          <a:xfrm>
            <a:off x="3409042" y="3634165"/>
            <a:ext cx="3336925" cy="347663"/>
          </a:xfrm>
          <a:prstGeom prst="rect">
            <a:avLst/>
          </a:prstGeom>
          <a:noFill/>
          <a:ln w="9525" algn="ctr">
            <a:noFill/>
            <a:miter lim="800000"/>
            <a:headEnd/>
            <a:tailEnd/>
          </a:ln>
        </p:spPr>
        <p:txBody>
          <a:bodyPr wrap="none" lIns="35994" tIns="35994" rIns="35994" bIns="35994">
            <a:spAutoFit/>
          </a:bodyPr>
          <a:lstStyle/>
          <a:p>
            <a:pPr algn="r">
              <a:lnSpc>
                <a:spcPct val="100000"/>
              </a:lnSpc>
              <a:spcAft>
                <a:spcPct val="0"/>
              </a:spcAft>
              <a:buFontTx/>
              <a:buNone/>
            </a:pPr>
            <a:r>
              <a:rPr lang="en-GB" sz="1800" dirty="0">
                <a:solidFill>
                  <a:srgbClr val="0C2678"/>
                </a:solidFill>
              </a:rPr>
              <a:t>Separate permanent test team</a:t>
            </a:r>
          </a:p>
        </p:txBody>
      </p:sp>
      <p:sp>
        <p:nvSpPr>
          <p:cNvPr id="289800" name="Text Box 8"/>
          <p:cNvSpPr txBox="1">
            <a:spLocks noChangeArrowheads="1"/>
          </p:cNvSpPr>
          <p:nvPr/>
        </p:nvSpPr>
        <p:spPr bwMode="auto">
          <a:xfrm>
            <a:off x="1700892" y="2704949"/>
            <a:ext cx="5045075" cy="622300"/>
          </a:xfrm>
          <a:prstGeom prst="rect">
            <a:avLst/>
          </a:prstGeom>
          <a:noFill/>
          <a:ln w="9525" algn="ctr">
            <a:noFill/>
            <a:miter lim="800000"/>
            <a:headEnd/>
            <a:tailEnd/>
          </a:ln>
        </p:spPr>
        <p:txBody>
          <a:bodyPr lIns="35994" tIns="35994" rIns="35994" bIns="35994">
            <a:spAutoFit/>
          </a:bodyPr>
          <a:lstStyle/>
          <a:p>
            <a:pPr algn="r">
              <a:lnSpc>
                <a:spcPct val="100000"/>
              </a:lnSpc>
              <a:spcAft>
                <a:spcPct val="0"/>
              </a:spcAft>
              <a:buFontTx/>
              <a:buNone/>
            </a:pPr>
            <a:r>
              <a:rPr lang="en-GB" sz="1800" dirty="0">
                <a:solidFill>
                  <a:srgbClr val="0C2678"/>
                </a:solidFill>
              </a:rPr>
              <a:t>Specialist testers such as usability testers, </a:t>
            </a:r>
          </a:p>
          <a:p>
            <a:pPr algn="r">
              <a:lnSpc>
                <a:spcPct val="100000"/>
              </a:lnSpc>
              <a:spcAft>
                <a:spcPct val="0"/>
              </a:spcAft>
              <a:buFontTx/>
              <a:buNone/>
            </a:pPr>
            <a:r>
              <a:rPr lang="en-GB" sz="1800" dirty="0">
                <a:solidFill>
                  <a:srgbClr val="0C2678"/>
                </a:solidFill>
              </a:rPr>
              <a:t>performance testers, security testers etc.</a:t>
            </a:r>
          </a:p>
        </p:txBody>
      </p:sp>
      <p:sp>
        <p:nvSpPr>
          <p:cNvPr id="289801" name="Text Box 9"/>
          <p:cNvSpPr txBox="1">
            <a:spLocks noChangeArrowheads="1"/>
          </p:cNvSpPr>
          <p:nvPr/>
        </p:nvSpPr>
        <p:spPr bwMode="auto">
          <a:xfrm>
            <a:off x="3713842" y="4288745"/>
            <a:ext cx="3032125" cy="347662"/>
          </a:xfrm>
          <a:prstGeom prst="rect">
            <a:avLst/>
          </a:prstGeom>
          <a:noFill/>
          <a:ln w="9525" algn="ctr">
            <a:noFill/>
            <a:miter lim="800000"/>
            <a:headEnd/>
            <a:tailEnd/>
          </a:ln>
        </p:spPr>
        <p:txBody>
          <a:bodyPr wrap="none" lIns="35994" tIns="35994" rIns="35994" bIns="35994">
            <a:spAutoFit/>
          </a:bodyPr>
          <a:lstStyle/>
          <a:p>
            <a:pPr algn="r">
              <a:lnSpc>
                <a:spcPct val="100000"/>
              </a:lnSpc>
              <a:spcAft>
                <a:spcPct val="0"/>
              </a:spcAft>
              <a:buFontTx/>
              <a:buNone/>
            </a:pPr>
            <a:r>
              <a:rPr lang="en-GB" sz="1800" dirty="0">
                <a:solidFill>
                  <a:srgbClr val="0C2678"/>
                </a:solidFill>
              </a:rPr>
              <a:t>Developers used as testers</a:t>
            </a:r>
          </a:p>
        </p:txBody>
      </p:sp>
      <p:sp>
        <p:nvSpPr>
          <p:cNvPr id="289802" name="Text Box 10"/>
          <p:cNvSpPr txBox="1">
            <a:spLocks noChangeArrowheads="1"/>
          </p:cNvSpPr>
          <p:nvPr/>
        </p:nvSpPr>
        <p:spPr bwMode="auto">
          <a:xfrm>
            <a:off x="2532742" y="1775733"/>
            <a:ext cx="4213225" cy="622300"/>
          </a:xfrm>
          <a:prstGeom prst="rect">
            <a:avLst/>
          </a:prstGeom>
          <a:noFill/>
          <a:ln w="9525" algn="ctr">
            <a:noFill/>
            <a:miter lim="800000"/>
            <a:headEnd/>
            <a:tailEnd/>
          </a:ln>
        </p:spPr>
        <p:txBody>
          <a:bodyPr wrap="none" lIns="35994" tIns="35994" rIns="35994" bIns="35994">
            <a:spAutoFit/>
          </a:bodyPr>
          <a:lstStyle/>
          <a:p>
            <a:pPr algn="r">
              <a:lnSpc>
                <a:spcPct val="100000"/>
              </a:lnSpc>
              <a:spcAft>
                <a:spcPct val="0"/>
              </a:spcAft>
              <a:buFontTx/>
              <a:buNone/>
            </a:pPr>
            <a:r>
              <a:rPr lang="en-GB" sz="1800" dirty="0">
                <a:solidFill>
                  <a:srgbClr val="0C2678"/>
                </a:solidFill>
              </a:rPr>
              <a:t>Outsourced test team </a:t>
            </a:r>
          </a:p>
          <a:p>
            <a:pPr algn="r">
              <a:lnSpc>
                <a:spcPct val="100000"/>
              </a:lnSpc>
              <a:spcAft>
                <a:spcPct val="0"/>
              </a:spcAft>
              <a:buFontTx/>
              <a:buNone/>
            </a:pPr>
            <a:r>
              <a:rPr lang="en-GB" sz="1800" dirty="0">
                <a:solidFill>
                  <a:srgbClr val="0C2678"/>
                </a:solidFill>
              </a:rPr>
              <a:t>(e.g. contractors, testing consultancy)</a:t>
            </a:r>
          </a:p>
        </p:txBody>
      </p:sp>
      <p:sp>
        <p:nvSpPr>
          <p:cNvPr id="13" name="Up Arrow 12"/>
          <p:cNvSpPr/>
          <p:nvPr/>
        </p:nvSpPr>
        <p:spPr bwMode="auto">
          <a:xfrm>
            <a:off x="6995886" y="1683657"/>
            <a:ext cx="1001486" cy="2946400"/>
          </a:xfrm>
          <a:prstGeom prst="upArrow">
            <a:avLst>
              <a:gd name="adj1" fmla="val 47101"/>
              <a:gd name="adj2" fmla="val 50000"/>
            </a:avLst>
          </a:prstGeom>
          <a:solidFill>
            <a:srgbClr val="00A1DE"/>
          </a:solidFill>
          <a:ln w="9525" cap="flat" cmpd="sng" algn="ctr">
            <a:noFill/>
            <a:prstDash val="solid"/>
            <a:round/>
            <a:headEnd type="none" w="med" len="med"/>
            <a:tailEnd type="none" w="med" len="med"/>
          </a:ln>
          <a:effectLst/>
        </p:spPr>
        <p:txBody>
          <a:bodyPr vert="vert"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90000"/>
              </a:lnSpc>
              <a:spcBef>
                <a:spcPct val="0"/>
              </a:spcBef>
              <a:spcAft>
                <a:spcPct val="37000"/>
              </a:spcAft>
              <a:buClrTx/>
              <a:buSzTx/>
              <a:buNone/>
              <a:tabLst/>
            </a:pPr>
            <a:r>
              <a:rPr kumimoji="0" lang="en-GB" sz="2000" b="1" i="0" u="none" strike="noStrike" cap="none" normalizeH="0" baseline="0" dirty="0">
                <a:ln>
                  <a:noFill/>
                </a:ln>
                <a:solidFill>
                  <a:schemeClr val="bg1"/>
                </a:solidFill>
                <a:effectLst/>
                <a:latin typeface="Arial" charset="0"/>
              </a:rPr>
              <a:t>Independence</a:t>
            </a:r>
          </a:p>
        </p:txBody>
      </p:sp>
    </p:spTree>
    <p:extLst>
      <p:ext uri="{BB962C8B-B14F-4D97-AF65-F5344CB8AC3E}">
        <p14:creationId xmlns:p14="http://schemas.microsoft.com/office/powerpoint/2010/main" val="133593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289801"/>
                                        </p:tgtEl>
                                        <p:attrNameLst>
                                          <p:attrName>style.visibility</p:attrName>
                                        </p:attrNameLst>
                                      </p:cBhvr>
                                      <p:to>
                                        <p:strVal val="visible"/>
                                      </p:to>
                                    </p:set>
                                    <p:anim calcmode="lin" valueType="num">
                                      <p:cBhvr>
                                        <p:cTn id="7" dur="1000" fill="hold"/>
                                        <p:tgtEl>
                                          <p:spTgt spid="289801"/>
                                        </p:tgtEl>
                                        <p:attrNameLst>
                                          <p:attrName>ppt_w</p:attrName>
                                        </p:attrNameLst>
                                      </p:cBhvr>
                                      <p:tavLst>
                                        <p:tav tm="0">
                                          <p:val>
                                            <p:fltVal val="0"/>
                                          </p:val>
                                        </p:tav>
                                        <p:tav tm="100000">
                                          <p:val>
                                            <p:strVal val="#ppt_w"/>
                                          </p:val>
                                        </p:tav>
                                      </p:tavLst>
                                    </p:anim>
                                    <p:anim calcmode="lin" valueType="num">
                                      <p:cBhvr>
                                        <p:cTn id="8" dur="1000" fill="hold"/>
                                        <p:tgtEl>
                                          <p:spTgt spid="289801"/>
                                        </p:tgtEl>
                                        <p:attrNameLst>
                                          <p:attrName>ppt_h</p:attrName>
                                        </p:attrNameLst>
                                      </p:cBhvr>
                                      <p:tavLst>
                                        <p:tav tm="0">
                                          <p:val>
                                            <p:fltVal val="0"/>
                                          </p:val>
                                        </p:tav>
                                        <p:tav tm="100000">
                                          <p:val>
                                            <p:strVal val="#ppt_h"/>
                                          </p:val>
                                        </p:tav>
                                      </p:tavLst>
                                    </p:anim>
                                    <p:anim calcmode="lin" valueType="num">
                                      <p:cBhvr>
                                        <p:cTn id="9" dur="1000" fill="hold"/>
                                        <p:tgtEl>
                                          <p:spTgt spid="289801"/>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89801"/>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15" presetClass="entr" presetSubtype="0" fill="hold" grpId="0" nodeType="afterEffect">
                                  <p:stCondLst>
                                    <p:cond delay="0"/>
                                  </p:stCondLst>
                                  <p:childTnLst>
                                    <p:set>
                                      <p:cBhvr>
                                        <p:cTn id="13" dur="1" fill="hold">
                                          <p:stCondLst>
                                            <p:cond delay="0"/>
                                          </p:stCondLst>
                                        </p:cTn>
                                        <p:tgtEl>
                                          <p:spTgt spid="289799"/>
                                        </p:tgtEl>
                                        <p:attrNameLst>
                                          <p:attrName>style.visibility</p:attrName>
                                        </p:attrNameLst>
                                      </p:cBhvr>
                                      <p:to>
                                        <p:strVal val="visible"/>
                                      </p:to>
                                    </p:set>
                                    <p:anim calcmode="lin" valueType="num">
                                      <p:cBhvr>
                                        <p:cTn id="14" dur="1000" fill="hold"/>
                                        <p:tgtEl>
                                          <p:spTgt spid="289799"/>
                                        </p:tgtEl>
                                        <p:attrNameLst>
                                          <p:attrName>ppt_w</p:attrName>
                                        </p:attrNameLst>
                                      </p:cBhvr>
                                      <p:tavLst>
                                        <p:tav tm="0">
                                          <p:val>
                                            <p:fltVal val="0"/>
                                          </p:val>
                                        </p:tav>
                                        <p:tav tm="100000">
                                          <p:val>
                                            <p:strVal val="#ppt_w"/>
                                          </p:val>
                                        </p:tav>
                                      </p:tavLst>
                                    </p:anim>
                                    <p:anim calcmode="lin" valueType="num">
                                      <p:cBhvr>
                                        <p:cTn id="15" dur="1000" fill="hold"/>
                                        <p:tgtEl>
                                          <p:spTgt spid="289799"/>
                                        </p:tgtEl>
                                        <p:attrNameLst>
                                          <p:attrName>ppt_h</p:attrName>
                                        </p:attrNameLst>
                                      </p:cBhvr>
                                      <p:tavLst>
                                        <p:tav tm="0">
                                          <p:val>
                                            <p:fltVal val="0"/>
                                          </p:val>
                                        </p:tav>
                                        <p:tav tm="100000">
                                          <p:val>
                                            <p:strVal val="#ppt_h"/>
                                          </p:val>
                                        </p:tav>
                                      </p:tavLst>
                                    </p:anim>
                                    <p:anim calcmode="lin" valueType="num">
                                      <p:cBhvr>
                                        <p:cTn id="16" dur="1000" fill="hold"/>
                                        <p:tgtEl>
                                          <p:spTgt spid="289799"/>
                                        </p:tgtEl>
                                        <p:attrNameLst>
                                          <p:attrName>ppt_x</p:attrName>
                                        </p:attrNameLst>
                                      </p:cBhvr>
                                      <p:tavLst>
                                        <p:tav tm="0" fmla="#ppt_x+(cos(-2*pi*(1-$))*-#ppt_x-sin(-2*pi*(1-$))*(1-#ppt_y))*(1-$)">
                                          <p:val>
                                            <p:fltVal val="0"/>
                                          </p:val>
                                        </p:tav>
                                        <p:tav tm="100000">
                                          <p:val>
                                            <p:fltVal val="1"/>
                                          </p:val>
                                        </p:tav>
                                      </p:tavLst>
                                    </p:anim>
                                    <p:anim calcmode="lin" valueType="num">
                                      <p:cBhvr>
                                        <p:cTn id="17" dur="1000" fill="hold"/>
                                        <p:tgtEl>
                                          <p:spTgt spid="289799"/>
                                        </p:tgtEl>
                                        <p:attrNameLst>
                                          <p:attrName>ppt_y</p:attrName>
                                        </p:attrNameLst>
                                      </p:cBhvr>
                                      <p:tavLst>
                                        <p:tav tm="0" fmla="#ppt_y+(sin(-2*pi*(1-$))*-#ppt_x+cos(-2*pi*(1-$))*(1-#ppt_y))*(1-$)">
                                          <p:val>
                                            <p:fltVal val="0"/>
                                          </p:val>
                                        </p:tav>
                                        <p:tav tm="100000">
                                          <p:val>
                                            <p:fltVal val="1"/>
                                          </p:val>
                                        </p:tav>
                                      </p:tavLst>
                                    </p:anim>
                                  </p:childTnLst>
                                </p:cTn>
                              </p:par>
                            </p:childTnLst>
                          </p:cTn>
                        </p:par>
                        <p:par>
                          <p:cTn id="18" fill="hold">
                            <p:stCondLst>
                              <p:cond delay="2000"/>
                            </p:stCondLst>
                            <p:childTnLst>
                              <p:par>
                                <p:cTn id="19" presetID="15" presetClass="entr" presetSubtype="0" fill="hold" grpId="0" nodeType="afterEffect">
                                  <p:stCondLst>
                                    <p:cond delay="0"/>
                                  </p:stCondLst>
                                  <p:childTnLst>
                                    <p:set>
                                      <p:cBhvr>
                                        <p:cTn id="20" dur="1" fill="hold">
                                          <p:stCondLst>
                                            <p:cond delay="0"/>
                                          </p:stCondLst>
                                        </p:cTn>
                                        <p:tgtEl>
                                          <p:spTgt spid="289800"/>
                                        </p:tgtEl>
                                        <p:attrNameLst>
                                          <p:attrName>style.visibility</p:attrName>
                                        </p:attrNameLst>
                                      </p:cBhvr>
                                      <p:to>
                                        <p:strVal val="visible"/>
                                      </p:to>
                                    </p:set>
                                    <p:anim calcmode="lin" valueType="num">
                                      <p:cBhvr>
                                        <p:cTn id="21" dur="1000" fill="hold"/>
                                        <p:tgtEl>
                                          <p:spTgt spid="289800"/>
                                        </p:tgtEl>
                                        <p:attrNameLst>
                                          <p:attrName>ppt_w</p:attrName>
                                        </p:attrNameLst>
                                      </p:cBhvr>
                                      <p:tavLst>
                                        <p:tav tm="0">
                                          <p:val>
                                            <p:fltVal val="0"/>
                                          </p:val>
                                        </p:tav>
                                        <p:tav tm="100000">
                                          <p:val>
                                            <p:strVal val="#ppt_w"/>
                                          </p:val>
                                        </p:tav>
                                      </p:tavLst>
                                    </p:anim>
                                    <p:anim calcmode="lin" valueType="num">
                                      <p:cBhvr>
                                        <p:cTn id="22" dur="1000" fill="hold"/>
                                        <p:tgtEl>
                                          <p:spTgt spid="289800"/>
                                        </p:tgtEl>
                                        <p:attrNameLst>
                                          <p:attrName>ppt_h</p:attrName>
                                        </p:attrNameLst>
                                      </p:cBhvr>
                                      <p:tavLst>
                                        <p:tav tm="0">
                                          <p:val>
                                            <p:fltVal val="0"/>
                                          </p:val>
                                        </p:tav>
                                        <p:tav tm="100000">
                                          <p:val>
                                            <p:strVal val="#ppt_h"/>
                                          </p:val>
                                        </p:tav>
                                      </p:tavLst>
                                    </p:anim>
                                    <p:anim calcmode="lin" valueType="num">
                                      <p:cBhvr>
                                        <p:cTn id="23" dur="1000" fill="hold"/>
                                        <p:tgtEl>
                                          <p:spTgt spid="289800"/>
                                        </p:tgtEl>
                                        <p:attrNameLst>
                                          <p:attrName>ppt_x</p:attrName>
                                        </p:attrNameLst>
                                      </p:cBhvr>
                                      <p:tavLst>
                                        <p:tav tm="0" fmla="#ppt_x+(cos(-2*pi*(1-$))*-#ppt_x-sin(-2*pi*(1-$))*(1-#ppt_y))*(1-$)">
                                          <p:val>
                                            <p:fltVal val="0"/>
                                          </p:val>
                                        </p:tav>
                                        <p:tav tm="100000">
                                          <p:val>
                                            <p:fltVal val="1"/>
                                          </p:val>
                                        </p:tav>
                                      </p:tavLst>
                                    </p:anim>
                                    <p:anim calcmode="lin" valueType="num">
                                      <p:cBhvr>
                                        <p:cTn id="24" dur="1000" fill="hold"/>
                                        <p:tgtEl>
                                          <p:spTgt spid="289800"/>
                                        </p:tgtEl>
                                        <p:attrNameLst>
                                          <p:attrName>ppt_y</p:attrName>
                                        </p:attrNameLst>
                                      </p:cBhvr>
                                      <p:tavLst>
                                        <p:tav tm="0" fmla="#ppt_y+(sin(-2*pi*(1-$))*-#ppt_x+cos(-2*pi*(1-$))*(1-#ppt_y))*(1-$)">
                                          <p:val>
                                            <p:fltVal val="0"/>
                                          </p:val>
                                        </p:tav>
                                        <p:tav tm="100000">
                                          <p:val>
                                            <p:fltVal val="1"/>
                                          </p:val>
                                        </p:tav>
                                      </p:tavLst>
                                    </p:anim>
                                  </p:childTnLst>
                                </p:cTn>
                              </p:par>
                            </p:childTnLst>
                          </p:cTn>
                        </p:par>
                        <p:par>
                          <p:cTn id="25" fill="hold">
                            <p:stCondLst>
                              <p:cond delay="3000"/>
                            </p:stCondLst>
                            <p:childTnLst>
                              <p:par>
                                <p:cTn id="26" presetID="15" presetClass="entr" presetSubtype="0" fill="hold" grpId="0" nodeType="afterEffect">
                                  <p:stCondLst>
                                    <p:cond delay="0"/>
                                  </p:stCondLst>
                                  <p:childTnLst>
                                    <p:set>
                                      <p:cBhvr>
                                        <p:cTn id="27" dur="1" fill="hold">
                                          <p:stCondLst>
                                            <p:cond delay="0"/>
                                          </p:stCondLst>
                                        </p:cTn>
                                        <p:tgtEl>
                                          <p:spTgt spid="289802"/>
                                        </p:tgtEl>
                                        <p:attrNameLst>
                                          <p:attrName>style.visibility</p:attrName>
                                        </p:attrNameLst>
                                      </p:cBhvr>
                                      <p:to>
                                        <p:strVal val="visible"/>
                                      </p:to>
                                    </p:set>
                                    <p:anim calcmode="lin" valueType="num">
                                      <p:cBhvr>
                                        <p:cTn id="28" dur="1000" fill="hold"/>
                                        <p:tgtEl>
                                          <p:spTgt spid="289802"/>
                                        </p:tgtEl>
                                        <p:attrNameLst>
                                          <p:attrName>ppt_w</p:attrName>
                                        </p:attrNameLst>
                                      </p:cBhvr>
                                      <p:tavLst>
                                        <p:tav tm="0">
                                          <p:val>
                                            <p:fltVal val="0"/>
                                          </p:val>
                                        </p:tav>
                                        <p:tav tm="100000">
                                          <p:val>
                                            <p:strVal val="#ppt_w"/>
                                          </p:val>
                                        </p:tav>
                                      </p:tavLst>
                                    </p:anim>
                                    <p:anim calcmode="lin" valueType="num">
                                      <p:cBhvr>
                                        <p:cTn id="29" dur="1000" fill="hold"/>
                                        <p:tgtEl>
                                          <p:spTgt spid="289802"/>
                                        </p:tgtEl>
                                        <p:attrNameLst>
                                          <p:attrName>ppt_h</p:attrName>
                                        </p:attrNameLst>
                                      </p:cBhvr>
                                      <p:tavLst>
                                        <p:tav tm="0">
                                          <p:val>
                                            <p:fltVal val="0"/>
                                          </p:val>
                                        </p:tav>
                                        <p:tav tm="100000">
                                          <p:val>
                                            <p:strVal val="#ppt_h"/>
                                          </p:val>
                                        </p:tav>
                                      </p:tavLst>
                                    </p:anim>
                                    <p:anim calcmode="lin" valueType="num">
                                      <p:cBhvr>
                                        <p:cTn id="30" dur="1000" fill="hold"/>
                                        <p:tgtEl>
                                          <p:spTgt spid="289802"/>
                                        </p:tgtEl>
                                        <p:attrNameLst>
                                          <p:attrName>ppt_x</p:attrName>
                                        </p:attrNameLst>
                                      </p:cBhvr>
                                      <p:tavLst>
                                        <p:tav tm="0" fmla="#ppt_x+(cos(-2*pi*(1-$))*-#ppt_x-sin(-2*pi*(1-$))*(1-#ppt_y))*(1-$)">
                                          <p:val>
                                            <p:fltVal val="0"/>
                                          </p:val>
                                        </p:tav>
                                        <p:tav tm="100000">
                                          <p:val>
                                            <p:fltVal val="1"/>
                                          </p:val>
                                        </p:tav>
                                      </p:tavLst>
                                    </p:anim>
                                    <p:anim calcmode="lin" valueType="num">
                                      <p:cBhvr>
                                        <p:cTn id="31" dur="1000" fill="hold"/>
                                        <p:tgtEl>
                                          <p:spTgt spid="28980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9" grpId="0"/>
      <p:bldP spid="289800" grpId="0"/>
      <p:bldP spid="289801" grpId="0"/>
      <p:bldP spid="28980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9" name="Rectangle 2"/>
          <p:cNvSpPr>
            <a:spLocks noGrp="1" noChangeArrowheads="1"/>
          </p:cNvSpPr>
          <p:nvPr>
            <p:ph type="title"/>
          </p:nvPr>
        </p:nvSpPr>
        <p:spPr>
          <a:xfrm>
            <a:off x="388938" y="724627"/>
            <a:ext cx="8145462" cy="646973"/>
          </a:xfrm>
        </p:spPr>
        <p:txBody>
          <a:bodyPr>
            <a:spAutoFit/>
          </a:bodyPr>
          <a:lstStyle/>
          <a:p>
            <a:pPr eaLnBrk="1" hangingPunct="1"/>
            <a:r>
              <a:rPr lang="en-GB" dirty="0"/>
              <a:t>A test for you…</a:t>
            </a:r>
          </a:p>
        </p:txBody>
      </p:sp>
      <p:sp>
        <p:nvSpPr>
          <p:cNvPr id="311300" name="Rectangle 3"/>
          <p:cNvSpPr>
            <a:spLocks noGrp="1" noChangeArrowheads="1"/>
          </p:cNvSpPr>
          <p:nvPr>
            <p:ph sz="half" idx="1"/>
          </p:nvPr>
        </p:nvSpPr>
        <p:spPr/>
        <p:txBody>
          <a:bodyPr/>
          <a:lstStyle/>
          <a:p>
            <a:pPr marL="0" indent="0" eaLnBrk="1" hangingPunct="1"/>
            <a:r>
              <a:rPr lang="en-GB" sz="1800" b="1" dirty="0"/>
              <a:t>Degrees of independence:</a:t>
            </a:r>
          </a:p>
          <a:p>
            <a:pPr marL="0" indent="0" eaLnBrk="1" hangingPunct="1"/>
            <a:r>
              <a:rPr lang="en-GB" sz="1800" dirty="0"/>
              <a:t>Arrange the following from the least independent to the most independent:</a:t>
            </a:r>
          </a:p>
          <a:p>
            <a:pPr marL="533400" lvl="1" indent="-266700" eaLnBrk="1" hangingPunct="1">
              <a:buFontTx/>
              <a:buAutoNum type="arabicPeriod"/>
            </a:pPr>
            <a:r>
              <a:rPr lang="en-US" sz="1800" dirty="0"/>
              <a:t>Test cases are designed by a person(s) from a different organization.</a:t>
            </a:r>
          </a:p>
          <a:p>
            <a:pPr marL="533400" lvl="1" indent="-266700" eaLnBrk="1" hangingPunct="1">
              <a:buFontTx/>
              <a:buAutoNum type="arabicPeriod"/>
            </a:pPr>
            <a:r>
              <a:rPr lang="en-US" sz="1800" dirty="0"/>
              <a:t>Test cases are designed by a person(s) from the same </a:t>
            </a:r>
            <a:r>
              <a:rPr lang="en-US" sz="1800" dirty="0" err="1"/>
              <a:t>organisation</a:t>
            </a:r>
            <a:r>
              <a:rPr lang="en-US" sz="1800" dirty="0"/>
              <a:t>.</a:t>
            </a:r>
          </a:p>
          <a:p>
            <a:pPr marL="533400" lvl="1" indent="-266700" eaLnBrk="1" hangingPunct="1">
              <a:buFontTx/>
              <a:buAutoNum type="arabicPeriod"/>
            </a:pPr>
            <a:r>
              <a:rPr lang="en-US" sz="1800" dirty="0"/>
              <a:t>Test cases are designed by the person(s) writing the software.</a:t>
            </a:r>
          </a:p>
          <a:p>
            <a:pPr marL="533400" lvl="1" indent="-266700" eaLnBrk="1" hangingPunct="1">
              <a:buFontTx/>
              <a:buAutoNum type="arabicPeriod"/>
            </a:pPr>
            <a:r>
              <a:rPr lang="en-US" sz="1800" dirty="0"/>
              <a:t>Test cases are designed by a person(s) from a different team.</a:t>
            </a:r>
          </a:p>
          <a:p>
            <a:pPr marL="533400" lvl="1" indent="-266700" eaLnBrk="1" hangingPunct="1">
              <a:buFontTx/>
              <a:buAutoNum type="arabicPeriod"/>
            </a:pPr>
            <a:r>
              <a:rPr lang="en-US" sz="1800" dirty="0"/>
              <a:t>Test cases are not chosen by a person.</a:t>
            </a:r>
            <a:endParaRPr lang="en-GB" sz="1800" dirty="0"/>
          </a:p>
        </p:txBody>
      </p:sp>
      <p:sp>
        <p:nvSpPr>
          <p:cNvPr id="311297" name="Slide Number Placeholder 1"/>
          <p:cNvSpPr>
            <a:spLocks noGrp="1"/>
          </p:cNvSpPr>
          <p:nvPr>
            <p:ph type="sldNum" sz="quarter" idx="4294967295"/>
          </p:nvPr>
        </p:nvSpPr>
        <p:spPr bwMode="auto">
          <a:xfrm>
            <a:off x="8861425" y="0"/>
            <a:ext cx="282575" cy="142875"/>
          </a:xfrm>
          <a:prstGeom prst="rect">
            <a:avLst/>
          </a:prstGeom>
          <a:noFill/>
          <a:ln>
            <a:miter lim="800000"/>
            <a:headEnd/>
            <a:tailEnd/>
          </a:ln>
        </p:spPr>
        <p:txBody>
          <a:bodyPr/>
          <a:lstStyle/>
          <a:p>
            <a:fld id="{DE9E7E84-2826-42FC-B79A-1E1397B2B712}" type="slidenum">
              <a:rPr lang="en-GB" smtClean="0"/>
              <a:pPr/>
              <a:t>9</a:t>
            </a:fld>
            <a:endParaRPr lang="en-GB"/>
          </a:p>
        </p:txBody>
      </p:sp>
      <p:pic>
        <p:nvPicPr>
          <p:cNvPr id="8" name="Content Placeholder 7"/>
          <p:cNvPicPr>
            <a:picLocks noGrp="1" noChangeAspect="1"/>
          </p:cNvPicPr>
          <p:nvPr>
            <p:ph sz="half" idx="2"/>
          </p:nvPr>
        </p:nvPicPr>
        <p:blipFill>
          <a:blip r:embed="rId3"/>
          <a:srcRect l="8570" r="8570"/>
          <a:stretch>
            <a:fillRect/>
          </a:stretch>
        </p:blipFill>
        <p:spPr/>
      </p:pic>
    </p:spTree>
    <p:extLst>
      <p:ext uri="{BB962C8B-B14F-4D97-AF65-F5344CB8AC3E}">
        <p14:creationId xmlns:p14="http://schemas.microsoft.com/office/powerpoint/2010/main" val="40735414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7" name="Rectangle 2"/>
          <p:cNvSpPr>
            <a:spLocks noGrp="1" noChangeArrowheads="1"/>
          </p:cNvSpPr>
          <p:nvPr>
            <p:ph type="title"/>
          </p:nvPr>
        </p:nvSpPr>
        <p:spPr>
          <a:xfrm>
            <a:off x="388938" y="724627"/>
            <a:ext cx="8145462" cy="646973"/>
          </a:xfrm>
        </p:spPr>
        <p:txBody>
          <a:bodyPr>
            <a:spAutoFit/>
          </a:bodyPr>
          <a:lstStyle/>
          <a:p>
            <a:pPr eaLnBrk="1" hangingPunct="1"/>
            <a:r>
              <a:rPr lang="en-GB" dirty="0"/>
              <a:t>A test for you…</a:t>
            </a:r>
          </a:p>
        </p:txBody>
      </p:sp>
      <p:sp>
        <p:nvSpPr>
          <p:cNvPr id="313348" name="Rectangle 3"/>
          <p:cNvSpPr>
            <a:spLocks noGrp="1" noChangeArrowheads="1"/>
          </p:cNvSpPr>
          <p:nvPr>
            <p:ph sz="half" idx="1"/>
          </p:nvPr>
        </p:nvSpPr>
        <p:spPr/>
        <p:txBody>
          <a:bodyPr/>
          <a:lstStyle/>
          <a:p>
            <a:pPr marL="0" indent="0" eaLnBrk="1" hangingPunct="1">
              <a:tabLst>
                <a:tab pos="2057400" algn="l"/>
                <a:tab pos="5715000" algn="l"/>
              </a:tabLst>
            </a:pPr>
            <a:r>
              <a:rPr lang="en-GB" sz="1800" b="1" dirty="0"/>
              <a:t>Solution</a:t>
            </a:r>
          </a:p>
          <a:p>
            <a:pPr marL="533400" lvl="1" indent="-266700" eaLnBrk="1" hangingPunct="1">
              <a:buFont typeface="Arial" charset="0"/>
              <a:buNone/>
              <a:tabLst>
                <a:tab pos="2057400" algn="l"/>
                <a:tab pos="5715000" algn="l"/>
              </a:tabLst>
            </a:pPr>
            <a:r>
              <a:rPr lang="en-US" sz="1800" dirty="0"/>
              <a:t>3.	Test cases are designed by the person(s) writing the software. </a:t>
            </a:r>
          </a:p>
          <a:p>
            <a:pPr marL="533400" lvl="1" indent="-266700" eaLnBrk="1" hangingPunct="1">
              <a:buFont typeface="Arial" charset="0"/>
              <a:buNone/>
              <a:tabLst>
                <a:tab pos="2057400" algn="l"/>
                <a:tab pos="5715000" algn="l"/>
              </a:tabLst>
            </a:pPr>
            <a:r>
              <a:rPr lang="en-US" sz="1800" dirty="0"/>
              <a:t>4.	Test cases are designed by a person(s) from a different team.</a:t>
            </a:r>
          </a:p>
          <a:p>
            <a:pPr marL="533400" lvl="1" indent="-266700" eaLnBrk="1" hangingPunct="1">
              <a:buFont typeface="Arial" charset="0"/>
              <a:buNone/>
              <a:tabLst>
                <a:tab pos="2057400" algn="l"/>
                <a:tab pos="5715000" algn="l"/>
              </a:tabLst>
            </a:pPr>
            <a:r>
              <a:rPr lang="en-US" sz="1800" dirty="0"/>
              <a:t>2.	Test cases are designed by another person(s) in the same </a:t>
            </a:r>
            <a:r>
              <a:rPr lang="en-US" sz="1800" dirty="0" err="1"/>
              <a:t>organisation</a:t>
            </a:r>
            <a:r>
              <a:rPr lang="en-US" sz="1800" dirty="0"/>
              <a:t>.</a:t>
            </a:r>
          </a:p>
          <a:p>
            <a:pPr marL="533400" lvl="1" indent="-266700" eaLnBrk="1" hangingPunct="1">
              <a:buFont typeface="Arial" charset="0"/>
              <a:buNone/>
              <a:tabLst>
                <a:tab pos="2057400" algn="l"/>
                <a:tab pos="5715000" algn="l"/>
              </a:tabLst>
            </a:pPr>
            <a:r>
              <a:rPr lang="en-US" sz="1800" dirty="0"/>
              <a:t>1.	Test cases are designed by a person(s) from a different organization.</a:t>
            </a:r>
          </a:p>
          <a:p>
            <a:pPr marL="533400" lvl="1" indent="-266700" eaLnBrk="1" hangingPunct="1">
              <a:buFont typeface="Arial" charset="0"/>
              <a:buNone/>
              <a:tabLst>
                <a:tab pos="2057400" algn="l"/>
                <a:tab pos="5715000" algn="l"/>
              </a:tabLst>
            </a:pPr>
            <a:r>
              <a:rPr lang="en-US" sz="1800" dirty="0"/>
              <a:t>5.	Test cases are not chosen by a person.</a:t>
            </a:r>
          </a:p>
          <a:p>
            <a:pPr marL="533400" lvl="1" indent="-266700" eaLnBrk="1" hangingPunct="1">
              <a:tabLst>
                <a:tab pos="2057400" algn="l"/>
                <a:tab pos="5715000" algn="l"/>
              </a:tabLst>
            </a:pPr>
            <a:endParaRPr lang="en-GB" sz="1800" dirty="0"/>
          </a:p>
        </p:txBody>
      </p:sp>
      <p:pic>
        <p:nvPicPr>
          <p:cNvPr id="3" name="Content Placeholder 2"/>
          <p:cNvPicPr>
            <a:picLocks noGrp="1" noChangeAspect="1"/>
          </p:cNvPicPr>
          <p:nvPr>
            <p:ph sz="half" idx="2"/>
          </p:nvPr>
        </p:nvPicPr>
        <p:blipFill>
          <a:blip r:embed="rId3"/>
          <a:srcRect l="12068" r="12068"/>
          <a:stretch>
            <a:fillRect/>
          </a:stretch>
        </p:blipFill>
        <p:spPr/>
      </p:pic>
      <p:sp>
        <p:nvSpPr>
          <p:cNvPr id="313345" name="Slide Number Placeholder 1"/>
          <p:cNvSpPr>
            <a:spLocks noGrp="1"/>
          </p:cNvSpPr>
          <p:nvPr>
            <p:ph type="sldNum" sz="quarter" idx="4294967295"/>
          </p:nvPr>
        </p:nvSpPr>
        <p:spPr bwMode="auto">
          <a:xfrm>
            <a:off x="8861425" y="0"/>
            <a:ext cx="282575" cy="142875"/>
          </a:xfrm>
          <a:prstGeom prst="rect">
            <a:avLst/>
          </a:prstGeom>
          <a:noFill/>
          <a:ln>
            <a:miter lim="800000"/>
            <a:headEnd/>
            <a:tailEnd/>
          </a:ln>
        </p:spPr>
        <p:txBody>
          <a:bodyPr/>
          <a:lstStyle/>
          <a:p>
            <a:fld id="{E2C98495-0807-4284-9E3F-709F1E59E827}" type="slidenum">
              <a:rPr lang="en-GB" smtClean="0"/>
              <a:pPr/>
              <a:t>10</a:t>
            </a:fld>
            <a:endParaRPr lang="en-GB"/>
          </a:p>
        </p:txBody>
      </p:sp>
    </p:spTree>
    <p:extLst>
      <p:ext uri="{BB962C8B-B14F-4D97-AF65-F5344CB8AC3E}">
        <p14:creationId xmlns:p14="http://schemas.microsoft.com/office/powerpoint/2010/main" val="247055554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EvolutifStandard">
  <a:themeElements>
    <a:clrScheme name="">
      <a:dk1>
        <a:srgbClr val="00279F"/>
      </a:dk1>
      <a:lt1>
        <a:srgbClr val="FFFFFF"/>
      </a:lt1>
      <a:dk2>
        <a:srgbClr val="0000FF"/>
      </a:dk2>
      <a:lt2>
        <a:srgbClr val="FFFF00"/>
      </a:lt2>
      <a:accent1>
        <a:srgbClr val="F57B49"/>
      </a:accent1>
      <a:accent2>
        <a:srgbClr val="FF00FF"/>
      </a:accent2>
      <a:accent3>
        <a:srgbClr val="AAAAFF"/>
      </a:accent3>
      <a:accent4>
        <a:srgbClr val="DADADA"/>
      </a:accent4>
      <a:accent5>
        <a:srgbClr val="F9BFB1"/>
      </a:accent5>
      <a:accent6>
        <a:srgbClr val="E700E7"/>
      </a:accent6>
      <a:hlink>
        <a:srgbClr val="FF0000"/>
      </a:hlink>
      <a:folHlink>
        <a:srgbClr val="919191"/>
      </a:folHlink>
    </a:clrScheme>
    <a:fontScheme name="EvolutifStandard">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Arial" charset="0"/>
            <a:ea typeface="ＭＳ Ｐゴシック" charset="0"/>
          </a:defRPr>
        </a:defPPr>
      </a:lstStyle>
    </a:lnDef>
  </a:objectDefaults>
  <a:extraClrSchemeLst>
    <a:extraClrScheme>
      <a:clrScheme name="EvolutifStandard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volutifStandar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EvolutifStandard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volutifStandard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volutifStandard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volutifStandard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EvolutifStandard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EvolutifStandard</Template>
  <TotalTime>0</TotalTime>
  <Words>817</Words>
  <Application>Microsoft Office PowerPoint</Application>
  <PresentationFormat>On-screen Show (4:3)</PresentationFormat>
  <Paragraphs>88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ＭＳ Ｐゴシック</vt:lpstr>
      <vt:lpstr>Arial</vt:lpstr>
      <vt:lpstr>Gill Sans</vt:lpstr>
      <vt:lpstr>Monotype Sorts</vt:lpstr>
      <vt:lpstr>EvolutifStandard</vt:lpstr>
      <vt:lpstr>The Psychology of Testing</vt:lpstr>
      <vt:lpstr>Psychology of testing</vt:lpstr>
      <vt:lpstr>Psychology of testing</vt:lpstr>
      <vt:lpstr>Communications with developers</vt:lpstr>
      <vt:lpstr>Goal: locate defects</vt:lpstr>
      <vt:lpstr>Tester mindset</vt:lpstr>
      <vt:lpstr>Independence</vt:lpstr>
      <vt:lpstr>Degrees of independence</vt:lpstr>
      <vt:lpstr>A test for you…</vt:lpstr>
      <vt:lpstr>A test for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2016-09-19T14:46:57Z</dcterms:created>
  <dcterms:modified xsi:type="dcterms:W3CDTF">2021-01-26T15:08:43Z</dcterms:modified>
</cp:coreProperties>
</file>