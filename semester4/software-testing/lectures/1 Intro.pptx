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5"/>
  </p:notesMasterIdLst>
  <p:handoutMasterIdLst>
    <p:handoutMasterId r:id="rId16"/>
  </p:handoutMasterIdLst>
  <p:sldIdLst>
    <p:sldId id="833" r:id="rId3"/>
    <p:sldId id="726" r:id="rId4"/>
    <p:sldId id="731" r:id="rId5"/>
    <p:sldId id="836" r:id="rId6"/>
    <p:sldId id="837" r:id="rId7"/>
    <p:sldId id="730" r:id="rId8"/>
    <p:sldId id="732" r:id="rId9"/>
    <p:sldId id="733" r:id="rId10"/>
    <p:sldId id="768" r:id="rId11"/>
    <p:sldId id="834" r:id="rId12"/>
    <p:sldId id="802" r:id="rId13"/>
    <p:sldId id="81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4A11A7-8222-4D81-A5E9-639E2D5136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298DD-A55C-416B-8714-614BE32874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782C2-CBC2-46B3-8C83-D40A66F476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DD3E5-BC01-467F-88C3-34A95632F7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A882B-5309-4079-AD44-E7211E8038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7356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81158-6B29-4675-AD3A-62A42A30204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83738761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7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43B6B-3CA3-4171-BAF4-3D5B56E2243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376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2313"/>
            <a:ext cx="6396037" cy="3598862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759" y="4561837"/>
            <a:ext cx="5359685" cy="431769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388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2313"/>
            <a:ext cx="6396037" cy="3598862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759" y="4561837"/>
            <a:ext cx="5359685" cy="431769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061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2313"/>
            <a:ext cx="6396037" cy="3598862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759" y="4561837"/>
            <a:ext cx="5359685" cy="431769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932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2313"/>
            <a:ext cx="6396037" cy="3598862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759" y="4561837"/>
            <a:ext cx="5359685" cy="431769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345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7838" y="731838"/>
            <a:ext cx="6369050" cy="3582987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759" y="4561837"/>
            <a:ext cx="5359685" cy="4317699"/>
          </a:xfrm>
          <a:ln/>
        </p:spPr>
        <p:txBody>
          <a:bodyPr lIns="93519" tIns="45967" rIns="93519" bIns="45967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937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448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682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698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32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503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7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43B6B-3CA3-4171-BAF4-3D5B56E2243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85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BCF1-4FAF-408D-969E-B95662BDC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701CC-9B94-43E2-8FF7-8F1E9B580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9C8C-D012-4AB6-B83A-D2AC1E06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515FC-F02D-4FB4-B10D-F1B88E62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69FAA-C8CD-4380-8560-2BABE46C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071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E1BF-3E71-400E-A502-B501287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DE34C-0631-45B1-B18B-4F48CAC6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EB8F-257C-4B18-B2F1-B19B335E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FD0F5-F7BD-427F-BCCC-EE9FE878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B7A9B-5B00-41A5-835A-05E59351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442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B8F7-0404-454D-BBB5-6339709C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9A9B2-74F2-4691-AC56-BC30F1D99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B5CE6-BD4C-4433-BA7A-7E21D1AB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9EAE-6920-44A0-A8AD-CDB3F1FC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74ACA-BA5D-4BDC-8E5D-C9367F28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3139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2816-AE89-4D34-AE7D-C3740CFF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82AD-092E-4405-84D6-B12E6B77A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37DC3-8F68-4479-A7EC-CAECA331E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98535-AB84-4180-8A7E-07A865FE5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8AC59-1757-404D-8D01-9F9E7F5B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30830-CE99-4AD6-AB35-390AF68C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5998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E5B7-2B5A-425B-B3F1-DFE0B17F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59C85-D13C-415E-89A4-7CA9F1BBF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6F602-E353-4B16-8A59-898A46CE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50E51-DA56-4942-9BC5-4A0454708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5058A-AC46-4BA5-A9E0-7AEA4738B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3D923-4BB1-48D7-A04D-922E4340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41C2A-85B4-42F9-904D-773A1DA9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1004D-A54C-442C-B8AF-2E074BEF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514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B223-4486-47A3-A592-F628150E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D6B14-6DEC-490F-BDD4-34E9017E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D4F66-A679-40BF-9704-8574C880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F2EA4-E9F5-4C18-B58D-D239C92C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900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313147-C46D-4884-9FEE-9703AB2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0773A-71F9-4C77-9D19-04721FF4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A0205-C3CA-446C-A2D7-4CECCE8B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422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AA68-42D5-4FD6-8A01-295FC21B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3280E-7D8B-45AF-AC51-F2377A7F7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49377-6753-4B15-AB7E-F9130170C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FEB2-BDFA-46E3-8947-AC0F7983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E3424-F25F-4075-B68D-A9849F74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BBFDD-8A2A-4AA0-8DC8-7198FF34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7245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3436-0FCF-4166-B425-98624A3D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343B7-5186-46FD-BDDD-AB72E2991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0CDE3-2290-49F3-872B-96D7538A7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7FB1E-385A-4E0E-B96C-959F7914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A2766-E5C2-4371-8C41-5371AB025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C0E25-18F9-4C26-AB73-DBB986DC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6137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BB40-131C-4586-9C10-6EDB4BEC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C43F3-97B1-4473-9A6E-F1E48D5FE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D26B-5CC5-4026-A15A-A9E223F0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5BE78-62F3-4666-A955-D3369706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A2679-7708-4A73-A804-D884FAB86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876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40E07-C868-4C10-A522-43F819DEB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3BA8C-3046-4FB9-AA41-D2882E0F9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EA40A-49C6-49EA-AB0F-AD99AB27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12E46-ED92-4E0A-9F25-8EEC7F04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3875F-B10A-4D2B-82B9-ABFDC530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891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37300" y="1676401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337300" y="4105276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0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80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05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0101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04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99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99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048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9292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2817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9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2051" y="266700"/>
            <a:ext cx="2753783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584" y="266700"/>
            <a:ext cx="8060267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86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618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584" y="266700"/>
            <a:ext cx="10860616" cy="1104900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337300" y="1676401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337300" y="4105276"/>
            <a:ext cx="5198533" cy="2276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9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985" y="350839"/>
            <a:ext cx="11231033" cy="630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1" y="1190625"/>
            <a:ext cx="5513916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6867" y="1190625"/>
            <a:ext cx="5513917" cy="5219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815234" y="1"/>
            <a:ext cx="376767" cy="142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ADF6390F-1603-4606-96BE-11F29AAF5AE2}" type="slidenum">
              <a:rPr lang="en-GB" sz="1600" smtClean="0">
                <a:solidFill>
                  <a:srgbClr val="FFFFFF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2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F820E-1DDC-4BB2-BA19-F58C63B8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1F497-50A7-46C0-A643-E0936A0FB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2255-12BE-4E6A-B214-58D8D9433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32E5D-599C-4BFF-874A-A4875EFB4C25}" type="datetimeFigureOut">
              <a:rPr lang="en-IE" smtClean="0"/>
              <a:t>14/01/2025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CCB26-329B-4EBC-8F3D-3AC1098D0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BBE1-B92F-456C-83A3-49AA0B9CB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E3133-E23E-4023-B6A1-5CF101DE2AF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441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2117" y="1484313"/>
            <a:ext cx="12088283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18584" y="266700"/>
            <a:ext cx="10860616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7684" y="1676400"/>
            <a:ext cx="10598149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10896600" y="6400801"/>
            <a:ext cx="601133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697A2-D443-9B46-B76B-C17EBA70E809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279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79F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4770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ilvana.macmahon@dcu.i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9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SoftwareTesting</a:t>
            </a:r>
            <a:endParaRPr lang="en-US" dirty="0"/>
          </a:p>
        </p:txBody>
      </p:sp>
      <p:sp>
        <p:nvSpPr>
          <p:cNvPr id="22609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Welcome!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43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is who and why are we here?</a:t>
            </a:r>
          </a:p>
        </p:txBody>
      </p:sp>
      <p:sp>
        <p:nvSpPr>
          <p:cNvPr id="32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You are: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B.Sc. in Computer Science year 2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Any exchange/study </a:t>
            </a:r>
            <a:r>
              <a:rPr lang="en-GB" sz="2000" dirty="0" err="1"/>
              <a:t>aborad</a:t>
            </a:r>
            <a:r>
              <a:rPr lang="en-GB" sz="2000" dirty="0"/>
              <a:t> (Erasmus) students here?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Any one else?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	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I am:</a:t>
            </a:r>
          </a:p>
          <a:p>
            <a:pPr lvl="1">
              <a:lnSpc>
                <a:spcPct val="90000"/>
              </a:lnSpc>
            </a:pPr>
            <a:r>
              <a:rPr lang="en-GB" sz="2000" dirty="0" err="1"/>
              <a:t>Dr.</a:t>
            </a:r>
            <a:r>
              <a:rPr lang="en-GB" sz="2000" dirty="0"/>
              <a:t> Silvana Togneri MacMahon</a:t>
            </a:r>
          </a:p>
          <a:p>
            <a:pPr lvl="2"/>
            <a:r>
              <a:rPr lang="en-GB" sz="1600" dirty="0"/>
              <a:t>Previously UAT Test Lead – Retail Banking</a:t>
            </a:r>
          </a:p>
          <a:p>
            <a:pPr lvl="2"/>
            <a:r>
              <a:rPr lang="en-GB" sz="1600" dirty="0"/>
              <a:t>Medical Device Software Testing Research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Room L2.28, 2nd floor, School of Computing Building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silvana.macmahon@dcu.ie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http://www.computing.dcu.ie/~smacmahon</a:t>
            </a:r>
          </a:p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Why are we here: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Module CSC 1029 – Software Testing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37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9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1594" tIns="45797" rIns="91594" bIns="45797" rtlCol="0" anchor="ctr">
            <a:normAutofit/>
          </a:bodyPr>
          <a:lstStyle/>
          <a:p>
            <a:r>
              <a:rPr lang="en-GB" dirty="0"/>
              <a:t>The source of all knowledge – Loop!</a:t>
            </a:r>
          </a:p>
        </p:txBody>
      </p:sp>
      <p:sp>
        <p:nvSpPr>
          <p:cNvPr id="32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vert="horz" lIns="91594" tIns="45797" rIns="91594" bIns="45797" rtlCol="0">
            <a:normAutofit/>
          </a:bodyPr>
          <a:lstStyle/>
          <a:p>
            <a:r>
              <a:rPr lang="en-GB" sz="2400" dirty="0"/>
              <a:t>Materials and communications will primarily be via Loop, also be email.</a:t>
            </a:r>
          </a:p>
          <a:p>
            <a:r>
              <a:rPr lang="en-GB" sz="2400" dirty="0"/>
              <a:t>Module Handbook</a:t>
            </a:r>
          </a:p>
          <a:p>
            <a:r>
              <a:rPr lang="en-GB" sz="2400" dirty="0"/>
              <a:t>Course notes</a:t>
            </a:r>
          </a:p>
          <a:p>
            <a:pPr lvl="2">
              <a:lnSpc>
                <a:spcPct val="90000"/>
              </a:lnSpc>
            </a:pPr>
            <a:r>
              <a:rPr lang="en-GB" sz="1800" dirty="0"/>
              <a:t>Slides, Recordings, Exercises</a:t>
            </a:r>
          </a:p>
          <a:p>
            <a:pPr lvl="2">
              <a:lnSpc>
                <a:spcPct val="90000"/>
              </a:lnSpc>
            </a:pPr>
            <a:r>
              <a:rPr lang="en-GB" sz="1800" dirty="0"/>
              <a:t>Recommended reading material</a:t>
            </a:r>
          </a:p>
          <a:p>
            <a:r>
              <a:rPr lang="en-GB" sz="2400" dirty="0"/>
              <a:t>Assessment - information and results</a:t>
            </a:r>
          </a:p>
          <a:p>
            <a:r>
              <a:rPr lang="en-GB" sz="2400" dirty="0"/>
              <a:t>Links to related items</a:t>
            </a:r>
          </a:p>
          <a:p>
            <a:pPr>
              <a:lnSpc>
                <a:spcPct val="90000"/>
              </a:lnSpc>
            </a:pPr>
            <a:endParaRPr lang="en-GB" sz="2000" dirty="0"/>
          </a:p>
          <a:p>
            <a:pPr>
              <a:lnSpc>
                <a:spcPct val="90000"/>
              </a:lnSpc>
            </a:pPr>
            <a:r>
              <a:rPr lang="en-GB" sz="2000" dirty="0"/>
              <a:t>Questions? - How to contact me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General Query – Ask a Question on Loop 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Personal Query - Use Email 	</a:t>
            </a:r>
            <a:r>
              <a:rPr lang="en-GB" sz="2000" dirty="0">
                <a:solidFill>
                  <a:srgbClr val="0000FF"/>
                </a:solidFill>
                <a:hlinkClick r:id="rId3"/>
              </a:rPr>
              <a:t>silvana.macmahon@dcu.ie</a:t>
            </a:r>
            <a:endParaRPr lang="en-GB" sz="20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GB" sz="20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GB" sz="20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GB" sz="2000" dirty="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endParaRPr lang="en-GB" sz="2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 and assessment procedure</a:t>
            </a:r>
          </a:p>
        </p:txBody>
      </p:sp>
      <p:sp>
        <p:nvSpPr>
          <p:cNvPr id="32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000" dirty="0"/>
              <a:t>		Continuous Assessment			100%</a:t>
            </a:r>
          </a:p>
          <a:p>
            <a:pPr marL="0" indent="0">
              <a:buNone/>
            </a:pPr>
            <a:r>
              <a:rPr lang="en-GB" sz="2000" dirty="0"/>
              <a:t>		End of semester examination		0%</a:t>
            </a:r>
          </a:p>
          <a:p>
            <a:pPr marL="0" indent="0">
              <a:buNone/>
            </a:pPr>
            <a:r>
              <a:rPr lang="en-GB" sz="2000" dirty="0"/>
              <a:t>		Total 					100%</a:t>
            </a:r>
          </a:p>
          <a:p>
            <a:endParaRPr lang="en-GB" sz="1000" dirty="0"/>
          </a:p>
          <a:p>
            <a:r>
              <a:rPr lang="en-GB" sz="2000" dirty="0"/>
              <a:t>Assessment</a:t>
            </a:r>
          </a:p>
          <a:p>
            <a:pPr lvl="1"/>
            <a:r>
              <a:rPr lang="en-US" sz="1800" dirty="0"/>
              <a:t>To be advised and updated on loop – you should regularly consult the information for any updates.</a:t>
            </a:r>
          </a:p>
          <a:p>
            <a:pPr lvl="1"/>
            <a:r>
              <a:rPr lang="en-GB" sz="1800" dirty="0"/>
              <a:t>The exact format of the assessment will be confirmed later but it is anticipated that all assessments will take the form of a closed book lab exam (quiz) during a timetabled session for the module and will contain a range of multiple choice and text-based questions.</a:t>
            </a:r>
          </a:p>
          <a:p>
            <a:pPr lvl="1"/>
            <a:r>
              <a:rPr lang="en-GB" sz="1800" dirty="0"/>
              <a:t>Likely breakdown – 3 lab exams: 30%, 40%, 30%</a:t>
            </a:r>
          </a:p>
          <a:p>
            <a:pPr lvl="1"/>
            <a:r>
              <a:rPr lang="en-US" sz="1800" dirty="0"/>
              <a:t>Likely timing – Weeks 4, 8 and 12 during the timetabled </a:t>
            </a:r>
            <a:r>
              <a:rPr lang="en-US" sz="1800"/>
              <a:t>lab sessions – </a:t>
            </a:r>
            <a:r>
              <a:rPr lang="en-US" sz="1800" dirty="0"/>
              <a:t>To </a:t>
            </a:r>
            <a:r>
              <a:rPr lang="en-US" sz="1800"/>
              <a:t>be confirmed!</a:t>
            </a:r>
            <a:endParaRPr lang="en-US" sz="1800" dirty="0"/>
          </a:p>
          <a:p>
            <a:r>
              <a:rPr lang="en-IE" sz="2200" dirty="0"/>
              <a:t>This module is category 1.</a:t>
            </a:r>
          </a:p>
          <a:p>
            <a:r>
              <a:rPr lang="en-IE" sz="2200" dirty="0"/>
              <a:t>1 = A resit is available for all components of the module</a:t>
            </a:r>
          </a:p>
          <a:p>
            <a:endParaRPr lang="en-US" sz="2200" dirty="0"/>
          </a:p>
        </p:txBody>
      </p:sp>
      <p:sp>
        <p:nvSpPr>
          <p:cNvPr id="3279876" name="Line 4"/>
          <p:cNvSpPr>
            <a:spLocks noChangeShapeType="1"/>
          </p:cNvSpPr>
          <p:nvPr/>
        </p:nvSpPr>
        <p:spPr bwMode="auto">
          <a:xfrm>
            <a:off x="2501762" y="2619720"/>
            <a:ext cx="6089650" cy="0"/>
          </a:xfrm>
          <a:prstGeom prst="line">
            <a:avLst/>
          </a:prstGeom>
          <a:noFill/>
          <a:ln w="38100" cmpd="dbl">
            <a:solidFill>
              <a:srgbClr val="3366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877" name="Rectangle 5"/>
          <p:cNvSpPr>
            <a:spLocks noChangeArrowheads="1"/>
          </p:cNvSpPr>
          <p:nvPr/>
        </p:nvSpPr>
        <p:spPr bwMode="auto">
          <a:xfrm>
            <a:off x="2477950" y="1868903"/>
            <a:ext cx="6113462" cy="1152525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26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39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1594" tIns="45797" rIns="91594" bIns="45797" rtlCol="0" anchor="ctr">
            <a:normAutofit/>
          </a:bodyPr>
          <a:lstStyle/>
          <a:p>
            <a:r>
              <a:rPr lang="en-GB" dirty="0"/>
              <a:t>Please Note!!!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17D15-CD57-45A7-90B5-1B723038CF04}"/>
              </a:ext>
            </a:extLst>
          </p:cNvPr>
          <p:cNvSpPr/>
          <p:nvPr/>
        </p:nvSpPr>
        <p:spPr>
          <a:xfrm>
            <a:off x="1391478" y="1793971"/>
            <a:ext cx="6096000" cy="10895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Timing of Assessments Labs will be communicated shortly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There is no lab in Week 1.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6808478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List</a:t>
            </a:r>
            <a:br>
              <a:rPr lang="en-GB" dirty="0"/>
            </a:br>
            <a:r>
              <a:rPr lang="en-GB" sz="2400" dirty="0"/>
              <a:t>See Loop for Additional Materials</a:t>
            </a:r>
          </a:p>
        </p:txBody>
      </p:sp>
      <p:sp>
        <p:nvSpPr>
          <p:cNvPr id="3281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7263" y="1676400"/>
            <a:ext cx="5956300" cy="4705350"/>
          </a:xfrm>
        </p:spPr>
        <p:txBody>
          <a:bodyPr/>
          <a:lstStyle/>
          <a:p>
            <a:pPr marL="0" indent="0"/>
            <a:r>
              <a:rPr lang="en-GB" sz="2400" dirty="0"/>
              <a:t>It is </a:t>
            </a:r>
            <a:r>
              <a:rPr lang="en-GB" sz="2400" b="1" dirty="0"/>
              <a:t>strongly</a:t>
            </a:r>
            <a:r>
              <a:rPr lang="en-GB" sz="2400" dirty="0"/>
              <a:t> recommended that you obtain a copy of either of the 2 main recommended text books for the duration of the module.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dirty="0"/>
              <a:t>Andreas </a:t>
            </a:r>
            <a:r>
              <a:rPr lang="en-GB" sz="2400" dirty="0" err="1"/>
              <a:t>Spillner</a:t>
            </a:r>
            <a:r>
              <a:rPr lang="en-GB" sz="2400" dirty="0"/>
              <a:t>, </a:t>
            </a:r>
            <a:r>
              <a:rPr lang="en-GB" sz="2400" dirty="0" err="1"/>
              <a:t>Tilo</a:t>
            </a:r>
            <a:r>
              <a:rPr lang="en-GB" sz="2400" dirty="0"/>
              <a:t> Linz, Hans Schaefer, </a:t>
            </a:r>
            <a:r>
              <a:rPr lang="en-GB" sz="2400" i="1" dirty="0"/>
              <a:t>Software Testing Foundations</a:t>
            </a:r>
            <a:r>
              <a:rPr lang="en-GB" sz="2400" dirty="0"/>
              <a:t>, 2nd Edition, </a:t>
            </a:r>
            <a:r>
              <a:rPr lang="en-GB" sz="2400" dirty="0" err="1"/>
              <a:t>RockyNook</a:t>
            </a:r>
            <a:r>
              <a:rPr lang="en-GB" sz="2400" dirty="0"/>
              <a:t> Books </a:t>
            </a:r>
          </a:p>
          <a:p>
            <a:pPr marL="0" indent="0"/>
            <a:endParaRPr lang="en-GB" sz="2400" dirty="0"/>
          </a:p>
          <a:p>
            <a:pPr marL="0" indent="0"/>
            <a:r>
              <a:rPr lang="en-GB" sz="2400" dirty="0"/>
              <a:t>Dorothy Graham, Isabel Evans, Erik Van </a:t>
            </a:r>
            <a:r>
              <a:rPr lang="en-GB" sz="2400" dirty="0" err="1"/>
              <a:t>Veenendaal</a:t>
            </a:r>
            <a:r>
              <a:rPr lang="en-GB" sz="2400" dirty="0"/>
              <a:t> and Rex Black, </a:t>
            </a:r>
            <a:r>
              <a:rPr lang="en-GB" sz="2400" i="1" dirty="0"/>
              <a:t>Foundations of Software Testing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0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Syllabus</a:t>
            </a:r>
            <a:br>
              <a:rPr lang="en-GB" sz="3200" dirty="0"/>
            </a:br>
            <a:r>
              <a:rPr lang="en-US" sz="2000" dirty="0"/>
              <a:t>Module (</a:t>
            </a:r>
            <a:r>
              <a:rPr lang="en-US" sz="2000" b="1" dirty="0"/>
              <a:t>partly</a:t>
            </a:r>
            <a:r>
              <a:rPr lang="en-US" sz="2000" dirty="0"/>
              <a:t>) follows the ISTQB Foundation syllabus</a:t>
            </a:r>
            <a:endParaRPr lang="en-GB" sz="2000" dirty="0"/>
          </a:p>
        </p:txBody>
      </p:sp>
      <p:sp>
        <p:nvSpPr>
          <p:cNvPr id="3288072" name="Rectangle 8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sz="1600" dirty="0"/>
              <a:t>Fundamentals of testing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What is testing?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General testing principles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Fundamental test process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The psychology of testing   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  <a:p>
            <a:pPr marL="0" indent="0">
              <a:lnSpc>
                <a:spcPct val="80000"/>
              </a:lnSpc>
            </a:pPr>
            <a:r>
              <a:rPr lang="en-US" sz="1600" dirty="0"/>
              <a:t>Testing throughout the software life cycle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Software development models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Test levels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Test types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Maintenance testing  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  <a:p>
            <a:pPr marL="0" indent="0">
              <a:lnSpc>
                <a:spcPct val="80000"/>
              </a:lnSpc>
            </a:pPr>
            <a:r>
              <a:rPr lang="en-US" sz="1600" dirty="0"/>
              <a:t>Static techniques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Static techniques and the test process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Review process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Static analysis by tools   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</p:txBody>
      </p:sp>
      <p:sp>
        <p:nvSpPr>
          <p:cNvPr id="3288073" name="Rectangle 9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</a:pPr>
            <a:r>
              <a:rPr lang="en-US" sz="1600" dirty="0"/>
              <a:t>Test design techniques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The test development process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Categories of test design techniques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Black-box techniques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White-box techniques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Experience-based techniques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Choosing test techniques </a:t>
            </a:r>
            <a:endParaRPr lang="en-GB" sz="1400" dirty="0"/>
          </a:p>
          <a:p>
            <a:pPr marL="0" indent="0">
              <a:lnSpc>
                <a:spcPct val="80000"/>
              </a:lnSpc>
            </a:pPr>
            <a:endParaRPr lang="en-US" sz="1600" dirty="0"/>
          </a:p>
          <a:p>
            <a:pPr marL="0" indent="0">
              <a:lnSpc>
                <a:spcPct val="80000"/>
              </a:lnSpc>
            </a:pPr>
            <a:r>
              <a:rPr lang="en-US" sz="1600" dirty="0"/>
              <a:t>Test management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Test organization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Test planning and estimation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Test progress monitoring and control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Configuration management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Risk and testing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Incident management 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  <a:p>
            <a:pPr marL="0" indent="0">
              <a:lnSpc>
                <a:spcPct val="80000"/>
              </a:lnSpc>
            </a:pPr>
            <a:r>
              <a:rPr lang="en-US" sz="1600" dirty="0"/>
              <a:t>Technology support for testing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Types of test technologies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Effective use of tools: potential benefits and risks </a:t>
            </a:r>
          </a:p>
          <a:p>
            <a:pPr marL="457200" lvl="1" indent="0">
              <a:lnSpc>
                <a:spcPct val="80000"/>
              </a:lnSpc>
            </a:pPr>
            <a:r>
              <a:rPr lang="en-US" sz="1400" dirty="0"/>
              <a:t>Introducing a tool into an organization  </a:t>
            </a:r>
          </a:p>
          <a:p>
            <a:pPr marL="0" indent="0">
              <a:lnSpc>
                <a:spcPct val="80000"/>
              </a:lnSpc>
            </a:pPr>
            <a:endParaRPr lang="en-GB" sz="1600" dirty="0"/>
          </a:p>
          <a:p>
            <a:pPr marL="0" indent="0">
              <a:lnSpc>
                <a:spcPct val="80000"/>
              </a:lnSpc>
            </a:pPr>
            <a:endParaRPr lang="en-GB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ISTQB</a:t>
            </a:r>
            <a:br>
              <a:rPr lang="en-GB"/>
            </a:br>
            <a:r>
              <a:rPr lang="en-US" sz="1800"/>
              <a:t>International Software Testing Qualifications Board</a:t>
            </a:r>
            <a:endParaRPr lang="en-GB" sz="1800"/>
          </a:p>
        </p:txBody>
      </p:sp>
      <p:sp>
        <p:nvSpPr>
          <p:cNvPr id="329114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25000"/>
              </a:spcAft>
            </a:pPr>
            <a:r>
              <a:rPr lang="en-US" sz="2000"/>
              <a:t>ISTQB is the global standard for certification of software testers.</a:t>
            </a:r>
          </a:p>
          <a:p>
            <a:pPr>
              <a:spcAft>
                <a:spcPct val="25000"/>
              </a:spcAft>
            </a:pPr>
            <a:r>
              <a:rPr lang="en-US" sz="2000"/>
              <a:t>ISTQB is responsible for the international qualification scheme called "</a:t>
            </a:r>
            <a:r>
              <a:rPr lang="en-US" sz="2000" b="1"/>
              <a:t>ISTQB Certified Tester</a:t>
            </a:r>
            <a:r>
              <a:rPr lang="en-US" sz="2000"/>
              <a:t>".</a:t>
            </a:r>
          </a:p>
          <a:p>
            <a:pPr>
              <a:spcAft>
                <a:spcPct val="25000"/>
              </a:spcAft>
            </a:pPr>
            <a:r>
              <a:rPr lang="en-US" sz="2000"/>
              <a:t>The qualifications are based on a syllabus, and there is a hierarchy of qualifications and guidelines for accreditation and examination.</a:t>
            </a:r>
          </a:p>
          <a:p>
            <a:pPr>
              <a:spcAft>
                <a:spcPct val="25000"/>
              </a:spcAft>
            </a:pPr>
            <a:r>
              <a:rPr lang="en-US" sz="2000"/>
              <a:t>The role of ISTQB is to support a single, universally accepted, international qualification scheme, aimed at software and system testing professionals, by providing the core syllabi and by setting guidelines for accreditation and examination for national boards. </a:t>
            </a:r>
          </a:p>
          <a:p>
            <a:pPr>
              <a:spcAft>
                <a:spcPct val="25000"/>
              </a:spcAft>
            </a:pPr>
            <a:r>
              <a:rPr lang="en-US" sz="2000"/>
              <a:t>www.istqb.org</a:t>
            </a:r>
          </a:p>
          <a:p>
            <a:pPr>
              <a:spcAft>
                <a:spcPct val="25000"/>
              </a:spcAft>
            </a:pPr>
            <a:r>
              <a:rPr lang="en-US" sz="2000"/>
              <a:t>www.istb.ie</a:t>
            </a:r>
          </a:p>
          <a:p>
            <a:pPr>
              <a:spcAft>
                <a:spcPct val="25000"/>
              </a:spcAft>
            </a:pPr>
            <a:endParaRPr lang="en-GB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0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Topics Covered (in no particular order!):</a:t>
            </a:r>
            <a:br>
              <a:rPr lang="en-GB" sz="3200" dirty="0"/>
            </a:br>
            <a:endParaRPr lang="en-GB" sz="2000" dirty="0"/>
          </a:p>
        </p:txBody>
      </p:sp>
      <p:sp>
        <p:nvSpPr>
          <p:cNvPr id="328807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676400"/>
            <a:ext cx="10515600" cy="470535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80000"/>
              </a:lnSpc>
            </a:pPr>
            <a:r>
              <a:rPr lang="en-IE" dirty="0"/>
              <a:t>Fundamentals Of Testing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Unit Testing </a:t>
            </a:r>
            <a:r>
              <a:rPr lang="en-IE" dirty="0" err="1"/>
              <a:t>Pyunit</a:t>
            </a:r>
            <a:r>
              <a:rPr lang="en-IE" sz="1600" dirty="0"/>
              <a:t>  </a:t>
            </a:r>
            <a:r>
              <a:rPr lang="en-IE" dirty="0"/>
              <a:t>and Pair Programming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Test Principles</a:t>
            </a:r>
            <a:r>
              <a:rPr lang="en-IE" sz="1600" dirty="0"/>
              <a:t> </a:t>
            </a:r>
            <a:r>
              <a:rPr lang="en-IE" dirty="0"/>
              <a:t>and Psychology of Testing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Baselines, Exit Criteria &amp; Test Process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SW Dev Lifecycle Models &amp; Testing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Test Design Techniques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Configuration, Risk &amp; Incident Management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Test Organisation, Planning, Estimation &amp; Control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Path Coverage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r>
              <a:rPr lang="en-IE" sz="1600" dirty="0"/>
              <a:t> </a:t>
            </a:r>
            <a:r>
              <a:rPr lang="en-IE" dirty="0"/>
              <a:t>Testing Software Requirements, Path Coverage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Low Formality Test Techniques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Decomposition, Test Levels, Stubs, Drivers 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Data Flow Analysis &amp; Control Flow Graphs</a:t>
            </a:r>
          </a:p>
          <a:p>
            <a:pPr marL="0" indent="0">
              <a:lnSpc>
                <a:spcPct val="80000"/>
              </a:lnSpc>
            </a:pPr>
            <a:r>
              <a:rPr lang="en-IE" dirty="0"/>
              <a:t>Debugging</a:t>
            </a:r>
            <a:r>
              <a:rPr lang="en-IE" sz="1600" dirty="0"/>
              <a:t> 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90811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0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Syllabus</a:t>
            </a:r>
            <a:br>
              <a:rPr lang="en-GB" sz="3200" dirty="0"/>
            </a:br>
            <a:r>
              <a:rPr lang="en-US" sz="2000" dirty="0"/>
              <a:t>This module will also include additional elements</a:t>
            </a:r>
            <a:endParaRPr lang="en-GB" sz="2000" dirty="0"/>
          </a:p>
        </p:txBody>
      </p:sp>
      <p:sp>
        <p:nvSpPr>
          <p:cNvPr id="328807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2227263" y="1676400"/>
            <a:ext cx="6876980" cy="4705350"/>
          </a:xfrm>
        </p:spPr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US" sz="2400" dirty="0"/>
              <a:t>- Unit Testing</a:t>
            </a:r>
          </a:p>
          <a:p>
            <a:pPr marL="457200" lvl="1" indent="0">
              <a:lnSpc>
                <a:spcPct val="80000"/>
              </a:lnSpc>
            </a:pPr>
            <a:r>
              <a:rPr lang="en-US" sz="2000" dirty="0"/>
              <a:t>What is unit testing?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2000" dirty="0"/>
              <a:t>General unit testing principles   </a:t>
            </a:r>
          </a:p>
          <a:p>
            <a:pPr marL="457200" lvl="1" indent="0">
              <a:lnSpc>
                <a:spcPct val="80000"/>
              </a:lnSpc>
            </a:pPr>
            <a:r>
              <a:rPr lang="en-US" sz="2000" dirty="0"/>
              <a:t>Unit testing using Junit (Java) / </a:t>
            </a:r>
            <a:r>
              <a:rPr lang="en-US" sz="2000" dirty="0" err="1"/>
              <a:t>Pyunit</a:t>
            </a:r>
            <a:r>
              <a:rPr lang="en-US" sz="2000" dirty="0"/>
              <a:t> (Python) </a:t>
            </a:r>
          </a:p>
          <a:p>
            <a:pPr marL="0" indent="0">
              <a:lnSpc>
                <a:spcPct val="80000"/>
              </a:lnSpc>
            </a:pPr>
            <a:endParaRPr lang="en-US" sz="2400" dirty="0"/>
          </a:p>
          <a:p>
            <a:pPr marL="0" indent="0">
              <a:lnSpc>
                <a:spcPct val="80000"/>
              </a:lnSpc>
            </a:pPr>
            <a:r>
              <a:rPr lang="en-US" sz="2400" dirty="0"/>
              <a:t>- Requirements Testing</a:t>
            </a:r>
          </a:p>
          <a:p>
            <a:pPr marL="457200" lvl="1" indent="0">
              <a:lnSpc>
                <a:spcPct val="80000"/>
              </a:lnSpc>
            </a:pPr>
            <a:r>
              <a:rPr lang="en-US" sz="1600" dirty="0"/>
              <a:t>How to test requirements</a:t>
            </a:r>
          </a:p>
          <a:p>
            <a:pPr marL="0" indent="0">
              <a:lnSpc>
                <a:spcPct val="8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9745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Arial Black" charset="0"/>
              </a:rPr>
              <a:t>Help yourself….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255205" y="6229350"/>
            <a:ext cx="1904145" cy="457200"/>
          </a:xfrm>
          <a:prstGeom prst="rect">
            <a:avLst/>
          </a:prstGeom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E02222B6-789F-B647-88E1-7D374E760E83}" type="slidenum">
              <a:rPr lang="en-US" sz="1000">
                <a:solidFill>
                  <a:srgbClr val="00279F"/>
                </a:solidFill>
                <a:latin typeface="Arial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z="1000">
              <a:solidFill>
                <a:srgbClr val="00279F"/>
              </a:solidFill>
              <a:latin typeface="Arial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18584" y="1676400"/>
            <a:ext cx="10860616" cy="470535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Tahoma" charset="0"/>
              </a:rPr>
              <a:t>Learning in the first instance – Lectures </a:t>
            </a:r>
            <a:endParaRPr lang="en-IE" dirty="0">
              <a:solidFill>
                <a:srgbClr val="FF0000"/>
              </a:solidFill>
              <a:latin typeface="Tahoma" charset="0"/>
            </a:endParaRPr>
          </a:p>
          <a:p>
            <a:r>
              <a:rPr lang="en-IE" dirty="0">
                <a:latin typeface="Tahoma" charset="0"/>
              </a:rPr>
              <a:t>Pay attention </a:t>
            </a:r>
          </a:p>
          <a:p>
            <a:r>
              <a:rPr lang="en-IE" dirty="0">
                <a:latin typeface="Tahoma" charset="0"/>
              </a:rPr>
              <a:t>Don’t be passive</a:t>
            </a:r>
          </a:p>
          <a:p>
            <a:pPr lvl="1"/>
            <a:r>
              <a:rPr lang="en-IE" dirty="0">
                <a:latin typeface="Tahoma" charset="0"/>
              </a:rPr>
              <a:t>Contribute – ask questions, make comments, etc.</a:t>
            </a:r>
          </a:p>
          <a:p>
            <a:pPr lvl="1"/>
            <a:r>
              <a:rPr lang="en-IE" dirty="0">
                <a:latin typeface="Tahoma" charset="0"/>
              </a:rPr>
              <a:t>Take notes for yourself (and refer to Loop)</a:t>
            </a:r>
          </a:p>
          <a:p>
            <a:pPr lvl="1"/>
            <a:r>
              <a:rPr lang="en-IE" dirty="0">
                <a:latin typeface="Tahoma" charset="0"/>
              </a:rPr>
              <a:t>Do the exercises set</a:t>
            </a:r>
          </a:p>
          <a:p>
            <a:pPr lvl="1"/>
            <a:r>
              <a:rPr lang="en-IE" dirty="0">
                <a:latin typeface="Tahoma" charset="0"/>
              </a:rPr>
              <a:t>Read the notes, books, articles</a:t>
            </a:r>
          </a:p>
          <a:p>
            <a:pPr lvl="1"/>
            <a:r>
              <a:rPr lang="en-IE" b="1" i="1" dirty="0">
                <a:latin typeface="Tahoma" charset="0"/>
              </a:rPr>
              <a:t>Assessment - Understand concepts and be able to apply them and express your opinions on them</a:t>
            </a:r>
          </a:p>
          <a:p>
            <a:pPr lvl="1"/>
            <a:endParaRPr lang="en-IE" dirty="0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3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99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Fundamentals of Testing</a:t>
            </a:r>
          </a:p>
        </p:txBody>
      </p:sp>
      <p:sp>
        <p:nvSpPr>
          <p:cNvPr id="22609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655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5600</TotalTime>
  <Words>824</Words>
  <Application>Microsoft Office PowerPoint</Application>
  <PresentationFormat>Widescreen</PresentationFormat>
  <Paragraphs>131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Monotype Sorts</vt:lpstr>
      <vt:lpstr>Tahoma</vt:lpstr>
      <vt:lpstr>Wingdings</vt:lpstr>
      <vt:lpstr>Office Theme</vt:lpstr>
      <vt:lpstr>EvolutifStandard</vt:lpstr>
      <vt:lpstr>SoftwareTesting</vt:lpstr>
      <vt:lpstr>Who is who and why are we here?</vt:lpstr>
      <vt:lpstr>The source of all knowledge – Loop!</vt:lpstr>
      <vt:lpstr>Exam and assessment procedure</vt:lpstr>
      <vt:lpstr>Please Note!!!</vt:lpstr>
      <vt:lpstr>Reading List See Loop for Additional Materials</vt:lpstr>
      <vt:lpstr>Syllabus Module (partly) follows the ISTQB Foundation syllabus</vt:lpstr>
      <vt:lpstr>ISTQB International Software Testing Qualifications Board</vt:lpstr>
      <vt:lpstr>Topics Covered (in no particular order!): </vt:lpstr>
      <vt:lpstr>Syllabus This module will also include additional elements</vt:lpstr>
      <vt:lpstr>Help yourself….</vt:lpstr>
      <vt:lpstr>Fundamentals of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is who and why are we here?</dc:title>
  <dc:creator>Silvana Togneri MacMahon</dc:creator>
  <cp:lastModifiedBy>Silvana MacMahon</cp:lastModifiedBy>
  <cp:revision>38</cp:revision>
  <cp:lastPrinted>2018-09-24T13:31:36Z</cp:lastPrinted>
  <dcterms:created xsi:type="dcterms:W3CDTF">2018-09-24T12:10:51Z</dcterms:created>
  <dcterms:modified xsi:type="dcterms:W3CDTF">2025-01-14T15:19:21Z</dcterms:modified>
</cp:coreProperties>
</file>