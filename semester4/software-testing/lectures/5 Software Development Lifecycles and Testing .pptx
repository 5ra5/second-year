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779" r:id="rId2"/>
    <p:sldId id="780" r:id="rId3"/>
    <p:sldId id="810" r:id="rId4"/>
    <p:sldId id="782" r:id="rId5"/>
    <p:sldId id="808" r:id="rId6"/>
    <p:sldId id="811" r:id="rId7"/>
    <p:sldId id="785" r:id="rId8"/>
    <p:sldId id="812" r:id="rId9"/>
    <p:sldId id="809" r:id="rId10"/>
    <p:sldId id="806" r:id="rId11"/>
    <p:sldId id="788" r:id="rId12"/>
    <p:sldId id="792" r:id="rId13"/>
    <p:sldId id="793" r:id="rId14"/>
    <p:sldId id="794" r:id="rId15"/>
    <p:sldId id="813" r:id="rId16"/>
    <p:sldId id="807" r:id="rId17"/>
    <p:sldId id="814" r:id="rId18"/>
    <p:sldId id="798" r:id="rId19"/>
    <p:sldId id="799" r:id="rId20"/>
    <p:sldId id="789" r:id="rId21"/>
    <p:sldId id="804" r:id="rId22"/>
    <p:sldId id="805" r:id="rId23"/>
    <p:sldId id="790" r:id="rId24"/>
    <p:sldId id="791" r:id="rId25"/>
  </p:sldIdLst>
  <p:sldSz cx="9144000" cy="6858000" type="screen4x3"/>
  <p:notesSz cx="7315200" cy="96012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>
      <p:cViewPr varScale="1">
        <p:scale>
          <a:sx n="109" d="100"/>
          <a:sy n="109" d="100"/>
        </p:scale>
        <p:origin x="199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62"/>
    </p:cViewPr>
  </p:sorterViewPr>
  <p:notesViewPr>
    <p:cSldViewPr>
      <p:cViewPr varScale="1">
        <p:scale>
          <a:sx n="88" d="100"/>
          <a:sy n="88" d="100"/>
        </p:scale>
        <p:origin x="2682" y="96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endParaRPr lang="en-GB"/>
          </a:p>
        </p:txBody>
      </p:sp>
      <p:sp>
        <p:nvSpPr>
          <p:cNvPr id="141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r>
              <a:rPr lang="en-GB"/>
              <a:t>Page </a:t>
            </a:r>
            <a:fld id="{EA5D38E3-B9B2-4441-826C-C6BD30AADF5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348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41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1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2"/>
            <a:ext cx="5852844" cy="432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1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D1B6875-EB0E-AC4C-95B7-0367583F6CD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751571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2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1388" y="747713"/>
            <a:ext cx="4919662" cy="368935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689475"/>
            <a:ext cx="4987925" cy="444341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226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691063"/>
            <a:ext cx="4984750" cy="4441825"/>
          </a:xfrm>
        </p:spPr>
        <p:txBody>
          <a:bodyPr/>
          <a:lstStyle/>
          <a:p>
            <a:pPr marL="228600" indent="-228600">
              <a:buFontTx/>
              <a:buAutoNum type="arabicPeriod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3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1388" y="747713"/>
            <a:ext cx="4919662" cy="368935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689475"/>
            <a:ext cx="4987925" cy="444341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553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Copyright Systeme Evolutif 2006</a:t>
            </a:r>
          </a:p>
        </p:txBody>
      </p:sp>
      <p:sp>
        <p:nvSpPr>
          <p:cNvPr id="34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1388" y="747713"/>
            <a:ext cx="4919662" cy="368935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689475"/>
            <a:ext cx="4987925" cy="444341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91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1388" y="747713"/>
            <a:ext cx="4919662" cy="368935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689475"/>
            <a:ext cx="4987925" cy="444341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598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66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691063"/>
            <a:ext cx="4984750" cy="4441825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108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Copyright Systeme Evolutif 2006</a:t>
            </a:r>
          </a:p>
        </p:txBody>
      </p:sp>
      <p:sp>
        <p:nvSpPr>
          <p:cNvPr id="32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5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640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762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965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3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3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27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687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098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430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4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838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200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751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25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900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32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1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4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80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00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266700"/>
            <a:ext cx="2065337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66700"/>
            <a:ext cx="6045200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91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2975" y="1676400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2975" y="4105275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8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50838"/>
            <a:ext cx="8423275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3" y="1190625"/>
            <a:ext cx="413543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2650" y="1190625"/>
            <a:ext cx="4135438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861425" y="0"/>
            <a:ext cx="282575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6390F-1603-4606-96BE-11F29AAF5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2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1588" y="1484313"/>
            <a:ext cx="90662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66700"/>
            <a:ext cx="8145462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1676400"/>
            <a:ext cx="7948612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8172450" y="6400800"/>
            <a:ext cx="450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fld id="{F04697A2-D443-9B46-B76B-C17EBA70E809}" type="slidenum">
              <a:rPr lang="en-US" sz="1000">
                <a:solidFill>
                  <a:schemeClr val="bg2"/>
                </a:solidFill>
              </a:rPr>
              <a:pPr eaLnBrk="0" hangingPunct="0"/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77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Software Development Models</a:t>
            </a:r>
          </a:p>
        </p:txBody>
      </p:sp>
    </p:spTree>
    <p:extLst>
      <p:ext uri="{BB962C8B-B14F-4D97-AF65-F5344CB8AC3E}">
        <p14:creationId xmlns:p14="http://schemas.microsoft.com/office/powerpoint/2010/main" val="114915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4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  <p:sp>
        <p:nvSpPr>
          <p:cNvPr id="343143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Software Process</a:t>
            </a:r>
            <a:r>
              <a:rPr lang="en-US" dirty="0"/>
              <a:t> defines the way to produce software. It includes	</a:t>
            </a:r>
          </a:p>
          <a:p>
            <a:pPr lvl="1"/>
            <a:r>
              <a:rPr lang="en-US" dirty="0"/>
              <a:t>Software life-cycle model</a:t>
            </a:r>
          </a:p>
          <a:p>
            <a:pPr lvl="1"/>
            <a:r>
              <a:rPr lang="en-US" dirty="0"/>
              <a:t>Tools to use</a:t>
            </a:r>
          </a:p>
          <a:p>
            <a:pPr lvl="1"/>
            <a:r>
              <a:rPr lang="en-US" dirty="0"/>
              <a:t>Individuals building software</a:t>
            </a:r>
          </a:p>
          <a:p>
            <a:r>
              <a:rPr lang="en-US" b="1" dirty="0"/>
              <a:t>Software life-cycle model</a:t>
            </a:r>
            <a:r>
              <a:rPr lang="en-US" dirty="0"/>
              <a:t> defines how different phases of the life cycle are managed.</a:t>
            </a:r>
          </a:p>
          <a:p>
            <a:endParaRPr lang="en-US" dirty="0"/>
          </a:p>
          <a:p>
            <a:r>
              <a:rPr lang="en-US" b="1" dirty="0"/>
              <a:t>Software Development Life Cycle</a:t>
            </a:r>
            <a:r>
              <a:rPr lang="en-US" dirty="0"/>
              <a:t> (SDLC)</a:t>
            </a:r>
          </a:p>
        </p:txBody>
      </p:sp>
    </p:spTree>
    <p:extLst>
      <p:ext uri="{BB962C8B-B14F-4D97-AF65-F5344CB8AC3E}">
        <p14:creationId xmlns:p14="http://schemas.microsoft.com/office/powerpoint/2010/main" val="3970354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3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3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31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31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4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314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14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Phases of Software Development</a:t>
            </a:r>
          </a:p>
        </p:txBody>
      </p:sp>
      <p:pic>
        <p:nvPicPr>
          <p:cNvPr id="3433493" name="Picture 2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0447" y="2207419"/>
            <a:ext cx="5961459" cy="3343275"/>
          </a:xfrm>
          <a:noFill/>
          <a:ln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437130" y="4746866"/>
            <a:ext cx="3616253" cy="82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en-US" sz="1500" b="1" kern="0" dirty="0">
                <a:solidFill>
                  <a:srgbClr val="FF0000"/>
                </a:solidFill>
              </a:rPr>
              <a:t>These phases can be crunched in time – overlapped, </a:t>
            </a:r>
            <a:r>
              <a:rPr lang="en-US" sz="1500" b="1" kern="0" dirty="0" err="1">
                <a:solidFill>
                  <a:srgbClr val="FF0000"/>
                </a:solidFill>
              </a:rPr>
              <a:t>etc</a:t>
            </a:r>
            <a:r>
              <a:rPr lang="en-US" sz="1500" b="1" kern="0" dirty="0">
                <a:solidFill>
                  <a:srgbClr val="FF0000"/>
                </a:solidFill>
              </a:rPr>
              <a:t>… and this is one of the big challenges of software development in general.</a:t>
            </a:r>
            <a:endParaRPr lang="en-US" sz="15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505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Life-Cycle Models</a:t>
            </a:r>
          </a:p>
        </p:txBody>
      </p:sp>
      <p:sp>
        <p:nvSpPr>
          <p:cNvPr id="34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Build-and-fix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Waterfall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Rapid prototyping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Spiral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Prototyping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Phased Development Model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incremental development model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iterative development model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Formal Systems Development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Agile models (model or method)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Extreme programming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Scrum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FDD</a:t>
            </a:r>
          </a:p>
        </p:txBody>
      </p:sp>
      <p:sp>
        <p:nvSpPr>
          <p:cNvPr id="3443716" name="Rectangle 4"/>
          <p:cNvSpPr>
            <a:spLocks noChangeArrowheads="1"/>
          </p:cNvSpPr>
          <p:nvPr/>
        </p:nvSpPr>
        <p:spPr bwMode="auto">
          <a:xfrm>
            <a:off x="5668566" y="3644504"/>
            <a:ext cx="1895475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FF0000"/>
                </a:solidFill>
                <a:latin typeface="Comic Sans MS" charset="0"/>
              </a:rPr>
              <a:t>See – Ian </a:t>
            </a:r>
            <a:r>
              <a:rPr lang="en-US" sz="1200" dirty="0" err="1">
                <a:solidFill>
                  <a:srgbClr val="FF0000"/>
                </a:solidFill>
                <a:latin typeface="Comic Sans MS" charset="0"/>
              </a:rPr>
              <a:t>Sommerville</a:t>
            </a:r>
            <a:r>
              <a:rPr lang="en-US" sz="1200" dirty="0">
                <a:solidFill>
                  <a:srgbClr val="FF0000"/>
                </a:solidFill>
                <a:latin typeface="Comic Sans MS" charset="0"/>
              </a:rPr>
              <a:t>, Software Engineering, 5 to 9 editions for good chapter on process models</a:t>
            </a:r>
          </a:p>
        </p:txBody>
      </p:sp>
    </p:spTree>
    <p:extLst>
      <p:ext uri="{BB962C8B-B14F-4D97-AF65-F5344CB8AC3E}">
        <p14:creationId xmlns:p14="http://schemas.microsoft.com/office/powerpoint/2010/main" val="1729655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and Fix Model</a:t>
            </a:r>
          </a:p>
        </p:txBody>
      </p:sp>
      <p:sp>
        <p:nvSpPr>
          <p:cNvPr id="344576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99397" y="2114550"/>
            <a:ext cx="2932509" cy="3529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500" dirty="0"/>
              <a:t>Lots of software is developed using build-and-fix model (e.g. student projects)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Basically there is no model.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No specifications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No design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This model is </a:t>
            </a:r>
            <a:r>
              <a:rPr lang="en-US" sz="1500" u="sng" dirty="0">
                <a:solidFill>
                  <a:srgbClr val="0000FF"/>
                </a:solidFill>
              </a:rPr>
              <a:t>unsatisfactory</a:t>
            </a:r>
            <a:r>
              <a:rPr lang="en-US" sz="1500" dirty="0"/>
              <a:t> and should not be adopted.</a:t>
            </a:r>
          </a:p>
          <a:p>
            <a:pPr>
              <a:lnSpc>
                <a:spcPct val="90000"/>
              </a:lnSpc>
            </a:pPr>
            <a:r>
              <a:rPr lang="en-US" sz="1500" b="1" dirty="0">
                <a:solidFill>
                  <a:srgbClr val="0000FF"/>
                </a:solidFill>
              </a:rPr>
              <a:t>Why?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Need life-cycle model</a:t>
            </a:r>
          </a:p>
          <a:p>
            <a:pPr lvl="1">
              <a:lnSpc>
                <a:spcPct val="90000"/>
              </a:lnSpc>
            </a:pPr>
            <a:r>
              <a:rPr lang="ja-JP" altLang="en-US" sz="1500" dirty="0">
                <a:latin typeface="Arial"/>
              </a:rPr>
              <a:t>“</a:t>
            </a:r>
            <a:r>
              <a:rPr lang="en-US" sz="1500" dirty="0"/>
              <a:t>Game plan</a:t>
            </a:r>
            <a:r>
              <a:rPr lang="ja-JP" altLang="en-US" sz="1500" dirty="0">
                <a:latin typeface="Arial"/>
              </a:rPr>
              <a:t>”</a:t>
            </a:r>
            <a:r>
              <a:rPr lang="en-US" sz="15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Phases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Milestones 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Economically untenable</a:t>
            </a:r>
          </a:p>
          <a:p>
            <a:pPr>
              <a:lnSpc>
                <a:spcPct val="90000"/>
              </a:lnSpc>
            </a:pPr>
            <a:endParaRPr lang="en-GB" sz="1500" dirty="0"/>
          </a:p>
        </p:txBody>
      </p:sp>
      <p:graphicFrame>
        <p:nvGraphicFramePr>
          <p:cNvPr id="3445764" name="Object 4"/>
          <p:cNvGraphicFramePr>
            <a:graphicFrameLocks noChangeAspect="1"/>
          </p:cNvGraphicFramePr>
          <p:nvPr/>
        </p:nvGraphicFramePr>
        <p:xfrm>
          <a:off x="1481138" y="2457451"/>
          <a:ext cx="2992041" cy="2327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974" name="Photo Editor Photo" r:id="rId4" imgW="4114286" imgH="3200000" progId="MSPhotoEd.3">
                  <p:embed/>
                </p:oleObj>
              </mc:Choice>
              <mc:Fallback>
                <p:oleObj name="Photo Editor Photo" r:id="rId4" imgW="4114286" imgH="3200000" progId="MSPhotoEd.3">
                  <p:embed/>
                  <p:pic>
                    <p:nvPicPr>
                      <p:cNvPr id="34457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2457451"/>
                        <a:ext cx="2992041" cy="2327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2065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Waterfall Model</a:t>
            </a:r>
          </a:p>
        </p:txBody>
      </p:sp>
      <p:sp>
        <p:nvSpPr>
          <p:cNvPr id="3435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0448" y="2114550"/>
            <a:ext cx="2931319" cy="3529013"/>
          </a:xfrm>
        </p:spPr>
        <p:txBody>
          <a:bodyPr/>
          <a:lstStyle/>
          <a:p>
            <a:r>
              <a:rPr lang="en-US" sz="1500" dirty="0"/>
              <a:t>Output from one phase is fed as input to the next phase.</a:t>
            </a:r>
          </a:p>
          <a:p>
            <a:r>
              <a:rPr lang="en-US" sz="1500" dirty="0"/>
              <a:t>One phase is completed, documented and signed-off before the next phase begins. </a:t>
            </a:r>
          </a:p>
        </p:txBody>
      </p:sp>
      <p:sp>
        <p:nvSpPr>
          <p:cNvPr id="34355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99397" y="2114550"/>
            <a:ext cx="2932509" cy="3529013"/>
          </a:xfrm>
        </p:spPr>
        <p:txBody>
          <a:bodyPr/>
          <a:lstStyle/>
          <a:p>
            <a:r>
              <a:rPr lang="en-US" sz="1500" dirty="0"/>
              <a:t>Advantages</a:t>
            </a:r>
          </a:p>
          <a:p>
            <a:pPr lvl="1"/>
            <a:r>
              <a:rPr lang="en-US" sz="1350" dirty="0"/>
              <a:t>Each phase is well documented. </a:t>
            </a:r>
          </a:p>
          <a:p>
            <a:pPr lvl="1"/>
            <a:r>
              <a:rPr lang="en-US" sz="1350" dirty="0"/>
              <a:t>Maintenance easier? Perhaps.</a:t>
            </a:r>
          </a:p>
          <a:p>
            <a:r>
              <a:rPr lang="en-US" sz="1500" dirty="0"/>
              <a:t>Disadvantages</a:t>
            </a:r>
          </a:p>
          <a:p>
            <a:pPr lvl="1"/>
            <a:r>
              <a:rPr lang="en-US" sz="1350" dirty="0"/>
              <a:t>If there is a mismatch between what the client wanted and what was built this will not be known till the product is delivered! </a:t>
            </a:r>
          </a:p>
          <a:p>
            <a:endParaRPr lang="en-GB" sz="1500" dirty="0"/>
          </a:p>
        </p:txBody>
      </p:sp>
      <p:cxnSp>
        <p:nvCxnSpPr>
          <p:cNvPr id="3435532" name="AutoShape 12"/>
          <p:cNvCxnSpPr>
            <a:cxnSpLocks noChangeShapeType="1"/>
          </p:cNvCxnSpPr>
          <p:nvPr/>
        </p:nvCxnSpPr>
        <p:spPr bwMode="auto">
          <a:xfrm>
            <a:off x="3669507" y="3975497"/>
            <a:ext cx="254794" cy="35599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35533" name="AutoShape 13"/>
          <p:cNvCxnSpPr>
            <a:cxnSpLocks noChangeShapeType="1"/>
          </p:cNvCxnSpPr>
          <p:nvPr/>
        </p:nvCxnSpPr>
        <p:spPr bwMode="auto">
          <a:xfrm>
            <a:off x="4598194" y="4525567"/>
            <a:ext cx="304800" cy="364331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35534" name="AutoShape 14"/>
          <p:cNvCxnSpPr>
            <a:cxnSpLocks noChangeShapeType="1"/>
          </p:cNvCxnSpPr>
          <p:nvPr/>
        </p:nvCxnSpPr>
        <p:spPr bwMode="auto">
          <a:xfrm>
            <a:off x="5481638" y="4993483"/>
            <a:ext cx="304800" cy="250031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35535" name="AutoShape 15"/>
          <p:cNvCxnSpPr>
            <a:cxnSpLocks noChangeShapeType="1"/>
          </p:cNvCxnSpPr>
          <p:nvPr/>
        </p:nvCxnSpPr>
        <p:spPr bwMode="auto">
          <a:xfrm>
            <a:off x="6454379" y="5344717"/>
            <a:ext cx="304800" cy="292894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3435561" name="Picture 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17" y="3699274"/>
            <a:ext cx="5568553" cy="2125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003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development models</a:t>
            </a:r>
          </a:p>
        </p:txBody>
      </p:sp>
      <p:sp>
        <p:nvSpPr>
          <p:cNvPr id="32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latin typeface="Arial"/>
              </a:rPr>
              <a:t>“</a:t>
            </a:r>
            <a:r>
              <a:rPr lang="en-US" dirty="0"/>
              <a:t>The process of establishing requirements, designing, building and testing a system, done </a:t>
            </a:r>
            <a:r>
              <a:rPr lang="en-US" b="1" dirty="0">
                <a:solidFill>
                  <a:srgbClr val="FF0000"/>
                </a:solidFill>
              </a:rPr>
              <a:t>as a series of smaller developments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  <a:p>
            <a:r>
              <a:rPr lang="en-US" dirty="0"/>
              <a:t>Examples are: prototyping, rapid application development (RAD), Rational Unified Process (RUP) and agile development 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Regression testing is increasingly important </a:t>
            </a:r>
            <a:r>
              <a:rPr lang="en-US" dirty="0"/>
              <a:t>on all iterations after the first one.</a:t>
            </a:r>
          </a:p>
        </p:txBody>
      </p:sp>
    </p:spTree>
    <p:extLst>
      <p:ext uri="{BB962C8B-B14F-4D97-AF65-F5344CB8AC3E}">
        <p14:creationId xmlns:p14="http://schemas.microsoft.com/office/powerpoint/2010/main" val="83334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39618" name="AutoShape 2"/>
          <p:cNvCxnSpPr>
            <a:cxnSpLocks noChangeShapeType="1"/>
          </p:cNvCxnSpPr>
          <p:nvPr/>
        </p:nvCxnSpPr>
        <p:spPr bwMode="auto">
          <a:xfrm>
            <a:off x="7485460" y="6000750"/>
            <a:ext cx="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439667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Incremental Model</a:t>
            </a:r>
          </a:p>
        </p:txBody>
      </p:sp>
      <p:sp>
        <p:nvSpPr>
          <p:cNvPr id="3439668" name="Rectangle 5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500" dirty="0"/>
              <a:t>Break system into small components</a:t>
            </a:r>
          </a:p>
          <a:p>
            <a:r>
              <a:rPr lang="en-US" sz="1500" dirty="0"/>
              <a:t>Construct a partial implementation of a total system </a:t>
            </a:r>
          </a:p>
          <a:p>
            <a:r>
              <a:rPr lang="en-US" sz="1500" dirty="0"/>
              <a:t>Then </a:t>
            </a:r>
            <a:r>
              <a:rPr lang="en-US" sz="1500" b="1" dirty="0">
                <a:solidFill>
                  <a:srgbClr val="FF0000"/>
                </a:solidFill>
              </a:rPr>
              <a:t>gradually add increased functionality</a:t>
            </a:r>
          </a:p>
          <a:p>
            <a:r>
              <a:rPr lang="en-US" sz="1500" dirty="0"/>
              <a:t>The incremental model </a:t>
            </a:r>
            <a:r>
              <a:rPr lang="en-US" sz="1500" b="1" dirty="0" err="1">
                <a:solidFill>
                  <a:srgbClr val="FF0000"/>
                </a:solidFill>
              </a:rPr>
              <a:t>prioritises</a:t>
            </a:r>
            <a:r>
              <a:rPr lang="en-US" sz="1500" b="1" dirty="0">
                <a:solidFill>
                  <a:srgbClr val="FF0000"/>
                </a:solidFill>
              </a:rPr>
              <a:t> requirements </a:t>
            </a:r>
            <a:r>
              <a:rPr lang="en-US" sz="1500" dirty="0"/>
              <a:t>of the system and then implements them in groups.</a:t>
            </a:r>
          </a:p>
          <a:p>
            <a:r>
              <a:rPr lang="en-US" sz="1500" dirty="0"/>
              <a:t>Each subsequent release of the system adds function to the previous release, until all designed functionality has been implemented.</a:t>
            </a:r>
          </a:p>
        </p:txBody>
      </p:sp>
      <p:pic>
        <p:nvPicPr>
          <p:cNvPr id="3439665" name="Picture 4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8819" y="3914775"/>
            <a:ext cx="4752975" cy="1900238"/>
          </a:xfrm>
          <a:noFill/>
          <a:ln/>
          <a:extLst>
            <a:ext uri="{91240B29-F687-4f45-9708-019B960494DF}">
              <a14:hiddenLine xmlns:a14="http://schemas.microsoft.com/office/drawing/2010/main" xmlns="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00006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v Waterfall</a:t>
            </a:r>
          </a:p>
        </p:txBody>
      </p:sp>
      <p:pic>
        <p:nvPicPr>
          <p:cNvPr id="3286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9" t="-1180" r="-809" b="-1180"/>
          <a:stretch>
            <a:fillRect/>
          </a:stretch>
        </p:blipFill>
        <p:spPr bwMode="auto">
          <a:xfrm>
            <a:off x="1871663" y="1966912"/>
            <a:ext cx="5400675" cy="37302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7332" y="4772693"/>
            <a:ext cx="2893202" cy="120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Monotype Sorts" charset="0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279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Note: the creator of the Waterfall model, Winston Royce (1970) actually permitted and encouraged iterative development but this is not generally recognised.</a:t>
            </a:r>
          </a:p>
        </p:txBody>
      </p:sp>
    </p:spTree>
    <p:extLst>
      <p:ext uri="{BB962C8B-B14F-4D97-AF65-F5344CB8AC3E}">
        <p14:creationId xmlns:p14="http://schemas.microsoft.com/office/powerpoint/2010/main" val="117487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Testing within a lifecycle model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305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0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within a life cycle model</a:t>
            </a:r>
          </a:p>
        </p:txBody>
      </p:sp>
      <p:sp>
        <p:nvSpPr>
          <p:cNvPr id="328807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</a:t>
            </a:r>
            <a:r>
              <a:rPr lang="en-US" b="1" dirty="0"/>
              <a:t>'divide and conquer</a:t>
            </a:r>
            <a:r>
              <a:rPr lang="en-US" dirty="0"/>
              <a:t>' the task of testing</a:t>
            </a:r>
          </a:p>
          <a:p>
            <a:r>
              <a:rPr lang="en-US" b="1" dirty="0"/>
              <a:t>Testers should be involved in reviewing documents as soon as drafts are available </a:t>
            </a:r>
            <a:r>
              <a:rPr lang="en-US" dirty="0"/>
              <a:t>in the development life cycle</a:t>
            </a:r>
          </a:p>
          <a:p>
            <a:r>
              <a:rPr lang="en-US" dirty="0"/>
              <a:t>Testing builds up as we progress through the various stages.</a:t>
            </a:r>
          </a:p>
          <a:p>
            <a:r>
              <a:rPr lang="en-US" dirty="0"/>
              <a:t>What happens at each stage? How do we determine the objectives for each level?</a:t>
            </a:r>
          </a:p>
        </p:txBody>
      </p:sp>
    </p:spTree>
    <p:extLst>
      <p:ext uri="{BB962C8B-B14F-4D97-AF65-F5344CB8AC3E}">
        <p14:creationId xmlns:p14="http://schemas.microsoft.com/office/powerpoint/2010/main" val="229389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88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88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88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807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test process?</a:t>
            </a:r>
          </a:p>
        </p:txBody>
      </p:sp>
      <p:sp>
        <p:nvSpPr>
          <p:cNvPr id="3296270" name="AutoShape 14"/>
          <p:cNvSpPr>
            <a:spLocks noChangeArrowheads="1"/>
          </p:cNvSpPr>
          <p:nvPr/>
        </p:nvSpPr>
        <p:spPr bwMode="auto">
          <a:xfrm>
            <a:off x="3948113" y="3548063"/>
            <a:ext cx="1247775" cy="676275"/>
          </a:xfrm>
          <a:prstGeom prst="cube">
            <a:avLst>
              <a:gd name="adj" fmla="val 14741"/>
            </a:avLst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67866" tIns="33338" rIns="67866" bIns="333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  <a:latin typeface="Verdana" charset="0"/>
              </a:rPr>
              <a:t>Integration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296271" name="AutoShape 15"/>
          <p:cNvSpPr>
            <a:spLocks noChangeArrowheads="1"/>
          </p:cNvSpPr>
          <p:nvPr/>
        </p:nvSpPr>
        <p:spPr bwMode="auto">
          <a:xfrm>
            <a:off x="5205413" y="2862263"/>
            <a:ext cx="1247775" cy="676275"/>
          </a:xfrm>
          <a:prstGeom prst="cube">
            <a:avLst>
              <a:gd name="adj" fmla="val 14741"/>
            </a:avLst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67866" tIns="33338" rIns="67866" bIns="333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System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296272" name="AutoShape 16"/>
          <p:cNvSpPr>
            <a:spLocks noChangeArrowheads="1"/>
          </p:cNvSpPr>
          <p:nvPr/>
        </p:nvSpPr>
        <p:spPr bwMode="auto">
          <a:xfrm>
            <a:off x="6462713" y="2176463"/>
            <a:ext cx="1247775" cy="676275"/>
          </a:xfrm>
          <a:prstGeom prst="cube">
            <a:avLst>
              <a:gd name="adj" fmla="val 14741"/>
            </a:avLst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67866" tIns="33338" rIns="67866" bIns="333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Acceptance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296273" name="AutoShape 17"/>
          <p:cNvSpPr>
            <a:spLocks noChangeArrowheads="1"/>
          </p:cNvSpPr>
          <p:nvPr/>
        </p:nvSpPr>
        <p:spPr bwMode="auto">
          <a:xfrm>
            <a:off x="2690813" y="4233863"/>
            <a:ext cx="1247775" cy="676275"/>
          </a:xfrm>
          <a:prstGeom prst="cube">
            <a:avLst>
              <a:gd name="adj" fmla="val 14741"/>
            </a:avLst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67866" tIns="33338" rIns="67866" bIns="333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Component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296274" name="AutoShape 18"/>
          <p:cNvSpPr>
            <a:spLocks noChangeArrowheads="1"/>
          </p:cNvSpPr>
          <p:nvPr/>
        </p:nvSpPr>
        <p:spPr bwMode="auto">
          <a:xfrm>
            <a:off x="1433513" y="4919663"/>
            <a:ext cx="1247775" cy="676275"/>
          </a:xfrm>
          <a:prstGeom prst="cube">
            <a:avLst>
              <a:gd name="adj" fmla="val 14741"/>
            </a:avLst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67866" tIns="33338" rIns="67866" bIns="333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  <a:latin typeface="Verdana" charset="0"/>
              </a:rPr>
              <a:t>Ad hoc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  <a:latin typeface="Verdana" charset="0"/>
              </a:rPr>
              <a:t>Testing</a:t>
            </a:r>
          </a:p>
        </p:txBody>
      </p:sp>
      <p:sp>
        <p:nvSpPr>
          <p:cNvPr id="3296275" name="Arc 19"/>
          <p:cNvSpPr>
            <a:spLocks/>
          </p:cNvSpPr>
          <p:nvPr/>
        </p:nvSpPr>
        <p:spPr bwMode="auto">
          <a:xfrm>
            <a:off x="6457950" y="2859881"/>
            <a:ext cx="514350" cy="401241"/>
          </a:xfrm>
          <a:custGeom>
            <a:avLst/>
            <a:gdLst>
              <a:gd name="G0" fmla="+- 0 0 0"/>
              <a:gd name="G1" fmla="+- 64 0 0"/>
              <a:gd name="G2" fmla="+- 21600 0 0"/>
              <a:gd name="T0" fmla="*/ 21600 w 21600"/>
              <a:gd name="T1" fmla="*/ 0 h 21664"/>
              <a:gd name="T2" fmla="*/ 0 w 21600"/>
              <a:gd name="T3" fmla="*/ 21664 h 21664"/>
              <a:gd name="T4" fmla="*/ 0 w 21600"/>
              <a:gd name="T5" fmla="*/ 64 h 2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64" fill="none" extrusionOk="0">
                <a:moveTo>
                  <a:pt x="21599" y="0"/>
                </a:moveTo>
                <a:cubicBezTo>
                  <a:pt x="21599" y="21"/>
                  <a:pt x="21600" y="42"/>
                  <a:pt x="21600" y="64"/>
                </a:cubicBezTo>
                <a:cubicBezTo>
                  <a:pt x="21600" y="11993"/>
                  <a:pt x="11929" y="21664"/>
                  <a:pt x="-1" y="21664"/>
                </a:cubicBezTo>
              </a:path>
              <a:path w="21600" h="21664" stroke="0" extrusionOk="0">
                <a:moveTo>
                  <a:pt x="21599" y="0"/>
                </a:moveTo>
                <a:cubicBezTo>
                  <a:pt x="21599" y="21"/>
                  <a:pt x="21600" y="42"/>
                  <a:pt x="21600" y="64"/>
                </a:cubicBezTo>
                <a:cubicBezTo>
                  <a:pt x="21600" y="11993"/>
                  <a:pt x="11929" y="21664"/>
                  <a:pt x="-1" y="21664"/>
                </a:cubicBezTo>
                <a:lnTo>
                  <a:pt x="0" y="64"/>
                </a:lnTo>
                <a:close/>
              </a:path>
            </a:pathLst>
          </a:custGeom>
          <a:noFill/>
          <a:ln w="50800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296276" name="Arc 20"/>
          <p:cNvSpPr>
            <a:spLocks/>
          </p:cNvSpPr>
          <p:nvPr/>
        </p:nvSpPr>
        <p:spPr bwMode="auto">
          <a:xfrm>
            <a:off x="5200650" y="3543300"/>
            <a:ext cx="514350" cy="4000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50800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296277" name="Arc 21"/>
          <p:cNvSpPr>
            <a:spLocks/>
          </p:cNvSpPr>
          <p:nvPr/>
        </p:nvSpPr>
        <p:spPr bwMode="auto">
          <a:xfrm>
            <a:off x="3943350" y="4229100"/>
            <a:ext cx="514350" cy="4000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50800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296278" name="Arc 22"/>
          <p:cNvSpPr>
            <a:spLocks/>
          </p:cNvSpPr>
          <p:nvPr/>
        </p:nvSpPr>
        <p:spPr bwMode="auto">
          <a:xfrm>
            <a:off x="2743200" y="4917281"/>
            <a:ext cx="514350" cy="401241"/>
          </a:xfrm>
          <a:custGeom>
            <a:avLst/>
            <a:gdLst>
              <a:gd name="G0" fmla="+- 0 0 0"/>
              <a:gd name="G1" fmla="+- 64 0 0"/>
              <a:gd name="G2" fmla="+- 21600 0 0"/>
              <a:gd name="T0" fmla="*/ 21600 w 21600"/>
              <a:gd name="T1" fmla="*/ 0 h 21664"/>
              <a:gd name="T2" fmla="*/ 0 w 21600"/>
              <a:gd name="T3" fmla="*/ 21664 h 21664"/>
              <a:gd name="T4" fmla="*/ 0 w 21600"/>
              <a:gd name="T5" fmla="*/ 64 h 21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64" fill="none" extrusionOk="0">
                <a:moveTo>
                  <a:pt x="21599" y="0"/>
                </a:moveTo>
                <a:cubicBezTo>
                  <a:pt x="21599" y="21"/>
                  <a:pt x="21600" y="42"/>
                  <a:pt x="21600" y="64"/>
                </a:cubicBezTo>
                <a:cubicBezTo>
                  <a:pt x="21600" y="11993"/>
                  <a:pt x="11929" y="21664"/>
                  <a:pt x="-1" y="21664"/>
                </a:cubicBezTo>
              </a:path>
              <a:path w="21600" h="21664" stroke="0" extrusionOk="0">
                <a:moveTo>
                  <a:pt x="21599" y="0"/>
                </a:moveTo>
                <a:cubicBezTo>
                  <a:pt x="21599" y="21"/>
                  <a:pt x="21600" y="42"/>
                  <a:pt x="21600" y="64"/>
                </a:cubicBezTo>
                <a:cubicBezTo>
                  <a:pt x="21600" y="11993"/>
                  <a:pt x="11929" y="21664"/>
                  <a:pt x="-1" y="21664"/>
                </a:cubicBezTo>
                <a:lnTo>
                  <a:pt x="0" y="64"/>
                </a:lnTo>
                <a:close/>
              </a:path>
            </a:pathLst>
          </a:custGeom>
          <a:noFill/>
          <a:ln w="50800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5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theory to the V-Model</a:t>
            </a:r>
          </a:p>
        </p:txBody>
      </p:sp>
      <p:sp>
        <p:nvSpPr>
          <p:cNvPr id="32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/>
              <a:t>Although variants of the V-model (verification and validation) exist four levels are common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The four commonly levels are:</a:t>
            </a:r>
          </a:p>
          <a:p>
            <a:pPr marL="6858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sz="1500" dirty="0"/>
              <a:t>component (unit) testing</a:t>
            </a:r>
          </a:p>
          <a:p>
            <a:pPr marL="6858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sz="1500" dirty="0"/>
              <a:t>integration testing</a:t>
            </a:r>
          </a:p>
          <a:p>
            <a:pPr marL="6858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sz="1500" dirty="0"/>
              <a:t>system testing</a:t>
            </a:r>
          </a:p>
          <a:p>
            <a:pPr marL="685800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sz="1500" dirty="0"/>
              <a:t>acceptance testing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V-model may have more, fewer or different levels of development and testing, depending on the project and the software product.</a:t>
            </a:r>
          </a:p>
        </p:txBody>
      </p:sp>
    </p:spTree>
    <p:extLst>
      <p:ext uri="{BB962C8B-B14F-4D97-AF65-F5344CB8AC3E}">
        <p14:creationId xmlns:p14="http://schemas.microsoft.com/office/powerpoint/2010/main" val="341473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 model: waterfall and locks</a:t>
            </a:r>
          </a:p>
        </p:txBody>
      </p:sp>
      <p:sp>
        <p:nvSpPr>
          <p:cNvPr id="3300355" name="Oval 3"/>
          <p:cNvSpPr>
            <a:spLocks noChangeArrowheads="1"/>
          </p:cNvSpPr>
          <p:nvPr/>
        </p:nvSpPr>
        <p:spPr bwMode="auto">
          <a:xfrm>
            <a:off x="2069306" y="2476500"/>
            <a:ext cx="771525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Requirements</a:t>
            </a:r>
          </a:p>
        </p:txBody>
      </p:sp>
      <p:sp>
        <p:nvSpPr>
          <p:cNvPr id="3300356" name="Oval 4"/>
          <p:cNvSpPr>
            <a:spLocks noChangeArrowheads="1"/>
          </p:cNvSpPr>
          <p:nvPr/>
        </p:nvSpPr>
        <p:spPr bwMode="auto">
          <a:xfrm>
            <a:off x="2633663" y="3081338"/>
            <a:ext cx="782241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Functional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Specification</a:t>
            </a:r>
          </a:p>
        </p:txBody>
      </p:sp>
      <p:sp>
        <p:nvSpPr>
          <p:cNvPr id="3300357" name="Oval 5"/>
          <p:cNvSpPr>
            <a:spLocks noChangeArrowheads="1"/>
          </p:cNvSpPr>
          <p:nvPr/>
        </p:nvSpPr>
        <p:spPr bwMode="auto">
          <a:xfrm>
            <a:off x="3199211" y="3707606"/>
            <a:ext cx="782240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Physical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Design</a:t>
            </a:r>
          </a:p>
        </p:txBody>
      </p:sp>
      <p:sp>
        <p:nvSpPr>
          <p:cNvPr id="3300358" name="Oval 6"/>
          <p:cNvSpPr>
            <a:spLocks noChangeArrowheads="1"/>
          </p:cNvSpPr>
          <p:nvPr/>
        </p:nvSpPr>
        <p:spPr bwMode="auto">
          <a:xfrm>
            <a:off x="3763567" y="4299347"/>
            <a:ext cx="782240" cy="446484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Program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Specification</a:t>
            </a:r>
          </a:p>
        </p:txBody>
      </p:sp>
      <p:sp>
        <p:nvSpPr>
          <p:cNvPr id="3300359" name="Line 7"/>
          <p:cNvSpPr>
            <a:spLocks noChangeShapeType="1"/>
          </p:cNvSpPr>
          <p:nvPr/>
        </p:nvSpPr>
        <p:spPr bwMode="auto">
          <a:xfrm>
            <a:off x="2581275" y="2912269"/>
            <a:ext cx="205979" cy="2190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0" name="Line 8"/>
          <p:cNvSpPr>
            <a:spLocks noChangeShapeType="1"/>
          </p:cNvSpPr>
          <p:nvPr/>
        </p:nvSpPr>
        <p:spPr bwMode="auto">
          <a:xfrm>
            <a:off x="3143250" y="3515917"/>
            <a:ext cx="215504" cy="22979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1" name="Line 9"/>
          <p:cNvSpPr>
            <a:spLocks noChangeShapeType="1"/>
          </p:cNvSpPr>
          <p:nvPr/>
        </p:nvSpPr>
        <p:spPr bwMode="auto">
          <a:xfrm>
            <a:off x="3729037" y="4143376"/>
            <a:ext cx="185738" cy="20359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2" name="Oval 10"/>
          <p:cNvSpPr>
            <a:spLocks noChangeArrowheads="1"/>
          </p:cNvSpPr>
          <p:nvPr/>
        </p:nvSpPr>
        <p:spPr bwMode="auto">
          <a:xfrm flipH="1">
            <a:off x="6338888" y="2476500"/>
            <a:ext cx="771525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User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Acceptance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300363" name="Oval 11"/>
          <p:cNvSpPr>
            <a:spLocks noChangeArrowheads="1"/>
          </p:cNvSpPr>
          <p:nvPr/>
        </p:nvSpPr>
        <p:spPr bwMode="auto">
          <a:xfrm flipH="1">
            <a:off x="5763817" y="3081338"/>
            <a:ext cx="782240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System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300364" name="Oval 12"/>
          <p:cNvSpPr>
            <a:spLocks noChangeArrowheads="1"/>
          </p:cNvSpPr>
          <p:nvPr/>
        </p:nvSpPr>
        <p:spPr bwMode="auto">
          <a:xfrm flipH="1">
            <a:off x="5198269" y="3707606"/>
            <a:ext cx="782241" cy="447675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Integration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300365" name="Oval 13"/>
          <p:cNvSpPr>
            <a:spLocks noChangeArrowheads="1"/>
          </p:cNvSpPr>
          <p:nvPr/>
        </p:nvSpPr>
        <p:spPr bwMode="auto">
          <a:xfrm flipH="1">
            <a:off x="4633913" y="4299347"/>
            <a:ext cx="782241" cy="446484"/>
          </a:xfrm>
          <a:prstGeom prst="ellipse">
            <a:avLst/>
          </a:prstGeom>
          <a:solidFill>
            <a:schemeClr val="fol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Unit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750" b="1">
                <a:solidFill>
                  <a:srgbClr val="000000"/>
                </a:solidFill>
                <a:latin typeface="Verdana" charset="0"/>
              </a:rPr>
              <a:t>Test</a:t>
            </a:r>
          </a:p>
        </p:txBody>
      </p:sp>
      <p:sp>
        <p:nvSpPr>
          <p:cNvPr id="3300366" name="Line 14"/>
          <p:cNvSpPr>
            <a:spLocks noChangeShapeType="1"/>
          </p:cNvSpPr>
          <p:nvPr/>
        </p:nvSpPr>
        <p:spPr bwMode="auto">
          <a:xfrm flipH="1">
            <a:off x="6392467" y="2912269"/>
            <a:ext cx="205978" cy="2190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7" name="Line 15"/>
          <p:cNvSpPr>
            <a:spLocks noChangeShapeType="1"/>
          </p:cNvSpPr>
          <p:nvPr/>
        </p:nvSpPr>
        <p:spPr bwMode="auto">
          <a:xfrm flipH="1">
            <a:off x="5820967" y="3515917"/>
            <a:ext cx="215503" cy="22979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8" name="Line 16"/>
          <p:cNvSpPr>
            <a:spLocks noChangeShapeType="1"/>
          </p:cNvSpPr>
          <p:nvPr/>
        </p:nvSpPr>
        <p:spPr bwMode="auto">
          <a:xfrm flipH="1">
            <a:off x="5264944" y="4143376"/>
            <a:ext cx="185738" cy="20359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69" name="Line 17"/>
          <p:cNvSpPr>
            <a:spLocks noChangeShapeType="1"/>
          </p:cNvSpPr>
          <p:nvPr/>
        </p:nvSpPr>
        <p:spPr bwMode="auto">
          <a:xfrm>
            <a:off x="4189810" y="4779169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70" name="Line 18"/>
          <p:cNvSpPr>
            <a:spLocks noChangeShapeType="1"/>
          </p:cNvSpPr>
          <p:nvPr/>
        </p:nvSpPr>
        <p:spPr bwMode="auto">
          <a:xfrm>
            <a:off x="2856310" y="2721769"/>
            <a:ext cx="3505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71" name="Line 19"/>
          <p:cNvSpPr>
            <a:spLocks noChangeShapeType="1"/>
          </p:cNvSpPr>
          <p:nvPr/>
        </p:nvSpPr>
        <p:spPr bwMode="auto">
          <a:xfrm>
            <a:off x="3421856" y="3293269"/>
            <a:ext cx="236815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300372" name="Line 20"/>
          <p:cNvSpPr>
            <a:spLocks noChangeShapeType="1"/>
          </p:cNvSpPr>
          <p:nvPr/>
        </p:nvSpPr>
        <p:spPr bwMode="auto">
          <a:xfrm flipV="1">
            <a:off x="3986213" y="3920730"/>
            <a:ext cx="1220391" cy="119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93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8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Model</a:t>
            </a:r>
          </a:p>
        </p:txBody>
      </p:sp>
      <p:pic>
        <p:nvPicPr>
          <p:cNvPr id="345088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2681" y="2114550"/>
            <a:ext cx="4496991" cy="3529013"/>
          </a:xfrm>
          <a:noFill/>
          <a:ln/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5178" y="5530258"/>
            <a:ext cx="3220154" cy="43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350" kern="0" dirty="0"/>
              <a:t>V-Model is commonly used in safety-critical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5870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Continuous Software Engineering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164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8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Software Engineering (CSE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2050" name="Picture 2" descr="Think of continuous integration as your gatekeeper for quality control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638" y="2152650"/>
            <a:ext cx="5499812" cy="355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14703" y="5679934"/>
            <a:ext cx="7695797" cy="17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900" kern="0" dirty="0"/>
              <a:t>Source: https://insights.sei.cmu.edu/devops/2015/01/continuous-integration-in-devops-1.html</a:t>
            </a:r>
            <a:endParaRPr lang="en-US" sz="1050" kern="0" dirty="0"/>
          </a:p>
        </p:txBody>
      </p:sp>
    </p:spTree>
    <p:extLst>
      <p:ext uri="{BB962C8B-B14F-4D97-AF65-F5344CB8AC3E}">
        <p14:creationId xmlns:p14="http://schemas.microsoft.com/office/powerpoint/2010/main" val="1462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8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Software Engineering </a:t>
            </a:r>
            <a:r>
              <a:rPr lang="en-GB" dirty="0" smtClean="0"/>
              <a:t>-Tooling</a:t>
            </a:r>
            <a:endParaRPr lang="en-GB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4228" y="5635033"/>
            <a:ext cx="7295747" cy="213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900" kern="0" dirty="0"/>
              <a:t>Source: O’Connor, R.V., Elger, P., Clarke, P. </a:t>
            </a:r>
            <a:r>
              <a:rPr lang="en-IE" sz="900" kern="0" dirty="0"/>
              <a:t>Continuous Software Engineering – A Microservices Architecture Perspective. To Appear In: Journal of Software Evolution and Process (2017) </a:t>
            </a:r>
            <a:endParaRPr lang="en-US" sz="900" kern="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2095500" y="2260293"/>
          <a:ext cx="5324475" cy="3312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5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85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Phase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>
                          <a:effectLst/>
                        </a:rPr>
                        <a:t>Tool</a:t>
                      </a:r>
                      <a:endParaRPr lang="en-I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Development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>
                          <a:effectLst/>
                        </a:rPr>
                        <a:t>Fuge - http://fuge.io/</a:t>
                      </a:r>
                      <a:endParaRPr lang="en-IE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Seneca - http://senecajs.org/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HAPI - http://hapijs.com/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Repository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 err="1">
                          <a:effectLst/>
                        </a:rPr>
                        <a:t>Git</a:t>
                      </a:r>
                      <a:r>
                        <a:rPr lang="en-US" sz="1200" dirty="0">
                          <a:effectLst/>
                        </a:rPr>
                        <a:t> / </a:t>
                      </a:r>
                      <a:r>
                        <a:rPr lang="en-US" sz="1200" dirty="0" err="1">
                          <a:effectLst/>
                        </a:rPr>
                        <a:t>github</a:t>
                      </a:r>
                      <a:r>
                        <a:rPr lang="en-US" sz="1200" dirty="0">
                          <a:effectLst/>
                        </a:rPr>
                        <a:t> - https://github.com/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 err="1">
                          <a:effectLst/>
                        </a:rPr>
                        <a:t>BitBucket</a:t>
                      </a:r>
                      <a:r>
                        <a:rPr lang="en-US" sz="1200" dirty="0">
                          <a:effectLst/>
                        </a:rPr>
                        <a:t> - https://bitbucket.org/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Build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Jenkins - https://jenkins.io/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Drone - https://drone.io/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Test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Tap - https://testanything.org/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Phantom - http://phantomjs.org/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 err="1">
                          <a:effectLst/>
                        </a:rPr>
                        <a:t>Pdiffy</a:t>
                      </a:r>
                      <a:r>
                        <a:rPr lang="en-US" sz="1200" dirty="0">
                          <a:effectLst/>
                        </a:rPr>
                        <a:t> - https://github.com/kennychua/pdiffy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Infrastructure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EC2 - https://aws.amazon.com/ec2/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ELB - https://aws.amazon.com/elasticloadbalancing/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Consul - https://www.consul.io/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Deployment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Docker registry- https://docs.docker.com/registry/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Code Deploy – https://aws.amazon.com/codedeploy/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Swarm - https://docs.docker.com/swarm/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dirty="0">
                          <a:effectLst/>
                        </a:rPr>
                        <a:t>Kubernetes - http://kubernetes.io/</a:t>
                      </a:r>
                      <a:endParaRPr lang="en-IE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291089" y="2010760"/>
            <a:ext cx="2933297" cy="327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350" kern="0" dirty="0"/>
              <a:t>Examples of Tooling Used in CSE</a:t>
            </a:r>
          </a:p>
        </p:txBody>
      </p:sp>
    </p:spTree>
    <p:extLst>
      <p:ext uri="{BB962C8B-B14F-4D97-AF65-F5344CB8AC3E}">
        <p14:creationId xmlns:p14="http://schemas.microsoft.com/office/powerpoint/2010/main" val="92397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8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Software Engineering </a:t>
            </a:r>
            <a:r>
              <a:rPr lang="en-GB" dirty="0" smtClean="0"/>
              <a:t>- Continued</a:t>
            </a:r>
            <a:endParaRPr lang="en-GB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03263" y="2114550"/>
            <a:ext cx="7948612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en-US" sz="2100" kern="0" dirty="0"/>
              <a:t>Automation/Tooling does not replace existing lifecycles.</a:t>
            </a:r>
          </a:p>
          <a:p>
            <a:r>
              <a:rPr lang="en-US" sz="2100" kern="0" dirty="0"/>
              <a:t>Sometimes it is integrated into a traditional lifecycle model – e.g. using Continuous Integration in a V model</a:t>
            </a:r>
          </a:p>
          <a:p>
            <a:r>
              <a:rPr lang="en-US" sz="2100" kern="0" dirty="0"/>
              <a:t>Traditional models continue to have an impact but take advantage of tooling where beneficial</a:t>
            </a:r>
          </a:p>
          <a:p>
            <a:r>
              <a:rPr lang="en-US" sz="2100" kern="0" dirty="0"/>
              <a:t>Some software engineering has speeded up considerably because of the speed of computer based testing (e.g. DevOps and CSE).</a:t>
            </a:r>
          </a:p>
          <a:p>
            <a:r>
              <a:rPr lang="en-US" sz="2100" kern="0" dirty="0"/>
              <a:t>And the tooling is not just related to testing. There is tooling support for many (all?) lifecycle phases. </a:t>
            </a:r>
          </a:p>
        </p:txBody>
      </p:sp>
    </p:spTree>
    <p:extLst>
      <p:ext uri="{BB962C8B-B14F-4D97-AF65-F5344CB8AC3E}">
        <p14:creationId xmlns:p14="http://schemas.microsoft.com/office/powerpoint/2010/main" val="327229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Influences on the test process</a:t>
            </a:r>
          </a:p>
        </p:txBody>
      </p:sp>
      <p:sp>
        <p:nvSpPr>
          <p:cNvPr id="32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The nature and type of faults to test for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object under test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Capabilities of developers, testers, users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Availability of: environment, tools, data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different purpose(s) of testing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to detect faults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to demonstrate contractual requirements are met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to provide evidence that software works and build confidence.</a:t>
            </a:r>
          </a:p>
        </p:txBody>
      </p:sp>
    </p:spTree>
    <p:extLst>
      <p:ext uri="{BB962C8B-B14F-4D97-AF65-F5344CB8AC3E}">
        <p14:creationId xmlns:p14="http://schemas.microsoft.com/office/powerpoint/2010/main" val="12595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Model Influences Testing</a:t>
            </a:r>
          </a:p>
        </p:txBody>
      </p:sp>
      <p:sp>
        <p:nvSpPr>
          <p:cNvPr id="32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The approach to testing can vary significantly between different lifecycle models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For example, in a traditional V model of software development: requirements are </a:t>
            </a:r>
            <a:r>
              <a:rPr lang="en-US" sz="1800" i="1" dirty="0"/>
              <a:t>extensively </a:t>
            </a:r>
            <a:r>
              <a:rPr lang="en-US" sz="1800" dirty="0"/>
              <a:t>elaborated for entire systems up front, these requirements are exhaustively tested prior to coding. The testing emphasis thereafter </a:t>
            </a:r>
            <a:r>
              <a:rPr lang="en-US" sz="1800" i="1" dirty="0"/>
              <a:t>may</a:t>
            </a:r>
            <a:r>
              <a:rPr lang="en-US" sz="1800" dirty="0"/>
              <a:t> focus on robust integration and system level testing.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In contrast, in a continuous software engineering approach: software requirements are not exhaustively elaborated for entire systems prior to coding and therefore, the capacity to test the system requirements as a whole up front does not exist. System testing still occurs, but in this scenario a robust focus on unit testing, integration testing and regression testing is emphasized.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Consider the difference between embedded software for a pacemaker (V Model) and a web site that is continually being evolved and extended (CSE). These two scenarios lend themselves to two different software development approaches and consequently, to two different testing strategies.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9444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“black and white” picture?</a:t>
            </a:r>
          </a:p>
        </p:txBody>
      </p:sp>
      <p:sp>
        <p:nvSpPr>
          <p:cNvPr id="32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200" dirty="0"/>
              <a:t>Aspects of testing that are common </a:t>
            </a:r>
            <a:r>
              <a:rPr lang="en-US" sz="3200"/>
              <a:t>in CSE might </a:t>
            </a:r>
            <a:r>
              <a:rPr lang="en-US" sz="3200" dirty="0"/>
              <a:t>be useful for traditional V </a:t>
            </a:r>
            <a:r>
              <a:rPr lang="en-US" sz="3200"/>
              <a:t>model lifecycles.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086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Staged testing moves from small to large</a:t>
            </a:r>
          </a:p>
        </p:txBody>
      </p:sp>
      <p:sp>
        <p:nvSpPr>
          <p:cNvPr id="32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</a:t>
            </a:r>
            <a:r>
              <a:rPr lang="en-US" b="1" dirty="0"/>
              <a:t>start by testing each component (in isolation)</a:t>
            </a:r>
          </a:p>
          <a:p>
            <a:r>
              <a:rPr lang="en-US" dirty="0"/>
              <a:t>As tested components become available, </a:t>
            </a:r>
            <a:r>
              <a:rPr lang="en-US" b="1" dirty="0"/>
              <a:t>we test groups of programs - sub-systems</a:t>
            </a:r>
          </a:p>
          <a:p>
            <a:r>
              <a:rPr lang="en-US" dirty="0"/>
              <a:t>Then we </a:t>
            </a:r>
            <a:r>
              <a:rPr lang="en-US" b="1" dirty="0"/>
              <a:t>combine sub-systems and test the system</a:t>
            </a:r>
          </a:p>
          <a:p>
            <a:r>
              <a:rPr lang="en-US" dirty="0"/>
              <a:t>Then we combine single systems with other systems and test.</a:t>
            </a:r>
          </a:p>
        </p:txBody>
      </p:sp>
    </p:spTree>
    <p:extLst>
      <p:ext uri="{BB962C8B-B14F-4D97-AF65-F5344CB8AC3E}">
        <p14:creationId xmlns:p14="http://schemas.microsoft.com/office/powerpoint/2010/main" val="267982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Levels of testing have different objectives</a:t>
            </a:r>
          </a:p>
        </p:txBody>
      </p:sp>
      <p:sp>
        <p:nvSpPr>
          <p:cNvPr id="32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objectives at each level are different</a:t>
            </a:r>
          </a:p>
          <a:p>
            <a:pPr lvl="1"/>
            <a:r>
              <a:rPr lang="en-US" dirty="0"/>
              <a:t>Individual </a:t>
            </a:r>
            <a:r>
              <a:rPr lang="en-US" b="1" dirty="0">
                <a:solidFill>
                  <a:srgbClr val="FF0000"/>
                </a:solidFill>
              </a:rPr>
              <a:t>components are tested for their conformance to their specification</a:t>
            </a:r>
          </a:p>
          <a:p>
            <a:pPr lvl="1"/>
            <a:r>
              <a:rPr lang="en-US" dirty="0"/>
              <a:t>Groups of components are tested for conformance to the physical design</a:t>
            </a:r>
          </a:p>
          <a:p>
            <a:pPr lvl="1"/>
            <a:r>
              <a:rPr lang="en-US" dirty="0"/>
              <a:t>Sub-systems / </a:t>
            </a:r>
            <a:r>
              <a:rPr lang="en-US" b="1" dirty="0">
                <a:solidFill>
                  <a:srgbClr val="FF0000"/>
                </a:solidFill>
              </a:rPr>
              <a:t>systems are tested for conformance to the functional specifications and requirements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793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EvolutifStandard</Template>
  <TotalTime>0</TotalTime>
  <Words>1380</Words>
  <Application>Microsoft Office PowerPoint</Application>
  <PresentationFormat>On-screen Show (4:3)</PresentationFormat>
  <Paragraphs>211</Paragraphs>
  <Slides>24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ＭＳ Ｐゴシック</vt:lpstr>
      <vt:lpstr>Arial</vt:lpstr>
      <vt:lpstr>Comic Sans MS</vt:lpstr>
      <vt:lpstr>Gill Sans</vt:lpstr>
      <vt:lpstr>Monotype Sorts</vt:lpstr>
      <vt:lpstr>Times New Roman</vt:lpstr>
      <vt:lpstr>Verdana</vt:lpstr>
      <vt:lpstr>EvolutifStandard</vt:lpstr>
      <vt:lpstr>Photo Editor Photo</vt:lpstr>
      <vt:lpstr>Software Development Models</vt:lpstr>
      <vt:lpstr>Terminology</vt:lpstr>
      <vt:lpstr>Phases of Software Development</vt:lpstr>
      <vt:lpstr>Life-Cycle Models</vt:lpstr>
      <vt:lpstr>Build and Fix Model</vt:lpstr>
      <vt:lpstr>Waterfall Model</vt:lpstr>
      <vt:lpstr>Iterative development models</vt:lpstr>
      <vt:lpstr>Incremental Model</vt:lpstr>
      <vt:lpstr>Iterative v Waterfall</vt:lpstr>
      <vt:lpstr>Testing within a lifecycle model</vt:lpstr>
      <vt:lpstr>Testing within a life cycle model</vt:lpstr>
      <vt:lpstr>Typical test process?</vt:lpstr>
      <vt:lpstr>From theory to the V-Model</vt:lpstr>
      <vt:lpstr>V model: waterfall and locks</vt:lpstr>
      <vt:lpstr>V Model</vt:lpstr>
      <vt:lpstr>Continuous Software Engineering</vt:lpstr>
      <vt:lpstr>Continuous Software Engineering (CSE)</vt:lpstr>
      <vt:lpstr>Continuous Software Engineering -Tooling</vt:lpstr>
      <vt:lpstr>Continuous Software Engineering - Continued</vt:lpstr>
      <vt:lpstr>Influences on the test process</vt:lpstr>
      <vt:lpstr>Lifecycle Model Influences Testing</vt:lpstr>
      <vt:lpstr>Not a “black and white” picture?</vt:lpstr>
      <vt:lpstr>Staged testing moves from small to large</vt:lpstr>
      <vt:lpstr>Levels of testing have different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2016-09-19T14:46:57Z</dcterms:created>
  <dcterms:modified xsi:type="dcterms:W3CDTF">2022-03-22T16:19:28Z</dcterms:modified>
</cp:coreProperties>
</file>