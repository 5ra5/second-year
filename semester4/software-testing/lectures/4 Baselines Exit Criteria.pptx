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9" r:id="rId1"/>
  </p:sldMasterIdLst>
  <p:notesMasterIdLst>
    <p:notesMasterId r:id="rId10"/>
  </p:notesMasterIdLst>
  <p:handoutMasterIdLst>
    <p:handoutMasterId r:id="rId11"/>
  </p:handoutMasterIdLst>
  <p:sldIdLst>
    <p:sldId id="324" r:id="rId2"/>
    <p:sldId id="325" r:id="rId3"/>
    <p:sldId id="776" r:id="rId4"/>
    <p:sldId id="326" r:id="rId5"/>
    <p:sldId id="327" r:id="rId6"/>
    <p:sldId id="328" r:id="rId7"/>
    <p:sldId id="329" r:id="rId8"/>
    <p:sldId id="330" r:id="rId9"/>
  </p:sldIdLst>
  <p:sldSz cx="9144000" cy="6858000" type="screen4x3"/>
  <p:notesSz cx="7315200" cy="9601200"/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60"/>
  </p:normalViewPr>
  <p:slideViewPr>
    <p:cSldViewPr>
      <p:cViewPr varScale="1">
        <p:scale>
          <a:sx n="69" d="100"/>
          <a:sy n="69" d="100"/>
        </p:scale>
        <p:origin x="16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088"/>
    </p:cViewPr>
  </p:sorterViewPr>
  <p:notesViewPr>
    <p:cSldViewPr>
      <p:cViewPr varScale="1">
        <p:scale>
          <a:sx n="88" d="100"/>
          <a:sy n="88" d="100"/>
        </p:scale>
        <p:origin x="2682" y="96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endParaRPr lang="en-GB"/>
          </a:p>
        </p:txBody>
      </p:sp>
      <p:sp>
        <p:nvSpPr>
          <p:cNvPr id="141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Gill Sans" charset="0"/>
              </a:defRPr>
            </a:lvl1pPr>
          </a:lstStyle>
          <a:p>
            <a:endParaRPr lang="en-GB" dirty="0"/>
          </a:p>
        </p:txBody>
      </p:sp>
      <p:sp>
        <p:nvSpPr>
          <p:cNvPr id="141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" charset="0"/>
              </a:defRPr>
            </a:lvl1pPr>
          </a:lstStyle>
          <a:p>
            <a:r>
              <a:rPr lang="en-GB"/>
              <a:t>Page </a:t>
            </a:r>
            <a:fld id="{EA5D38E3-B9B2-4441-826C-C6BD30AADF5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23481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912" y="1"/>
            <a:ext cx="3169578" cy="480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141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1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80" y="4560302"/>
            <a:ext cx="5852844" cy="432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1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141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912" y="9119068"/>
            <a:ext cx="3169578" cy="48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D1B6875-EB0E-AC4C-95B7-0367583F6CD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751571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1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84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162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916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1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716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075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18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58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272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2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825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4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8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80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00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266700"/>
            <a:ext cx="2065337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66700"/>
            <a:ext cx="6045200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7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975" y="1676400"/>
            <a:ext cx="3898900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91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66700"/>
            <a:ext cx="8145462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3263" y="1676400"/>
            <a:ext cx="3897312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2975" y="1676400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2975" y="4105275"/>
            <a:ext cx="3898900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8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88" y="350838"/>
            <a:ext cx="8423275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3" y="1190625"/>
            <a:ext cx="413543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2650" y="1190625"/>
            <a:ext cx="4135438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861425" y="0"/>
            <a:ext cx="282575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6390F-1603-4606-96BE-11F29AAF5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23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1588" y="1484313"/>
            <a:ext cx="9066212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66700"/>
            <a:ext cx="8145462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1676400"/>
            <a:ext cx="7948612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8172450" y="6400800"/>
            <a:ext cx="450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fld id="{F04697A2-D443-9B46-B76B-C17EBA70E809}" type="slidenum">
              <a:rPr lang="en-US" sz="1000">
                <a:solidFill>
                  <a:schemeClr val="bg2"/>
                </a:solidFill>
              </a:rPr>
              <a:pPr eaLnBrk="0" hangingPunct="0"/>
              <a:t>‹#›</a:t>
            </a:fld>
            <a:endParaRPr lang="en-US" sz="1000">
              <a:solidFill>
                <a:schemeClr val="bg2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98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Expected Results</a:t>
            </a:r>
          </a:p>
        </p:txBody>
      </p:sp>
      <p:sp>
        <p:nvSpPr>
          <p:cNvPr id="2302982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External specifications and baselines</a:t>
            </a:r>
          </a:p>
        </p:txBody>
      </p:sp>
      <p:sp>
        <p:nvSpPr>
          <p:cNvPr id="23040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Specifications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requirements</a:t>
            </a:r>
            <a:r>
              <a:rPr lang="en-US" dirty="0"/>
              <a:t> etc. define what the software is required to do</a:t>
            </a:r>
          </a:p>
          <a:p>
            <a:r>
              <a:rPr lang="en-US" dirty="0"/>
              <a:t>In agile dev environments, requirements may just be user stories or whiteboard scribbles.</a:t>
            </a:r>
          </a:p>
          <a:p>
            <a:r>
              <a:rPr lang="en-US" dirty="0"/>
              <a:t>Without requirements, developers cannot build, testers cannot test</a:t>
            </a:r>
          </a:p>
          <a:p>
            <a:r>
              <a:rPr lang="en-US" dirty="0"/>
              <a:t>Programmers need them to write the code</a:t>
            </a:r>
          </a:p>
          <a:p>
            <a:r>
              <a:rPr lang="en-US" dirty="0">
                <a:solidFill>
                  <a:srgbClr val="FF0000"/>
                </a:solidFill>
              </a:rPr>
              <a:t>Testers need them to: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identify the things that need testing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compare test results with requirements</a:t>
            </a:r>
          </a:p>
          <a:p>
            <a:r>
              <a:rPr lang="en-US" dirty="0"/>
              <a:t>Requirements, specs. Etc. are baselines.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584" y="3645024"/>
            <a:ext cx="1512167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Requirements, User Stories, etc.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6310" y="2543418"/>
            <a:ext cx="1512167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Arch / Design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30526" y="2543418"/>
            <a:ext cx="1512167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Coding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2414" y="3140968"/>
            <a:ext cx="1512167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Refactoring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22614" y="3140968"/>
            <a:ext cx="1512167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Unit Testing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2614" y="3751342"/>
            <a:ext cx="1512167" cy="5847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Component Testing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8225" y="4068361"/>
            <a:ext cx="1512167" cy="5847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Integration Testing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76256" y="4890646"/>
            <a:ext cx="1584176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System Testing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83667" y="4894420"/>
            <a:ext cx="1512167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Test Planning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82454" y="4890646"/>
            <a:ext cx="3024336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Test Case &amp; Data Generation</a:t>
            </a:r>
            <a:endParaRPr lang="en-IE" dirty="0">
              <a:solidFill>
                <a:srgbClr val="000000"/>
              </a:solidFill>
            </a:endParaRPr>
          </a:p>
        </p:txBody>
      </p:sp>
      <p:cxnSp>
        <p:nvCxnSpPr>
          <p:cNvPr id="5" name="Straight Arrow Connector 4"/>
          <p:cNvCxnSpPr>
            <a:stCxn id="3" idx="0"/>
            <a:endCxn id="6" idx="2"/>
          </p:cNvCxnSpPr>
          <p:nvPr/>
        </p:nvCxnSpPr>
        <p:spPr bwMode="auto">
          <a:xfrm flipV="1">
            <a:off x="1583668" y="2881972"/>
            <a:ext cx="1158726" cy="7630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6" idx="3"/>
            <a:endCxn id="7" idx="1"/>
          </p:cNvCxnSpPr>
          <p:nvPr/>
        </p:nvCxnSpPr>
        <p:spPr bwMode="auto">
          <a:xfrm>
            <a:off x="3498477" y="2712695"/>
            <a:ext cx="4320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4290566" y="2881972"/>
            <a:ext cx="0" cy="258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Straight Arrow Connector 22"/>
          <p:cNvCxnSpPr/>
          <p:nvPr/>
        </p:nvCxnSpPr>
        <p:spPr bwMode="auto">
          <a:xfrm>
            <a:off x="5154662" y="2883542"/>
            <a:ext cx="0" cy="258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>
            <a:off x="3282454" y="2881972"/>
            <a:ext cx="0" cy="2589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5" name="Straight Arrow Connector 24"/>
          <p:cNvCxnSpPr>
            <a:stCxn id="9" idx="2"/>
            <a:endCxn id="10" idx="0"/>
          </p:cNvCxnSpPr>
          <p:nvPr/>
        </p:nvCxnSpPr>
        <p:spPr bwMode="auto">
          <a:xfrm>
            <a:off x="5478698" y="3479522"/>
            <a:ext cx="0" cy="271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Straight Arrow Connector 27"/>
          <p:cNvCxnSpPr>
            <a:stCxn id="10" idx="3"/>
            <a:endCxn id="11" idx="1"/>
          </p:cNvCxnSpPr>
          <p:nvPr/>
        </p:nvCxnSpPr>
        <p:spPr bwMode="auto">
          <a:xfrm>
            <a:off x="6234781" y="4043730"/>
            <a:ext cx="353444" cy="3170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1" idx="2"/>
            <a:endCxn id="12" idx="0"/>
          </p:cNvCxnSpPr>
          <p:nvPr/>
        </p:nvCxnSpPr>
        <p:spPr bwMode="auto">
          <a:xfrm>
            <a:off x="7344309" y="4653136"/>
            <a:ext cx="324035" cy="2375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4" name="Straight Arrow Connector 33"/>
          <p:cNvCxnSpPr>
            <a:stCxn id="3" idx="2"/>
            <a:endCxn id="13" idx="0"/>
          </p:cNvCxnSpPr>
          <p:nvPr/>
        </p:nvCxnSpPr>
        <p:spPr bwMode="auto">
          <a:xfrm>
            <a:off x="1583668" y="4476021"/>
            <a:ext cx="756083" cy="418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>
            <a:stCxn id="13" idx="3"/>
            <a:endCxn id="14" idx="1"/>
          </p:cNvCxnSpPr>
          <p:nvPr/>
        </p:nvCxnSpPr>
        <p:spPr bwMode="auto">
          <a:xfrm flipV="1">
            <a:off x="3095834" y="5059923"/>
            <a:ext cx="186620" cy="37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14" idx="3"/>
            <a:endCxn id="12" idx="1"/>
          </p:cNvCxnSpPr>
          <p:nvPr/>
        </p:nvCxnSpPr>
        <p:spPr bwMode="auto">
          <a:xfrm>
            <a:off x="6306790" y="5059923"/>
            <a:ext cx="5694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5720038" y="1900855"/>
            <a:ext cx="1736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Programmers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426982" y="5654277"/>
            <a:ext cx="101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Testers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47" name="Right Brace 46"/>
          <p:cNvSpPr/>
          <p:nvPr/>
        </p:nvSpPr>
        <p:spPr bwMode="auto">
          <a:xfrm rot="18320689">
            <a:off x="6157389" y="1360613"/>
            <a:ext cx="469184" cy="2942659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2" name="Right Brace 51"/>
          <p:cNvSpPr/>
          <p:nvPr/>
        </p:nvSpPr>
        <p:spPr bwMode="auto">
          <a:xfrm rot="5400000">
            <a:off x="4800270" y="1832578"/>
            <a:ext cx="264087" cy="7201347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8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46" grpId="0"/>
      <p:bldP spid="49" grpId="0"/>
      <p:bldP spid="47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0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as an oracle</a:t>
            </a:r>
            <a:r>
              <a:rPr lang="en-US" baseline="30000" dirty="0"/>
              <a:t>1</a:t>
            </a:r>
            <a:r>
              <a:rPr lang="en-US" dirty="0"/>
              <a:t> for required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23050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test we get an actual result</a:t>
            </a:r>
          </a:p>
          <a:p>
            <a:r>
              <a:rPr lang="en-US" dirty="0"/>
              <a:t>We compare results with requirements to determine whether a test has passed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baseline</a:t>
            </a:r>
            <a:r>
              <a:rPr lang="en-US" dirty="0"/>
              <a:t> document describes how we require the system to behave</a:t>
            </a:r>
          </a:p>
          <a:p>
            <a:r>
              <a:rPr lang="en-US" dirty="0"/>
              <a:t>User requirement, design, spec. etc.</a:t>
            </a:r>
          </a:p>
          <a:p>
            <a:r>
              <a:rPr lang="en-US" dirty="0"/>
              <a:t>Sometimes the 'old system' tells us what to expect.</a:t>
            </a:r>
          </a:p>
          <a:p>
            <a:r>
              <a:rPr lang="en-US" sz="1600" baseline="30000" dirty="0"/>
              <a:t>1</a:t>
            </a:r>
            <a:r>
              <a:rPr lang="en-US" sz="1600" dirty="0"/>
              <a:t> </a:t>
            </a:r>
            <a:r>
              <a:rPr lang="en-US" sz="1600" i="1" dirty="0">
                <a:solidFill>
                  <a:srgbClr val="000000"/>
                </a:solidFill>
              </a:rPr>
              <a:t>A source to determine expected results to compare with the actual result of the software under test. An oracle may be the existing system (for a benchmark), a user manual, or an individual</a:t>
            </a:r>
            <a:r>
              <a:rPr lang="ja-JP" altLang="en-US" sz="1600" i="1" dirty="0">
                <a:solidFill>
                  <a:srgbClr val="000000"/>
                </a:solidFill>
                <a:latin typeface="Arial"/>
              </a:rPr>
              <a:t>’</a:t>
            </a:r>
            <a:r>
              <a:rPr lang="en-US" sz="1600" i="1" dirty="0">
                <a:solidFill>
                  <a:srgbClr val="000000"/>
                </a:solidFill>
              </a:rPr>
              <a:t>s specialized knowledge, but should not be the code.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results</a:t>
            </a:r>
          </a:p>
        </p:txBody>
      </p:sp>
      <p:sp>
        <p:nvSpPr>
          <p:cNvPr id="23060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we don't define expected result before we execute the test...</a:t>
            </a:r>
          </a:p>
          <a:p>
            <a:pPr lvl="1"/>
            <a:r>
              <a:rPr lang="en-US"/>
              <a:t>a plausible, but erroneous, result may be interpreted as the correct result</a:t>
            </a:r>
          </a:p>
          <a:p>
            <a:pPr lvl="1"/>
            <a:r>
              <a:rPr lang="en-US"/>
              <a:t>there may be a subconscious desire to see the software pass the test</a:t>
            </a:r>
          </a:p>
          <a:p>
            <a:r>
              <a:rPr lang="en-US"/>
              <a:t>Expected results must be defined before test execution, derived from a baseline.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Exit, Completion, Closure or Acceptance criteria</a:t>
            </a:r>
          </a:p>
        </p:txBody>
      </p:sp>
      <p:sp>
        <p:nvSpPr>
          <p:cNvPr id="230707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Exit Criteria</a:t>
            </a:r>
          </a:p>
        </p:txBody>
      </p:sp>
      <p:sp>
        <p:nvSpPr>
          <p:cNvPr id="23081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 to say: "we've done enough"</a:t>
            </a:r>
          </a:p>
          <a:p>
            <a:r>
              <a:rPr lang="en-US" dirty="0"/>
              <a:t>Objective, non-technical for  managers</a:t>
            </a:r>
          </a:p>
          <a:p>
            <a:r>
              <a:rPr lang="en-US" dirty="0"/>
              <a:t>Measurable, achievable target. Some typical types of criterion which are used regularly are listed below:</a:t>
            </a:r>
          </a:p>
          <a:p>
            <a:pPr lvl="1"/>
            <a:r>
              <a:rPr lang="en-US" dirty="0"/>
              <a:t>80% coverage achieved</a:t>
            </a:r>
          </a:p>
          <a:p>
            <a:pPr lvl="1"/>
            <a:r>
              <a:rPr lang="en-US" dirty="0"/>
              <a:t>all tests executed without failure</a:t>
            </a:r>
          </a:p>
          <a:p>
            <a:pPr lvl="1"/>
            <a:r>
              <a:rPr lang="en-US" dirty="0"/>
              <a:t>all outstanding incidents waived</a:t>
            </a:r>
          </a:p>
          <a:p>
            <a:pPr lvl="1"/>
            <a:r>
              <a:rPr lang="en-US" dirty="0"/>
              <a:t>all critical business scenarios covered.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1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Exit criteria 2</a:t>
            </a:r>
          </a:p>
        </p:txBody>
      </p:sp>
      <p:sp>
        <p:nvSpPr>
          <p:cNvPr id="23091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Coverage items are usually defined in terms of</a:t>
            </a:r>
          </a:p>
          <a:p>
            <a:pPr lvl="1"/>
            <a:r>
              <a:rPr lang="en-US"/>
              <a:t>requirements, conditions, business transactions</a:t>
            </a:r>
          </a:p>
          <a:p>
            <a:pPr lvl="1"/>
            <a:r>
              <a:rPr lang="en-US"/>
              <a:t>code statements, branches.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EvolutifStandard</Template>
  <TotalTime>0</TotalTime>
  <Words>353</Words>
  <Application>Microsoft Office PowerPoint</Application>
  <PresentationFormat>On-screen Show (4:3)</PresentationFormat>
  <Paragraphs>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ＭＳ Ｐゴシック</vt:lpstr>
      <vt:lpstr>Arial</vt:lpstr>
      <vt:lpstr>Gill Sans</vt:lpstr>
      <vt:lpstr>Monotype Sorts</vt:lpstr>
      <vt:lpstr>EvolutifStandard</vt:lpstr>
      <vt:lpstr>Expected Results</vt:lpstr>
      <vt:lpstr>External specifications and baselines</vt:lpstr>
      <vt:lpstr>Testing Sequencing</vt:lpstr>
      <vt:lpstr>Baseline as an oracle1 for required behaviour</vt:lpstr>
      <vt:lpstr>Expected results</vt:lpstr>
      <vt:lpstr>Exit, Completion, Closure or Acceptance criteria</vt:lpstr>
      <vt:lpstr>Exit Criteria</vt:lpstr>
      <vt:lpstr>Exit criteria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2016-09-19T14:46:57Z</dcterms:created>
  <dcterms:modified xsi:type="dcterms:W3CDTF">2021-01-26T12:20:20Z</dcterms:modified>
</cp:coreProperties>
</file>